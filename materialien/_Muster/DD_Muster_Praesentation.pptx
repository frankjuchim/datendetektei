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Begrüßung, Teams bilden, Detektei-Ausweise austeilen (10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Briefing vorlesen lassen. Impuls: Wo werden über euch Daten in Tabellen gespeichert?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Begriffe gemeinsam am Ausschnitt beschriften.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Reihenfolge der Auswertung betonen (Zeitlupe).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Karten vorher mischen; Foto der Reihe für die Sicherung.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Herumgehen, Fehler P5/P6 sammeln.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Merksätze ins Heft.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Zwei Minuten Einzelarbeit, dann Partner-Check.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Muster für Grafiken: ER-Diagramm aus dem Akten-Format.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[NUR LEHRKRAFT] Erst nach der Einzelarbeit zeigen. 1 BE SELECT/FROM, 1 BE Bedingung.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1 · DAS FUNDBÜRO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229600" cy="128016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5400" b="0" i="0" u="none">
                <a:solidFill>
                  <a:srgbClr val="E8E1D3"/>
                </a:solidFill>
                <a:latin typeface="Barlow Condensed SemiBold"/>
              </a:rPr>
              <a:t>Das Fundbüro</a:t>
            </a:r>
          </a:p>
        </p:txBody>
      </p:sp>
      <p:cxnSp>
        <p:nvCxnSpPr>
          <p:cNvPr id="5" name="Roter Faden"/>
          <p:cNvCxnSpPr/>
          <p:nvPr/>
        </p:nvCxnSpPr>
        <p:spPr>
          <a:xfrm>
            <a:off x="548640" y="3291840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84632" y="3227832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579047" y="3227832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82296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200" b="0" i="0" u="none">
                <a:solidFill>
                  <a:srgbClr val="BDB6A9"/>
                </a:solidFill>
                <a:latin typeface="Barlow"/>
              </a:rPr>
              <a:t>Akte 1 · Muster-Präsentation im Stil „Fallbesprechung“</a:t>
            </a:r>
          </a:p>
        </p:txBody>
      </p:sp>
      <p:pic>
        <p:nvPicPr>
          <p:cNvPr id="9" name="Picture 8" descr="stemp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463040"/>
            <a:ext cx="2560320" cy="8703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1 · DAS FUNDBÜRO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Der erste Auftrag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20624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B3261E"/>
                </a:solidFill>
                <a:latin typeface="IBM Plex Mono"/>
              </a:rPr>
              <a:t>BRIEFING · EDDA LORENZ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40280"/>
            <a:ext cx="10545775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200" b="0" i="1" u="none">
                <a:solidFill>
                  <a:srgbClr val="1C2B3A"/>
                </a:solidFill>
                <a:latin typeface="Barlow"/>
              </a:rPr>
              <a:t>„Im Fundbuch stimmt etwas nicht. Bevor ihr ermittelt, lernt ihr, es zu lesen und zu befragen.“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1 · DAS FUNDBÜRO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Begriffe am Fundbuch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3</a:t>
            </a:r>
          </a:p>
        </p:txBody>
      </p:sp>
      <p:graphicFrame>
        <p:nvGraphicFramePr>
          <p:cNvPr id="8" name="Datentabelle"/>
          <p:cNvGraphicFramePr>
            <a:graphicFrameLocks noGrp="1"/>
          </p:cNvGraphicFramePr>
          <p:nvPr/>
        </p:nvGraphicFramePr>
        <p:xfrm>
          <a:off x="548640" y="1691640"/>
          <a:ext cx="11094415" cy="16732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20000"/>
                <a:gridCol w="8574415"/>
              </a:tblGrid>
              <a:tr h="334645">
                <a:tc>
                  <a:txBody>
                    <a:bodyPr/>
                    <a:lstStyle/>
                    <a:p>
                      <a:r>
                        <a:rPr sz="1564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Fachbegriff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64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Bedeutung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Tabelle (Relation)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Fundsache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Datensatz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eine Zeile = eine Fundsache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Attribut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eine Spalte, z. B. Kategorie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Primärschlüssel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u="sng">
                          <a:solidFill>
                            <a:srgbClr val="1C2B3A"/>
                          </a:solidFill>
                          <a:latin typeface="Barlow"/>
                        </a:rPr>
                        <a:t>FundNr</a:t>
                      </a:r>
                      <a:r>
                        <a:rPr sz="1700" b="0" i="0" u="none">
                          <a:solidFill>
                            <a:srgbClr val="1C2B3A"/>
                          </a:solidFill>
                          <a:latin typeface="Barlow"/>
                        </a:rPr>
                        <a:t>: eindeutig, nie NULL, minimal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547745"/>
            <a:ext cx="11094415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20" b="0" i="0" u="none">
                <a:solidFill>
                  <a:srgbClr val="E8E1D3"/>
                </a:solidFill>
                <a:latin typeface="IBM Plex Mono"/>
              </a:rPr>
              <a:t>Fundsache(</a:t>
            </a:r>
            <a:r>
              <a:rPr sz="1620" b="0" i="0" u="sng">
                <a:solidFill>
                  <a:srgbClr val="E8E1D3"/>
                </a:solidFill>
                <a:latin typeface="IBM Plex Mono"/>
              </a:rPr>
              <a:t>FundNr</a:t>
            </a:r>
            <a:r>
              <a:rPr sz="1620" b="0" i="0" u="none">
                <a:solidFill>
                  <a:srgbClr val="E8E1D3"/>
                </a:solidFill>
                <a:latin typeface="IBM Plex Mono"/>
              </a:rPr>
              <a:t>, Bezeichnung, Kategorie, Farbe, Fundort, Stadtteil, Funddatum, Wert, Finder, AbgeholtAm)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1 · DAS FUNDBÜRO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Beispiel Schritt für Schritt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4</a:t>
            </a:r>
          </a:p>
        </p:txBody>
      </p:sp>
      <p:sp>
        <p:nvSpPr>
          <p:cNvPr id="8" name="SQL-Hintergrund"/>
          <p:cNvSpPr/>
          <p:nvPr/>
        </p:nvSpPr>
        <p:spPr>
          <a:xfrm>
            <a:off x="548640" y="1691640"/>
            <a:ext cx="6101928" cy="1907540"/>
          </a:xfrm>
          <a:prstGeom prst="roundRect">
            <a:avLst>
              <a:gd name="adj" fmla="val 4000"/>
            </a:avLst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QL"/>
          <p:cNvSpPr txBox="1"/>
          <p:nvPr/>
        </p:nvSpPr>
        <p:spPr>
          <a:xfrm>
            <a:off x="731520" y="1828800"/>
            <a:ext cx="5736168" cy="16332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SELECT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Bezeichnung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Wert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FROM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Fundsache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WHERE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Kategorie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9BD3A6"/>
                </a:solidFill>
                <a:latin typeface="IBM Plex Mono"/>
              </a:rPr>
              <a:t>'Schlüssel'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Wert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&gt;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8CC4FF"/>
                </a:solidFill>
                <a:latin typeface="IBM Plex Mono"/>
              </a:rPr>
              <a:t>20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ORDER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BY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Wert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DESC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90620"/>
            <a:ext cx="610192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00" b="1" i="0" u="none" spc="120">
                <a:solidFill>
                  <a:srgbClr val="D4B062"/>
                </a:solidFill>
                <a:latin typeface="IBM Plex Mono"/>
              </a:rPr>
              <a:t>ERGEBNIS</a:t>
            </a:r>
          </a:p>
        </p:txBody>
      </p:sp>
      <p:graphicFrame>
        <p:nvGraphicFramePr>
          <p:cNvPr id="11" name="Ergebnistabelle"/>
          <p:cNvGraphicFramePr>
            <a:graphicFrameLocks noGrp="1"/>
          </p:cNvGraphicFramePr>
          <p:nvPr/>
        </p:nvGraphicFramePr>
        <p:xfrm>
          <a:off x="548640" y="4010660"/>
          <a:ext cx="3026664" cy="12795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95144"/>
                <a:gridCol w="731520"/>
              </a:tblGrid>
              <a:tr h="255905"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Bezeichnung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96" b="1" i="0" u="none">
                          <a:solidFill>
                            <a:srgbClr val="1C2B3A"/>
                          </a:solidFill>
                          <a:latin typeface="IBM Plex Mono"/>
                        </a:rPr>
                        <a:t>Wert</a:t>
                      </a:r>
                    </a:p>
                  </a:txBody>
                  <a:tcPr marL="54864" marR="54864" marT="18288" marB="18288">
                    <a:solidFill>
                      <a:srgbClr val="EBE2D2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Briefkastenschlüssel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40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Schlüsselbund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37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Fahrradschlüssel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28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  <a:tr h="255905"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…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u="none">
                          <a:solidFill>
                            <a:srgbClr val="1C2B3A"/>
                          </a:solidFill>
                          <a:latin typeface="Barlow"/>
                        </a:rPr>
                        <a:t>…</a:t>
                      </a:r>
                    </a:p>
                  </a:txBody>
                  <a:tcPr marL="54864" marR="54864" marT="18288" marB="18288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924888" y="169164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924888" y="169164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62048" y="176479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9248" y="176479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FROM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alle Zeilen der Tabelle Fundsache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24888" y="258572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924888" y="258572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62048" y="265887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9248" y="265887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WHERE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nur Schlüssel mit Wert über 20 €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24888" y="3479800"/>
            <a:ext cx="4718166" cy="6858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924888" y="3479800"/>
            <a:ext cx="73152" cy="68580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2048" y="355295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9248" y="3552952"/>
            <a:ext cx="3986646" cy="5760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ORDER BY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teuerste zuerst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24888" y="4302760"/>
            <a:ext cx="4718166" cy="75692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924888" y="4302760"/>
            <a:ext cx="73152" cy="756920"/>
          </a:xfrm>
          <a:prstGeom prst="rect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062048" y="4375912"/>
            <a:ext cx="457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 u="none">
                <a:solidFill>
                  <a:srgbClr val="B3261E"/>
                </a:solidFill>
                <a:latin typeface="Barlow Condensed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9248" y="4375912"/>
            <a:ext cx="3986646" cy="647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600" b="1" i="0" u="none">
                <a:solidFill>
                  <a:srgbClr val="1C2B3A"/>
                </a:solidFill>
                <a:latin typeface="Barlow"/>
              </a:rPr>
              <a:t>SELECT</a:t>
            </a:r>
            <a:r>
              <a:rPr sz="1600" b="0" i="0" u="none">
                <a:solidFill>
                  <a:srgbClr val="1C2B3A"/>
                </a:solidFill>
                <a:latin typeface="Barlow"/>
              </a:rPr>
              <a:t> – nur Bezeichnung und Wert zeigen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1 · DAS FUNDBÜRO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Karteikarten-Filter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F6B4F"/>
                </a:solidFill>
                <a:latin typeface="IBM Plex Mono"/>
              </a:rPr>
              <a:t>UNPLUGGED · 15 MIN · MATERIAL: 30 KARTEIKARTEN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14909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1. Jede/r zieht eine Karteikarte.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2. WHERE = aufstehen, SELECT = vorlesen.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3. AND und OR live erleben – erst vermuten, dann auflösen.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900" b="0" i="0" u="none">
                <a:solidFill>
                  <a:srgbClr val="1C2B3A"/>
                </a:solidFill>
                <a:latin typeface="Barlow"/>
              </a:rPr>
              <a:t>4. ORDER BY: eine Reihe bilden.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1 · DAS FUNDBÜRO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Ab ins Lab: Ermittlung 1.1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2926080"/>
          </a:xfrm>
          <a:prstGeom prst="roundRect">
            <a:avLst>
              <a:gd name="adj" fmla="val 4000"/>
            </a:avLst>
          </a:prstGeom>
          <a:solidFill>
            <a:srgbClr val="E2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C5A85"/>
                </a:solidFill>
                <a:latin typeface="IBM Plex Mono"/>
              </a:rPr>
              <a:t>SPUR IM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600" b="0" i="0" u="none">
                <a:solidFill>
                  <a:srgbClr val="1C2B3A"/>
                </a:solidFill>
                <a:latin typeface="Barlow Condensed SemiBold"/>
              </a:rPr>
              <a:t>„Der erste Auftrag“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900" b="1" i="0" u="none">
                <a:solidFill>
                  <a:srgbClr val="1C2B3A"/>
                </a:solidFill>
                <a:latin typeface="Barlow"/>
              </a:rPr>
              <a:t>Aufgaben: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A1-E1-01 … 08 (</a:t>
            </a:r>
            <a:r>
              <a:rPr sz="1900" b="0" i="0" u="none">
                <a:solidFill>
                  <a:srgbClr val="D4B062"/>
                </a:solidFill>
                <a:latin typeface="Segoe UI Symbol"/>
              </a:rPr>
              <a:t>★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→ </a:t>
            </a:r>
            <a:r>
              <a:rPr sz="1900" b="0" i="0" u="none">
                <a:solidFill>
                  <a:srgbClr val="D4B062"/>
                </a:solidFill>
                <a:latin typeface="Segoe UI Symbol"/>
              </a:rPr>
              <a:t>★★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→ </a:t>
            </a:r>
            <a:r>
              <a:rPr sz="1900" b="0" i="0" u="none">
                <a:solidFill>
                  <a:srgbClr val="D4B062"/>
                </a:solidFill>
                <a:latin typeface="Segoe UI Symbol"/>
              </a:rPr>
              <a:t>★★★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900" b="1" i="0" u="none">
                <a:solidFill>
                  <a:srgbClr val="1C2B3A"/>
                </a:solidFill>
                <a:latin typeface="Barlow"/>
              </a:rPr>
              <a:t>Werkzeug:</a:t>
            </a:r>
            <a:r>
              <a:rPr sz="1900" b="0" i="0" u="none">
                <a:solidFill>
                  <a:srgbClr val="1C2B3A"/>
                </a:solidFill>
                <a:latin typeface="Barlow"/>
              </a:rPr>
              <a:t> Zeitlupe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11094415" cy="71755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 i="0" u="none">
                <a:solidFill>
                  <a:srgbClr val="E8E1D3"/>
                </a:solidFill>
                <a:latin typeface="Barlow"/>
              </a:rPr>
              <a:t>▸ Erst „Ausführen“, dann „Prüfen“.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 i="0" u="none">
                <a:solidFill>
                  <a:srgbClr val="E8E1D3"/>
                </a:solidFill>
                <a:latin typeface="Barlow"/>
              </a:rPr>
              <a:t>▸ Bei Fehlern: Zeitlupe öffnen.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1 · DAS FUNDBÜRO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Ermittler-Notiz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E2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C5A85"/>
                </a:solidFill>
                <a:latin typeface="IBM Plex Mono"/>
              </a:rPr>
              <a:t>ERMITTLER-NOTIZ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11963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SELECT wählt Spalten – WHERE wählt Zeilen – ORDER BY ordnet.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AND bindet stärker als OR: Klammern setzen.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0" i="0" u="none">
                <a:solidFill>
                  <a:srgbClr val="1C2B3A"/>
                </a:solidFill>
                <a:latin typeface="Barlow"/>
              </a:rPr>
              <a:t>▸ Text in </a:t>
            </a:r>
            <a:r>
              <a:rPr sz="1800" b="0" i="0" u="none">
                <a:solidFill>
                  <a:srgbClr val="1C2B3A"/>
                </a:solidFill>
                <a:latin typeface="IBM Plex Mono"/>
              </a:rPr>
              <a:t>'…'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, Zahlen ohne Hochkommata.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1 · DAS FUNDBÜRO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Abi-Format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 w="25400">
            <a:solidFill>
              <a:srgbClr val="E05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B3261E"/>
                </a:solidFill>
                <a:latin typeface="IBM Plex Mono"/>
              </a:rPr>
              <a:t>ABI-ECKE · OPERATOR ENTWERFEN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10545775" cy="726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000" b="1" i="0" u="none">
                <a:solidFill>
                  <a:srgbClr val="1C2B3A"/>
                </a:solidFill>
                <a:latin typeface="Barlow"/>
              </a:rPr>
              <a:t>Entwerfen</a:t>
            </a:r>
            <a:r>
              <a:rPr sz="2000" b="0" i="0" u="none">
                <a:solidFill>
                  <a:srgbClr val="1C2B3A"/>
                </a:solidFill>
                <a:latin typeface="Barlow"/>
              </a:rPr>
              <a:t> Sie eine SQL-Abfrage, die Bezeichnung und Wert aller Fundsachen aus der Altstadt mit einem Wert von mehr als 20 € ausgibt. [2 BE]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1 · DAS FUNDBÜRO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ER-Diagramm (Chen-Notation)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er_1402826243147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1920240"/>
            <a:ext cx="10545775" cy="30158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0" u="none" spc="150">
                <a:solidFill>
                  <a:srgbClr val="D4B062"/>
                </a:solidFill>
                <a:latin typeface="IBM Plex Mono"/>
              </a:rPr>
              <a:t>AKTE 1 · DAS FUNDBÜRO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9357055" cy="685800"/>
          </a:xfrm>
          <a:prstGeom prst="rect">
            <a:avLst/>
          </a:prstGeom>
          <a:noFill/>
        </p:spPr>
        <p:txBody>
          <a:bodyPr wrap="square" anchor="b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3200" b="0" i="0" u="none">
                <a:solidFill>
                  <a:srgbClr val="E8E1D3"/>
                </a:solidFill>
                <a:latin typeface="Barlow Condensed SemiBold"/>
              </a:rPr>
              <a:t>Lösung Abi-Format</a:t>
            </a:r>
          </a:p>
        </p:txBody>
      </p:sp>
      <p:cxnSp>
        <p:nvCxnSpPr>
          <p:cNvPr id="4" name="Roter Faden"/>
          <p:cNvCxnSpPr/>
          <p:nvPr/>
        </p:nvCxnSpPr>
        <p:spPr>
          <a:xfrm>
            <a:off x="548640" y="1353312"/>
            <a:ext cx="11094415" cy="0"/>
          </a:xfrm>
          <a:prstGeom prst="line">
            <a:avLst/>
          </a:prstGeom>
          <a:ln w="28575">
            <a:solidFill>
              <a:srgbClr val="E0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84632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579047" y="1289304"/>
            <a:ext cx="128016" cy="128016"/>
          </a:xfrm>
          <a:prstGeom prst="ellipse">
            <a:avLst/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Marker Lehrkraft"/>
          <p:cNvSpPr/>
          <p:nvPr/>
        </p:nvSpPr>
        <p:spPr>
          <a:xfrm>
            <a:off x="10042855" y="310896"/>
            <a:ext cx="1600200" cy="310896"/>
          </a:xfrm>
          <a:prstGeom prst="roundRect">
            <a:avLst>
              <a:gd name="adj" fmla="val 4000"/>
            </a:avLst>
          </a:prstGeom>
          <a:solidFill>
            <a:srgbClr val="E0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42855" y="310896"/>
            <a:ext cx="160020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 u="none">
                <a:solidFill>
                  <a:srgbClr val="141B22"/>
                </a:solidFill>
                <a:latin typeface="IBM Plex Mono"/>
              </a:rPr>
              <a:t>NUR LEHRKRAFT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900" b="0" i="0" u="none" spc="100">
                <a:solidFill>
                  <a:srgbClr val="9C978E"/>
                </a:solidFill>
                <a:latin typeface="IBM Plex Mono"/>
              </a:rPr>
              <a:t>DATENDETEKTEI WESERSTEDT ·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1094415" cy="4343400"/>
          </a:xfrm>
          <a:prstGeom prst="roundRect">
            <a:avLst>
              <a:gd name="adj" fmla="val 4000"/>
            </a:avLst>
          </a:prstGeom>
          <a:solidFill>
            <a:srgbClr val="F4EDE1"/>
          </a:solidFill>
          <a:ln w="25400">
            <a:solidFill>
              <a:srgbClr val="5FA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37215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lnSpc>
                <a:spcPct val="105000"/>
              </a:lnSpc>
            </a:pPr>
            <a:r>
              <a:rPr sz="1050" b="1" i="0" u="none" spc="120">
                <a:solidFill>
                  <a:srgbClr val="2F6B4F"/>
                </a:solidFill>
                <a:latin typeface="IBM Plex Mono"/>
              </a:rPr>
              <a:t>LÖSUNG</a:t>
            </a:r>
          </a:p>
        </p:txBody>
      </p:sp>
      <p:sp>
        <p:nvSpPr>
          <p:cNvPr id="12" name="SQL-Hintergrund"/>
          <p:cNvSpPr/>
          <p:nvPr/>
        </p:nvSpPr>
        <p:spPr>
          <a:xfrm>
            <a:off x="822959" y="2194560"/>
            <a:ext cx="10545775" cy="1590040"/>
          </a:xfrm>
          <a:prstGeom prst="roundRect">
            <a:avLst>
              <a:gd name="adj" fmla="val 4000"/>
            </a:avLst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QL"/>
          <p:cNvSpPr txBox="1"/>
          <p:nvPr/>
        </p:nvSpPr>
        <p:spPr>
          <a:xfrm>
            <a:off x="1005839" y="2331720"/>
            <a:ext cx="10180015" cy="1315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SELECT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Bezeichnung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,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Wert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FROM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Fundsache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F2A65A"/>
                </a:solidFill>
                <a:latin typeface="IBM Plex Mono"/>
              </a:rPr>
              <a:t>WHERE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Stadtteil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=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9BD3A6"/>
                </a:solidFill>
                <a:latin typeface="IBM Plex Mono"/>
              </a:rPr>
              <a:t>'Altstadt'</a:t>
            </a:r>
          </a:p>
          <a:p>
            <a:pPr>
              <a:lnSpc>
                <a:spcPct val="100000"/>
              </a:lnSpc>
            </a:pPr>
            <a:r>
              <a:rPr sz="2000" i="0">
                <a:solidFill>
                  <a:srgbClr val="D8E3D0"/>
                </a:solidFill>
                <a:latin typeface="IBM Plex Mono"/>
              </a:rPr>
              <a:t>  </a:t>
            </a:r>
            <a:r>
              <a:rPr sz="2000" i="0">
                <a:solidFill>
                  <a:srgbClr val="F2A65A"/>
                </a:solidFill>
                <a:latin typeface="IBM Plex Mono"/>
              </a:rPr>
              <a:t>AND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Wert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&gt;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 </a:t>
            </a:r>
            <a:r>
              <a:rPr sz="2000" i="0">
                <a:solidFill>
                  <a:srgbClr val="8CC4FF"/>
                </a:solidFill>
                <a:latin typeface="IBM Plex Mono"/>
              </a:rPr>
              <a:t>20</a:t>
            </a:r>
            <a:r>
              <a:rPr sz="2000" i="0">
                <a:solidFill>
                  <a:srgbClr val="D8E3D0"/>
                </a:solidFill>
                <a:latin typeface="IBM Plex Mono"/>
              </a:rPr>
              <a:t>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 Fundbüro</dc:title>
  <dc:subject/>
  <dc:creator>Datendetektei Weserstedt</dc:creator>
  <cp:keywords/>
  <dc:description>generated using python-pptx</dc:description>
  <cp:lastModifiedBy>Datendetektei Weserstedt</cp:lastModifiedBy>
  <cp:revision>1</cp:revision>
  <dcterms:created xsi:type="dcterms:W3CDTF">2013-01-27T09:14:16Z</dcterms:created>
  <dcterms:modified xsi:type="dcterms:W3CDTF">2013-01-27T09:15:58Z</dcterms:modified>
  <cp:category/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D-Akte">
    <vt:lpwstr>1</vt:lpwstr>
  </property>
  <property fmtid="{D5CDD505-2E9C-101B-9397-08002B2CF9AE}" pid="3" name="DD-Art">
    <vt:lpwstr>praesentation</vt:lpwstr>
  </property>
  <property fmtid="{D5CDD505-2E9C-101B-9397-08002B2CF9AE}" pid="4" name="DD-Datenbank">
    <vt:lpwstr>fundbuero</vt:lpwstr>
  </property>
  <property fmtid="{D5CDD505-2E9C-101B-9397-08002B2CF9AE}" pid="5" name="DD-Kuer">
    <vt:lpwstr>nein</vt:lpwstr>
  </property>
</Properties>
</file>