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DS 3 beginnt mit dem Warm-up (Karten W-A1-05…08, 10 min); Auflösung von Karte 06 (NULL-Falle) an der Tafel. Dann Akte 2 im Lab öffnen lassen (Stadtplan: StadtRad-Station).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Briefing vorlesen lassen (STORY 5.3b). Impulse: „Wo steht, an welcher Station Rad 17 steht?“ – „Warum steht dort nicht der Stationsname?“ (Redundanz vermeiden: Name nur einmal in Station).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Schema-Plakat (A3) aufhängen. Gemeinsam die Pfeile lesen: Vom Fremdschlüssel zum Primärschlüssel. Frage: „StartStation und ZielStation – worauf verweisen sie, obwohl sie anders heißen?“ Die vermissten Räder 41–45 stehen an keiner Station (StationID NULL).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Begriffe Fremdschlüssel und ↑-Kennzeichnung einführen. Wichtig: Der Pfeil steht vor dem Fremdschlüssel und zeigt (gedanklich) zum Primärschlüssel. Ausleihe hat vier Fremdschlüssel.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Reihenfolge der Auswertung betonen (FROM → WHERE → SELECT), wie in der Zeitlupe. Präfix bei StationID ist Pflicht (gleichnamig in Rad und Station). Zeilenzahl des Kreuzprodukts NICHT verraten – sie ist Lab-Aufgabe A2-E1-05.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Kopiervorlage DD_A2_Unplugged_Roter_Faden (4 Stations-, 6 Radkarten, Auftragskarte). Erwartung: 6 · 4 = 24 Fäden, nach WHERE bleiben 5. Rad 6 (StationID NULL, Werkstatt) behält keinen Faden; Deichtor hat kein Rad. Zusatz: Räder 1 und 3 (Leuchtturm). Sicherung: Foto nach Schritt 3; Tafel „Verbund = Kreuzprodukt + Filter FK = PK“.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Herumgehen; typische Fehler sammeln: fehlende Verbundbedingung (P2), StationID ohne Präfix (P7), FK mit anderem Namen nicht erkannt (P7). Bei riesigen Ergebnissen: Zeilenzahl = Produkt der Tabellengrößen → Spurenbrett.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Merkkasten ins Heft (Werkzeugkarte 3 im Ermittler-Handbuch).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Zwei Minuten Einzelarbeit, dann Partner-Check mit den Kernpunkten (Lösungsfolie). Die Abi-Ecke auf AB 2.1 (Ausleihe, 3 BE) als Hausaufgabe bzw. in der Fallbesprechung.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[NUR LEHRKRAFT] Erst nach der Einzelarbeit zeigen. Typischer Fehler P7: Pfeilrichtung verdreht.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Abschluss DS 3 (STORY 5.3c). Nicht auflösen – in DS 4 geht es weiter.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DS 4: Warm-up W-A2-01…04 vorher (10 min). Briefing (STORY 5.4b). Impuls: „Welche Tabellen braucht ihr für ‚Name des Kunden + Name der Startstation‘?“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Weg für „Name des Kunden + Name der Startstation“ am Plakat zeigen: Kunde ← Ausleihe → Station. Rad wird nicht gebraucht. Drei Tabellen → zwei Verbundbedingungen.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Alias ohne AS wie in den Ergänzenden Hinweisen. Häufiger Fehler: In FROM Alias vergeben, in SELECT trotzdem `Station.Name` schreiben → Fehler.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Unplugged-Erfahrung aufgreifen („Kopie von Station“). Gegenprobe: Mit nur einer Station-Tabelle bleiben nur Rundfahrten (Start = Ziel).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Frage an den Kurs: „Was passiert mit einer nie beendeten Fahrt, wenn ihr ihre Zielstation verbinden wollt?“ Erst vermuten lassen, dann auflösen.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Kopiervorlage DD_A2_Unplugged_Ermittlungsweg. Lösungen der Fragekarten in den Lehrerhinweisen. Sicherung: Teams fotografieren ihre Wege; Lösung zu Karte 2 als SQL an der Tafel.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Verhör 2 im Kurs auf „auto“ oder „offen“ stellen. Typische Fehler: eine Station-Tabelle für Start und Ziel (P7), falscher Pfad über Rad.StationID (P2), laufende Ausleihen verschwinden (P5, Prüf-Variante +null).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Merkkasten ins Heft. Verweis auf Werkzeugkarte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Einzelarbeit 4 min, Partner-Check mit den Kernpunkten. Die Abi-Ecke auf AB 2.2 (Hafenviertel) ist die schwerere Variante.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[NUR LEHRKRAFT] Kernpunkte je 1 BE: vier Tabellen in FROM · drei Verbundbedingungen (Zielstation über ZielStation!) · Filter Lastenrad · Ausgabe. Hinweis: Laufende Ausleihen fehlen, weil ZielStation NULL ist – das ist hier richtig, sie haben keine Zielstation.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[NUR LEHRKRAFT] Story-Auflösung Akte 2 (STORY 5.4c) erst nach A2-E2-07 zeigen. Beweisstück 2 „Schloss-Code“ erscheint im Lab. Steckbrief ergänzen: Tarnname Nora Falter, Jahrgang 1988 (unbestätigt), nachts unterwegs. Cliffhanger zu Akte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2 · SPUR DER RÄDER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229600" cy="128016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5400" b="0" i="0" u="none">
                <a:solidFill>
                  <a:srgbClr val="E8E1D3"/>
                </a:solidFill>
                <a:latin typeface="Barlow Condensed SemiBold"/>
              </a:rPr>
              <a:t>Spur der Räder</a:t>
            </a:r>
          </a:p>
        </p:txBody>
      </p:sp>
      <p:cxnSp>
        <p:nvCxnSpPr>
          <p:cNvPr id="5" name="Roter Faden"/>
          <p:cNvCxnSpPr/>
          <p:nvPr/>
        </p:nvCxnSpPr>
        <p:spPr>
          <a:xfrm>
            <a:off x="548640" y="3291840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484632" y="3227832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1579047" y="3227832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3474720"/>
            <a:ext cx="82296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2200" b="0" i="0" u="none">
                <a:solidFill>
                  <a:srgbClr val="BDB6A9"/>
                </a:solidFill>
                <a:latin typeface="Barlow"/>
              </a:rPr>
              <a:t>Akte 2 · DS 3–4 · Fremdschlüssel und Verbund</a:t>
            </a:r>
          </a:p>
        </p:txBody>
      </p:sp>
      <p:pic>
        <p:nvPicPr>
          <p:cNvPr id="9" name="Picture 8" descr="stemp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1463040"/>
            <a:ext cx="2560320" cy="8801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2 · SPUR DER RÄDER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Neuer Auftrag: Der rote Faden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11094415" cy="420624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10637215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050" b="1" i="0" u="none" spc="120">
                <a:solidFill>
                  <a:srgbClr val="B3261E"/>
                </a:solidFill>
                <a:latin typeface="IBM Plex Mono"/>
              </a:rPr>
              <a:t>BRIEFING · EDDA LORENZ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40280"/>
            <a:ext cx="10545775" cy="3474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2200" b="0" i="1" u="none">
                <a:solidFill>
                  <a:srgbClr val="1C2B3A"/>
                </a:solidFill>
                <a:latin typeface="Barlow"/>
              </a:rPr>
              <a:t>Bent Hollwedel, Betriebsleiter von StadtRad Weserstedt, vermisst fünf Lastenräder – nachts einfach verschwunden. Seine Daten liegen nicht in einer Tabelle, sondern in mehreren: Stationen, Räder, Kundschaft, Ausleihen. Wer die Spur finden will, muss sie verbinden.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2 · SPUR DER RÄDER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Das StadtRad-Schema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11094415" cy="434340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schema_fol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847" y="1920240"/>
            <a:ext cx="7238000" cy="39776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2 · SPUR DER RÄDER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Primärschlüssel und Fremdschlüssel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4</a:t>
            </a:r>
          </a:p>
        </p:txBody>
      </p:sp>
      <p:graphicFrame>
        <p:nvGraphicFramePr>
          <p:cNvPr id="8" name="Datentabelle"/>
          <p:cNvGraphicFramePr>
            <a:graphicFrameLocks noGrp="1"/>
          </p:cNvGraphicFramePr>
          <p:nvPr/>
        </p:nvGraphicFramePr>
        <p:xfrm>
          <a:off x="548640" y="1691640"/>
          <a:ext cx="11094415" cy="167322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20000"/>
                <a:gridCol w="8574415"/>
              </a:tblGrid>
              <a:tr h="334645">
                <a:tc>
                  <a:txBody>
                    <a:bodyPr/>
                    <a:lstStyle/>
                    <a:p>
                      <a:r>
                        <a:rPr sz="1564" b="1" i="0" u="none">
                          <a:solidFill>
                            <a:srgbClr val="1C2B3A"/>
                          </a:solidFill>
                          <a:latin typeface="IBM Plex Mono"/>
                        </a:rPr>
                        <a:t>Fachbegriff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64" b="1" i="0" u="none">
                          <a:solidFill>
                            <a:srgbClr val="1C2B3A"/>
                          </a:solidFill>
                          <a:latin typeface="IBM Plex Mono"/>
                        </a:rPr>
                        <a:t>Bedeutung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r>
                        <a:rPr sz="1700" b="0" i="0" u="none">
                          <a:solidFill>
                            <a:srgbClr val="1C2B3A"/>
                          </a:solidFill>
                          <a:latin typeface="Barlow"/>
                        </a:rPr>
                        <a:t>Primärschlüssel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 u="none">
                          <a:solidFill>
                            <a:srgbClr val="1C2B3A"/>
                          </a:solidFill>
                          <a:latin typeface="Barlow"/>
                        </a:rPr>
                        <a:t>unterstrichen – identifiziert jeden Datensatz eindeutig, nie NULL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r>
                        <a:rPr sz="1700" b="0" i="0" u="none">
                          <a:solidFill>
                            <a:srgbClr val="1C2B3A"/>
                          </a:solidFill>
                          <a:latin typeface="Barlow"/>
                        </a:rPr>
                        <a:t>Fremdschlüssel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 u="none">
                          <a:solidFill>
                            <a:srgbClr val="1C2B3A"/>
                          </a:solidFill>
                          <a:latin typeface="Barlow"/>
                        </a:rPr>
                        <a:t>mit </a:t>
                      </a:r>
                      <a:r>
                        <a:rPr sz="1700" b="0" i="0" u="none">
                          <a:solidFill>
                            <a:srgbClr val="B3261E"/>
                          </a:solidFill>
                          <a:latin typeface="IBM Plex Mono"/>
                        </a:rPr>
                        <a:t>↑</a:t>
                      </a:r>
                      <a:r>
                        <a:rPr sz="1700" b="0" i="0" u="none">
                          <a:solidFill>
                            <a:srgbClr val="1C2B3A"/>
                          </a:solidFill>
                          <a:latin typeface="Barlow"/>
                        </a:rPr>
                        <a:t> – verweist auf den Primärschlüssel einer anderen Tabelle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r>
                        <a:rPr sz="1700" b="0" i="0" u="none">
                          <a:solidFill>
                            <a:srgbClr val="1C2B3A"/>
                          </a:solidFill>
                          <a:latin typeface="Barlow"/>
                        </a:rPr>
                        <a:t>anderer Name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30" b="0" i="0" u="none">
                          <a:solidFill>
                            <a:srgbClr val="1C2B3A"/>
                          </a:solidFill>
                          <a:latin typeface="IBM Plex Mono"/>
                        </a:rPr>
                        <a:t>StartStation</a:t>
                      </a:r>
                      <a:r>
                        <a:rPr sz="1700" b="0" i="0" u="none">
                          <a:solidFill>
                            <a:srgbClr val="1C2B3A"/>
                          </a:solidFill>
                          <a:latin typeface="Barlow"/>
                        </a:rPr>
                        <a:t> verweist auf </a:t>
                      </a:r>
                      <a:r>
                        <a:rPr sz="1530" b="0" i="0" u="none">
                          <a:solidFill>
                            <a:srgbClr val="1C2B3A"/>
                          </a:solidFill>
                          <a:latin typeface="IBM Plex Mono"/>
                        </a:rPr>
                        <a:t>Station.StationID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r>
                        <a:rPr sz="1700" b="0" i="0" u="none">
                          <a:solidFill>
                            <a:srgbClr val="1C2B3A"/>
                          </a:solidFill>
                          <a:latin typeface="Barlow"/>
                        </a:rPr>
                        <a:t>NULL im FK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 u="none">
                          <a:solidFill>
                            <a:srgbClr val="1C2B3A"/>
                          </a:solidFill>
                          <a:latin typeface="Barlow"/>
                        </a:rPr>
                        <a:t>kein Verweis: Rad in der Werkstatt, Fahrt läuft noch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547745"/>
            <a:ext cx="11094415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620" b="0" i="0" u="none">
                <a:solidFill>
                  <a:srgbClr val="E8E1D3"/>
                </a:solidFill>
                <a:latin typeface="IBM Plex Mono"/>
              </a:rPr>
              <a:t>Ausleihe(</a:t>
            </a:r>
            <a:r>
              <a:rPr sz="1620" b="0" i="0" u="sng">
                <a:solidFill>
                  <a:srgbClr val="E8E1D3"/>
                </a:solidFill>
                <a:latin typeface="IBM Plex Mono"/>
              </a:rPr>
              <a:t>AusleihID</a:t>
            </a:r>
            <a:r>
              <a:rPr sz="1620" b="0" i="0" u="none">
                <a:solidFill>
                  <a:srgbClr val="E8E1D3"/>
                </a:solidFill>
                <a:latin typeface="IBM Plex Mono"/>
              </a:rPr>
              <a:t>, </a:t>
            </a:r>
            <a:r>
              <a:rPr sz="1620" b="0" i="0" u="none">
                <a:solidFill>
                  <a:srgbClr val="E0574F"/>
                </a:solidFill>
                <a:latin typeface="IBM Plex Mono"/>
              </a:rPr>
              <a:t>↑</a:t>
            </a:r>
            <a:r>
              <a:rPr sz="1620" b="0" i="0" u="none">
                <a:solidFill>
                  <a:srgbClr val="E8E1D3"/>
                </a:solidFill>
                <a:latin typeface="IBM Plex Mono"/>
              </a:rPr>
              <a:t>RadID, </a:t>
            </a:r>
            <a:r>
              <a:rPr sz="1620" b="0" i="0" u="none">
                <a:solidFill>
                  <a:srgbClr val="E0574F"/>
                </a:solidFill>
                <a:latin typeface="IBM Plex Mono"/>
              </a:rPr>
              <a:t>↑</a:t>
            </a:r>
            <a:r>
              <a:rPr sz="1620" b="0" i="0" u="none">
                <a:solidFill>
                  <a:srgbClr val="E8E1D3"/>
                </a:solidFill>
                <a:latin typeface="IBM Plex Mono"/>
              </a:rPr>
              <a:t>KundenID, </a:t>
            </a:r>
            <a:r>
              <a:rPr sz="1620" b="0" i="0" u="none">
                <a:solidFill>
                  <a:srgbClr val="E0574F"/>
                </a:solidFill>
                <a:latin typeface="IBM Plex Mono"/>
              </a:rPr>
              <a:t>↑</a:t>
            </a:r>
            <a:r>
              <a:rPr sz="1620" b="0" i="0" u="none">
                <a:solidFill>
                  <a:srgbClr val="E8E1D3"/>
                </a:solidFill>
                <a:latin typeface="IBM Plex Mono"/>
              </a:rPr>
              <a:t>StartStation, </a:t>
            </a:r>
            <a:r>
              <a:rPr sz="1620" b="0" i="0" u="none">
                <a:solidFill>
                  <a:srgbClr val="E0574F"/>
                </a:solidFill>
                <a:latin typeface="IBM Plex Mono"/>
              </a:rPr>
              <a:t>↑</a:t>
            </a:r>
            <a:r>
              <a:rPr sz="1620" b="0" i="0" u="none">
                <a:solidFill>
                  <a:srgbClr val="E8E1D3"/>
                </a:solidFill>
                <a:latin typeface="IBM Plex Mono"/>
              </a:rPr>
              <a:t>ZielStation, Start, Ende, DauerMin, Preis)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2 · SPUR DER RÄDER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Verbund Schritt für Schritt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5</a:t>
            </a:r>
          </a:p>
        </p:txBody>
      </p:sp>
      <p:sp>
        <p:nvSpPr>
          <p:cNvPr id="8" name="SQL-Hintergrund"/>
          <p:cNvSpPr/>
          <p:nvPr/>
        </p:nvSpPr>
        <p:spPr>
          <a:xfrm>
            <a:off x="548640" y="1691640"/>
            <a:ext cx="6101928" cy="1748790"/>
          </a:xfrm>
          <a:prstGeom prst="roundRect">
            <a:avLst>
              <a:gd name="adj" fmla="val 4000"/>
            </a:avLst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SQL"/>
          <p:cNvSpPr txBox="1"/>
          <p:nvPr/>
        </p:nvSpPr>
        <p:spPr>
          <a:xfrm>
            <a:off x="731520" y="1828800"/>
            <a:ext cx="5736168" cy="147447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</a:pPr>
            <a:r>
              <a:rPr sz="1800" i="0">
                <a:solidFill>
                  <a:srgbClr val="F2A65A"/>
                </a:solidFill>
                <a:latin typeface="IBM Plex Mono"/>
              </a:rPr>
              <a:t>SELECT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Rad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RadID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Rad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Typ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Station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Name</a:t>
            </a:r>
          </a:p>
          <a:p>
            <a:pPr>
              <a:lnSpc>
                <a:spcPct val="100000"/>
              </a:lnSpc>
            </a:pPr>
            <a:r>
              <a:rPr sz="1800" i="0">
                <a:solidFill>
                  <a:srgbClr val="F2A65A"/>
                </a:solidFill>
                <a:latin typeface="IBM Plex Mono"/>
              </a:rPr>
              <a:t>FROM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Rad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Station</a:t>
            </a:r>
          </a:p>
          <a:p>
            <a:pPr>
              <a:lnSpc>
                <a:spcPct val="100000"/>
              </a:lnSpc>
            </a:pPr>
            <a:r>
              <a:rPr sz="1800" i="0">
                <a:solidFill>
                  <a:srgbClr val="F2A65A"/>
                </a:solidFill>
                <a:latin typeface="IBM Plex Mono"/>
              </a:rPr>
              <a:t>WHERE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Rad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StationID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=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Station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StationID</a:t>
            </a:r>
          </a:p>
          <a:p>
            <a:pPr>
              <a:lnSpc>
                <a:spcPct val="100000"/>
              </a:lnSpc>
            </a:pPr>
            <a:r>
              <a:rPr sz="1800" i="0">
                <a:solidFill>
                  <a:srgbClr val="D8E3D0"/>
                </a:solidFill>
                <a:latin typeface="IBM Plex Mono"/>
              </a:rPr>
              <a:t>  </a:t>
            </a:r>
            <a:r>
              <a:rPr sz="1800" i="0">
                <a:solidFill>
                  <a:srgbClr val="F2A65A"/>
                </a:solidFill>
                <a:latin typeface="IBM Plex Mono"/>
              </a:rPr>
              <a:t>AND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Station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Stadtteil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=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800" i="0">
                <a:solidFill>
                  <a:srgbClr val="9BD3A6"/>
                </a:solidFill>
                <a:latin typeface="IBM Plex Mono"/>
              </a:rPr>
              <a:t>'Lindenhof'</a:t>
            </a:r>
          </a:p>
          <a:p>
            <a:pPr>
              <a:lnSpc>
                <a:spcPct val="100000"/>
              </a:lnSpc>
            </a:pPr>
            <a:r>
              <a:rPr sz="1800" i="0">
                <a:solidFill>
                  <a:srgbClr val="F2A65A"/>
                </a:solidFill>
                <a:latin typeface="IBM Plex Mono"/>
              </a:rPr>
              <a:t>ORDER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800" i="0">
                <a:solidFill>
                  <a:srgbClr val="F2A65A"/>
                </a:solidFill>
                <a:latin typeface="IBM Plex Mono"/>
              </a:rPr>
              <a:t>BY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Rad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RadID</a:t>
            </a:r>
            <a:r>
              <a:rPr sz="1800" i="0">
                <a:solidFill>
                  <a:srgbClr val="D8E3D0"/>
                </a:solidFill>
                <a:latin typeface="IBM Plex Mono"/>
              </a:rPr>
              <a:t>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31870"/>
            <a:ext cx="610192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000" b="1" i="0" u="none" spc="120">
                <a:solidFill>
                  <a:srgbClr val="D4B062"/>
                </a:solidFill>
                <a:latin typeface="IBM Plex Mono"/>
              </a:rPr>
              <a:t>ERGEBNIS</a:t>
            </a:r>
          </a:p>
        </p:txBody>
      </p:sp>
      <p:graphicFrame>
        <p:nvGraphicFramePr>
          <p:cNvPr id="11" name="Ergebnistabelle"/>
          <p:cNvGraphicFramePr>
            <a:graphicFrameLocks noGrp="1"/>
          </p:cNvGraphicFramePr>
          <p:nvPr/>
        </p:nvGraphicFramePr>
        <p:xfrm>
          <a:off x="548640" y="3851910"/>
          <a:ext cx="3247948" cy="127952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79526"/>
                <a:gridCol w="1082649"/>
                <a:gridCol w="1385773"/>
              </a:tblGrid>
              <a:tr h="255905">
                <a:tc>
                  <a:txBody>
                    <a:bodyPr/>
                    <a:lstStyle/>
                    <a:p>
                      <a:r>
                        <a:rPr sz="1196" b="1" i="0" u="none">
                          <a:solidFill>
                            <a:srgbClr val="1C2B3A"/>
                          </a:solidFill>
                          <a:latin typeface="IBM Plex Mono"/>
                        </a:rPr>
                        <a:t>RadID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 b="1" i="0" u="none">
                          <a:solidFill>
                            <a:srgbClr val="1C2B3A"/>
                          </a:solidFill>
                          <a:latin typeface="IBM Plex Mono"/>
                        </a:rPr>
                        <a:t>Typ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 b="1" i="0" u="none">
                          <a:solidFill>
                            <a:srgbClr val="1C2B3A"/>
                          </a:solidFill>
                          <a:latin typeface="IBM Plex Mono"/>
                        </a:rPr>
                        <a:t>Name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</a:tr>
              <a:tr h="255905">
                <a:tc>
                  <a:txBody>
                    <a:bodyPr/>
                    <a:lstStyle/>
                    <a:p>
                      <a:pPr algn="r"/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11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Citybike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Universität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255905">
                <a:tc>
                  <a:txBody>
                    <a:bodyPr/>
                    <a:lstStyle/>
                    <a:p>
                      <a:pPr algn="r"/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19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E-Bike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Universität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255905">
                <a:tc>
                  <a:txBody>
                    <a:bodyPr/>
                    <a:lstStyle/>
                    <a:p>
                      <a:pPr algn="r"/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22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Citybike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Mensa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255905">
                <a:tc>
                  <a:txBody>
                    <a:bodyPr/>
                    <a:lstStyle/>
                    <a:p>
                      <a:pPr algn="r"/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24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E-Bike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Mensa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924888" y="1691640"/>
            <a:ext cx="4718166" cy="102108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924888" y="1691640"/>
            <a:ext cx="73152" cy="1021080"/>
          </a:xfrm>
          <a:prstGeom prst="rect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062048" y="1764792"/>
            <a:ext cx="4572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2400" b="0" i="0" u="none">
                <a:solidFill>
                  <a:srgbClr val="B3261E"/>
                </a:solidFill>
                <a:latin typeface="Barlow Condensed SemiBol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19248" y="1764792"/>
            <a:ext cx="3986646" cy="911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600" b="1" i="0" u="none">
                <a:solidFill>
                  <a:srgbClr val="1C2B3A"/>
                </a:solidFill>
                <a:latin typeface="Barlow"/>
              </a:rPr>
              <a:t>FROM Rad, Station</a:t>
            </a:r>
            <a:r>
              <a:rPr sz="1600" b="0" i="0" u="none">
                <a:solidFill>
                  <a:srgbClr val="1C2B3A"/>
                </a:solidFill>
                <a:latin typeface="Barlow"/>
              </a:rPr>
              <a:t> – Kreuzprodukt: jedes Rad mit jeder Station (Zeilen · Zeilen)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24888" y="2849880"/>
            <a:ext cx="4718166" cy="75692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924888" y="2849880"/>
            <a:ext cx="73152" cy="756920"/>
          </a:xfrm>
          <a:prstGeom prst="rect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062048" y="2923032"/>
            <a:ext cx="4572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2400" b="0" i="0" u="none">
                <a:solidFill>
                  <a:srgbClr val="B3261E"/>
                </a:solidFill>
                <a:latin typeface="Barlow Condensed SemiBol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9248" y="2923032"/>
            <a:ext cx="3986646" cy="6471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600" b="1" i="0" u="none">
                <a:solidFill>
                  <a:srgbClr val="1C2B3A"/>
                </a:solidFill>
                <a:latin typeface="Barlow"/>
              </a:rPr>
              <a:t>WHERE Rad.StationID = Station.StationID</a:t>
            </a:r>
            <a:r>
              <a:rPr sz="1600" b="0" i="0" u="none">
                <a:solidFill>
                  <a:srgbClr val="1C2B3A"/>
                </a:solidFill>
                <a:latin typeface="Barlow"/>
              </a:rPr>
              <a:t> – nur Fäden, bei denen FK = PK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24888" y="3743960"/>
            <a:ext cx="4718166" cy="75692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924888" y="3743960"/>
            <a:ext cx="73152" cy="756920"/>
          </a:xfrm>
          <a:prstGeom prst="rect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062048" y="3817112"/>
            <a:ext cx="4572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2400" b="0" i="0" u="none">
                <a:solidFill>
                  <a:srgbClr val="B3261E"/>
                </a:solidFill>
                <a:latin typeface="Barlow Condensed SemiBol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19248" y="3817112"/>
            <a:ext cx="3986646" cy="6471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600" b="1" i="0" u="none">
                <a:solidFill>
                  <a:srgbClr val="1C2B3A"/>
                </a:solidFill>
                <a:latin typeface="Barlow"/>
              </a:rPr>
              <a:t>AND Stadtteil = 'Lindenhof'</a:t>
            </a:r>
            <a:r>
              <a:rPr sz="1600" b="0" i="0" u="none">
                <a:solidFill>
                  <a:srgbClr val="1C2B3A"/>
                </a:solidFill>
                <a:latin typeface="Barlow"/>
              </a:rPr>
              <a:t> – erst jetzt weiter filtern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24888" y="4638040"/>
            <a:ext cx="4718166" cy="75692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924888" y="4638040"/>
            <a:ext cx="73152" cy="756920"/>
          </a:xfrm>
          <a:prstGeom prst="rect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062048" y="4711192"/>
            <a:ext cx="4572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2400" b="0" i="0" u="none">
                <a:solidFill>
                  <a:srgbClr val="B3261E"/>
                </a:solidFill>
                <a:latin typeface="Barlow Condensed SemiBol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19248" y="4711192"/>
            <a:ext cx="3986646" cy="6471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600" b="1" i="0" u="none">
                <a:solidFill>
                  <a:srgbClr val="1C2B3A"/>
                </a:solidFill>
                <a:latin typeface="Barlow"/>
              </a:rPr>
              <a:t>SELECT</a:t>
            </a:r>
            <a:r>
              <a:rPr sz="1600" b="0" i="0" u="none">
                <a:solidFill>
                  <a:srgbClr val="1C2B3A"/>
                </a:solidFill>
                <a:latin typeface="Barlow"/>
              </a:rPr>
              <a:t> – RadID, Typ und Stationsname zeigen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2 · SPUR DER RÄDER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Roter Faden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11094415" cy="434340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10637215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050" b="1" i="0" u="none" spc="120">
                <a:solidFill>
                  <a:srgbClr val="2F6B4F"/>
                </a:solidFill>
                <a:latin typeface="IBM Plex Mono"/>
              </a:rPr>
              <a:t>UNPLUGGED · 15 MIN · MATERIAL: KARTEN + 24 WOLLFÄDEN JE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194560"/>
            <a:ext cx="10545775" cy="18408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900" b="0" i="0" u="none">
                <a:solidFill>
                  <a:srgbClr val="1C2B3A"/>
                </a:solidFill>
                <a:latin typeface="Barlow"/>
              </a:rPr>
              <a:t>1. Stationskarten links, Radkarten rechts auf den Tisch legen.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900" b="0" i="0" u="none">
                <a:solidFill>
                  <a:srgbClr val="1C2B3A"/>
                </a:solidFill>
                <a:latin typeface="Barlow"/>
              </a:rPr>
              <a:t>2. </a:t>
            </a:r>
            <a:r>
              <a:rPr sz="1710" b="0" i="0" u="none">
                <a:solidFill>
                  <a:srgbClr val="1C2B3A"/>
                </a:solidFill>
                <a:latin typeface="IBM Plex Mono"/>
              </a:rPr>
              <a:t>FROM Rad, Station</a:t>
            </a:r>
            <a:r>
              <a:rPr sz="1900" b="0" i="0" u="none">
                <a:solidFill>
                  <a:srgbClr val="1C2B3A"/>
                </a:solidFill>
                <a:latin typeface="Barlow"/>
              </a:rPr>
              <a:t>: Verbindet </a:t>
            </a:r>
            <a:r>
              <a:rPr sz="1900" b="1" i="0" u="none">
                <a:solidFill>
                  <a:srgbClr val="1C2B3A"/>
                </a:solidFill>
                <a:latin typeface="Barlow"/>
              </a:rPr>
              <a:t>jedes</a:t>
            </a:r>
            <a:r>
              <a:rPr sz="1900" b="0" i="0" u="none">
                <a:solidFill>
                  <a:srgbClr val="1C2B3A"/>
                </a:solidFill>
                <a:latin typeface="Barlow"/>
              </a:rPr>
              <a:t> Rad mit </a:t>
            </a:r>
            <a:r>
              <a:rPr sz="1900" b="1" i="0" u="none">
                <a:solidFill>
                  <a:srgbClr val="1C2B3A"/>
                </a:solidFill>
                <a:latin typeface="Barlow"/>
              </a:rPr>
              <a:t>jeder</a:t>
            </a:r>
            <a:r>
              <a:rPr sz="1900" b="0" i="0" u="none">
                <a:solidFill>
                  <a:srgbClr val="1C2B3A"/>
                </a:solidFill>
                <a:latin typeface="Barlow"/>
              </a:rPr>
              <a:t> Station durch einen Faden. Zählt die Fäden.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900" b="0" i="0" u="none">
                <a:solidFill>
                  <a:srgbClr val="1C2B3A"/>
                </a:solidFill>
                <a:latin typeface="Barlow"/>
              </a:rPr>
              <a:t>3. </a:t>
            </a:r>
            <a:r>
              <a:rPr sz="1710" b="0" i="0" u="none">
                <a:solidFill>
                  <a:srgbClr val="1C2B3A"/>
                </a:solidFill>
                <a:latin typeface="IBM Plex Mono"/>
              </a:rPr>
              <a:t>WHERE Rad.StationID = Station.StationID</a:t>
            </a:r>
            <a:r>
              <a:rPr sz="1900" b="0" i="0" u="none">
                <a:solidFill>
                  <a:srgbClr val="1C2B3A"/>
                </a:solidFill>
                <a:latin typeface="Barlow"/>
              </a:rPr>
              <a:t>: Entfernt alle Fäden, bei denen die Nummern nicht übereinstimmen.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900" b="0" i="0" u="none">
                <a:solidFill>
                  <a:srgbClr val="1C2B3A"/>
                </a:solidFill>
                <a:latin typeface="Barlow"/>
              </a:rPr>
              <a:t>4. Wo ist Rad 6? Warum taucht Deichtor nicht auf? Was passiert ohne WHERE?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900" b="0" i="0" u="none">
                <a:solidFill>
                  <a:srgbClr val="1C2B3A"/>
                </a:solidFill>
                <a:latin typeface="Barlow"/>
              </a:rPr>
              <a:t>5. Schnelle Teams: </a:t>
            </a:r>
            <a:r>
              <a:rPr sz="1710" b="0" i="0" u="none">
                <a:solidFill>
                  <a:srgbClr val="1C2B3A"/>
                </a:solidFill>
                <a:latin typeface="IBM Plex Mono"/>
              </a:rPr>
              <a:t>AND Station.Stadtteil = 'Hafenviertel'</a:t>
            </a:r>
            <a:r>
              <a:rPr sz="1900" b="0" i="0" u="none">
                <a:solidFill>
                  <a:srgbClr val="1C2B3A"/>
                </a:solidFill>
                <a:latin typeface="Barlow"/>
              </a:rPr>
              <a:t> – welche Fäden bleiben?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2 · SPUR DER RÄDER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Ab ins Lab: Ermittlung 2.1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11094415" cy="2926080"/>
          </a:xfrm>
          <a:prstGeom prst="roundRect">
            <a:avLst>
              <a:gd name="adj" fmla="val 4000"/>
            </a:avLst>
          </a:prstGeom>
          <a:solidFill>
            <a:srgbClr val="E2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10637215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050" b="1" i="0" u="none" spc="120">
                <a:solidFill>
                  <a:srgbClr val="2C5A85"/>
                </a:solidFill>
                <a:latin typeface="IBM Plex Mono"/>
              </a:rPr>
              <a:t>SPUR IM 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194560"/>
            <a:ext cx="10545775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600" b="0" i="0" u="none">
                <a:solidFill>
                  <a:srgbClr val="1C2B3A"/>
                </a:solidFill>
                <a:latin typeface="Barlow Condensed SemiBold"/>
              </a:rPr>
              <a:t>„Der rote Faden“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900" b="1" i="0" u="none">
                <a:solidFill>
                  <a:srgbClr val="1C2B3A"/>
                </a:solidFill>
                <a:latin typeface="Barlow"/>
              </a:rPr>
              <a:t>Aufgaben:</a:t>
            </a:r>
            <a:r>
              <a:rPr sz="1900" b="0" i="0" u="none">
                <a:solidFill>
                  <a:srgbClr val="1C2B3A"/>
                </a:solidFill>
                <a:latin typeface="Barlow"/>
              </a:rPr>
              <a:t> A2-E1-01 … 08 (</a:t>
            </a:r>
            <a:r>
              <a:rPr sz="1900" b="0" i="0" u="none">
                <a:solidFill>
                  <a:srgbClr val="D4B062"/>
                </a:solidFill>
                <a:latin typeface="Segoe UI Symbol"/>
              </a:rPr>
              <a:t>★</a:t>
            </a:r>
            <a:r>
              <a:rPr sz="1900" b="0" i="0" u="none">
                <a:solidFill>
                  <a:srgbClr val="1C2B3A"/>
                </a:solidFill>
                <a:latin typeface="Barlow"/>
              </a:rPr>
              <a:t> → </a:t>
            </a:r>
            <a:r>
              <a:rPr sz="1900" b="0" i="0" u="none">
                <a:solidFill>
                  <a:srgbClr val="D4B062"/>
                </a:solidFill>
                <a:latin typeface="Segoe UI Symbol"/>
              </a:rPr>
              <a:t>★★</a:t>
            </a:r>
            <a:r>
              <a:rPr sz="1900" b="0" i="0" u="none">
                <a:solidFill>
                  <a:srgbClr val="1C2B3A"/>
                </a:solidFill>
                <a:latin typeface="Barlow"/>
              </a:rPr>
              <a:t> → </a:t>
            </a:r>
            <a:r>
              <a:rPr sz="1900" b="0" i="0" u="none">
                <a:solidFill>
                  <a:srgbClr val="D4B062"/>
                </a:solidFill>
                <a:latin typeface="Segoe UI Symbol"/>
              </a:rPr>
              <a:t>★★★</a:t>
            </a:r>
            <a:r>
              <a:rPr sz="1900" b="0" i="0" u="none">
                <a:solidFill>
                  <a:srgbClr val="1C2B3A"/>
                </a:solidFill>
                <a:latin typeface="Barlow"/>
              </a:rPr>
              <a:t>) · Cold Case A2-E1-CC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900" b="1" i="0" u="none">
                <a:solidFill>
                  <a:srgbClr val="1C2B3A"/>
                </a:solidFill>
                <a:latin typeface="Barlow"/>
              </a:rPr>
              <a:t>Werkzeug:</a:t>
            </a:r>
            <a:r>
              <a:rPr sz="1900" b="0" i="0" u="none">
                <a:solidFill>
                  <a:srgbClr val="1C2B3A"/>
                </a:solidFill>
                <a:latin typeface="Barlow"/>
              </a:rPr>
              <a:t> Spurenbrett (Einstieg A2-E1-03)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00600"/>
            <a:ext cx="11094415" cy="71755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700" b="0" i="0" u="none">
                <a:solidFill>
                  <a:srgbClr val="E8E1D3"/>
                </a:solidFill>
                <a:latin typeface="Barlow"/>
              </a:rPr>
              <a:t>▸ Erst das Spurenbrett, dann Kurzschreibweise, dann SQL.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700" b="0" i="0" u="none">
                <a:solidFill>
                  <a:srgbClr val="E8E1D3"/>
                </a:solidFill>
                <a:latin typeface="Barlow"/>
              </a:rPr>
              <a:t>▸ AB 2.1 parallel: Aufträge 1–3 und 5 auf Papier, 4 im Lab.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2 · SPUR DER RÄDER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Das Verbund-Rezept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11094415" cy="4343400"/>
          </a:xfrm>
          <a:prstGeom prst="roundRect">
            <a:avLst>
              <a:gd name="adj" fmla="val 4000"/>
            </a:avLst>
          </a:prstGeom>
          <a:solidFill>
            <a:srgbClr val="E2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10637215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050" b="1" i="0" u="none" spc="120">
                <a:solidFill>
                  <a:srgbClr val="2C5A85"/>
                </a:solidFill>
                <a:latin typeface="IBM Plex Mono"/>
              </a:rPr>
              <a:t>ERMITTLER-NOTIZ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194560"/>
            <a:ext cx="10545775" cy="19329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000" b="0" i="0" u="none">
                <a:solidFill>
                  <a:srgbClr val="1C2B3A"/>
                </a:solidFill>
                <a:latin typeface="Barlow"/>
              </a:rPr>
              <a:t>▸ Alle beteiligten Tabellen in </a:t>
            </a:r>
            <a:r>
              <a:rPr sz="2000" b="1" i="0" u="none">
                <a:solidFill>
                  <a:srgbClr val="1C2B3A"/>
                </a:solidFill>
                <a:latin typeface="Barlow"/>
              </a:rPr>
              <a:t>FROM</a:t>
            </a:r>
            <a:r>
              <a:rPr sz="2000" b="0" i="0" u="none">
                <a:solidFill>
                  <a:srgbClr val="1C2B3A"/>
                </a:solidFill>
                <a:latin typeface="Barlow"/>
              </a:rPr>
              <a:t>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000" b="0" i="0" u="none">
                <a:solidFill>
                  <a:srgbClr val="1C2B3A"/>
                </a:solidFill>
                <a:latin typeface="Barlow"/>
              </a:rPr>
              <a:t>▸ Je Tabellenpaar eine </a:t>
            </a:r>
            <a:r>
              <a:rPr sz="2000" b="1" i="0" u="none">
                <a:solidFill>
                  <a:srgbClr val="1C2B3A"/>
                </a:solidFill>
                <a:latin typeface="Barlow"/>
              </a:rPr>
              <a:t>Verbundbedingung</a:t>
            </a:r>
            <a:r>
              <a:rPr sz="2000" b="0" i="0" u="none">
                <a:solidFill>
                  <a:srgbClr val="1C2B3A"/>
                </a:solidFill>
                <a:latin typeface="Barlow"/>
              </a:rPr>
              <a:t> FK = PK (n Tabellen → n − 1 Bedingungen).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000" b="0" i="0" u="none">
                <a:solidFill>
                  <a:srgbClr val="1C2B3A"/>
                </a:solidFill>
                <a:latin typeface="Barlow"/>
              </a:rPr>
              <a:t>▸ Gleichnamige Spalten mit </a:t>
            </a:r>
            <a:r>
              <a:rPr sz="2000" b="1" i="0" u="none">
                <a:solidFill>
                  <a:srgbClr val="1C2B3A"/>
                </a:solidFill>
                <a:latin typeface="Barlow"/>
              </a:rPr>
              <a:t>Tabellenpräfix</a:t>
            </a:r>
            <a:r>
              <a:rPr sz="2000" b="0" i="0" u="none">
                <a:solidFill>
                  <a:srgbClr val="1C2B3A"/>
                </a:solidFill>
                <a:latin typeface="Barlow"/>
              </a:rPr>
              <a:t>: </a:t>
            </a:r>
            <a:r>
              <a:rPr sz="1800" b="0" i="0" u="none">
                <a:solidFill>
                  <a:srgbClr val="1C2B3A"/>
                </a:solidFill>
                <a:latin typeface="IBM Plex Mono"/>
              </a:rPr>
              <a:t>Rad.StationID</a:t>
            </a:r>
            <a:r>
              <a:rPr sz="2000" b="0" i="0" u="none">
                <a:solidFill>
                  <a:srgbClr val="1C2B3A"/>
                </a:solidFill>
                <a:latin typeface="Barlow"/>
              </a:rPr>
              <a:t>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000" b="0" i="0" u="none">
                <a:solidFill>
                  <a:srgbClr val="1C2B3A"/>
                </a:solidFill>
                <a:latin typeface="Barlow"/>
              </a:rPr>
              <a:t>▸ Erst dann weitere Bedingungen mit </a:t>
            </a:r>
            <a:r>
              <a:rPr sz="2000" b="1" i="0" u="none">
                <a:solidFill>
                  <a:srgbClr val="1C2B3A"/>
                </a:solidFill>
                <a:latin typeface="Barlow"/>
              </a:rPr>
              <a:t>AND</a:t>
            </a:r>
            <a:r>
              <a:rPr sz="2000" b="0" i="0" u="none">
                <a:solidFill>
                  <a:srgbClr val="1C2B3A"/>
                </a:solidFill>
                <a:latin typeface="Barlow"/>
              </a:rPr>
              <a:t>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000" b="0" i="0" u="none">
                <a:solidFill>
                  <a:srgbClr val="1C2B3A"/>
                </a:solidFill>
                <a:latin typeface="Barlow"/>
              </a:rPr>
              <a:t>▸ Ohne Verbundbedingung entsteht das Kreuzprodukt; Zeilen mit NULL im Fremdschlüssel fallen heraus.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2 · SPUR DER RÄDER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Abi-Format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11094415" cy="434340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 w="25400">
            <a:solidFill>
              <a:srgbClr val="E05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10637215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050" b="1" i="0" u="none" spc="120">
                <a:solidFill>
                  <a:srgbClr val="B3261E"/>
                </a:solidFill>
                <a:latin typeface="IBM Plex Mono"/>
              </a:rPr>
              <a:t>ABI-ECKE · OPERATOR ERLÄUTERN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194560"/>
            <a:ext cx="10545775" cy="726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000" b="0" i="0" u="none">
                <a:solidFill>
                  <a:srgbClr val="1C2B3A"/>
                </a:solidFill>
                <a:latin typeface="Barlow"/>
              </a:rPr>
              <a:t>Gegeben ist die Relation Rad der Datenbank eines Fahrradverleihs. </a:t>
            </a:r>
            <a:r>
              <a:rPr sz="2000" b="1" i="0" u="none">
                <a:solidFill>
                  <a:srgbClr val="1C2B3A"/>
                </a:solidFill>
                <a:latin typeface="Barlow"/>
              </a:rPr>
              <a:t>Erläutern</a:t>
            </a:r>
            <a:r>
              <a:rPr sz="2000" b="0" i="0" u="none">
                <a:solidFill>
                  <a:srgbClr val="1C2B3A"/>
                </a:solidFill>
                <a:latin typeface="Barlow"/>
              </a:rPr>
              <a:t> Sie die Kennzeichnungen in dieser Relation. [2 BE]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994152"/>
            <a:ext cx="10545775" cy="4978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800" b="0" i="0" u="none">
                <a:solidFill>
                  <a:srgbClr val="1C2B3A"/>
                </a:solidFill>
                <a:latin typeface="IBM Plex Mono"/>
              </a:rPr>
              <a:t>Rad(</a:t>
            </a:r>
            <a:r>
              <a:rPr sz="1800" b="0" i="0" u="sng">
                <a:solidFill>
                  <a:srgbClr val="1C2B3A"/>
                </a:solidFill>
                <a:latin typeface="IBM Plex Mono"/>
              </a:rPr>
              <a:t>RadID</a:t>
            </a:r>
            <a:r>
              <a:rPr sz="1800" b="0" i="0" u="none">
                <a:solidFill>
                  <a:srgbClr val="1C2B3A"/>
                </a:solidFill>
                <a:latin typeface="IBM Plex Mono"/>
              </a:rPr>
              <a:t>, Typ, Baujahr, </a:t>
            </a:r>
            <a:r>
              <a:rPr sz="1800" b="0" i="0" u="none">
                <a:solidFill>
                  <a:srgbClr val="B3261E"/>
                </a:solidFill>
                <a:latin typeface="IBM Plex Mono"/>
              </a:rPr>
              <a:t>↑</a:t>
            </a:r>
            <a:r>
              <a:rPr sz="1800" b="0" i="0" u="none">
                <a:solidFill>
                  <a:srgbClr val="1C2B3A"/>
                </a:solidFill>
                <a:latin typeface="IBM Plex Mono"/>
              </a:rPr>
              <a:t>StationID, Status)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2 · SPUR DER RÄDER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935705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Lösung Abi-Format (Rad)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Marker Lehrkraft"/>
          <p:cNvSpPr/>
          <p:nvPr/>
        </p:nvSpPr>
        <p:spPr>
          <a:xfrm>
            <a:off x="10042855" y="310896"/>
            <a:ext cx="1600200" cy="310896"/>
          </a:xfrm>
          <a:prstGeom prst="roundRect">
            <a:avLst>
              <a:gd name="adj" fmla="val 4000"/>
            </a:avLst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042855" y="310896"/>
            <a:ext cx="160020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 i="0" u="none">
                <a:solidFill>
                  <a:srgbClr val="141B22"/>
                </a:solidFill>
                <a:latin typeface="IBM Plex Mono"/>
              </a:rPr>
              <a:t>NUR LEHRKRAFT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91640"/>
            <a:ext cx="11094415" cy="434340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 w="25400">
            <a:solidFill>
              <a:srgbClr val="5FA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10637215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050" b="1" i="0" u="none" spc="120">
                <a:solidFill>
                  <a:srgbClr val="2F6B4F"/>
                </a:solidFill>
                <a:latin typeface="IBM Plex Mono"/>
              </a:rPr>
              <a:t>LÖSUNG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194560"/>
            <a:ext cx="10545775" cy="7543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 i="0" u="none">
                <a:solidFill>
                  <a:srgbClr val="1C2B3A"/>
                </a:solidFill>
                <a:latin typeface="Barlow"/>
              </a:rPr>
              <a:t>▸ </a:t>
            </a:r>
            <a:r>
              <a:rPr sz="1620" b="0" i="0" u="none">
                <a:solidFill>
                  <a:srgbClr val="1C2B3A"/>
                </a:solidFill>
                <a:latin typeface="IBM Plex Mono"/>
              </a:rPr>
              <a:t>RadID</a:t>
            </a:r>
            <a:r>
              <a:rPr sz="1800" b="0" i="0" u="none">
                <a:solidFill>
                  <a:srgbClr val="1C2B3A"/>
                </a:solidFill>
                <a:latin typeface="Barlow"/>
              </a:rPr>
              <a:t> unterstrichen: Primärschlüssel, identifiziert jedes Rad eindeutig (1 BE).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 i="0" u="none">
                <a:solidFill>
                  <a:srgbClr val="1C2B3A"/>
                </a:solidFill>
                <a:latin typeface="Barlow"/>
              </a:rPr>
              <a:t>▸ </a:t>
            </a:r>
            <a:r>
              <a:rPr sz="1620" b="0" i="0" u="none">
                <a:solidFill>
                  <a:srgbClr val="1C2B3A"/>
                </a:solidFill>
                <a:latin typeface="IBM Plex Mono"/>
              </a:rPr>
              <a:t>↑StationID</a:t>
            </a:r>
            <a:r>
              <a:rPr sz="1800" b="0" i="0" u="none">
                <a:solidFill>
                  <a:srgbClr val="1C2B3A"/>
                </a:solidFill>
                <a:latin typeface="Barlow"/>
              </a:rPr>
              <a:t>: Fremdschlüssel, verweist auf den Primärschlüssel StationID der Relation Station – die Station, an der das Rad steht; NULL, wenn es an keiner Station steht (1 BE).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2 · SPUR DER RÄDER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Cliffhanger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11094415" cy="420624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10637215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050" b="1" i="0" u="none" spc="120">
                <a:solidFill>
                  <a:srgbClr val="B3261E"/>
                </a:solidFill>
                <a:latin typeface="IBM Plex Mono"/>
              </a:rPr>
              <a:t>BRIEFING · JURI BRANDES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40280"/>
            <a:ext cx="10545775" cy="3474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2200" b="0" i="1" u="none">
                <a:solidFill>
                  <a:srgbClr val="1C2B3A"/>
                </a:solidFill>
                <a:latin typeface="Barlow"/>
              </a:rPr>
              <a:t>Fünf Ausleihen, alle gestartet an der Station Hafenkante, alle mitten in der Nacht – und bei keiner steht eine Ende-Zeit.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2 · SPUR DER RÄDER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Nachtfahrten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11094415" cy="420624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10637215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050" b="1" i="0" u="none" spc="120">
                <a:solidFill>
                  <a:srgbClr val="B3261E"/>
                </a:solidFill>
                <a:latin typeface="IBM Plex Mono"/>
              </a:rPr>
              <a:t>BRIEFING · EDDA LORENZ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40280"/>
            <a:ext cx="10545775" cy="3474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2200" b="0" i="1" u="none">
                <a:solidFill>
                  <a:srgbClr val="1C2B3A"/>
                </a:solidFill>
                <a:latin typeface="Barlow"/>
              </a:rPr>
              <a:t>Bent Hollwedel war heute Morgen hier, sichtlich nervös: Die Räder bleiben verschwunden, die Versicherung stellt Fragen. Wir wissen, wo die Fahrten begannen – aber nicht, wer sie gestartet hat. Plant euren Weg durchs Schema, bevor ihr tippt.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2 · SPUR DER RÄDER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Der Ermittlungsweg durchs Schema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11094415" cy="434340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1920240"/>
            <a:ext cx="10545775" cy="393065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900" b="0" i="0" u="none">
                <a:solidFill>
                  <a:srgbClr val="1C2B3A"/>
                </a:solidFill>
                <a:latin typeface="Barlow"/>
              </a:rPr>
              <a:t>Frage → Attribute → Tabellen → Verbundbedingungen → Filter → Sortierung</a:t>
            </a:r>
          </a:p>
        </p:txBody>
      </p:sp>
      <p:pic>
        <p:nvPicPr>
          <p:cNvPr id="10" name="Picture 9" descr="schema_we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1028" y="2386457"/>
            <a:ext cx="6389638" cy="351142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2 · SPUR DER RÄDER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Tabellenalias und Spaltenalias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14</a:t>
            </a:r>
          </a:p>
        </p:txBody>
      </p:sp>
      <p:graphicFrame>
        <p:nvGraphicFramePr>
          <p:cNvPr id="8" name="Datentabelle"/>
          <p:cNvGraphicFramePr>
            <a:graphicFrameLocks noGrp="1"/>
          </p:cNvGraphicFramePr>
          <p:nvPr/>
        </p:nvGraphicFramePr>
        <p:xfrm>
          <a:off x="548640" y="1691640"/>
          <a:ext cx="11094415" cy="13385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20000"/>
                <a:gridCol w="8574415"/>
              </a:tblGrid>
              <a:tr h="334645">
                <a:tc>
                  <a:txBody>
                    <a:bodyPr/>
                    <a:lstStyle/>
                    <a:p>
                      <a:r>
                        <a:rPr sz="1564" b="1" i="0" u="none">
                          <a:solidFill>
                            <a:srgbClr val="1C2B3A"/>
                          </a:solidFill>
                          <a:latin typeface="IBM Plex Mono"/>
                        </a:rPr>
                        <a:t>Fachbegriff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64" b="1" i="0" u="none">
                          <a:solidFill>
                            <a:srgbClr val="1C2B3A"/>
                          </a:solidFill>
                          <a:latin typeface="IBM Plex Mono"/>
                        </a:rPr>
                        <a:t>Bedeutung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r>
                        <a:rPr sz="1700" b="0" i="0" u="none">
                          <a:solidFill>
                            <a:srgbClr val="1C2B3A"/>
                          </a:solidFill>
                          <a:latin typeface="Barlow"/>
                        </a:rPr>
                        <a:t>Tabellenalias (ohne AS)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30" b="0" i="0" u="none">
                          <a:solidFill>
                            <a:srgbClr val="1C2B3A"/>
                          </a:solidFill>
                          <a:latin typeface="IBM Plex Mono"/>
                        </a:rPr>
                        <a:t>FROM Ausleihe a, Kunde k</a:t>
                      </a:r>
                      <a:r>
                        <a:rPr sz="1700" b="0" i="0" u="none">
                          <a:solidFill>
                            <a:srgbClr val="1C2B3A"/>
                          </a:solidFill>
                          <a:latin typeface="Barlow"/>
                        </a:rPr>
                        <a:t> – gilt in der ganzen Abfrage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r>
                        <a:rPr sz="1700" b="0" i="0" u="none">
                          <a:solidFill>
                            <a:srgbClr val="1C2B3A"/>
                          </a:solidFill>
                          <a:latin typeface="Barlow"/>
                        </a:rPr>
                        <a:t>Spaltenalias (mit AS)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30" b="0" i="0" u="none">
                          <a:solidFill>
                            <a:srgbClr val="1C2B3A"/>
                          </a:solidFill>
                          <a:latin typeface="IBM Plex Mono"/>
                        </a:rPr>
                        <a:t>s1.Name AS Startort</a:t>
                      </a:r>
                      <a:r>
                        <a:rPr sz="1700" b="0" i="0" u="none">
                          <a:solidFill>
                            <a:srgbClr val="1C2B3A"/>
                          </a:solidFill>
                          <a:latin typeface="Barlow"/>
                        </a:rPr>
                        <a:t> – benennt die Ergebnisspalte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r>
                        <a:rPr sz="1700" b="0" i="0" u="none">
                          <a:solidFill>
                            <a:srgbClr val="1C2B3A"/>
                          </a:solidFill>
                          <a:latin typeface="Barlow"/>
                        </a:rPr>
                        <a:t>Pflicht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 u="none">
                          <a:solidFill>
                            <a:srgbClr val="1C2B3A"/>
                          </a:solidFill>
                          <a:latin typeface="Barlow"/>
                        </a:rPr>
                        <a:t>wenn eine Tabelle zweimal vorkommt (</a:t>
                      </a:r>
                      <a:r>
                        <a:rPr sz="1530" b="0" i="0" u="none">
                          <a:solidFill>
                            <a:srgbClr val="1C2B3A"/>
                          </a:solidFill>
                          <a:latin typeface="IBM Plex Mono"/>
                        </a:rPr>
                        <a:t>Station s1, Station s2</a:t>
                      </a:r>
                      <a:r>
                        <a:rPr sz="1700" b="0" i="0" u="none">
                          <a:solidFill>
                            <a:srgbClr val="1C2B3A"/>
                          </a:solidFill>
                          <a:latin typeface="Barlow"/>
                        </a:rPr>
                        <a:t>)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213100"/>
            <a:ext cx="11094415" cy="37719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 i="0" u="none">
                <a:solidFill>
                  <a:srgbClr val="E8E1D3"/>
                </a:solidFill>
                <a:latin typeface="Barlow"/>
              </a:rPr>
              <a:t>Beispiel: Nachname und Startzeit jeder Ausleihe – mit Aliasen kurz und lesbar.</a:t>
            </a:r>
          </a:p>
        </p:txBody>
      </p:sp>
      <p:sp>
        <p:nvSpPr>
          <p:cNvPr id="10" name="SQL-Hintergrund"/>
          <p:cNvSpPr/>
          <p:nvPr/>
        </p:nvSpPr>
        <p:spPr>
          <a:xfrm>
            <a:off x="548640" y="3663442"/>
            <a:ext cx="11094415" cy="1272540"/>
          </a:xfrm>
          <a:prstGeom prst="roundRect">
            <a:avLst>
              <a:gd name="adj" fmla="val 4000"/>
            </a:avLst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SQL"/>
          <p:cNvSpPr txBox="1"/>
          <p:nvPr/>
        </p:nvSpPr>
        <p:spPr>
          <a:xfrm>
            <a:off x="731520" y="3800602"/>
            <a:ext cx="10728655" cy="99821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</a:pPr>
            <a:r>
              <a:rPr sz="2000" i="0">
                <a:solidFill>
                  <a:srgbClr val="F2A65A"/>
                </a:solidFill>
                <a:latin typeface="IBM Plex Mono"/>
              </a:rPr>
              <a:t>SELECT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k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Nachname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a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Start</a:t>
            </a:r>
          </a:p>
          <a:p>
            <a:pPr>
              <a:lnSpc>
                <a:spcPct val="100000"/>
              </a:lnSpc>
            </a:pPr>
            <a:r>
              <a:rPr sz="2000" i="0">
                <a:solidFill>
                  <a:srgbClr val="F2A65A"/>
                </a:solidFill>
                <a:latin typeface="IBM Plex Mono"/>
              </a:rPr>
              <a:t>FROM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Ausleihe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a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Kunde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k</a:t>
            </a:r>
          </a:p>
          <a:p>
            <a:pPr>
              <a:lnSpc>
                <a:spcPct val="100000"/>
              </a:lnSpc>
            </a:pPr>
            <a:r>
              <a:rPr sz="2000" i="0">
                <a:solidFill>
                  <a:srgbClr val="F2A65A"/>
                </a:solidFill>
                <a:latin typeface="IBM Plex Mono"/>
              </a:rPr>
              <a:t>WHERE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a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KundenID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=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k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KundenID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2 · SPUR DER RÄDER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Zwei Pfeile auf Station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15</a:t>
            </a:r>
          </a:p>
        </p:txBody>
      </p:sp>
      <p:sp>
        <p:nvSpPr>
          <p:cNvPr id="8" name="SQL-Hintergrund"/>
          <p:cNvSpPr/>
          <p:nvPr/>
        </p:nvSpPr>
        <p:spPr>
          <a:xfrm>
            <a:off x="548640" y="1691640"/>
            <a:ext cx="6101928" cy="1653539"/>
          </a:xfrm>
          <a:prstGeom prst="roundRect">
            <a:avLst>
              <a:gd name="adj" fmla="val 4000"/>
            </a:avLst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SQL"/>
          <p:cNvSpPr txBox="1"/>
          <p:nvPr/>
        </p:nvSpPr>
        <p:spPr>
          <a:xfrm>
            <a:off x="731520" y="1828800"/>
            <a:ext cx="5736168" cy="137921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</a:pPr>
            <a:r>
              <a:rPr sz="1400" i="0">
                <a:solidFill>
                  <a:srgbClr val="F2A65A"/>
                </a:solidFill>
                <a:latin typeface="IBM Plex Mono"/>
              </a:rPr>
              <a:t>SELECT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a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AusleihID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s1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Name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400" i="0">
                <a:solidFill>
                  <a:srgbClr val="F2A65A"/>
                </a:solidFill>
                <a:latin typeface="IBM Plex Mono"/>
              </a:rPr>
              <a:t>AS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Von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s2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Name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400" i="0">
                <a:solidFill>
                  <a:srgbClr val="F2A65A"/>
                </a:solidFill>
                <a:latin typeface="IBM Plex Mono"/>
              </a:rPr>
              <a:t>AS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Nach</a:t>
            </a:r>
          </a:p>
          <a:p>
            <a:pPr>
              <a:lnSpc>
                <a:spcPct val="100000"/>
              </a:lnSpc>
            </a:pPr>
            <a:r>
              <a:rPr sz="1400" i="0">
                <a:solidFill>
                  <a:srgbClr val="F2A65A"/>
                </a:solidFill>
                <a:latin typeface="IBM Plex Mono"/>
              </a:rPr>
              <a:t>FROM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Ausleihe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a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Station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s1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Station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s2</a:t>
            </a:r>
          </a:p>
          <a:p>
            <a:pPr>
              <a:lnSpc>
                <a:spcPct val="100000"/>
              </a:lnSpc>
            </a:pPr>
            <a:r>
              <a:rPr sz="1400" i="0">
                <a:solidFill>
                  <a:srgbClr val="F2A65A"/>
                </a:solidFill>
                <a:latin typeface="IBM Plex Mono"/>
              </a:rPr>
              <a:t>WHERE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a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StartStation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=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s1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StationID</a:t>
            </a:r>
          </a:p>
          <a:p>
            <a:pPr>
              <a:lnSpc>
                <a:spcPct val="100000"/>
              </a:lnSpc>
            </a:pPr>
            <a:r>
              <a:rPr sz="1400" i="0">
                <a:solidFill>
                  <a:srgbClr val="D8E3D0"/>
                </a:solidFill>
                <a:latin typeface="IBM Plex Mono"/>
              </a:rPr>
              <a:t>  </a:t>
            </a:r>
            <a:r>
              <a:rPr sz="1400" i="0">
                <a:solidFill>
                  <a:srgbClr val="F2A65A"/>
                </a:solidFill>
                <a:latin typeface="IBM Plex Mono"/>
              </a:rPr>
              <a:t>AND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a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ZielStation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=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s2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StationID</a:t>
            </a:r>
          </a:p>
          <a:p>
            <a:pPr>
              <a:lnSpc>
                <a:spcPct val="100000"/>
              </a:lnSpc>
            </a:pPr>
            <a:r>
              <a:rPr sz="1400" i="0">
                <a:solidFill>
                  <a:srgbClr val="D8E3D0"/>
                </a:solidFill>
                <a:latin typeface="IBM Plex Mono"/>
              </a:rPr>
              <a:t>  </a:t>
            </a:r>
            <a:r>
              <a:rPr sz="1400" i="0">
                <a:solidFill>
                  <a:srgbClr val="F2A65A"/>
                </a:solidFill>
                <a:latin typeface="IBM Plex Mono"/>
              </a:rPr>
              <a:t>AND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a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Start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400" i="0">
                <a:solidFill>
                  <a:srgbClr val="F2A65A"/>
                </a:solidFill>
                <a:latin typeface="IBM Plex Mono"/>
              </a:rPr>
              <a:t>LIKE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400" i="0">
                <a:solidFill>
                  <a:srgbClr val="9BD3A6"/>
                </a:solidFill>
                <a:latin typeface="IBM Plex Mono"/>
              </a:rPr>
              <a:t>'2026-09-01%'</a:t>
            </a:r>
          </a:p>
          <a:p>
            <a:pPr>
              <a:lnSpc>
                <a:spcPct val="100000"/>
              </a:lnSpc>
            </a:pPr>
            <a:r>
              <a:rPr sz="1400" i="0">
                <a:solidFill>
                  <a:srgbClr val="F2A65A"/>
                </a:solidFill>
                <a:latin typeface="IBM Plex Mono"/>
              </a:rPr>
              <a:t>ORDER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400" i="0">
                <a:solidFill>
                  <a:srgbClr val="F2A65A"/>
                </a:solidFill>
                <a:latin typeface="IBM Plex Mono"/>
              </a:rPr>
              <a:t>BY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a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Start</a:t>
            </a:r>
            <a:r>
              <a:rPr sz="1400" i="0">
                <a:solidFill>
                  <a:srgbClr val="D8E3D0"/>
                </a:solidFill>
                <a:latin typeface="IBM Plex Mono"/>
              </a:rPr>
              <a:t>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36620"/>
            <a:ext cx="610192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000" b="1" i="0" u="none" spc="120">
                <a:solidFill>
                  <a:srgbClr val="D4B062"/>
                </a:solidFill>
                <a:latin typeface="IBM Plex Mono"/>
              </a:rPr>
              <a:t>ERGEBNIS</a:t>
            </a:r>
          </a:p>
        </p:txBody>
      </p:sp>
      <p:graphicFrame>
        <p:nvGraphicFramePr>
          <p:cNvPr id="11" name="Ergebnistabelle"/>
          <p:cNvGraphicFramePr>
            <a:graphicFrameLocks noGrp="1"/>
          </p:cNvGraphicFramePr>
          <p:nvPr/>
        </p:nvGraphicFramePr>
        <p:xfrm>
          <a:off x="548640" y="3756660"/>
          <a:ext cx="4157318" cy="153543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83690"/>
                <a:gridCol w="1486814"/>
                <a:gridCol w="1486814"/>
              </a:tblGrid>
              <a:tr h="255905">
                <a:tc>
                  <a:txBody>
                    <a:bodyPr/>
                    <a:lstStyle/>
                    <a:p>
                      <a:r>
                        <a:rPr sz="1196" b="1" i="0" u="none">
                          <a:solidFill>
                            <a:srgbClr val="1C2B3A"/>
                          </a:solidFill>
                          <a:latin typeface="IBM Plex Mono"/>
                        </a:rPr>
                        <a:t>AusleihID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 b="1" i="0" u="none">
                          <a:solidFill>
                            <a:srgbClr val="1C2B3A"/>
                          </a:solidFill>
                          <a:latin typeface="IBM Plex Mono"/>
                        </a:rPr>
                        <a:t>Von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 b="1" i="0" u="none">
                          <a:solidFill>
                            <a:srgbClr val="1C2B3A"/>
                          </a:solidFill>
                          <a:latin typeface="IBM Plex Mono"/>
                        </a:rPr>
                        <a:t>Nach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</a:tr>
              <a:tr h="255905">
                <a:tc>
                  <a:txBody>
                    <a:bodyPr/>
                    <a:lstStyle/>
                    <a:p>
                      <a:pPr algn="r"/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363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Bahnhof Nord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Schulzentrum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255905">
                <a:tc>
                  <a:txBody>
                    <a:bodyPr/>
                    <a:lstStyle/>
                    <a:p>
                      <a:pPr algn="r"/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364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Universität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Bahnhof Nord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255905">
                <a:tc>
                  <a:txBody>
                    <a:bodyPr/>
                    <a:lstStyle/>
                    <a:p>
                      <a:pPr algn="r"/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111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Klinikum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Rathaus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255905">
                <a:tc>
                  <a:txBody>
                    <a:bodyPr/>
                    <a:lstStyle/>
                    <a:p>
                      <a:pPr algn="r"/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108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Bahnhof Süd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Marktplatz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255905">
                <a:tc>
                  <a:txBody>
                    <a:bodyPr/>
                    <a:lstStyle/>
                    <a:p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…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…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…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924888" y="1691640"/>
            <a:ext cx="4718166" cy="75692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924888" y="1691640"/>
            <a:ext cx="73152" cy="756920"/>
          </a:xfrm>
          <a:prstGeom prst="rect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062048" y="1764792"/>
            <a:ext cx="4572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2400" b="0" i="0" u="none">
                <a:solidFill>
                  <a:srgbClr val="B3261E"/>
                </a:solidFill>
                <a:latin typeface="Barlow Condensed SemiBol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19248" y="1764792"/>
            <a:ext cx="3986646" cy="6471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600" b="1" i="0" u="none">
                <a:solidFill>
                  <a:srgbClr val="1C2B3A"/>
                </a:solidFill>
                <a:latin typeface="Barlow"/>
              </a:rPr>
              <a:t>Station s1, Station s2</a:t>
            </a:r>
            <a:r>
              <a:rPr sz="1600" b="0" i="0" u="none">
                <a:solidFill>
                  <a:srgbClr val="1C2B3A"/>
                </a:solidFill>
                <a:latin typeface="Barlow"/>
              </a:rPr>
              <a:t> – zwei Kopien des Stationsverzeichnisses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24888" y="2585720"/>
            <a:ext cx="4718166" cy="75692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924888" y="2585720"/>
            <a:ext cx="73152" cy="756920"/>
          </a:xfrm>
          <a:prstGeom prst="rect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062048" y="2658872"/>
            <a:ext cx="4572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2400" b="0" i="0" u="none">
                <a:solidFill>
                  <a:srgbClr val="B3261E"/>
                </a:solidFill>
                <a:latin typeface="Barlow Condensed SemiBol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9248" y="2658872"/>
            <a:ext cx="3986646" cy="6471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600" b="1" i="0" u="none">
                <a:solidFill>
                  <a:srgbClr val="1C2B3A"/>
                </a:solidFill>
                <a:latin typeface="Barlow"/>
              </a:rPr>
              <a:t>a.StartStation = s1.StationID</a:t>
            </a:r>
            <a:r>
              <a:rPr sz="1600" b="0" i="0" u="none">
                <a:solidFill>
                  <a:srgbClr val="1C2B3A"/>
                </a:solidFill>
                <a:latin typeface="Barlow"/>
              </a:rPr>
              <a:t> – s1 liefert den Start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24888" y="3479800"/>
            <a:ext cx="4718166" cy="75692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924888" y="3479800"/>
            <a:ext cx="73152" cy="756920"/>
          </a:xfrm>
          <a:prstGeom prst="rect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062048" y="3552952"/>
            <a:ext cx="4572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2400" b="0" i="0" u="none">
                <a:solidFill>
                  <a:srgbClr val="B3261E"/>
                </a:solidFill>
                <a:latin typeface="Barlow Condensed SemiBol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19248" y="3552952"/>
            <a:ext cx="3986646" cy="6471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600" b="1" i="0" u="none">
                <a:solidFill>
                  <a:srgbClr val="1C2B3A"/>
                </a:solidFill>
                <a:latin typeface="Barlow"/>
              </a:rPr>
              <a:t>a.ZielStation = s2.StationID</a:t>
            </a:r>
            <a:r>
              <a:rPr sz="1600" b="0" i="0" u="none">
                <a:solidFill>
                  <a:srgbClr val="1C2B3A"/>
                </a:solidFill>
                <a:latin typeface="Barlow"/>
              </a:rPr>
              <a:t> – s2 liefert das Ziel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24888" y="4373880"/>
            <a:ext cx="4718166" cy="75692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924888" y="4373880"/>
            <a:ext cx="73152" cy="756920"/>
          </a:xfrm>
          <a:prstGeom prst="rect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062048" y="4447032"/>
            <a:ext cx="4572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2400" b="0" i="0" u="none">
                <a:solidFill>
                  <a:srgbClr val="B3261E"/>
                </a:solidFill>
                <a:latin typeface="Barlow Condensed SemiBol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19248" y="4447032"/>
            <a:ext cx="3986646" cy="6471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600" b="1" i="0" u="none">
                <a:solidFill>
                  <a:srgbClr val="1C2B3A"/>
                </a:solidFill>
                <a:latin typeface="Barlow"/>
              </a:rPr>
              <a:t>AS Von / AS Nach</a:t>
            </a:r>
            <a:r>
              <a:rPr sz="1600" b="0" i="0" u="none">
                <a:solidFill>
                  <a:srgbClr val="1C2B3A"/>
                </a:solidFill>
                <a:latin typeface="Barlow"/>
              </a:rPr>
              <a:t> – zwei Namensspalten unterscheidbar machen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2 · SPUR DER RÄDER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NULL im Verbund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11094415" cy="434340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9" name="Datentabelle"/>
          <p:cNvGraphicFramePr>
            <a:graphicFrameLocks noGrp="1"/>
          </p:cNvGraphicFramePr>
          <p:nvPr/>
        </p:nvGraphicFramePr>
        <p:xfrm>
          <a:off x="822959" y="1920240"/>
          <a:ext cx="7066481" cy="12598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93545"/>
                <a:gridCol w="1766620"/>
                <a:gridCol w="1642262"/>
                <a:gridCol w="2264054"/>
              </a:tblGrid>
              <a:tr h="314960">
                <a:tc>
                  <a:txBody>
                    <a:bodyPr/>
                    <a:lstStyle/>
                    <a:p>
                      <a:r>
                        <a:rPr sz="1472" b="1" i="0" u="sng">
                          <a:solidFill>
                            <a:srgbClr val="1C2B3A"/>
                          </a:solidFill>
                          <a:latin typeface="IBM Plex Mono"/>
                        </a:rPr>
                        <a:t>AusleihID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72" b="1" i="0" u="none">
                          <a:solidFill>
                            <a:srgbClr val="B3261E"/>
                          </a:solidFill>
                          <a:latin typeface="IBM Plex Mono"/>
                        </a:rPr>
                        <a:t>↑</a:t>
                      </a:r>
                      <a:r>
                        <a:rPr sz="1472" b="1" i="0" u="none">
                          <a:solidFill>
                            <a:srgbClr val="1C2B3A"/>
                          </a:solidFill>
                          <a:latin typeface="IBM Plex Mono"/>
                        </a:rPr>
                        <a:t>StartStation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72" b="1" i="0" u="none">
                          <a:solidFill>
                            <a:srgbClr val="B3261E"/>
                          </a:solidFill>
                          <a:latin typeface="IBM Plex Mono"/>
                        </a:rPr>
                        <a:t>↑</a:t>
                      </a:r>
                      <a:r>
                        <a:rPr sz="1472" b="1" i="0" u="none">
                          <a:solidFill>
                            <a:srgbClr val="1C2B3A"/>
                          </a:solidFill>
                          <a:latin typeface="IBM Plex Mono"/>
                        </a:rPr>
                        <a:t>ZielStation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72" b="1" i="0" u="none">
                          <a:solidFill>
                            <a:srgbClr val="1C2B3A"/>
                          </a:solidFill>
                          <a:latin typeface="IBM Plex Mono"/>
                        </a:rPr>
                        <a:t>Ende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algn="r"/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287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12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4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2026-09-19 20:33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algn="r"/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465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1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60" b="0" i="1" u="none">
                          <a:solidFill>
                            <a:srgbClr val="58626D"/>
                          </a:solidFill>
                          <a:latin typeface="IBM Plex Mono"/>
                        </a:rPr>
                        <a:t>NULL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60" b="0" i="1" u="none">
                          <a:solidFill>
                            <a:srgbClr val="58626D"/>
                          </a:solidFill>
                          <a:latin typeface="IBM Plex Mono"/>
                        </a:rPr>
                        <a:t>NULL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algn="r"/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466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4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60" b="0" i="1" u="none">
                          <a:solidFill>
                            <a:srgbClr val="58626D"/>
                          </a:solidFill>
                          <a:latin typeface="IBM Plex Mono"/>
                        </a:rPr>
                        <a:t>NULL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60" b="0" i="1" u="none">
                          <a:solidFill>
                            <a:srgbClr val="58626D"/>
                          </a:solidFill>
                          <a:latin typeface="IBM Plex Mono"/>
                        </a:rPr>
                        <a:t>NULL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59" y="3289808"/>
            <a:ext cx="10545775" cy="79121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900" b="0" i="0" u="none">
                <a:solidFill>
                  <a:srgbClr val="1C2B3A"/>
                </a:solidFill>
                <a:latin typeface="Barlow"/>
              </a:rPr>
              <a:t>▸ Verbund über </a:t>
            </a:r>
            <a:r>
              <a:rPr sz="1710" b="0" i="0" u="none">
                <a:solidFill>
                  <a:srgbClr val="1C2B3A"/>
                </a:solidFill>
                <a:latin typeface="IBM Plex Mono"/>
              </a:rPr>
              <a:t>ZielStation</a:t>
            </a:r>
            <a:r>
              <a:rPr sz="1900" b="0" i="0" u="none">
                <a:solidFill>
                  <a:srgbClr val="1C2B3A"/>
                </a:solidFill>
                <a:latin typeface="Barlow"/>
              </a:rPr>
              <a:t>: Ausleihen 465 und 466 verschwinden – ohne Fehlermeldung.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900" b="0" i="0" u="none">
                <a:solidFill>
                  <a:srgbClr val="1C2B3A"/>
                </a:solidFill>
                <a:latin typeface="Barlow"/>
              </a:rPr>
              <a:t>▸ Laufende Ausleihen: </a:t>
            </a:r>
            <a:r>
              <a:rPr sz="1710" b="0" i="0" u="none">
                <a:solidFill>
                  <a:srgbClr val="1C2B3A"/>
                </a:solidFill>
                <a:latin typeface="IBM Plex Mono"/>
              </a:rPr>
              <a:t>Ende IS NULL</a:t>
            </a:r>
            <a:r>
              <a:rPr sz="1900" b="0" i="0" u="none">
                <a:solidFill>
                  <a:srgbClr val="1C2B3A"/>
                </a:solidFill>
                <a:latin typeface="Barlow"/>
              </a:rPr>
              <a:t> – nicht </a:t>
            </a:r>
            <a:r>
              <a:rPr sz="1710" b="0" i="0" u="none">
                <a:solidFill>
                  <a:srgbClr val="1C2B3A"/>
                </a:solidFill>
                <a:latin typeface="IBM Plex Mono"/>
              </a:rPr>
              <a:t>= NULL</a:t>
            </a:r>
            <a:r>
              <a:rPr sz="1900" b="0" i="0" u="none">
                <a:solidFill>
                  <a:srgbClr val="1C2B3A"/>
                </a:solidFill>
                <a:latin typeface="Barlow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2 · SPUR DER RÄDER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Ermittlungsweg durchs Schema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11094415" cy="434340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10637215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050" b="1" i="0" u="none" spc="120">
                <a:solidFill>
                  <a:srgbClr val="2F6B4F"/>
                </a:solidFill>
                <a:latin typeface="IBM Plex Mono"/>
              </a:rPr>
              <a:t>UNPLUGGED · 15 MIN · MATERIAL: TABELLEN-, KOPIE- UND FRAGEKARTEN, FADEN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194560"/>
            <a:ext cx="10545775" cy="18408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900" b="0" i="0" u="none">
                <a:solidFill>
                  <a:srgbClr val="1C2B3A"/>
                </a:solidFill>
                <a:latin typeface="Barlow"/>
              </a:rPr>
              <a:t>1. Fragekarte ziehen. Nur die benötigten Tabellenkarten in eine Reihe legen.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900" b="0" i="0" u="none">
                <a:solidFill>
                  <a:srgbClr val="1C2B3A"/>
                </a:solidFill>
                <a:latin typeface="Barlow"/>
              </a:rPr>
              <a:t>2. Faden über die Verweise spannen; an jeden Übergang die Verbundbedingung schreiben.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900" b="0" i="0" u="none">
                <a:solidFill>
                  <a:srgbClr val="1C2B3A"/>
                </a:solidFill>
                <a:latin typeface="Barlow"/>
              </a:rPr>
              <a:t>3. Braucht ihr eine Tabelle zweimal? „Kopie von …“-Karte anlegen und Aliase vergeben.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900" b="0" i="0" u="none">
                <a:solidFill>
                  <a:srgbClr val="1C2B3A"/>
                </a:solidFill>
                <a:latin typeface="Barlow"/>
              </a:rPr>
              <a:t>4. Karte 3: Es gibt zwei Wege zu Station – welcher passt zur Frage?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900" b="0" i="0" u="none">
                <a:solidFill>
                  <a:srgbClr val="1C2B3A"/>
                </a:solidFill>
                <a:latin typeface="Barlow"/>
              </a:rPr>
              <a:t>5. Karte 4 (</a:t>
            </a:r>
            <a:r>
              <a:rPr sz="1900" b="0" i="0" u="none">
                <a:solidFill>
                  <a:srgbClr val="D4B062"/>
                </a:solidFill>
                <a:latin typeface="Segoe UI Symbol"/>
              </a:rPr>
              <a:t>★★★</a:t>
            </a:r>
            <a:r>
              <a:rPr sz="1900" b="0" i="0" u="none">
                <a:solidFill>
                  <a:srgbClr val="1C2B3A"/>
                </a:solidFill>
                <a:latin typeface="Barlow"/>
              </a:rPr>
              <a:t>): Was passiert mit Fahrten, die noch unterwegs sind?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2 · SPUR DER RÄDER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Ab ins Lab: Ermittlung 2.2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11094415" cy="2926080"/>
          </a:xfrm>
          <a:prstGeom prst="roundRect">
            <a:avLst>
              <a:gd name="adj" fmla="val 4000"/>
            </a:avLst>
          </a:prstGeom>
          <a:solidFill>
            <a:srgbClr val="E2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10637215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050" b="1" i="0" u="none" spc="120">
                <a:solidFill>
                  <a:srgbClr val="2C5A85"/>
                </a:solidFill>
                <a:latin typeface="IBM Plex Mono"/>
              </a:rPr>
              <a:t>SPUR IM 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194560"/>
            <a:ext cx="10545775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600" b="0" i="0" u="none">
                <a:solidFill>
                  <a:srgbClr val="1C2B3A"/>
                </a:solidFill>
                <a:latin typeface="Barlow Condensed SemiBold"/>
              </a:rPr>
              <a:t>„Nachtfahrten“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900" b="1" i="0" u="none">
                <a:solidFill>
                  <a:srgbClr val="1C2B3A"/>
                </a:solidFill>
                <a:latin typeface="Barlow"/>
              </a:rPr>
              <a:t>Aufgaben:</a:t>
            </a:r>
            <a:r>
              <a:rPr sz="1900" b="0" i="0" u="none">
                <a:solidFill>
                  <a:srgbClr val="1C2B3A"/>
                </a:solidFill>
                <a:latin typeface="Barlow"/>
              </a:rPr>
              <a:t> A2-E2-01 … 08 (</a:t>
            </a:r>
            <a:r>
              <a:rPr sz="1900" b="0" i="0" u="none">
                <a:solidFill>
                  <a:srgbClr val="D4B062"/>
                </a:solidFill>
                <a:latin typeface="Segoe UI Symbol"/>
              </a:rPr>
              <a:t>★</a:t>
            </a:r>
            <a:r>
              <a:rPr sz="1900" b="0" i="0" u="none">
                <a:solidFill>
                  <a:srgbClr val="1C2B3A"/>
                </a:solidFill>
                <a:latin typeface="Barlow"/>
              </a:rPr>
              <a:t> → </a:t>
            </a:r>
            <a:r>
              <a:rPr sz="1900" b="0" i="0" u="none">
                <a:solidFill>
                  <a:srgbClr val="D4B062"/>
                </a:solidFill>
                <a:latin typeface="Segoe UI Symbol"/>
              </a:rPr>
              <a:t>★★★</a:t>
            </a:r>
            <a:r>
              <a:rPr sz="1900" b="0" i="0" u="none">
                <a:solidFill>
                  <a:srgbClr val="1C2B3A"/>
                </a:solidFill>
                <a:latin typeface="Barlow"/>
              </a:rPr>
              <a:t>) · Cold Case A2-E2-CC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900" b="1" i="0" u="none">
                <a:solidFill>
                  <a:srgbClr val="1C2B3A"/>
                </a:solidFill>
                <a:latin typeface="Barlow"/>
              </a:rPr>
              <a:t>Werkzeug:</a:t>
            </a:r>
            <a:r>
              <a:rPr sz="1900" b="0" i="0" u="none">
                <a:solidFill>
                  <a:srgbClr val="1C2B3A"/>
                </a:solidFill>
                <a:latin typeface="Barlow"/>
              </a:rPr>
              <a:t> Schema-Browser, Zeitlupe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00600"/>
            <a:ext cx="11094415" cy="71755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700" b="0" i="0" u="none">
                <a:solidFill>
                  <a:srgbClr val="E8E1D3"/>
                </a:solidFill>
                <a:latin typeface="Barlow"/>
              </a:rPr>
              <a:t>▸ 07/08 = die Nachtfahrten des verdächtigen Kontos.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700" b="0" i="0" u="none">
                <a:solidFill>
                  <a:srgbClr val="E8E1D3"/>
                </a:solidFill>
                <a:latin typeface="Barlow"/>
              </a:rPr>
              <a:t>▸ Danach: Verhör 2 · Bürgerbus (20 Minuten, Abitur-Stil).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2 · SPUR DER RÄDER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Ermittler-Notiz: Mehrere Tabellen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11094415" cy="4343400"/>
          </a:xfrm>
          <a:prstGeom prst="roundRect">
            <a:avLst>
              <a:gd name="adj" fmla="val 4000"/>
            </a:avLst>
          </a:prstGeom>
          <a:solidFill>
            <a:srgbClr val="E2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10637215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050" b="1" i="0" u="none" spc="120">
                <a:solidFill>
                  <a:srgbClr val="2C5A85"/>
                </a:solidFill>
                <a:latin typeface="IBM Plex Mono"/>
              </a:rPr>
              <a:t>ERMITTLER-NOTIZ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194560"/>
            <a:ext cx="10545775" cy="1564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000" b="0" i="0" u="none">
                <a:solidFill>
                  <a:srgbClr val="1C2B3A"/>
                </a:solidFill>
                <a:latin typeface="Barlow"/>
              </a:rPr>
              <a:t>▸ Ermittlungsweg: Frage → Attribute → Tabellen → Verbundbedingungen → Filter → Sortierung.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000" b="0" i="0" u="none">
                <a:solidFill>
                  <a:srgbClr val="1C2B3A"/>
                </a:solidFill>
                <a:latin typeface="Barlow"/>
              </a:rPr>
              <a:t>▸ Zwei Fremdschlüssel auf dieselbe Tabelle → Tabelle zweimal in FROM, zwei Aliase (ohne AS).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000" b="0" i="0" u="none">
                <a:solidFill>
                  <a:srgbClr val="1C2B3A"/>
                </a:solidFill>
                <a:latin typeface="Barlow"/>
              </a:rPr>
              <a:t>▸ Laufende Ausleihen: </a:t>
            </a:r>
            <a:r>
              <a:rPr sz="1800" b="0" i="0" u="none">
                <a:solidFill>
                  <a:srgbClr val="1C2B3A"/>
                </a:solidFill>
                <a:latin typeface="IBM Plex Mono"/>
              </a:rPr>
              <a:t>Ende IS NULL</a:t>
            </a:r>
            <a:r>
              <a:rPr sz="2000" b="0" i="0" u="none">
                <a:solidFill>
                  <a:srgbClr val="1C2B3A"/>
                </a:solidFill>
                <a:latin typeface="Barlow"/>
              </a:rPr>
              <a:t> – ein Verbund über ZielStation lässt sie verschwinden.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000" b="0" i="0" u="none">
                <a:solidFill>
                  <a:srgbClr val="1C2B3A"/>
                </a:solidFill>
                <a:latin typeface="Barlow"/>
              </a:rPr>
              <a:t>▸ Vier Tabellen → mindestens drei Verbundbedingungen.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2 · SPUR DER RÄDER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Abi-Format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11094415" cy="434340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 w="25400">
            <a:solidFill>
              <a:srgbClr val="E05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10637215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050" b="1" i="0" u="none" spc="120">
                <a:solidFill>
                  <a:srgbClr val="B3261E"/>
                </a:solidFill>
                <a:latin typeface="IBM Plex Mono"/>
              </a:rPr>
              <a:t>ABI-ECKE · OPERATOR ENTWERFEN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194560"/>
            <a:ext cx="10545775" cy="1361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000" b="0" i="0" u="none">
                <a:solidFill>
                  <a:srgbClr val="1C2B3A"/>
                </a:solidFill>
                <a:latin typeface="Barlow"/>
              </a:rPr>
              <a:t>Gegeben ist das Relationenschema des Fahrradverleihs (Schema-Plakat). </a:t>
            </a:r>
            <a:r>
              <a:rPr sz="2000" b="1" i="0" u="none">
                <a:solidFill>
                  <a:srgbClr val="1C2B3A"/>
                </a:solidFill>
                <a:latin typeface="Barlow"/>
              </a:rPr>
              <a:t>Entwerfen</a:t>
            </a:r>
            <a:r>
              <a:rPr sz="2000" b="0" i="0" u="none">
                <a:solidFill>
                  <a:srgbClr val="1C2B3A"/>
                </a:solidFill>
                <a:latin typeface="Barlow"/>
              </a:rPr>
              <a:t> Sie eine SQL-Abfrage, die für alle Ausleihen von Lastenrädern die AusleihID, den Nachnamen der Kundin bzw. des Kunden und den Namen der Zielstation ausgibt. [4 BE]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2 · SPUR DER RÄDER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935705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Lösung Abi-Format (Lastenräder)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Marker Lehrkraft"/>
          <p:cNvSpPr/>
          <p:nvPr/>
        </p:nvSpPr>
        <p:spPr>
          <a:xfrm>
            <a:off x="10042855" y="310896"/>
            <a:ext cx="1600200" cy="310896"/>
          </a:xfrm>
          <a:prstGeom prst="roundRect">
            <a:avLst>
              <a:gd name="adj" fmla="val 4000"/>
            </a:avLst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042855" y="310896"/>
            <a:ext cx="160020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 i="0" u="none">
                <a:solidFill>
                  <a:srgbClr val="141B22"/>
                </a:solidFill>
                <a:latin typeface="IBM Plex Mono"/>
              </a:rPr>
              <a:t>NUR LEHRKRAFT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91640"/>
            <a:ext cx="11094415" cy="434340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 w="25400">
            <a:solidFill>
              <a:srgbClr val="5FA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10637215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050" b="1" i="0" u="none" spc="120">
                <a:solidFill>
                  <a:srgbClr val="2F6B4F"/>
                </a:solidFill>
                <a:latin typeface="IBM Plex Mono"/>
              </a:rPr>
              <a:t>LÖSUNG</a:t>
            </a:r>
          </a:p>
        </p:txBody>
      </p:sp>
      <p:sp>
        <p:nvSpPr>
          <p:cNvPr id="12" name="SQL-Hintergrund"/>
          <p:cNvSpPr/>
          <p:nvPr/>
        </p:nvSpPr>
        <p:spPr>
          <a:xfrm>
            <a:off x="822959" y="2194560"/>
            <a:ext cx="10545775" cy="2542540"/>
          </a:xfrm>
          <a:prstGeom prst="roundRect">
            <a:avLst>
              <a:gd name="adj" fmla="val 4000"/>
            </a:avLst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SQL"/>
          <p:cNvSpPr txBox="1"/>
          <p:nvPr/>
        </p:nvSpPr>
        <p:spPr>
          <a:xfrm>
            <a:off x="1005839" y="2331720"/>
            <a:ext cx="10180015" cy="22682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</a:pPr>
            <a:r>
              <a:rPr sz="2000" i="0">
                <a:solidFill>
                  <a:srgbClr val="F2A65A"/>
                </a:solidFill>
                <a:latin typeface="IBM Plex Mono"/>
              </a:rPr>
              <a:t>SELECT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a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AusleihID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k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Nachname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s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Name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F2A65A"/>
                </a:solidFill>
                <a:latin typeface="IBM Plex Mono"/>
              </a:rPr>
              <a:t>AS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Zielstation</a:t>
            </a:r>
          </a:p>
          <a:p>
            <a:pPr>
              <a:lnSpc>
                <a:spcPct val="100000"/>
              </a:lnSpc>
            </a:pPr>
            <a:r>
              <a:rPr sz="2000" i="0">
                <a:solidFill>
                  <a:srgbClr val="F2A65A"/>
                </a:solidFill>
                <a:latin typeface="IBM Plex Mono"/>
              </a:rPr>
              <a:t>FROM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Ausleihe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a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Kunde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k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Rad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r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Station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s</a:t>
            </a:r>
          </a:p>
          <a:p>
            <a:pPr>
              <a:lnSpc>
                <a:spcPct val="100000"/>
              </a:lnSpc>
            </a:pPr>
            <a:r>
              <a:rPr sz="2000" i="0">
                <a:solidFill>
                  <a:srgbClr val="F2A65A"/>
                </a:solidFill>
                <a:latin typeface="IBM Plex Mono"/>
              </a:rPr>
              <a:t>WHERE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a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KundenID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=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k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KundenID</a:t>
            </a:r>
          </a:p>
          <a:p>
            <a:pPr>
              <a:lnSpc>
                <a:spcPct val="100000"/>
              </a:lnSpc>
            </a:pPr>
            <a:r>
              <a:rPr sz="2000" i="0">
                <a:solidFill>
                  <a:srgbClr val="D8E3D0"/>
                </a:solidFill>
                <a:latin typeface="IBM Plex Mono"/>
              </a:rPr>
              <a:t>  </a:t>
            </a:r>
            <a:r>
              <a:rPr sz="2000" i="0">
                <a:solidFill>
                  <a:srgbClr val="F2A65A"/>
                </a:solidFill>
                <a:latin typeface="IBM Plex Mono"/>
              </a:rPr>
              <a:t>AND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a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RadID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=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r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RadID</a:t>
            </a:r>
          </a:p>
          <a:p>
            <a:pPr>
              <a:lnSpc>
                <a:spcPct val="100000"/>
              </a:lnSpc>
            </a:pPr>
            <a:r>
              <a:rPr sz="2000" i="0">
                <a:solidFill>
                  <a:srgbClr val="D8E3D0"/>
                </a:solidFill>
                <a:latin typeface="IBM Plex Mono"/>
              </a:rPr>
              <a:t>  </a:t>
            </a:r>
            <a:r>
              <a:rPr sz="2000" i="0">
                <a:solidFill>
                  <a:srgbClr val="F2A65A"/>
                </a:solidFill>
                <a:latin typeface="IBM Plex Mono"/>
              </a:rPr>
              <a:t>AND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a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ZielStation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=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s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StationID</a:t>
            </a:r>
          </a:p>
          <a:p>
            <a:pPr>
              <a:lnSpc>
                <a:spcPct val="100000"/>
              </a:lnSpc>
            </a:pPr>
            <a:r>
              <a:rPr sz="2000" i="0">
                <a:solidFill>
                  <a:srgbClr val="D8E3D0"/>
                </a:solidFill>
                <a:latin typeface="IBM Plex Mono"/>
              </a:rPr>
              <a:t>  </a:t>
            </a:r>
            <a:r>
              <a:rPr sz="2000" i="0">
                <a:solidFill>
                  <a:srgbClr val="F2A65A"/>
                </a:solidFill>
                <a:latin typeface="IBM Plex Mono"/>
              </a:rPr>
              <a:t>AND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r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Typ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=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9BD3A6"/>
                </a:solidFill>
                <a:latin typeface="IBM Plex Mono"/>
              </a:rPr>
              <a:t>'Lastenrad'</a:t>
            </a:r>
          </a:p>
          <a:p>
            <a:pPr>
              <a:lnSpc>
                <a:spcPct val="100000"/>
              </a:lnSpc>
            </a:pPr>
            <a:r>
              <a:rPr sz="2000" i="0">
                <a:solidFill>
                  <a:srgbClr val="F2A65A"/>
                </a:solidFill>
                <a:latin typeface="IBM Plex Mono"/>
              </a:rPr>
              <a:t>ORDER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F2A65A"/>
                </a:solidFill>
                <a:latin typeface="IBM Plex Mono"/>
              </a:rPr>
              <a:t>BY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a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.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AusleihID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;</a:t>
            </a:r>
          </a:p>
        </p:txBody>
      </p:sp>
      <p:graphicFrame>
        <p:nvGraphicFramePr>
          <p:cNvPr id="14" name="Ergebnistabelle"/>
          <p:cNvGraphicFramePr>
            <a:graphicFrameLocks noGrp="1"/>
          </p:cNvGraphicFramePr>
          <p:nvPr/>
        </p:nvGraphicFramePr>
        <p:xfrm>
          <a:off x="822959" y="4846828"/>
          <a:ext cx="4304994" cy="944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93545"/>
                <a:gridCol w="1269187"/>
                <a:gridCol w="1642262"/>
              </a:tblGrid>
              <a:tr h="314960">
                <a:tc>
                  <a:txBody>
                    <a:bodyPr/>
                    <a:lstStyle/>
                    <a:p>
                      <a:r>
                        <a:rPr sz="1472" b="1" i="0" u="none">
                          <a:solidFill>
                            <a:srgbClr val="1C2B3A"/>
                          </a:solidFill>
                          <a:latin typeface="IBM Plex Mono"/>
                        </a:rPr>
                        <a:t>AusleihID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72" b="1" i="0" u="none">
                          <a:solidFill>
                            <a:srgbClr val="1C2B3A"/>
                          </a:solidFill>
                          <a:latin typeface="IBM Plex Mono"/>
                        </a:rPr>
                        <a:t>Nachname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72" b="1" i="0" u="none">
                          <a:solidFill>
                            <a:srgbClr val="1C2B3A"/>
                          </a:solidFill>
                          <a:latin typeface="IBM Plex Mono"/>
                        </a:rPr>
                        <a:t>Zielstation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algn="r"/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20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Ziegler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Stadion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…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…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 u="none">
                          <a:solidFill>
                            <a:srgbClr val="1C2B3A"/>
                          </a:solidFill>
                          <a:latin typeface="Barlow"/>
                        </a:rPr>
                        <a:t>…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2 · SPUR DER RÄDER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935705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Das Konto 77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Marker Lehrkraft"/>
          <p:cNvSpPr/>
          <p:nvPr/>
        </p:nvSpPr>
        <p:spPr>
          <a:xfrm>
            <a:off x="10042855" y="310896"/>
            <a:ext cx="1600200" cy="310896"/>
          </a:xfrm>
          <a:prstGeom prst="roundRect">
            <a:avLst>
              <a:gd name="adj" fmla="val 4000"/>
            </a:avLst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042855" y="310896"/>
            <a:ext cx="160020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 i="0" u="none">
                <a:solidFill>
                  <a:srgbClr val="141B22"/>
                </a:solidFill>
                <a:latin typeface="IBM Plex Mono"/>
              </a:rPr>
              <a:t>NUR LEHRKRAFT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91640"/>
            <a:ext cx="11094415" cy="420624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10637215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050" b="1" i="0" u="none" spc="120">
                <a:solidFill>
                  <a:srgbClr val="B3261E"/>
                </a:solidFill>
                <a:latin typeface="IBM Plex Mono"/>
              </a:rPr>
              <a:t>BRIEFING · EDDA LORENZ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240280"/>
            <a:ext cx="10545775" cy="3474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2200" b="0" i="1" u="none">
                <a:solidFill>
                  <a:srgbClr val="1C2B3A"/>
                </a:solidFill>
                <a:latin typeface="Barlow"/>
              </a:rPr>
              <a:t>Das Kundenkonto 77 gehört einer „Nora Falter“, Jahrgang 1988 – N. F. wie im Fundbuch. Und während wir noch staunen, meldet der Festausschuss: In der Stadtfest-Kasse fehlen 312,50 €.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Spur der Räder</dc:title>
  <dc:subject/>
  <dc:creator>Datendetektei Weserstedt</dc:creator>
  <cp:keywords/>
  <dc:description>generated using python-pptx</dc:description>
  <cp:lastModifiedBy>Datendetektei Weserstedt</cp:lastModifiedBy>
  <cp:revision>1</cp:revision>
  <dcterms:created xsi:type="dcterms:W3CDTF">2013-01-27T09:14:16Z</dcterms:created>
  <dcterms:modified xsi:type="dcterms:W3CDTF">2013-01-27T09:15:58Z</dcterms:modified>
  <cp:category/>
  <dc:language>de-DE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D-Akte">
    <vt:lpwstr>2</vt:lpwstr>
  </property>
  <property fmtid="{D5CDD505-2E9C-101B-9397-08002B2CF9AE}" pid="3" name="DD-Art">
    <vt:lpwstr>praesentation</vt:lpwstr>
  </property>
  <property fmtid="{D5CDD505-2E9C-101B-9397-08002B2CF9AE}" pid="4" name="DD-Datenbank">
    <vt:lpwstr>stadtrad</vt:lpwstr>
  </property>
  <property fmtid="{D5CDD505-2E9C-101B-9397-08002B2CF9AE}" pid="5" name="DD-Kuer">
    <vt:lpwstr>nein</vt:lpwstr>
  </property>
</Properties>
</file>