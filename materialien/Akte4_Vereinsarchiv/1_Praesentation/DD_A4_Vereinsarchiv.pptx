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Akte 4 eröffnen. Steckbrief-Pinnwand zeigen: Bisher wissen wir – Jahrgang 1988, Hafenviertel, Tarnname „Nora Falter“, gemeldet über den TuS (Akte 3). Heute geht die Spur ins Vereinsheim. DS 7 = Folien 2–13, DS 8 = ab Folie 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vorlesen lassen (STORY 5.7b). Warm-up vorher: Karten W-A3-05…08 (10 min). Noch keine Begriffe erklären – erst das Rennen erleben lassen.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 stehen lassen, Beobachtungen sammeln (nicht bewerten): gleiche Telefonnummern, zwei Lukas Behrens, Wiebke Sandmann zweimal mit 14,00 € und 12,00 €, „Fußball, Handball“ in einer Zelle. Begriffe kommen nach dem Rennen.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DD_A4_Unplugged_Anomalie-Rennen (je Team ein Satz, Zeilennummern aufgedruckt). Karten im 45-s-Takt: A1 Telefon (alle) · A2 Meyer-Kahl (NUR Person B, verdeckt) · A3 Beitrag 12 → 14 € (alle, 20 s Zeitdruck) · A4 Judo-Zeile 9 streichen · A5 Bouldern ohne Mitglieder · A6 Halle Süd zieht um. Auflösung: „Fehlerfrei geht es nur, wenn ihr bei jeder Änderung alle Zeilen findet. Das Problem ist die Liste, nicht ihr.“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Begriffe aus dem Rennen entwickeln: Teams nennen ihr Beispiel (Karte + Zeile), die Lehrkraft ordnet zu. Wichtig: Redundanz ist nicht „doppelte Zeile“, sondern wiederholte Information. Anomalien sind keine Tippfehler – sie entstehen auch bei sorgfältiger Pflege.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Tafelbild (Ermittler-Notiz). Ausgeführt, nicht nur benannt: jede Zeile = Art + Datensatz + Folge. Hinweis zum Übergang ins Lab: Im Rennen hieß die neue Abteilung Bouldern, im Lab heißt sie Boule.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der Konsole (/konsole/tus) zeigen. Frage: Welche Abfrage wäre besser? → nächste Folie.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P6: LIKE ist kein Allheilmittel. Die Lösung ist eine bessere Tabellenstruktur, nicht eine schlauere Abfrage. Im Lab dazu A4-E1-06 und A4-E1-08 (dort mit Tennis).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Herumgehen: Wer erläutert nur Begriffe (P10)? Satzbaustein anbieten: „Wenn … geändert wird, muss …, sonst …“. Langsame: Simulator zuerst, Werkzeugkarte 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Merksätze ins Heft. Edda: „Erläutern ist kein vornehmes Wort für nennen.“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Minuten Einzelarbeit, dann zwei Antworten vergleichen: eine bloße Nennung und eine Erläuterung. Erst danach die Lösungsfolie zeigen.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Auch richtig: Halle am Mühlenfeld/Adresse in allen vier Zeilen. Zeile 16 („Halle Am Mühlenfeld“) zeigt sogar schon eine abweichende Schreibweise.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Abschluss-Satz (STORY 5.7c) erst nach der Lab-Phase vorlesen. Zwischen 12,00 € und 14,00 € fiel der Eintrag nicht auf – nächste Stunde klären wir, wie das Phantom das ausgenutzt 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Warm-up vorher: W-A4-01…04 (10 min). Briefing STORY 5.8b. Impuls: „Woran erkennt man ein Mitglied eindeutig?“ – Schlüsselkriterien aus DS 1 wiederholen.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zwei Lukas Behrens (Zeilen 1 und 2) als Beleg, dass der Name nicht reicht. Wiedereintritt: Wer austritt und später wieder eintritt, erzeugt dasselbe Paar ein zweites Mal – dann braucht man ein zusätzliches Schlüsselattribut (z. B. Seit).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DD_A4_Unplugged_Schluessel-Detektiv. Nachlieferung 1 (gleicher Nachname, gleicher Vorname, gleiches Geburtsjahr und Eintritt) → Einzelattribute fallen. Nachlieferung 2 (Vater und Sohn Ole Harjes) → (Vorname, Nachname) fällt. Nachlieferung 3 (Geburtsjahr NULL, Zwillinge) → auch die Dreierkombination ist unsicher. Impulse: minimal? Warum vergeben Vereine Nummern?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Seit 2023 kommt im Abitur regelmäßig eine „zusammengelegte Tabelle“. „Keine Anomalie möglich“ ist eine echte Antwort (Lab A4-E2-05) – die Begründung läuft über die Abhängigkeiten, nicht über die zufälligen Daten.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„Schere-Zerlegung“ am Beamer bzw. mit einer Papierkopie der Rohliste: je Sachverhalt eine Tabelle. Die Beziehungstabelle heißt Mitgliedschaft (ein Substantiv, weil sie ein eigenes Ding mit Attribut Seit ist) – nicht „Sportverein“. FK Mitglied.Beitragsgruppe verweist auf Beitragsgruppe.Gruppe (anderer Name ist erlaubt). gA-Kurse: nur zeigen, nicht selbst zerlegen.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Verlustfrei heißt: Aus den Teiltabellen lässt sich die Rohliste per Verbund wiederherstellen. Fehlt Mitgliedschaft, wüsste niemand mehr, wer in welcher Abteilung 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Story-Pointe: Im neuen Schema ist die Manipulation des Phantoms unmöglich. Begründung Redundanzfreiheit: Jedes Nicht-Schlüssel-Attribut hängt nur vom Schlüssel seiner Tabelle 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Verhör 4 (Musikschule) im Kurs auf „auto“/„offen“ stellen. Im gA-Kurs sind A4-E2-06…08 ausgeblendet; AB 4.2 Aufträge 4–5 entfallen.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Zerlegtes Schema als Merkkasten an die Tafel (Folie „Die Zerlegung der Rohliste“).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für Interessierte (Kür, K13). Lab-Cold-Case A4-E2-CC und Cold Case auf AB 4.2.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Erwartung: keine Anomalie möglich – mit Begründung über die Abhängigkeit. Schülerinnen und Schüler suchen erfahrungsgemäß krampfhaft eine Anomalie (Abi 2023/2026).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Wichtig: Mehrfach vorkommende Fremdschlüsselwerte sind keine Redundanz – sie sind Verweise.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Steckbrief ergänzen: spielt Tischtennis beim TuS · nutzt Schwächen schlecht gebauter Listen · „Nora Falter“ ist ein Tarnname. Hinweis auf Verhör 4 und auf Akte 5 (eA: eigener Bauplan).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1828800"/>
            <a:ext cx="8229600" cy="1280160"/>
          </a:xfrm>
          <a:prstGeom prst="rect">
            <a:avLst/>
          </a:prstGeom>
          <a:noFill/>
        </p:spPr>
        <p:txBody>
          <a:bodyPr wrap="square" anchor="b" lIns="36576" rIns="36576" tIns="36576" bIns="36576">
            <a:spAutoFit/>
          </a:bodyPr>
          <a:lstStyle/>
          <a:p>
            <a:pPr>
              <a:lnSpc>
                <a:spcPct val="105000"/>
              </a:lnSpc>
            </a:pPr>
            <a:r>
              <a:rPr sz="5400" b="0" i="0" u="none">
                <a:solidFill>
                  <a:srgbClr val="E8E1D3"/>
                </a:solidFill>
                <a:latin typeface="Barlow Condensed SemiBold"/>
              </a:rPr>
              <a:t>Chaos im Vereinsarchiv</a:t>
            </a:r>
          </a:p>
        </p:txBody>
      </p:sp>
      <p:cxnSp>
        <p:nvCxnSpPr>
          <p:cNvPr id="5" name="Roter Faden"/>
          <p:cNvCxnSpPr/>
          <p:nvPr/>
        </p:nvCxnSpPr>
        <p:spPr>
          <a:xfrm>
            <a:off x="548640" y="3291840"/>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484632"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579047"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3474720"/>
            <a:ext cx="8229600" cy="1097280"/>
          </a:xfrm>
          <a:prstGeom prst="rect">
            <a:avLst/>
          </a:prstGeom>
          <a:noFill/>
        </p:spPr>
        <p:txBody>
          <a:bodyPr wrap="square" anchor="t" lIns="36576" rIns="36576" tIns="36576" bIns="36576">
            <a:spAutoFit/>
          </a:bodyPr>
          <a:lstStyle/>
          <a:p>
            <a:pPr>
              <a:lnSpc>
                <a:spcPct val="105000"/>
              </a:lnSpc>
            </a:pPr>
            <a:r>
              <a:rPr sz="2200" b="0" i="0" u="none">
                <a:solidFill>
                  <a:srgbClr val="BDB6A9"/>
                </a:solidFill>
                <a:latin typeface="Barlow"/>
              </a:rPr>
              <a:t>Akte 4 · DS 7 „Die Excel-Liste“ · DS 8 „Ordnung ins Archiv“</a:t>
            </a:r>
          </a:p>
        </p:txBody>
      </p:sp>
      <p:pic>
        <p:nvPicPr>
          <p:cNvPr id="9" name="Picture 8" descr="stempel.png"/>
          <p:cNvPicPr>
            <a:picLocks noChangeAspect="1"/>
          </p:cNvPicPr>
          <p:nvPr/>
        </p:nvPicPr>
        <p:blipFill>
          <a:blip r:embed="rId3"/>
          <a:stretch>
            <a:fillRect/>
          </a:stretch>
        </p:blipFill>
        <p:spPr>
          <a:xfrm>
            <a:off x="9052560" y="1463040"/>
            <a:ext cx="2560320" cy="74427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DS 7 · Die Excel-Liste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Wiebke Lüttjohann, Kassenwartin des TuS Weserstedt, ist verzweifelt: Ihre Beitragsliste ergibt jeden Monat eine andere Summe. Der Verein führt alles in einer einzigen Liste – Mitglieder, Abteilungen, Trainer, Telefonnummern, Beiträge, Hallen. Juri findet das „voll praktisch, alles auf einen Blick“. Praktisch, bis sich etwas ändert: Dieselbe Information steht dutzendfach in der Liste, und das nennt man Redundanz. Redundanz führt zu Anomalien – beim Einfügen, beim Ändern und beim Löschen. Im Abitur reicht es nie, eine Anomalie zu benennen; ihr müsst sie an einem konkreten Datensatz erläutern. Gleich pflegen eure Teams parallel dieselbe Papierliste, und wir schauen, wie lange sie sich nicht widerspricht.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Liste des TuS (Ausdruck)</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Was fällt euch an dieser Liste auf, </a:t>
            </a:r>
            <a:r>
              <a:rPr sz="1900" b="1" i="0" u="none">
                <a:solidFill>
                  <a:srgbClr val="1C2B3A"/>
                </a:solidFill>
                <a:latin typeface="Barlow"/>
              </a:rPr>
              <a:t>bevor</a:t>
            </a:r>
            <a:r>
              <a:rPr sz="1900" b="0" i="0" u="none">
                <a:solidFill>
                  <a:srgbClr val="1C2B3A"/>
                </a:solidFill>
                <a:latin typeface="Barlow"/>
              </a:rPr>
              <a:t> wir irgendetwas ändern?</a:t>
            </a:r>
          </a:p>
        </p:txBody>
      </p:sp>
      <p:graphicFrame>
        <p:nvGraphicFramePr>
          <p:cNvPr id="10" name="Datentabelle"/>
          <p:cNvGraphicFramePr>
            <a:graphicFrameLocks noGrp="1"/>
          </p:cNvGraphicFramePr>
          <p:nvPr/>
        </p:nvGraphicFramePr>
        <p:xfrm>
          <a:off x="822959" y="2386457"/>
          <a:ext cx="10296000" cy="2519680"/>
        </p:xfrm>
        <a:graphic>
          <a:graphicData uri="http://schemas.openxmlformats.org/drawingml/2006/table">
            <a:tbl>
              <a:tblPr firstRow="1">
                <a:tableStyleId>{5C22544A-7EE6-4342-B048-85BDC9FD1C3A}</a:tableStyleId>
              </a:tblPr>
              <a:tblGrid>
                <a:gridCol w="792000"/>
                <a:gridCol w="1872000"/>
                <a:gridCol w="1944000"/>
                <a:gridCol w="2304000"/>
                <a:gridCol w="1728000"/>
                <a:gridCol w="1656000"/>
              </a:tblGrid>
              <a:tr h="314960">
                <a:tc>
                  <a:txBody>
                    <a:bodyPr/>
                    <a:lstStyle/>
                    <a:p>
                      <a:r>
                        <a:rPr sz="1472" b="1" i="0" u="none">
                          <a:solidFill>
                            <a:srgbClr val="1C2B3A"/>
                          </a:solidFill>
                          <a:latin typeface="IBM Plex Mono"/>
                        </a:rPr>
                        <a:t>Zeile</a:t>
                      </a:r>
                    </a:p>
                  </a:txBody>
                  <a:tcPr marL="54864" marR="54864" marT="18288" marB="18288">
                    <a:solidFill>
                      <a:srgbClr val="EBE2D2"/>
                    </a:solidFill>
                  </a:tcPr>
                </a:tc>
                <a:tc>
                  <a:txBody>
                    <a:bodyPr/>
                    <a:lstStyle/>
                    <a:p>
                      <a:r>
                        <a:rPr sz="1472" b="1" i="0" u="none">
                          <a:solidFill>
                            <a:srgbClr val="1C2B3A"/>
                          </a:solidFill>
                          <a:latin typeface="IBM Plex Mono"/>
                        </a:rPr>
                        <a:t>Mitglied</a:t>
                      </a:r>
                    </a:p>
                  </a:txBody>
                  <a:tcPr marL="54864" marR="54864" marT="18288" marB="18288">
                    <a:solidFill>
                      <a:srgbClr val="EBE2D2"/>
                    </a:solidFill>
                  </a:tcPr>
                </a:tc>
                <a:tc>
                  <a:txBody>
                    <a:bodyPr/>
                    <a:lstStyle/>
                    <a:p>
                      <a:r>
                        <a:rPr sz="1472" b="1" i="0" u="none">
                          <a:solidFill>
                            <a:srgbClr val="1C2B3A"/>
                          </a:solidFill>
                          <a:latin typeface="IBM Plex Mono"/>
                        </a:rPr>
                        <a:t>Abteilungen</a:t>
                      </a:r>
                    </a:p>
                  </a:txBody>
                  <a:tcPr marL="54864" marR="54864" marT="18288" marB="18288">
                    <a:solidFill>
                      <a:srgbClr val="EBE2D2"/>
                    </a:solidFill>
                  </a:tcPr>
                </a:tc>
                <a:tc>
                  <a:txBody>
                    <a:bodyPr/>
                    <a:lstStyle/>
                    <a:p>
                      <a:r>
                        <a:rPr sz="1472" b="1" i="0" u="none">
                          <a:solidFill>
                            <a:srgbClr val="1C2B3A"/>
                          </a:solidFill>
                          <a:latin typeface="IBM Plex Mono"/>
                        </a:rPr>
                        <a:t>TrainerTelefon</a:t>
                      </a:r>
                    </a:p>
                  </a:txBody>
                  <a:tcPr marL="54864" marR="54864" marT="18288" marB="18288">
                    <a:solidFill>
                      <a:srgbClr val="EBE2D2"/>
                    </a:solidFill>
                  </a:tcPr>
                </a:tc>
                <a:tc>
                  <a:txBody>
                    <a:bodyPr/>
                    <a:lstStyle/>
                    <a:p>
                      <a:r>
                        <a:rPr sz="1472" b="1" i="0" u="none">
                          <a:solidFill>
                            <a:srgbClr val="1C2B3A"/>
                          </a:solidFill>
                          <a:latin typeface="IBM Plex Mono"/>
                        </a:rPr>
                        <a:t>Beitragsgruppe</a:t>
                      </a:r>
                    </a:p>
                  </a:txBody>
                  <a:tcPr marL="54864" marR="54864" marT="18288" marB="18288">
                    <a:solidFill>
                      <a:srgbClr val="EBE2D2"/>
                    </a:solidFill>
                  </a:tcPr>
                </a:tc>
                <a:tc>
                  <a:txBody>
                    <a:bodyPr/>
                    <a:lstStyle/>
                    <a:p>
                      <a:r>
                        <a:rPr sz="1472" b="1" i="0" u="none">
                          <a:solidFill>
                            <a:srgbClr val="1C2B3A"/>
                          </a:solidFill>
                          <a:latin typeface="IBM Plex Mono"/>
                        </a:rPr>
                        <a:t>Monatsbeitrag</a:t>
                      </a:r>
                    </a:p>
                  </a:txBody>
                  <a:tcPr marL="54864" marR="54864" marT="18288" marB="18288">
                    <a:solidFill>
                      <a:srgbClr val="EBE2D2"/>
                    </a:solidFill>
                  </a:tcPr>
                </a:tc>
              </a:tr>
              <a:tr h="314960">
                <a:tc>
                  <a:txBody>
                    <a:bodyPr/>
                    <a:lstStyle/>
                    <a:p>
                      <a:pPr algn="r"/>
                      <a:r>
                        <a:rPr sz="1600" b="0" i="0" u="none">
                          <a:solidFill>
                            <a:srgbClr val="1C2B3A"/>
                          </a:solidFill>
                          <a:latin typeface="Barlow"/>
                        </a:rPr>
                        <a:t>1</a:t>
                      </a:r>
                    </a:p>
                  </a:txBody>
                  <a:tcPr marL="54864" marR="54864" marT="18288" marB="18288">
                    <a:solidFill>
                      <a:srgbClr val="FFFDF8"/>
                    </a:solidFill>
                  </a:tcPr>
                </a:tc>
                <a:tc>
                  <a:txBody>
                    <a:bodyPr/>
                    <a:lstStyle/>
                    <a:p>
                      <a:r>
                        <a:rPr sz="1600" b="0" i="0" u="none">
                          <a:solidFill>
                            <a:srgbClr val="1C2B3A"/>
                          </a:solidFill>
                          <a:latin typeface="Barlow"/>
                        </a:rPr>
                        <a:t>Lukas Behrens</a:t>
                      </a:r>
                    </a:p>
                  </a:txBody>
                  <a:tcPr marL="54864" marR="54864" marT="18288" marB="18288">
                    <a:solidFill>
                      <a:srgbClr val="FFFDF8"/>
                    </a:solidFill>
                  </a:tcPr>
                </a:tc>
                <a:tc>
                  <a:txBody>
                    <a:bodyPr/>
                    <a:lstStyle/>
                    <a:p>
                      <a:r>
                        <a:rPr sz="1600" b="0" i="0" u="none">
                          <a:solidFill>
                            <a:srgbClr val="1C2B3A"/>
                          </a:solidFill>
                          <a:latin typeface="Barlow"/>
                        </a:rPr>
                        <a:t>Fußball</a:t>
                      </a:r>
                    </a:p>
                  </a:txBody>
                  <a:tcPr marL="54864" marR="54864" marT="18288" marB="18288">
                    <a:solidFill>
                      <a:srgbClr val="FFFDF8"/>
                    </a:solidFill>
                  </a:tcPr>
                </a:tc>
                <a:tc>
                  <a:txBody>
                    <a:bodyPr/>
                    <a:lstStyle/>
                    <a:p>
                      <a:r>
                        <a:rPr sz="1600" b="0" i="0" u="none">
                          <a:solidFill>
                            <a:srgbClr val="1C2B3A"/>
                          </a:solidFill>
                          <a:latin typeface="Barlow"/>
                        </a:rPr>
                        <a:t>0000-31415</a:t>
                      </a:r>
                    </a:p>
                  </a:txBody>
                  <a:tcPr marL="54864" marR="54864" marT="18288" marB="18288">
                    <a:solidFill>
                      <a:srgbClr val="FFFDF8"/>
                    </a:solidFill>
                  </a:tcPr>
                </a:tc>
                <a:tc>
                  <a:txBody>
                    <a:bodyPr/>
                    <a:lstStyle/>
                    <a:p>
                      <a:r>
                        <a:rPr sz="1600" b="0" i="0" u="none">
                          <a:solidFill>
                            <a:srgbClr val="1C2B3A"/>
                          </a:solidFill>
                          <a:latin typeface="Barlow"/>
                        </a:rPr>
                        <a:t>Jugend</a:t>
                      </a:r>
                    </a:p>
                  </a:txBody>
                  <a:tcPr marL="54864" marR="54864" marT="18288" marB="18288">
                    <a:solidFill>
                      <a:srgbClr val="FFFDF8"/>
                    </a:solidFill>
                  </a:tcPr>
                </a:tc>
                <a:tc>
                  <a:txBody>
                    <a:bodyPr/>
                    <a:lstStyle/>
                    <a:p>
                      <a:pPr algn="r"/>
                      <a:r>
                        <a:rPr sz="1600" b="0" i="0" u="none">
                          <a:solidFill>
                            <a:srgbClr val="1C2B3A"/>
                          </a:solidFill>
                          <a:latin typeface="Barlow"/>
                        </a:rPr>
                        <a:t>8,50</a:t>
                      </a:r>
                    </a:p>
                  </a:txBody>
                  <a:tcPr marL="54864" marR="54864" marT="18288" marB="18288">
                    <a:solidFill>
                      <a:srgbClr val="FFFDF8"/>
                    </a:solidFill>
                  </a:tcPr>
                </a:tc>
              </a:tr>
              <a:tr h="314960">
                <a:tc>
                  <a:txBody>
                    <a:bodyPr/>
                    <a:lstStyle/>
                    <a:p>
                      <a:pPr algn="r"/>
                      <a:r>
                        <a:rPr sz="1600" b="0" i="0" u="none">
                          <a:solidFill>
                            <a:srgbClr val="1C2B3A"/>
                          </a:solidFill>
                          <a:latin typeface="Barlow"/>
                        </a:rPr>
                        <a:t>2</a:t>
                      </a:r>
                    </a:p>
                  </a:txBody>
                  <a:tcPr marL="54864" marR="54864" marT="18288" marB="18288">
                    <a:solidFill>
                      <a:srgbClr val="FFFDF8"/>
                    </a:solidFill>
                  </a:tcPr>
                </a:tc>
                <a:tc>
                  <a:txBody>
                    <a:bodyPr/>
                    <a:lstStyle/>
                    <a:p>
                      <a:r>
                        <a:rPr sz="1600" b="0" i="0" u="none">
                          <a:solidFill>
                            <a:srgbClr val="1C2B3A"/>
                          </a:solidFill>
                          <a:latin typeface="Barlow"/>
                        </a:rPr>
                        <a:t>Lukas Behrens</a:t>
                      </a:r>
                    </a:p>
                  </a:txBody>
                  <a:tcPr marL="54864" marR="54864" marT="18288" marB="18288">
                    <a:solidFill>
                      <a:srgbClr val="FFFDF8"/>
                    </a:solidFill>
                  </a:tcPr>
                </a:tc>
                <a:tc>
                  <a:txBody>
                    <a:bodyPr/>
                    <a:lstStyle/>
                    <a:p>
                      <a:r>
                        <a:rPr sz="1600" b="0" i="0" u="none">
                          <a:solidFill>
                            <a:srgbClr val="1C2B3A"/>
                          </a:solidFill>
                          <a:latin typeface="Barlow"/>
                        </a:rPr>
                        <a:t>Tennis</a:t>
                      </a:r>
                    </a:p>
                  </a:txBody>
                  <a:tcPr marL="54864" marR="54864" marT="18288" marB="18288">
                    <a:solidFill>
                      <a:srgbClr val="FFFDF8"/>
                    </a:solidFill>
                  </a:tcPr>
                </a:tc>
                <a:tc>
                  <a:txBody>
                    <a:bodyPr/>
                    <a:lstStyle/>
                    <a:p>
                      <a:r>
                        <a:rPr sz="1600" b="0" i="0" u="none">
                          <a:solidFill>
                            <a:srgbClr val="1C2B3A"/>
                          </a:solidFill>
                          <a:latin typeface="Barlow"/>
                        </a:rPr>
                        <a:t>0000-31415</a:t>
                      </a:r>
                    </a:p>
                  </a:txBody>
                  <a:tcPr marL="54864" marR="54864" marT="18288" marB="18288">
                    <a:solidFill>
                      <a:srgbClr val="FFFDF8"/>
                    </a:solidFill>
                  </a:tcPr>
                </a:tc>
                <a:tc>
                  <a:txBody>
                    <a:bodyPr/>
                    <a:lstStyle/>
                    <a:p>
                      <a:r>
                        <a:rPr sz="1600" b="0" i="0" u="none">
                          <a:solidFill>
                            <a:srgbClr val="1C2B3A"/>
                          </a:solidFill>
                          <a:latin typeface="Barlow"/>
                        </a:rPr>
                        <a:t>Erwachsene</a:t>
                      </a:r>
                    </a:p>
                  </a:txBody>
                  <a:tcPr marL="54864" marR="54864" marT="18288" marB="18288">
                    <a:solidFill>
                      <a:srgbClr val="FFFDF8"/>
                    </a:solidFill>
                  </a:tcPr>
                </a:tc>
                <a:tc>
                  <a:txBody>
                    <a:bodyPr/>
                    <a:lstStyle/>
                    <a:p>
                      <a:pPr algn="r"/>
                      <a:r>
                        <a:rPr sz="1600" b="0" i="0" u="none">
                          <a:solidFill>
                            <a:srgbClr val="1C2B3A"/>
                          </a:solidFill>
                          <a:latin typeface="Barlow"/>
                        </a:rPr>
                        <a:t>14,00</a:t>
                      </a:r>
                    </a:p>
                  </a:txBody>
                  <a:tcPr marL="54864" marR="54864" marT="18288" marB="18288">
                    <a:solidFill>
                      <a:srgbClr val="FFFDF8"/>
                    </a:solidFill>
                  </a:tcPr>
                </a:tc>
              </a:tr>
              <a:tr h="314960">
                <a:tc>
                  <a:txBody>
                    <a:bodyPr/>
                    <a:lstStyle/>
                    <a:p>
                      <a:pPr algn="r"/>
                      <a:r>
                        <a:rPr sz="1600" b="0" i="0" u="none">
                          <a:solidFill>
                            <a:srgbClr val="1C2B3A"/>
                          </a:solidFill>
                          <a:latin typeface="Barlow"/>
                        </a:rPr>
                        <a:t>4</a:t>
                      </a:r>
                    </a:p>
                  </a:txBody>
                  <a:tcPr marL="54864" marR="54864" marT="18288" marB="18288">
                    <a:solidFill>
                      <a:srgbClr val="FFFDF8"/>
                    </a:solidFill>
                  </a:tcPr>
                </a:tc>
                <a:tc>
                  <a:txBody>
                    <a:bodyPr/>
                    <a:lstStyle/>
                    <a:p>
                      <a:r>
                        <a:rPr sz="1600" b="0" i="0" u="none">
                          <a:solidFill>
                            <a:srgbClr val="1C2B3A"/>
                          </a:solidFill>
                          <a:latin typeface="Barlow"/>
                        </a:rPr>
                        <a:t>Tjark Hinrichs</a:t>
                      </a:r>
                    </a:p>
                  </a:txBody>
                  <a:tcPr marL="54864" marR="54864" marT="18288" marB="18288">
                    <a:solidFill>
                      <a:srgbClr val="FFFDF8"/>
                    </a:solidFill>
                  </a:tcPr>
                </a:tc>
                <a:tc>
                  <a:txBody>
                    <a:bodyPr/>
                    <a:lstStyle/>
                    <a:p>
                      <a:r>
                        <a:rPr sz="1600" b="0" i="0" u="none">
                          <a:solidFill>
                            <a:srgbClr val="1C2B3A"/>
                          </a:solidFill>
                          <a:latin typeface="Barlow"/>
                        </a:rPr>
                        <a:t>Fußball, Handball</a:t>
                      </a:r>
                    </a:p>
                  </a:txBody>
                  <a:tcPr marL="54864" marR="54864" marT="18288" marB="18288">
                    <a:solidFill>
                      <a:srgbClr val="FFFDF8"/>
                    </a:solidFill>
                  </a:tcPr>
                </a:tc>
                <a:tc>
                  <a:txBody>
                    <a:bodyPr/>
                    <a:lstStyle/>
                    <a:p>
                      <a:r>
                        <a:rPr sz="1600" b="0" i="0" u="none">
                          <a:solidFill>
                            <a:srgbClr val="1C2B3A"/>
                          </a:solidFill>
                          <a:latin typeface="Barlow"/>
                        </a:rPr>
                        <a:t>0000-31415, 0000-17320</a:t>
                      </a:r>
                    </a:p>
                  </a:txBody>
                  <a:tcPr marL="54864" marR="54864" marT="18288" marB="18288">
                    <a:solidFill>
                      <a:srgbClr val="FFFDF8"/>
                    </a:solidFill>
                  </a:tcPr>
                </a:tc>
                <a:tc>
                  <a:txBody>
                    <a:bodyPr/>
                    <a:lstStyle/>
                    <a:p>
                      <a:r>
                        <a:rPr sz="1600" b="0" i="0" u="none">
                          <a:solidFill>
                            <a:srgbClr val="1C2B3A"/>
                          </a:solidFill>
                          <a:latin typeface="Barlow"/>
                        </a:rPr>
                        <a:t>Erwachsene</a:t>
                      </a:r>
                    </a:p>
                  </a:txBody>
                  <a:tcPr marL="54864" marR="54864" marT="18288" marB="18288">
                    <a:solidFill>
                      <a:srgbClr val="FFFDF8"/>
                    </a:solidFill>
                  </a:tcPr>
                </a:tc>
                <a:tc>
                  <a:txBody>
                    <a:bodyPr/>
                    <a:lstStyle/>
                    <a:p>
                      <a:pPr algn="r"/>
                      <a:r>
                        <a:rPr sz="1600" b="0" i="0" u="none">
                          <a:solidFill>
                            <a:srgbClr val="1C2B3A"/>
                          </a:solidFill>
                          <a:latin typeface="Barlow"/>
                        </a:rPr>
                        <a:t>14,00</a:t>
                      </a:r>
                    </a:p>
                  </a:txBody>
                  <a:tcPr marL="54864" marR="54864" marT="18288" marB="18288">
                    <a:solidFill>
                      <a:srgbClr val="FFFDF8"/>
                    </a:solidFill>
                  </a:tcPr>
                </a:tc>
              </a:tr>
              <a:tr h="314960">
                <a:tc>
                  <a:txBody>
                    <a:bodyPr/>
                    <a:lstStyle/>
                    <a:p>
                      <a:pPr algn="r"/>
                      <a:r>
                        <a:rPr sz="1600" b="0" i="0" u="none">
                          <a:solidFill>
                            <a:srgbClr val="1C2B3A"/>
                          </a:solidFill>
                          <a:latin typeface="Barlow"/>
                        </a:rPr>
                        <a:t>5</a:t>
                      </a:r>
                    </a:p>
                  </a:txBody>
                  <a:tcPr marL="54864" marR="54864" marT="18288" marB="18288">
                    <a:solidFill>
                      <a:srgbClr val="FFFDF8"/>
                    </a:solidFill>
                  </a:tcPr>
                </a:tc>
                <a:tc>
                  <a:txBody>
                    <a:bodyPr/>
                    <a:lstStyle/>
                    <a:p>
                      <a:r>
                        <a:rPr sz="1600" b="0" i="0" u="none">
                          <a:solidFill>
                            <a:srgbClr val="1C2B3A"/>
                          </a:solidFill>
                          <a:latin typeface="Barlow"/>
                        </a:rPr>
                        <a:t>Wiebke Sandmann</a:t>
                      </a:r>
                    </a:p>
                  </a:txBody>
                  <a:tcPr marL="54864" marR="54864" marT="18288" marB="18288">
                    <a:solidFill>
                      <a:srgbClr val="FFFDF8"/>
                    </a:solidFill>
                  </a:tcPr>
                </a:tc>
                <a:tc>
                  <a:txBody>
                    <a:bodyPr/>
                    <a:lstStyle/>
                    <a:p>
                      <a:r>
                        <a:rPr sz="1600" b="0" i="0" u="none">
                          <a:solidFill>
                            <a:srgbClr val="1C2B3A"/>
                          </a:solidFill>
                          <a:latin typeface="Barlow"/>
                        </a:rPr>
                        <a:t>Tennis</a:t>
                      </a:r>
                    </a:p>
                  </a:txBody>
                  <a:tcPr marL="54864" marR="54864" marT="18288" marB="18288">
                    <a:solidFill>
                      <a:srgbClr val="FFFDF8"/>
                    </a:solidFill>
                  </a:tcPr>
                </a:tc>
                <a:tc>
                  <a:txBody>
                    <a:bodyPr/>
                    <a:lstStyle/>
                    <a:p>
                      <a:r>
                        <a:rPr sz="1600" b="0" i="0" u="none">
                          <a:solidFill>
                            <a:srgbClr val="1C2B3A"/>
                          </a:solidFill>
                          <a:latin typeface="Barlow"/>
                        </a:rPr>
                        <a:t>0000-31415</a:t>
                      </a:r>
                    </a:p>
                  </a:txBody>
                  <a:tcPr marL="54864" marR="54864" marT="18288" marB="18288">
                    <a:solidFill>
                      <a:srgbClr val="FFFDF8"/>
                    </a:solidFill>
                  </a:tcPr>
                </a:tc>
                <a:tc>
                  <a:txBody>
                    <a:bodyPr/>
                    <a:lstStyle/>
                    <a:p>
                      <a:r>
                        <a:rPr sz="1600" b="0" i="0" u="none">
                          <a:solidFill>
                            <a:srgbClr val="1C2B3A"/>
                          </a:solidFill>
                          <a:latin typeface="Barlow"/>
                        </a:rPr>
                        <a:t>Erwachsene</a:t>
                      </a:r>
                    </a:p>
                  </a:txBody>
                  <a:tcPr marL="54864" marR="54864" marT="18288" marB="18288">
                    <a:solidFill>
                      <a:srgbClr val="FFFDF8"/>
                    </a:solidFill>
                  </a:tcPr>
                </a:tc>
                <a:tc>
                  <a:txBody>
                    <a:bodyPr/>
                    <a:lstStyle/>
                    <a:p>
                      <a:pPr algn="r"/>
                      <a:r>
                        <a:rPr sz="1600" b="0" i="0" u="none">
                          <a:solidFill>
                            <a:srgbClr val="1C2B3A"/>
                          </a:solidFill>
                          <a:latin typeface="Barlow"/>
                        </a:rPr>
                        <a:t>14,00</a:t>
                      </a:r>
                    </a:p>
                  </a:txBody>
                  <a:tcPr marL="54864" marR="54864" marT="18288" marB="18288">
                    <a:solidFill>
                      <a:srgbClr val="FFFDF8"/>
                    </a:solidFill>
                  </a:tcPr>
                </a:tc>
              </a:tr>
              <a:tr h="314960">
                <a:tc>
                  <a:txBody>
                    <a:bodyPr/>
                    <a:lstStyle/>
                    <a:p>
                      <a:pPr algn="r"/>
                      <a:r>
                        <a:rPr sz="1600" b="0" i="0" u="none">
                          <a:solidFill>
                            <a:srgbClr val="1C2B3A"/>
                          </a:solidFill>
                          <a:latin typeface="Barlow"/>
                        </a:rPr>
                        <a:t>6</a:t>
                      </a:r>
                    </a:p>
                  </a:txBody>
                  <a:tcPr marL="54864" marR="54864" marT="18288" marB="18288">
                    <a:solidFill>
                      <a:srgbClr val="FFFDF8"/>
                    </a:solidFill>
                  </a:tcPr>
                </a:tc>
                <a:tc>
                  <a:txBody>
                    <a:bodyPr/>
                    <a:lstStyle/>
                    <a:p>
                      <a:r>
                        <a:rPr sz="1600" b="0" i="0" u="none">
                          <a:solidFill>
                            <a:srgbClr val="1C2B3A"/>
                          </a:solidFill>
                          <a:latin typeface="Barlow"/>
                        </a:rPr>
                        <a:t>Wiebke Sandmann</a:t>
                      </a:r>
                    </a:p>
                  </a:txBody>
                  <a:tcPr marL="54864" marR="54864" marT="18288" marB="18288">
                    <a:solidFill>
                      <a:srgbClr val="FFFDF8"/>
                    </a:solidFill>
                  </a:tcPr>
                </a:tc>
                <a:tc>
                  <a:txBody>
                    <a:bodyPr/>
                    <a:lstStyle/>
                    <a:p>
                      <a:r>
                        <a:rPr sz="1600" b="0" i="0" u="none">
                          <a:solidFill>
                            <a:srgbClr val="1C2B3A"/>
                          </a:solidFill>
                          <a:latin typeface="Barlow"/>
                        </a:rPr>
                        <a:t>Turnen</a:t>
                      </a:r>
                    </a:p>
                  </a:txBody>
                  <a:tcPr marL="54864" marR="54864" marT="18288" marB="18288">
                    <a:solidFill>
                      <a:srgbClr val="FFFDF8"/>
                    </a:solidFill>
                  </a:tcPr>
                </a:tc>
                <a:tc>
                  <a:txBody>
                    <a:bodyPr/>
                    <a:lstStyle/>
                    <a:p>
                      <a:r>
                        <a:rPr sz="1600" b="0" i="0" u="none">
                          <a:solidFill>
                            <a:srgbClr val="1C2B3A"/>
                          </a:solidFill>
                          <a:latin typeface="Barlow"/>
                        </a:rPr>
                        <a:t>0000-14142</a:t>
                      </a:r>
                    </a:p>
                  </a:txBody>
                  <a:tcPr marL="54864" marR="54864" marT="18288" marB="18288">
                    <a:solidFill>
                      <a:srgbClr val="FFFDF8"/>
                    </a:solidFill>
                  </a:tcPr>
                </a:tc>
                <a:tc>
                  <a:txBody>
                    <a:bodyPr/>
                    <a:lstStyle/>
                    <a:p>
                      <a:r>
                        <a:rPr sz="1600" b="0" i="0" u="none">
                          <a:solidFill>
                            <a:srgbClr val="1C2B3A"/>
                          </a:solidFill>
                          <a:latin typeface="Barlow"/>
                        </a:rPr>
                        <a:t>Erwachsene</a:t>
                      </a:r>
                    </a:p>
                  </a:txBody>
                  <a:tcPr marL="54864" marR="54864" marT="18288" marB="18288">
                    <a:solidFill>
                      <a:srgbClr val="FFFDF8"/>
                    </a:solidFill>
                  </a:tcPr>
                </a:tc>
                <a:tc>
                  <a:txBody>
                    <a:bodyPr/>
                    <a:lstStyle/>
                    <a:p>
                      <a:pPr algn="r"/>
                      <a:r>
                        <a:rPr sz="1600" b="0" i="0" u="none">
                          <a:solidFill>
                            <a:srgbClr val="1C2B3A"/>
                          </a:solidFill>
                          <a:latin typeface="Barlow"/>
                        </a:rPr>
                        <a:t>12,00</a:t>
                      </a:r>
                    </a:p>
                  </a:txBody>
                  <a:tcPr marL="54864" marR="54864" marT="18288" marB="18288">
                    <a:solidFill>
                      <a:srgbClr val="FFFDF8"/>
                    </a:solidFill>
                  </a:tcPr>
                </a:tc>
              </a:tr>
              <a:tr h="314960">
                <a:tc>
                  <a:txBody>
                    <a:bodyPr/>
                    <a:lstStyle/>
                    <a:p>
                      <a:pPr algn="r"/>
                      <a:r>
                        <a:rPr sz="1600" b="0" i="0" u="none">
                          <a:solidFill>
                            <a:srgbClr val="1C2B3A"/>
                          </a:solidFill>
                          <a:latin typeface="Barlow"/>
                        </a:rPr>
                        <a:t>10</a:t>
                      </a:r>
                    </a:p>
                  </a:txBody>
                  <a:tcPr marL="54864" marR="54864" marT="18288" marB="18288">
                    <a:solidFill>
                      <a:srgbClr val="FFFDF8"/>
                    </a:solidFill>
                  </a:tcPr>
                </a:tc>
                <a:tc>
                  <a:txBody>
                    <a:bodyPr/>
                    <a:lstStyle/>
                    <a:p>
                      <a:r>
                        <a:rPr sz="1600" b="0" i="0" u="none">
                          <a:solidFill>
                            <a:srgbClr val="1C2B3A"/>
                          </a:solidFill>
                          <a:latin typeface="Barlow"/>
                        </a:rPr>
                        <a:t>Mareike Lüders</a:t>
                      </a:r>
                    </a:p>
                  </a:txBody>
                  <a:tcPr marL="54864" marR="54864" marT="18288" marB="18288">
                    <a:solidFill>
                      <a:srgbClr val="FFFDF8"/>
                    </a:solidFill>
                  </a:tcPr>
                </a:tc>
                <a:tc>
                  <a:txBody>
                    <a:bodyPr/>
                    <a:lstStyle/>
                    <a:p>
                      <a:r>
                        <a:rPr sz="1600" b="0" i="0" u="none">
                          <a:solidFill>
                            <a:srgbClr val="1C2B3A"/>
                          </a:solidFill>
                          <a:latin typeface="Barlow"/>
                        </a:rPr>
                        <a:t>Tennis</a:t>
                      </a:r>
                    </a:p>
                  </a:txBody>
                  <a:tcPr marL="54864" marR="54864" marT="18288" marB="18288">
                    <a:solidFill>
                      <a:srgbClr val="FFFDF8"/>
                    </a:solidFill>
                  </a:tcPr>
                </a:tc>
                <a:tc>
                  <a:txBody>
                    <a:bodyPr/>
                    <a:lstStyle/>
                    <a:p>
                      <a:r>
                        <a:rPr sz="1600" b="0" i="0" u="none">
                          <a:solidFill>
                            <a:srgbClr val="1C2B3A"/>
                          </a:solidFill>
                          <a:latin typeface="Barlow"/>
                        </a:rPr>
                        <a:t>0000-31415</a:t>
                      </a:r>
                    </a:p>
                  </a:txBody>
                  <a:tcPr marL="54864" marR="54864" marT="18288" marB="18288">
                    <a:solidFill>
                      <a:srgbClr val="FFFDF8"/>
                    </a:solidFill>
                  </a:tcPr>
                </a:tc>
                <a:tc>
                  <a:txBody>
                    <a:bodyPr/>
                    <a:lstStyle/>
                    <a:p>
                      <a:r>
                        <a:rPr sz="1600" b="0" i="0" u="none">
                          <a:solidFill>
                            <a:srgbClr val="1C2B3A"/>
                          </a:solidFill>
                          <a:latin typeface="Barlow"/>
                        </a:rPr>
                        <a:t>Erwachsene</a:t>
                      </a:r>
                    </a:p>
                  </a:txBody>
                  <a:tcPr marL="54864" marR="54864" marT="18288" marB="18288">
                    <a:solidFill>
                      <a:srgbClr val="FFFDF8"/>
                    </a:solidFill>
                  </a:tcPr>
                </a:tc>
                <a:tc>
                  <a:txBody>
                    <a:bodyPr/>
                    <a:lstStyle/>
                    <a:p>
                      <a:pPr algn="r"/>
                      <a:r>
                        <a:rPr sz="1600" b="0" i="0" u="none">
                          <a:solidFill>
                            <a:srgbClr val="1C2B3A"/>
                          </a:solidFill>
                          <a:latin typeface="Barlow"/>
                        </a:rPr>
                        <a:t>12,00</a:t>
                      </a:r>
                    </a:p>
                  </a:txBody>
                  <a:tcPr marL="54864" marR="54864" marT="18288" marB="18288">
                    <a:solidFill>
                      <a:srgbClr val="FFFDF8"/>
                    </a:solidFill>
                  </a:tcPr>
                </a:tc>
              </a:tr>
              <a:tr h="314960">
                <a:tc>
                  <a:txBody>
                    <a:bodyPr/>
                    <a:lstStyle/>
                    <a:p>
                      <a:pPr algn="r"/>
                      <a:r>
                        <a:rPr sz="1600" b="0" i="0" u="none">
                          <a:solidFill>
                            <a:srgbClr val="1C2B3A"/>
                          </a:solidFill>
                          <a:latin typeface="Barlow"/>
                        </a:rPr>
                        <a:t>12</a:t>
                      </a:r>
                    </a:p>
                  </a:txBody>
                  <a:tcPr marL="54864" marR="54864" marT="18288" marB="18288">
                    <a:solidFill>
                      <a:srgbClr val="FFFDF8"/>
                    </a:solidFill>
                  </a:tcPr>
                </a:tc>
                <a:tc>
                  <a:txBody>
                    <a:bodyPr/>
                    <a:lstStyle/>
                    <a:p>
                      <a:r>
                        <a:rPr sz="1600" b="0" i="0" u="none">
                          <a:solidFill>
                            <a:srgbClr val="1C2B3A"/>
                          </a:solidFill>
                          <a:latin typeface="Barlow"/>
                        </a:rPr>
                        <a:t>Timo Rieken</a:t>
                      </a:r>
                    </a:p>
                  </a:txBody>
                  <a:tcPr marL="54864" marR="54864" marT="18288" marB="18288">
                    <a:solidFill>
                      <a:srgbClr val="FFFDF8"/>
                    </a:solidFill>
                  </a:tcPr>
                </a:tc>
                <a:tc>
                  <a:txBody>
                    <a:bodyPr/>
                    <a:lstStyle/>
                    <a:p>
                      <a:r>
                        <a:rPr sz="1600" b="0" i="0" u="none">
                          <a:solidFill>
                            <a:srgbClr val="1C2B3A"/>
                          </a:solidFill>
                          <a:latin typeface="Barlow"/>
                        </a:rPr>
                        <a:t>Judo</a:t>
                      </a:r>
                    </a:p>
                  </a:txBody>
                  <a:tcPr marL="54864" marR="54864" marT="18288" marB="18288">
                    <a:solidFill>
                      <a:srgbClr val="FFFDF8"/>
                    </a:solidFill>
                  </a:tcPr>
                </a:tc>
                <a:tc>
                  <a:txBody>
                    <a:bodyPr/>
                    <a:lstStyle/>
                    <a:p>
                      <a:r>
                        <a:rPr sz="1600" b="0" i="0" u="none">
                          <a:solidFill>
                            <a:srgbClr val="1C2B3A"/>
                          </a:solidFill>
                          <a:latin typeface="Barlow"/>
                        </a:rPr>
                        <a:t>0000-16180</a:t>
                      </a:r>
                    </a:p>
                  </a:txBody>
                  <a:tcPr marL="54864" marR="54864" marT="18288" marB="18288">
                    <a:solidFill>
                      <a:srgbClr val="FFFDF8"/>
                    </a:solidFill>
                  </a:tcPr>
                </a:tc>
                <a:tc>
                  <a:txBody>
                    <a:bodyPr/>
                    <a:lstStyle/>
                    <a:p>
                      <a:r>
                        <a:rPr sz="1600" b="0" i="0" u="none">
                          <a:solidFill>
                            <a:srgbClr val="1C2B3A"/>
                          </a:solidFill>
                          <a:latin typeface="Barlow"/>
                        </a:rPr>
                        <a:t>Jugend</a:t>
                      </a:r>
                    </a:p>
                  </a:txBody>
                  <a:tcPr marL="54864" marR="54864" marT="18288" marB="18288">
                    <a:solidFill>
                      <a:srgbClr val="FFFDF8"/>
                    </a:solidFill>
                  </a:tcPr>
                </a:tc>
                <a:tc>
                  <a:txBody>
                    <a:bodyPr/>
                    <a:lstStyle/>
                    <a:p>
                      <a:pPr algn="r"/>
                      <a:r>
                        <a:rPr sz="1600" b="0" i="0" u="none">
                          <a:solidFill>
                            <a:srgbClr val="1C2B3A"/>
                          </a:solidFill>
                          <a:latin typeface="Barlow"/>
                        </a:rPr>
                        <a:t>8,50</a:t>
                      </a:r>
                    </a:p>
                  </a:txBody>
                  <a:tcPr marL="54864" marR="54864" marT="18288" marB="18288">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Anomalie-Rennen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20 MIN · MATERIAL: STREIFEN, AUFTRAGSKARTEN</a:t>
            </a:r>
          </a:p>
        </p:txBody>
      </p:sp>
      <p:sp>
        <p:nvSpPr>
          <p:cNvPr id="10" name="TextBox 9"/>
          <p:cNvSpPr txBox="1"/>
          <p:nvPr/>
        </p:nvSpPr>
        <p:spPr>
          <a:xfrm>
            <a:off x="822959" y="2194560"/>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Jede Person bekommt 3 Zeilenstreifen: „Du pflegst diese Datensätze.“ Fremde Streifen nicht anfassen.</a:t>
            </a:r>
          </a:p>
          <a:p>
            <a:pPr>
              <a:lnSpc>
                <a:spcPct val="105000"/>
              </a:lnSpc>
              <a:spcAft>
                <a:spcPts val="600"/>
              </a:spcAft>
            </a:pPr>
            <a:r>
              <a:rPr sz="1900" b="0" i="0" u="none">
                <a:solidFill>
                  <a:srgbClr val="1C2B3A"/>
                </a:solidFill>
                <a:latin typeface="Barlow"/>
              </a:rPr>
              <a:t>2. Ich decke alle 45 Sekunden eine Auftragskarte auf – manche sieht nur </a:t>
            </a:r>
            <a:r>
              <a:rPr sz="1900" b="1" i="0" u="none">
                <a:solidFill>
                  <a:srgbClr val="1C2B3A"/>
                </a:solidFill>
                <a:latin typeface="Barlow"/>
              </a:rPr>
              <a:t>eine</a:t>
            </a:r>
            <a:r>
              <a:rPr sz="1900" b="0" i="0" u="none">
                <a:solidFill>
                  <a:srgbClr val="1C2B3A"/>
                </a:solidFill>
                <a:latin typeface="Barlow"/>
              </a:rPr>
              <a:t> Person.</a:t>
            </a:r>
          </a:p>
          <a:p>
            <a:pPr>
              <a:lnSpc>
                <a:spcPct val="105000"/>
              </a:lnSpc>
              <a:spcAft>
                <a:spcPts val="600"/>
              </a:spcAft>
            </a:pPr>
            <a:r>
              <a:rPr sz="1900" b="0" i="0" u="none">
                <a:solidFill>
                  <a:srgbClr val="1C2B3A"/>
                </a:solidFill>
                <a:latin typeface="Barlow"/>
              </a:rPr>
              <a:t>3. Am Ende legt ihr die Liste wieder zusammen und zählt: Widersprüche, verlorene Information, unmögliche Einträge.</a:t>
            </a:r>
          </a:p>
          <a:p>
            <a:pPr>
              <a:lnSpc>
                <a:spcPct val="105000"/>
              </a:lnSpc>
              <a:spcAft>
                <a:spcPts val="600"/>
              </a:spcAft>
            </a:pPr>
            <a:r>
              <a:rPr sz="1900" b="0" i="0" u="none">
                <a:solidFill>
                  <a:srgbClr val="1C2B3A"/>
                </a:solidFill>
                <a:latin typeface="Barlow"/>
              </a:rPr>
              <a:t>4. Gewonnen hat das Team mit den wenigsten Widersprüchen.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Redundanz und die drei Anomaliearten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graphicFrame>
        <p:nvGraphicFramePr>
          <p:cNvPr id="8" name="Datentabelle"/>
          <p:cNvGraphicFramePr>
            <a:graphicFrameLocks noGrp="1"/>
          </p:cNvGraphicFramePr>
          <p:nvPr/>
        </p:nvGraphicFramePr>
        <p:xfrm>
          <a:off x="548640" y="1691640"/>
          <a:ext cx="11094415" cy="200787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Redundanz</a:t>
                      </a:r>
                    </a:p>
                  </a:txBody>
                  <a:tcPr marL="54864" marR="54864" marT="18288" marB="18288">
                    <a:solidFill>
                      <a:srgbClr val="FFFDF8"/>
                    </a:solidFill>
                  </a:tcPr>
                </a:tc>
                <a:tc>
                  <a:txBody>
                    <a:bodyPr/>
                    <a:lstStyle/>
                    <a:p>
                      <a:r>
                        <a:rPr sz="1700" b="0" i="0" u="none">
                          <a:solidFill>
                            <a:srgbClr val="1C2B3A"/>
                          </a:solidFill>
                          <a:latin typeface="Barlow"/>
                        </a:rPr>
                        <a:t>Dieselbe Information ist mehrfach gespeichert (z. B. eine Telefonnummer in jeder Zeile).</a:t>
                      </a:r>
                    </a:p>
                  </a:txBody>
                  <a:tcPr marL="54864" marR="54864" marT="18288" marB="18288">
                    <a:solidFill>
                      <a:srgbClr val="FFFDF8"/>
                    </a:solidFill>
                  </a:tcPr>
                </a:tc>
              </a:tr>
              <a:tr h="334645">
                <a:tc>
                  <a:txBody>
                    <a:bodyPr/>
                    <a:lstStyle/>
                    <a:p>
                      <a:r>
                        <a:rPr sz="1700" b="0" i="0" u="none">
                          <a:solidFill>
                            <a:srgbClr val="1C2B3A"/>
                          </a:solidFill>
                          <a:latin typeface="Barlow"/>
                        </a:rPr>
                        <a:t>Änderungsanomalie</a:t>
                      </a:r>
                    </a:p>
                  </a:txBody>
                  <a:tcPr marL="54864" marR="54864" marT="18288" marB="18288">
                    <a:solidFill>
                      <a:srgbClr val="FFFDF8"/>
                    </a:solidFill>
                  </a:tcPr>
                </a:tc>
                <a:tc>
                  <a:txBody>
                    <a:bodyPr/>
                    <a:lstStyle/>
                    <a:p>
                      <a:r>
                        <a:rPr sz="1700" b="0" i="0" u="none">
                          <a:solidFill>
                            <a:srgbClr val="1C2B3A"/>
                          </a:solidFill>
                          <a:latin typeface="Barlow"/>
                        </a:rPr>
                        <a:t>Eine Information muss an vielen Stellen geändert werden; wird eine vergessen, widerspricht sich die Tabelle.</a:t>
                      </a:r>
                    </a:p>
                  </a:txBody>
                  <a:tcPr marL="54864" marR="54864" marT="18288" marB="18288">
                    <a:solidFill>
                      <a:srgbClr val="FFFDF8"/>
                    </a:solidFill>
                  </a:tcPr>
                </a:tc>
              </a:tr>
              <a:tr h="334645">
                <a:tc>
                  <a:txBody>
                    <a:bodyPr/>
                    <a:lstStyle/>
                    <a:p>
                      <a:r>
                        <a:rPr sz="1700" b="0" i="0" u="none">
                          <a:solidFill>
                            <a:srgbClr val="1C2B3A"/>
                          </a:solidFill>
                          <a:latin typeface="Barlow"/>
                        </a:rPr>
                        <a:t>Löschanomalie</a:t>
                      </a:r>
                    </a:p>
                  </a:txBody>
                  <a:tcPr marL="54864" marR="54864" marT="18288" marB="18288">
                    <a:solidFill>
                      <a:srgbClr val="FFFDF8"/>
                    </a:solidFill>
                  </a:tcPr>
                </a:tc>
                <a:tc>
                  <a:txBody>
                    <a:bodyPr/>
                    <a:lstStyle/>
                    <a:p>
                      <a:r>
                        <a:rPr sz="1700" b="0" i="0" u="none">
                          <a:solidFill>
                            <a:srgbClr val="1C2B3A"/>
                          </a:solidFill>
                          <a:latin typeface="Barlow"/>
                        </a:rPr>
                        <a:t>Beim Löschen eines Datensatzes geht ungewollt weitere Information verloren.</a:t>
                      </a:r>
                    </a:p>
                  </a:txBody>
                  <a:tcPr marL="54864" marR="54864" marT="18288" marB="18288">
                    <a:solidFill>
                      <a:srgbClr val="FFFDF8"/>
                    </a:solidFill>
                  </a:tcPr>
                </a:tc>
              </a:tr>
              <a:tr h="334645">
                <a:tc>
                  <a:txBody>
                    <a:bodyPr/>
                    <a:lstStyle/>
                    <a:p>
                      <a:r>
                        <a:rPr sz="1700" b="0" i="0" u="none">
                          <a:solidFill>
                            <a:srgbClr val="1C2B3A"/>
                          </a:solidFill>
                          <a:latin typeface="Barlow"/>
                        </a:rPr>
                        <a:t>Einfügeanomalie</a:t>
                      </a:r>
                    </a:p>
                  </a:txBody>
                  <a:tcPr marL="54864" marR="54864" marT="18288" marB="18288">
                    <a:solidFill>
                      <a:srgbClr val="FFFDF8"/>
                    </a:solidFill>
                  </a:tcPr>
                </a:tc>
                <a:tc>
                  <a:txBody>
                    <a:bodyPr/>
                    <a:lstStyle/>
                    <a:p>
                      <a:r>
                        <a:rPr sz="1700" b="0" i="0" u="none">
                          <a:solidFill>
                            <a:srgbClr val="1C2B3A"/>
                          </a:solidFill>
                          <a:latin typeface="Barlow"/>
                        </a:rPr>
                        <a:t>Etwas lässt sich nicht eintragen, weil eine andere Angabe (noch) fehlt.</a:t>
                      </a:r>
                    </a:p>
                  </a:txBody>
                  <a:tcPr marL="54864" marR="54864" marT="18288" marB="18288">
                    <a:solidFill>
                      <a:srgbClr val="FFFDF8"/>
                    </a:solidFill>
                  </a:tcPr>
                </a:tc>
              </a:tr>
              <a:tr h="334645">
                <a:tc>
                  <a:txBody>
                    <a:bodyPr/>
                    <a:lstStyle/>
                    <a:p>
                      <a:r>
                        <a:rPr sz="1700" b="0" i="0" u="none">
                          <a:solidFill>
                            <a:srgbClr val="1C2B3A"/>
                          </a:solidFill>
                          <a:latin typeface="Barlow"/>
                        </a:rPr>
                        <a:t>nicht-atomarer Wert</a:t>
                      </a:r>
                    </a:p>
                  </a:txBody>
                  <a:tcPr marL="54864" marR="54864" marT="18288" marB="18288">
                    <a:solidFill>
                      <a:srgbClr val="FFFDF8"/>
                    </a:solidFill>
                  </a:tcPr>
                </a:tc>
                <a:tc>
                  <a:txBody>
                    <a:bodyPr/>
                    <a:lstStyle/>
                    <a:p>
                      <a:r>
                        <a:rPr sz="1700" b="0" i="0" u="none">
                          <a:solidFill>
                            <a:srgbClr val="1C2B3A"/>
                          </a:solidFill>
                          <a:latin typeface="Barlow"/>
                        </a:rPr>
                        <a:t>Mehrere Werte in einer Zelle („Fußball, Tennis“).</a:t>
                      </a:r>
                    </a:p>
                  </a:txBody>
                  <a:tcPr marL="54864" marR="54864" marT="18288" marB="18288">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Anomalien am Datensatz der Rohliste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graphicFrame>
        <p:nvGraphicFramePr>
          <p:cNvPr id="8" name="Datentabelle"/>
          <p:cNvGraphicFramePr>
            <a:graphicFrameLocks noGrp="1"/>
          </p:cNvGraphicFramePr>
          <p:nvPr/>
        </p:nvGraphicFramePr>
        <p:xfrm>
          <a:off x="548640" y="1691640"/>
          <a:ext cx="11094415" cy="1673225"/>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Änderung</a:t>
                      </a:r>
                    </a:p>
                  </a:txBody>
                  <a:tcPr marL="54864" marR="54864" marT="18288" marB="18288">
                    <a:solidFill>
                      <a:srgbClr val="FFFDF8"/>
                    </a:solidFill>
                  </a:tcPr>
                </a:tc>
                <a:tc>
                  <a:txBody>
                    <a:bodyPr/>
                    <a:lstStyle/>
                    <a:p>
                      <a:r>
                        <a:rPr sz="1700" b="0" i="0" u="none">
                          <a:solidFill>
                            <a:srgbClr val="1C2B3A"/>
                          </a:solidFill>
                          <a:latin typeface="Barlow"/>
                        </a:rPr>
                        <a:t>Jens Meyers Telefon steht in 23 Zeilen. Ändert es sich, müssen alle 23 geändert werden – Zeile 27 zeigt mit 0000-31451 schon einen Widerspruch.</a:t>
                      </a:r>
                    </a:p>
                  </a:txBody>
                  <a:tcPr marL="54864" marR="54864" marT="18288" marB="18288">
                    <a:solidFill>
                      <a:srgbClr val="FFFDF8"/>
                    </a:solidFill>
                  </a:tcPr>
                </a:tc>
              </a:tr>
              <a:tr h="334645">
                <a:tc>
                  <a:txBody>
                    <a:bodyPr/>
                    <a:lstStyle/>
                    <a:p>
                      <a:r>
                        <a:rPr sz="1700" b="0" i="0" u="none">
                          <a:solidFill>
                            <a:srgbClr val="1C2B3A"/>
                          </a:solidFill>
                          <a:latin typeface="Barlow"/>
                        </a:rPr>
                        <a:t>Löschung</a:t>
                      </a:r>
                    </a:p>
                  </a:txBody>
                  <a:tcPr marL="54864" marR="54864" marT="18288" marB="18288">
                    <a:solidFill>
                      <a:srgbClr val="FFFDF8"/>
                    </a:solidFill>
                  </a:tcPr>
                </a:tc>
                <a:tc>
                  <a:txBody>
                    <a:bodyPr/>
                    <a:lstStyle/>
                    <a:p>
                      <a:r>
                        <a:rPr sz="1700" b="0" i="0" u="none">
                          <a:solidFill>
                            <a:srgbClr val="1C2B3A"/>
                          </a:solidFill>
                          <a:latin typeface="Barlow"/>
                        </a:rPr>
                        <a:t>Timo Rieken (Zeile 12) ist das einzige Judo-Mitglied. Wird die Zeile gelöscht, sind Judo, Trainer Ole Wittkamp und seine Telefonnummer weg.</a:t>
                      </a:r>
                    </a:p>
                  </a:txBody>
                  <a:tcPr marL="54864" marR="54864" marT="18288" marB="18288">
                    <a:solidFill>
                      <a:srgbClr val="FFFDF8"/>
                    </a:solidFill>
                  </a:tcPr>
                </a:tc>
              </a:tr>
              <a:tr h="334645">
                <a:tc>
                  <a:txBody>
                    <a:bodyPr/>
                    <a:lstStyle/>
                    <a:p>
                      <a:r>
                        <a:rPr sz="1700" b="0" i="0" u="none">
                          <a:solidFill>
                            <a:srgbClr val="1C2B3A"/>
                          </a:solidFill>
                          <a:latin typeface="Barlow"/>
                        </a:rPr>
                        <a:t>Einfügung</a:t>
                      </a:r>
                    </a:p>
                  </a:txBody>
                  <a:tcPr marL="54864" marR="54864" marT="18288" marB="18288">
                    <a:solidFill>
                      <a:srgbClr val="FFFDF8"/>
                    </a:solidFill>
                  </a:tcPr>
                </a:tc>
                <a:tc>
                  <a:txBody>
                    <a:bodyPr/>
                    <a:lstStyle/>
                    <a:p>
                      <a:r>
                        <a:rPr sz="1700" b="0" i="0" u="none">
                          <a:solidFill>
                            <a:srgbClr val="1C2B3A"/>
                          </a:solidFill>
                          <a:latin typeface="Barlow"/>
                        </a:rPr>
                        <a:t>Die Abteilung Boule (Trainerin Gesa Thiele, Bouleplatz Weseraue) kann ohne Mitglied nicht eingetragen werden.</a:t>
                      </a:r>
                    </a:p>
                  </a:txBody>
                  <a:tcPr marL="54864" marR="54864" marT="18288" marB="18288">
                    <a:solidFill>
                      <a:srgbClr val="FFFDF8"/>
                    </a:solidFill>
                  </a:tcPr>
                </a:tc>
              </a:tr>
              <a:tr h="334645">
                <a:tc>
                  <a:txBody>
                    <a:bodyPr/>
                    <a:lstStyle/>
                    <a:p>
                      <a:r>
                        <a:rPr sz="1700" b="0" i="0" u="none">
                          <a:solidFill>
                            <a:srgbClr val="1C2B3A"/>
                          </a:solidFill>
                          <a:latin typeface="Barlow"/>
                        </a:rPr>
                        <a:t>Ursache</a:t>
                      </a:r>
                    </a:p>
                  </a:txBody>
                  <a:tcPr marL="54864" marR="54864" marT="18288" marB="18288">
                    <a:solidFill>
                      <a:srgbClr val="FFFDF8"/>
                    </a:solidFill>
                  </a:tcPr>
                </a:tc>
                <a:tc>
                  <a:txBody>
                    <a:bodyPr/>
                    <a:lstStyle/>
                    <a:p>
                      <a:r>
                        <a:rPr sz="1700" b="0" i="0" u="none">
                          <a:solidFill>
                            <a:srgbClr val="1C2B3A"/>
                          </a:solidFill>
                          <a:latin typeface="Barlow"/>
                        </a:rPr>
                        <a:t>Redundanz → Änderungsanomalie · mehrere Sachverhalte in einer Tabelle → Einfüge- und Löschanomalie</a:t>
                      </a:r>
                    </a:p>
                  </a:txBody>
                  <a:tcPr marL="54864" marR="54864" marT="18288" marB="18288">
                    <a:solidFill>
                      <a:srgbClr val="FFFD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Wie viele spielen Tischtennis?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SQL-Hintergrund"/>
          <p:cNvSpPr/>
          <p:nvPr/>
        </p:nvSpPr>
        <p:spPr>
          <a:xfrm>
            <a:off x="548640" y="1691640"/>
            <a:ext cx="6101928" cy="1272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998219"/>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E6C77A"/>
                </a:solidFill>
                <a:latin typeface="IBM Plex Mono"/>
              </a:rPr>
              <a:t>COUNT</a:t>
            </a:r>
            <a:r>
              <a:rPr sz="2000" i="0">
                <a:solidFill>
                  <a:srgbClr val="D8E3D0"/>
                </a:solidFill>
                <a:latin typeface="IBM Plex Mono"/>
              </a:rPr>
              <a:t>(</a:t>
            </a:r>
            <a:r>
              <a:rPr sz="2000" i="0">
                <a:solidFill>
                  <a:srgbClr val="D8E3D0"/>
                </a:solidFill>
                <a:latin typeface="IBM Plex Mono"/>
              </a:rPr>
              <a:t>*</a:t>
            </a:r>
            <a:r>
              <a:rPr sz="2000" i="0">
                <a:solidFill>
                  <a:srgbClr val="D8E3D0"/>
                </a:solidFill>
                <a:latin typeface="IBM Plex Mono"/>
              </a:rPr>
              <a:t>)</a:t>
            </a:r>
            <a:r>
              <a:rPr sz="2000" i="0">
                <a:solidFill>
                  <a:srgbClr val="D8E3D0"/>
                </a:solidFill>
                <a:latin typeface="IBM Plex Mono"/>
              </a:rPr>
              <a:t> </a:t>
            </a:r>
            <a:r>
              <a:rPr sz="2000" i="0">
                <a:solidFill>
                  <a:srgbClr val="F2A65A"/>
                </a:solidFill>
                <a:latin typeface="IBM Plex Mono"/>
              </a:rPr>
              <a:t>AS</a:t>
            </a:r>
            <a:r>
              <a:rPr sz="2000" i="0">
                <a:solidFill>
                  <a:srgbClr val="D8E3D0"/>
                </a:solidFill>
                <a:latin typeface="IBM Plex Mono"/>
              </a:rPr>
              <a:t> </a:t>
            </a:r>
            <a:r>
              <a:rPr sz="2000" i="0">
                <a:solidFill>
                  <a:srgbClr val="D8E3D0"/>
                </a:solidFill>
                <a:latin typeface="IBM Plex Mono"/>
              </a:rPr>
              <a:t>Anzahl</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MitgliederlisteRoh</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Abteilungen</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'Tischtennis'</a:t>
            </a:r>
          </a:p>
        </p:txBody>
      </p:sp>
      <p:sp>
        <p:nvSpPr>
          <p:cNvPr id="10" name="TextBox 9"/>
          <p:cNvSpPr txBox="1"/>
          <p:nvPr/>
        </p:nvSpPr>
        <p:spPr>
          <a:xfrm>
            <a:off x="548640" y="30556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375660"/>
          <a:ext cx="880567" cy="511810"/>
        </p:xfrm>
        <a:graphic>
          <a:graphicData uri="http://schemas.openxmlformats.org/drawingml/2006/table">
            <a:tbl>
              <a:tblPr firstRow="1">
                <a:tableStyleId>{5C22544A-7EE6-4342-B048-85BDC9FD1C3A}</a:tableStyleId>
              </a:tblPr>
              <a:tblGrid>
                <a:gridCol w="880567"/>
              </a:tblGrid>
              <a:tr h="255905">
                <a:tc>
                  <a:txBody>
                    <a:bodyPr/>
                    <a:lstStyle/>
                    <a:p>
                      <a:r>
                        <a:rPr sz="1196" b="1" i="0" u="none">
                          <a:solidFill>
                            <a:srgbClr val="1C2B3A"/>
                          </a:solidFill>
                          <a:latin typeface="IBM Plex Mono"/>
                        </a:rPr>
                        <a:t>Anzahl</a:t>
                      </a:r>
                    </a:p>
                  </a:txBody>
                  <a:tcPr marL="54864" marR="54864" marT="18288" marB="18288">
                    <a:solidFill>
                      <a:srgbClr val="EBE2D2"/>
                    </a:solidFill>
                  </a:tcPr>
                </a:tc>
              </a:tr>
              <a:tr h="255905">
                <a:tc>
                  <a:txBody>
                    <a:bodyPr/>
                    <a:lstStyle/>
                    <a:p>
                      <a:pPr algn="r"/>
                      <a:r>
                        <a:rPr sz="1300" b="0" i="0" u="none">
                          <a:solidFill>
                            <a:srgbClr val="1C2B3A"/>
                          </a:solidFill>
                          <a:latin typeface="Barlow"/>
                        </a:rPr>
                        <a:t>12</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a:t>
            </a:r>
            <a:r>
              <a:rPr sz="1600" b="0" i="0" u="none">
                <a:solidFill>
                  <a:srgbClr val="1C2B3A"/>
                </a:solidFill>
                <a:latin typeface="Barlow"/>
              </a:rPr>
              <a:t> – alle 62 Zeilen der Rohliste</a:t>
            </a:r>
          </a:p>
        </p:txBody>
      </p:sp>
      <p:sp>
        <p:nvSpPr>
          <p:cNvPr id="16" name="Rounded Rectangle 15"/>
          <p:cNvSpPr/>
          <p:nvPr/>
        </p:nvSpPr>
        <p:spPr>
          <a:xfrm>
            <a:off x="6924888" y="251460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1460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5877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587752"/>
            <a:ext cx="3986646" cy="91135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WHERE</a:t>
            </a:r>
            <a:r>
              <a:rPr sz="1600" b="0" i="0" u="none">
                <a:solidFill>
                  <a:srgbClr val="1C2B3A"/>
                </a:solidFill>
                <a:latin typeface="Barlow"/>
              </a:rPr>
              <a:t> – nur Zellen, die </a:t>
            </a:r>
            <a:r>
              <a:rPr sz="1600" b="0" i="1" u="none">
                <a:solidFill>
                  <a:srgbClr val="1C2B3A"/>
                </a:solidFill>
                <a:latin typeface="Barlow"/>
              </a:rPr>
              <a:t>genau</a:t>
            </a:r>
            <a:r>
              <a:rPr sz="1600" b="0" i="0" u="none">
                <a:solidFill>
                  <a:srgbClr val="1C2B3A"/>
                </a:solidFill>
                <a:latin typeface="Barlow"/>
              </a:rPr>
              <a:t> „Tischtennis“ enthalten: „Turnen, Tischtennis“ (Zeile 31) fällt heraus</a:t>
            </a:r>
          </a:p>
        </p:txBody>
      </p:sp>
      <p:sp>
        <p:nvSpPr>
          <p:cNvPr id="20" name="Rounded Rectangle 19"/>
          <p:cNvSpPr/>
          <p:nvPr/>
        </p:nvSpPr>
        <p:spPr>
          <a:xfrm>
            <a:off x="6924888" y="367284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67284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7459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74599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SELECT COUNT(*)</a:t>
            </a:r>
            <a:r>
              <a:rPr sz="1600" b="0" i="0" u="none">
                <a:solidFill>
                  <a:srgbClr val="1C2B3A"/>
                </a:solidFill>
                <a:latin typeface="Barlow"/>
              </a:rPr>
              <a:t> – 12 Zeilen</a:t>
            </a:r>
          </a:p>
        </p:txBody>
      </p:sp>
      <p:sp>
        <p:nvSpPr>
          <p:cNvPr id="24" name="Rounded Rectangle 23"/>
          <p:cNvSpPr/>
          <p:nvPr/>
        </p:nvSpPr>
        <p:spPr>
          <a:xfrm>
            <a:off x="6924888" y="449580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49580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568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56895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Die Abteilung hat aber </a:t>
            </a:r>
            <a:r>
              <a:rPr sz="1600" b="1" i="0" u="none">
                <a:solidFill>
                  <a:srgbClr val="1C2B3A"/>
                </a:solidFill>
                <a:latin typeface="Barlow"/>
              </a:rPr>
              <a:t>14</a:t>
            </a:r>
            <a:r>
              <a:rPr sz="1600" b="0" i="0" u="none">
                <a:solidFill>
                  <a:srgbClr val="1C2B3A"/>
                </a:solidFill>
                <a:latin typeface="Barlow"/>
              </a:rPr>
              <a:t> Mitglieder – nicht-atomare Werte und Tippfehler verfälschen die Auswertung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Was = übersieht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SQL-Hintergrund"/>
          <p:cNvSpPr/>
          <p:nvPr/>
        </p:nvSpPr>
        <p:spPr>
          <a:xfrm>
            <a:off x="548640" y="1691640"/>
            <a:ext cx="6101928"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315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Mitglied</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Abteilungen</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MitgliederlisteRoh</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Abteilungen</a:t>
            </a:r>
            <a:r>
              <a:rPr sz="2000" i="0">
                <a:solidFill>
                  <a:srgbClr val="D8E3D0"/>
                </a:solidFill>
                <a:latin typeface="IBM Plex Mono"/>
              </a:rPr>
              <a:t> </a:t>
            </a:r>
            <a:r>
              <a:rPr sz="2000" i="0">
                <a:solidFill>
                  <a:srgbClr val="F2A65A"/>
                </a:solidFill>
                <a:latin typeface="IBM Plex Mono"/>
              </a:rPr>
              <a:t>LIKE</a:t>
            </a:r>
            <a:r>
              <a:rPr sz="2000" i="0">
                <a:solidFill>
                  <a:srgbClr val="D8E3D0"/>
                </a:solidFill>
                <a:latin typeface="IBM Plex Mono"/>
              </a:rPr>
              <a:t> </a:t>
            </a:r>
            <a:r>
              <a:rPr sz="2000" i="0">
                <a:solidFill>
                  <a:srgbClr val="9BD3A6"/>
                </a:solidFill>
                <a:latin typeface="IBM Plex Mono"/>
              </a:rPr>
              <a:t>'%Tisch%'</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Abteilungen</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'Tischtennis'</a:t>
            </a:r>
          </a:p>
        </p:txBody>
      </p:sp>
      <p:sp>
        <p:nvSpPr>
          <p:cNvPr id="10" name="TextBox 9"/>
          <p:cNvSpPr txBox="1"/>
          <p:nvPr/>
        </p:nvSpPr>
        <p:spPr>
          <a:xfrm>
            <a:off x="548640" y="3373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693160"/>
          <a:ext cx="3984040" cy="767715"/>
        </p:xfrm>
        <a:graphic>
          <a:graphicData uri="http://schemas.openxmlformats.org/drawingml/2006/table">
            <a:tbl>
              <a:tblPr firstRow="1">
                <a:tableStyleId>{5C22544A-7EE6-4342-B048-85BDC9FD1C3A}</a:tableStyleId>
              </a:tblPr>
              <a:tblGrid>
                <a:gridCol w="1789938"/>
                <a:gridCol w="2194102"/>
              </a:tblGrid>
              <a:tr h="255905">
                <a:tc>
                  <a:txBody>
                    <a:bodyPr/>
                    <a:lstStyle/>
                    <a:p>
                      <a:r>
                        <a:rPr sz="1196" b="1" i="0" u="none">
                          <a:solidFill>
                            <a:srgbClr val="1C2B3A"/>
                          </a:solidFill>
                          <a:latin typeface="IBM Plex Mono"/>
                        </a:rPr>
                        <a:t>Mitglied</a:t>
                      </a:r>
                    </a:p>
                  </a:txBody>
                  <a:tcPr marL="54864" marR="54864" marT="18288" marB="18288">
                    <a:solidFill>
                      <a:srgbClr val="EBE2D2"/>
                    </a:solidFill>
                  </a:tcPr>
                </a:tc>
                <a:tc>
                  <a:txBody>
                    <a:bodyPr/>
                    <a:lstStyle/>
                    <a:p>
                      <a:r>
                        <a:rPr sz="1196" b="1" i="0" u="none">
                          <a:solidFill>
                            <a:srgbClr val="1C2B3A"/>
                          </a:solidFill>
                          <a:latin typeface="IBM Plex Mono"/>
                        </a:rPr>
                        <a:t>Abteilungen</a:t>
                      </a:r>
                    </a:p>
                  </a:txBody>
                  <a:tcPr marL="54864" marR="54864" marT="18288" marB="18288">
                    <a:solidFill>
                      <a:srgbClr val="EBE2D2"/>
                    </a:solidFill>
                  </a:tcPr>
                </a:tc>
              </a:tr>
              <a:tr h="255905">
                <a:tc>
                  <a:txBody>
                    <a:bodyPr/>
                    <a:lstStyle/>
                    <a:p>
                      <a:r>
                        <a:rPr sz="1300" b="0" i="0" u="none">
                          <a:solidFill>
                            <a:srgbClr val="1C2B3A"/>
                          </a:solidFill>
                          <a:latin typeface="Barlow"/>
                        </a:rPr>
                        <a:t>Heike Dannemann</a:t>
                      </a:r>
                    </a:p>
                  </a:txBody>
                  <a:tcPr marL="54864" marR="54864" marT="18288" marB="18288">
                    <a:solidFill>
                      <a:srgbClr val="FFFDF8"/>
                    </a:solidFill>
                  </a:tcPr>
                </a:tc>
                <a:tc>
                  <a:txBody>
                    <a:bodyPr/>
                    <a:lstStyle/>
                    <a:p>
                      <a:r>
                        <a:rPr sz="1300" b="0" i="0" u="none">
                          <a:solidFill>
                            <a:srgbClr val="1C2B3A"/>
                          </a:solidFill>
                          <a:latin typeface="Barlow"/>
                        </a:rPr>
                        <a:t>Turnen, Tischtennis</a:t>
                      </a:r>
                    </a:p>
                  </a:txBody>
                  <a:tcPr marL="54864" marR="54864" marT="18288" marB="18288">
                    <a:solidFill>
                      <a:srgbClr val="FFFDF8"/>
                    </a:solidFill>
                  </a:tcPr>
                </a:tc>
              </a:tr>
              <a:tr h="255905">
                <a:tc>
                  <a:txBody>
                    <a:bodyPr/>
                    <a:lstStyle/>
                    <a:p>
                      <a:r>
                        <a:rPr sz="1300" b="0" i="0" u="none">
                          <a:solidFill>
                            <a:srgbClr val="1C2B3A"/>
                          </a:solidFill>
                          <a:latin typeface="Barlow"/>
                        </a:rPr>
                        <a:t>Kerrin Bösch</a:t>
                      </a:r>
                    </a:p>
                  </a:txBody>
                  <a:tcPr marL="54864" marR="54864" marT="18288" marB="18288">
                    <a:solidFill>
                      <a:srgbClr val="FFFDF8"/>
                    </a:solidFill>
                  </a:tcPr>
                </a:tc>
                <a:tc>
                  <a:txBody>
                    <a:bodyPr/>
                    <a:lstStyle/>
                    <a:p>
                      <a:r>
                        <a:rPr sz="1300" b="0" i="0" u="none">
                          <a:solidFill>
                            <a:srgbClr val="1C2B3A"/>
                          </a:solidFill>
                          <a:latin typeface="Barlow"/>
                        </a:rPr>
                        <a:t>Tischtenis</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LIKE '%Tisch%'</a:t>
            </a:r>
            <a:r>
              <a:rPr sz="1600" b="0" i="0" u="none">
                <a:solidFill>
                  <a:srgbClr val="1C2B3A"/>
                </a:solidFill>
                <a:latin typeface="Barlow"/>
              </a:rPr>
              <a:t> findet auch Kommalisten und den Tippfehler „Tischtenis“</a:t>
            </a:r>
          </a:p>
        </p:txBody>
      </p:sp>
      <p:sp>
        <p:nvSpPr>
          <p:cNvPr id="16" name="Rounded Rectangle 15"/>
          <p:cNvSpPr/>
          <p:nvPr/>
        </p:nvSpPr>
        <p:spPr>
          <a:xfrm>
            <a:off x="6924888" y="258572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 'Tischtennis'</a:t>
            </a:r>
            <a:r>
              <a:rPr sz="1600" b="0" i="0" u="none">
                <a:solidFill>
                  <a:srgbClr val="1C2B3A"/>
                </a:solidFill>
                <a:latin typeface="Barlow"/>
              </a:rPr>
              <a:t> blendet die 12 sauberen Zeilen aus</a:t>
            </a:r>
          </a:p>
        </p:txBody>
      </p:sp>
      <p:sp>
        <p:nvSpPr>
          <p:cNvPr id="20" name="Rounded Rectangle 19"/>
          <p:cNvSpPr/>
          <p:nvPr/>
        </p:nvSpPr>
        <p:spPr>
          <a:xfrm>
            <a:off x="6924888" y="34798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798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552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55295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Übrig bleiben genau die Zeilen, die </a:t>
            </a:r>
            <a:r>
              <a:rPr sz="1440" b="0" i="0" u="none">
                <a:solidFill>
                  <a:srgbClr val="1C2B3A"/>
                </a:solidFill>
                <a:latin typeface="IBM Plex Mono"/>
              </a:rPr>
              <a:t>=</a:t>
            </a:r>
            <a:r>
              <a:rPr sz="1600" b="0" i="0" u="none">
                <a:solidFill>
                  <a:srgbClr val="1C2B3A"/>
                </a:solidFill>
                <a:latin typeface="Barlow"/>
              </a:rPr>
              <a:t> übersehen hat</a:t>
            </a:r>
          </a:p>
        </p:txBody>
      </p:sp>
      <p:sp>
        <p:nvSpPr>
          <p:cNvPr id="24" name="Rounded Rectangle 23"/>
          <p:cNvSpPr/>
          <p:nvPr/>
        </p:nvSpPr>
        <p:spPr>
          <a:xfrm>
            <a:off x="6924888" y="4373880"/>
            <a:ext cx="4718166" cy="1285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73880"/>
            <a:ext cx="73152" cy="12852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447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447032"/>
            <a:ext cx="3986646" cy="117551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Aber: </a:t>
            </a:r>
            <a:r>
              <a:rPr sz="1440" b="0" i="0" u="none">
                <a:solidFill>
                  <a:srgbClr val="1C2B3A"/>
                </a:solidFill>
                <a:latin typeface="IBM Plex Mono"/>
              </a:rPr>
              <a:t>LIKE '%tennis%'</a:t>
            </a:r>
            <a:r>
              <a:rPr sz="1600" b="0" i="0" u="none">
                <a:solidFill>
                  <a:srgbClr val="1C2B3A"/>
                </a:solidFill>
                <a:latin typeface="Barlow"/>
              </a:rPr>
              <a:t> fände auch Tennis – zuverlässig wird es erst mit </a:t>
            </a:r>
            <a:r>
              <a:rPr sz="1600" b="1" i="0" u="none">
                <a:solidFill>
                  <a:srgbClr val="1C2B3A"/>
                </a:solidFill>
                <a:latin typeface="Barlow"/>
              </a:rPr>
              <a:t>einer Zeile je Mitglied und Abteilung</a:t>
            </a:r>
            <a:r>
              <a:rPr sz="1600" b="0" i="0" u="none">
                <a:solidFill>
                  <a:srgbClr val="1C2B3A"/>
                </a:solidFill>
                <a:latin typeface="Barlow"/>
              </a:rPr>
              <a:t> (DS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4.1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„Die Excel-Liste“</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A4-E1-01 … 08 (</a:t>
            </a:r>
            <a:r>
              <a:rPr sz="1900" b="0" i="0" u="none">
                <a:solidFill>
                  <a:srgbClr val="D4B062"/>
                </a:solidFill>
                <a:latin typeface="Segoe UI Symbol"/>
              </a:rPr>
              <a:t>★</a:t>
            </a:r>
            <a:r>
              <a:rPr sz="1900" b="0" i="0" u="none">
                <a:solidFill>
                  <a:srgbClr val="1C2B3A"/>
                </a:solidFill>
                <a:latin typeface="Barlow"/>
              </a:rPr>
              <a:t> → </a:t>
            </a:r>
            <a:r>
              <a:rPr sz="1900" b="0" i="0" u="none">
                <a:solidFill>
                  <a:srgbClr val="D4B062"/>
                </a:solidFill>
                <a:latin typeface="Segoe UI Symbol"/>
              </a:rPr>
              <a:t>★★</a:t>
            </a:r>
            <a:r>
              <a:rPr sz="1900" b="0" i="0" u="none">
                <a:solidFill>
                  <a:srgbClr val="1C2B3A"/>
                </a:solidFill>
                <a:latin typeface="Barlow"/>
              </a:rPr>
              <a:t> → </a:t>
            </a:r>
            <a:r>
              <a:rPr sz="1900" b="0" i="0" u="none">
                <a:solidFill>
                  <a:srgbClr val="D4B062"/>
                </a:solidFill>
                <a:latin typeface="Segoe UI Symbol"/>
              </a:rPr>
              <a:t>★★★</a:t>
            </a:r>
            <a:r>
              <a:rPr sz="1900" b="0" i="0" u="none">
                <a:solidFill>
                  <a:srgbClr val="1C2B3A"/>
                </a:solidFill>
                <a:latin typeface="Barlow"/>
              </a:rPr>
              <a:t>)</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Anomalie-Simulator (03–05)</a:t>
            </a:r>
          </a:p>
        </p:txBody>
      </p:sp>
      <p:sp>
        <p:nvSpPr>
          <p:cNvPr id="11" name="TextBox 10"/>
          <p:cNvSpPr txBox="1"/>
          <p:nvPr/>
        </p:nvSpPr>
        <p:spPr>
          <a:xfrm>
            <a:off x="548640" y="4800600"/>
            <a:ext cx="11094415" cy="1030605"/>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Direkt nach dem Rennen: Simulator 03–05 – führe die Änderung so aus, wie die Liste es erlaubt.</a:t>
            </a:r>
          </a:p>
          <a:p>
            <a:pPr>
              <a:lnSpc>
                <a:spcPct val="105000"/>
              </a:lnSpc>
              <a:spcAft>
                <a:spcPts val="600"/>
              </a:spcAft>
            </a:pPr>
            <a:r>
              <a:rPr sz="1700" b="0" i="0" u="none">
                <a:solidFill>
                  <a:srgbClr val="E8E1D3"/>
                </a:solidFill>
                <a:latin typeface="Barlow"/>
              </a:rPr>
              <a:t>▸ 07 und 08: erst schreiben, dann Kernpunkte aufdecken (0 Punkte, zählt als bearbeitet).</a:t>
            </a:r>
          </a:p>
          <a:p>
            <a:pPr>
              <a:lnSpc>
                <a:spcPct val="105000"/>
              </a:lnSpc>
              <a:spcAft>
                <a:spcPts val="600"/>
              </a:spcAft>
            </a:pPr>
            <a:r>
              <a:rPr sz="1700" b="0" i="0" u="none">
                <a:solidFill>
                  <a:srgbClr val="E8E1D3"/>
                </a:solidFill>
                <a:latin typeface="Barlow"/>
              </a:rPr>
              <a:t>▸ AB 4.1 parallel; schnell fertig? Cold Case „Tippfehler im Archiv“.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 Anomalien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5646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Redundanz = dieselbe Information mehrfach gespeichert – sie ist die Ursache der Änderungsanomalie.</a:t>
            </a:r>
          </a:p>
          <a:p>
            <a:pPr>
              <a:lnSpc>
                <a:spcPct val="105000"/>
              </a:lnSpc>
              <a:spcAft>
                <a:spcPts val="600"/>
              </a:spcAft>
            </a:pPr>
            <a:r>
              <a:rPr sz="2000" b="0" i="0" u="none">
                <a:solidFill>
                  <a:srgbClr val="1C2B3A"/>
                </a:solidFill>
                <a:latin typeface="Barlow"/>
              </a:rPr>
              <a:t>▸ Einfüge- und Löschanomalie entstehen, weil mehrere Sachverhalte in einer Tabelle stehen.</a:t>
            </a:r>
          </a:p>
          <a:p>
            <a:pPr>
              <a:lnSpc>
                <a:spcPct val="105000"/>
              </a:lnSpc>
              <a:spcAft>
                <a:spcPts val="600"/>
              </a:spcAft>
            </a:pPr>
            <a:r>
              <a:rPr sz="2000" b="0" i="0" u="none">
                <a:solidFill>
                  <a:srgbClr val="1C2B3A"/>
                </a:solidFill>
                <a:latin typeface="Barlow"/>
              </a:rPr>
              <a:t>▸ Nicht-atomare Werte („Fußball, Tennis“): </a:t>
            </a:r>
            <a:r>
              <a:rPr sz="1800" b="0" i="0" u="none">
                <a:solidFill>
                  <a:srgbClr val="1C2B3A"/>
                </a:solidFill>
                <a:latin typeface="IBM Plex Mono"/>
              </a:rPr>
              <a:t>=</a:t>
            </a:r>
            <a:r>
              <a:rPr sz="2000" b="0" i="0" u="none">
                <a:solidFill>
                  <a:srgbClr val="1C2B3A"/>
                </a:solidFill>
                <a:latin typeface="Barlow"/>
              </a:rPr>
              <a:t> übersieht sie, </a:t>
            </a:r>
            <a:r>
              <a:rPr sz="1800" b="0" i="0" u="none">
                <a:solidFill>
                  <a:srgbClr val="1C2B3A"/>
                </a:solidFill>
                <a:latin typeface="IBM Plex Mono"/>
              </a:rPr>
              <a:t>LIKE</a:t>
            </a:r>
            <a:r>
              <a:rPr sz="2000" b="0" i="0" u="none">
                <a:solidFill>
                  <a:srgbClr val="1C2B3A"/>
                </a:solidFill>
                <a:latin typeface="Barlow"/>
              </a:rPr>
              <a:t> findet auch Teilwörter.</a:t>
            </a:r>
          </a:p>
          <a:p>
            <a:pPr>
              <a:lnSpc>
                <a:spcPct val="105000"/>
              </a:lnSpc>
              <a:spcAft>
                <a:spcPts val="600"/>
              </a:spcAft>
            </a:pPr>
            <a:r>
              <a:rPr sz="2000" b="0" i="0" u="none">
                <a:solidFill>
                  <a:srgbClr val="1C2B3A"/>
                </a:solidFill>
                <a:latin typeface="Barlow"/>
              </a:rPr>
              <a:t>▸ Operator </a:t>
            </a:r>
            <a:r>
              <a:rPr sz="2000" b="1" i="0" u="none">
                <a:solidFill>
                  <a:srgbClr val="1C2B3A"/>
                </a:solidFill>
                <a:latin typeface="Barlow"/>
              </a:rPr>
              <a:t>erläutern</a:t>
            </a:r>
            <a:r>
              <a:rPr sz="2000" b="0" i="0" u="none">
                <a:solidFill>
                  <a:srgbClr val="1C2B3A"/>
                </a:solidFill>
                <a:latin typeface="Barlow"/>
              </a:rPr>
              <a:t> = Anomalieart + konkreter Datensatz + Folge.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ERLÄUTERN</a:t>
            </a:r>
          </a:p>
        </p:txBody>
      </p:sp>
      <p:sp>
        <p:nvSpPr>
          <p:cNvPr id="10" name="TextBox 9"/>
          <p:cNvSpPr txBox="1"/>
          <p:nvPr/>
        </p:nvSpPr>
        <p:spPr>
          <a:xfrm>
            <a:off x="822959" y="2194560"/>
            <a:ext cx="10545775" cy="7264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ein Ausschnitt der Tabelle MitgliederlisteRoh. </a:t>
            </a:r>
            <a:r>
              <a:rPr sz="2000" b="1" i="0" u="none">
                <a:solidFill>
                  <a:srgbClr val="1C2B3A"/>
                </a:solidFill>
                <a:latin typeface="Barlow"/>
              </a:rPr>
              <a:t>Erläutern</a:t>
            </a:r>
            <a:r>
              <a:rPr sz="2000" b="0" i="0" u="none">
                <a:solidFill>
                  <a:srgbClr val="1C2B3A"/>
                </a:solidFill>
                <a:latin typeface="Barlow"/>
              </a:rPr>
              <a:t> Sie an einem Beispiel aus dem Ausschnitt eine Änderungsanomalie. [3 BE]</a:t>
            </a:r>
          </a:p>
        </p:txBody>
      </p:sp>
      <p:graphicFrame>
        <p:nvGraphicFramePr>
          <p:cNvPr id="11" name="Datentabelle"/>
          <p:cNvGraphicFramePr>
            <a:graphicFrameLocks noGrp="1"/>
          </p:cNvGraphicFramePr>
          <p:nvPr/>
        </p:nvGraphicFramePr>
        <p:xfrm>
          <a:off x="822959" y="2994152"/>
          <a:ext cx="10545772" cy="1574800"/>
        </p:xfrm>
        <a:graphic>
          <a:graphicData uri="http://schemas.openxmlformats.org/drawingml/2006/table">
            <a:tbl>
              <a:tblPr firstRow="1">
                <a:tableStyleId>{5C22544A-7EE6-4342-B048-85BDC9FD1C3A}</a:tableStyleId>
              </a:tblPr>
              <a:tblGrid>
                <a:gridCol w="881212"/>
                <a:gridCol w="1859538"/>
                <a:gridCol w="1614956"/>
                <a:gridCol w="1614956"/>
                <a:gridCol w="1981828"/>
                <a:gridCol w="2593282"/>
              </a:tblGrid>
              <a:tr h="314960">
                <a:tc>
                  <a:txBody>
                    <a:bodyPr/>
                    <a:lstStyle/>
                    <a:p>
                      <a:r>
                        <a:rPr sz="1472" b="1" i="0" u="none">
                          <a:solidFill>
                            <a:srgbClr val="1C2B3A"/>
                          </a:solidFill>
                          <a:latin typeface="IBM Plex Mono"/>
                        </a:rPr>
                        <a:t>Zeile</a:t>
                      </a:r>
                    </a:p>
                  </a:txBody>
                  <a:tcPr marL="54864" marR="54864" marT="18288" marB="18288">
                    <a:solidFill>
                      <a:srgbClr val="EBE2D2"/>
                    </a:solidFill>
                  </a:tcPr>
                </a:tc>
                <a:tc>
                  <a:txBody>
                    <a:bodyPr/>
                    <a:lstStyle/>
                    <a:p>
                      <a:r>
                        <a:rPr sz="1472" b="1" i="0" u="none">
                          <a:solidFill>
                            <a:srgbClr val="1C2B3A"/>
                          </a:solidFill>
                          <a:latin typeface="IBM Plex Mono"/>
                        </a:rPr>
                        <a:t>Mitglied</a:t>
                      </a:r>
                    </a:p>
                  </a:txBody>
                  <a:tcPr marL="54864" marR="54864" marT="18288" marB="18288">
                    <a:solidFill>
                      <a:srgbClr val="EBE2D2"/>
                    </a:solidFill>
                  </a:tcPr>
                </a:tc>
                <a:tc>
                  <a:txBody>
                    <a:bodyPr/>
                    <a:lstStyle/>
                    <a:p>
                      <a:r>
                        <a:rPr sz="1472" b="1" i="0" u="none">
                          <a:solidFill>
                            <a:srgbClr val="1C2B3A"/>
                          </a:solidFill>
                          <a:latin typeface="IBM Plex Mono"/>
                        </a:rPr>
                        <a:t>Abteilungen</a:t>
                      </a:r>
                    </a:p>
                  </a:txBody>
                  <a:tcPr marL="54864" marR="54864" marT="18288" marB="18288">
                    <a:solidFill>
                      <a:srgbClr val="EBE2D2"/>
                    </a:solidFill>
                  </a:tcPr>
                </a:tc>
                <a:tc>
                  <a:txBody>
                    <a:bodyPr/>
                    <a:lstStyle/>
                    <a:p>
                      <a:r>
                        <a:rPr sz="1472" b="1" i="0" u="none">
                          <a:solidFill>
                            <a:srgbClr val="1C2B3A"/>
                          </a:solidFill>
                          <a:latin typeface="IBM Plex Mono"/>
                        </a:rPr>
                        <a:t>Trainer</a:t>
                      </a:r>
                    </a:p>
                  </a:txBody>
                  <a:tcPr marL="54864" marR="54864" marT="18288" marB="18288">
                    <a:solidFill>
                      <a:srgbClr val="EBE2D2"/>
                    </a:solidFill>
                  </a:tcPr>
                </a:tc>
                <a:tc>
                  <a:txBody>
                    <a:bodyPr/>
                    <a:lstStyle/>
                    <a:p>
                      <a:r>
                        <a:rPr sz="1472" b="1" i="0" u="none">
                          <a:solidFill>
                            <a:srgbClr val="1C2B3A"/>
                          </a:solidFill>
                          <a:latin typeface="IBM Plex Mono"/>
                        </a:rPr>
                        <a:t>TrainerTelefon</a:t>
                      </a:r>
                    </a:p>
                  </a:txBody>
                  <a:tcPr marL="54864" marR="54864" marT="18288" marB="18288">
                    <a:solidFill>
                      <a:srgbClr val="EBE2D2"/>
                    </a:solidFill>
                  </a:tcPr>
                </a:tc>
                <a:tc>
                  <a:txBody>
                    <a:bodyPr/>
                    <a:lstStyle/>
                    <a:p>
                      <a:r>
                        <a:rPr sz="1472" b="1" i="0" u="none">
                          <a:solidFill>
                            <a:srgbClr val="1C2B3A"/>
                          </a:solidFill>
                          <a:latin typeface="IBM Plex Mono"/>
                        </a:rPr>
                        <a:t>Halle</a:t>
                      </a:r>
                    </a:p>
                  </a:txBody>
                  <a:tcPr marL="54864" marR="54864" marT="18288" marB="18288">
                    <a:solidFill>
                      <a:srgbClr val="EBE2D2"/>
                    </a:solidFill>
                  </a:tcPr>
                </a:tc>
              </a:tr>
              <a:tr h="314960">
                <a:tc>
                  <a:txBody>
                    <a:bodyPr/>
                    <a:lstStyle/>
                    <a:p>
                      <a:pPr algn="r"/>
                      <a:r>
                        <a:rPr sz="1600" b="0" i="0" u="none">
                          <a:solidFill>
                            <a:srgbClr val="1C2B3A"/>
                          </a:solidFill>
                          <a:latin typeface="Barlow"/>
                        </a:rPr>
                        <a:t>14</a:t>
                      </a:r>
                    </a:p>
                  </a:txBody>
                  <a:tcPr marL="54864" marR="54864" marT="18288" marB="18288">
                    <a:solidFill>
                      <a:srgbClr val="FFFDF8"/>
                    </a:solidFill>
                  </a:tcPr>
                </a:tc>
                <a:tc>
                  <a:txBody>
                    <a:bodyPr/>
                    <a:lstStyle/>
                    <a:p>
                      <a:r>
                        <a:rPr sz="1600" b="0" i="0" u="none">
                          <a:solidFill>
                            <a:srgbClr val="1C2B3A"/>
                          </a:solidFill>
                          <a:latin typeface="Barlow"/>
                        </a:rPr>
                        <a:t>Jasper Eilers</a:t>
                      </a:r>
                    </a:p>
                  </a:txBody>
                  <a:tcPr marL="54864" marR="54864" marT="18288" marB="18288">
                    <a:solidFill>
                      <a:srgbClr val="FFFDF8"/>
                    </a:solidFill>
                  </a:tcPr>
                </a:tc>
                <a:tc>
                  <a:txBody>
                    <a:bodyPr/>
                    <a:lstStyle/>
                    <a:p>
                      <a:r>
                        <a:rPr sz="1600" b="0" i="0" u="none">
                          <a:solidFill>
                            <a:srgbClr val="1C2B3A"/>
                          </a:solidFill>
                          <a:latin typeface="Barlow"/>
                        </a:rPr>
                        <a:t>Handball</a:t>
                      </a:r>
                    </a:p>
                  </a:txBody>
                  <a:tcPr marL="54864" marR="54864" marT="18288" marB="18288">
                    <a:solidFill>
                      <a:srgbClr val="FFFDF8"/>
                    </a:solidFill>
                  </a:tcPr>
                </a:tc>
                <a:tc>
                  <a:txBody>
                    <a:bodyPr/>
                    <a:lstStyle/>
                    <a:p>
                      <a:r>
                        <a:rPr sz="1600" b="0" i="0" u="none">
                          <a:solidFill>
                            <a:srgbClr val="1C2B3A"/>
                          </a:solidFill>
                          <a:latin typeface="Barlow"/>
                        </a:rPr>
                        <a:t>Sven Albers</a:t>
                      </a:r>
                    </a:p>
                  </a:txBody>
                  <a:tcPr marL="54864" marR="54864" marT="18288" marB="18288">
                    <a:solidFill>
                      <a:srgbClr val="FFFDF8"/>
                    </a:solidFill>
                  </a:tcPr>
                </a:tc>
                <a:tc>
                  <a:txBody>
                    <a:bodyPr/>
                    <a:lstStyle/>
                    <a:p>
                      <a:r>
                        <a:rPr sz="1600" b="0" i="0" u="none">
                          <a:solidFill>
                            <a:srgbClr val="1C2B3A"/>
                          </a:solidFill>
                          <a:latin typeface="Barlow"/>
                        </a:rPr>
                        <a:t>0000-17320</a:t>
                      </a:r>
                    </a:p>
                  </a:txBody>
                  <a:tcPr marL="54864" marR="54864" marT="18288" marB="18288">
                    <a:solidFill>
                      <a:srgbClr val="FFFDF8"/>
                    </a:solidFill>
                  </a:tcPr>
                </a:tc>
                <a:tc>
                  <a:txBody>
                    <a:bodyPr/>
                    <a:lstStyle/>
                    <a:p>
                      <a:r>
                        <a:rPr sz="1600" b="0" i="0" u="none">
                          <a:solidFill>
                            <a:srgbClr val="1C2B3A"/>
                          </a:solidFill>
                          <a:latin typeface="Barlow"/>
                        </a:rPr>
                        <a:t>Halle am Mühlenfeld</a:t>
                      </a:r>
                    </a:p>
                  </a:txBody>
                  <a:tcPr marL="54864" marR="54864" marT="18288" marB="18288">
                    <a:solidFill>
                      <a:srgbClr val="FFFDF8"/>
                    </a:solidFill>
                  </a:tcPr>
                </a:tc>
              </a:tr>
              <a:tr h="314960">
                <a:tc>
                  <a:txBody>
                    <a:bodyPr/>
                    <a:lstStyle/>
                    <a:p>
                      <a:pPr algn="r"/>
                      <a:r>
                        <a:rPr sz="1600" b="0" i="0" u="none">
                          <a:solidFill>
                            <a:srgbClr val="1C2B3A"/>
                          </a:solidFill>
                          <a:latin typeface="Barlow"/>
                        </a:rPr>
                        <a:t>16</a:t>
                      </a:r>
                    </a:p>
                  </a:txBody>
                  <a:tcPr marL="54864" marR="54864" marT="18288" marB="18288">
                    <a:solidFill>
                      <a:srgbClr val="FFFDF8"/>
                    </a:solidFill>
                  </a:tcPr>
                </a:tc>
                <a:tc>
                  <a:txBody>
                    <a:bodyPr/>
                    <a:lstStyle/>
                    <a:p>
                      <a:r>
                        <a:rPr sz="1600" b="0" i="0" u="none">
                          <a:solidFill>
                            <a:srgbClr val="1C2B3A"/>
                          </a:solidFill>
                          <a:latin typeface="Barlow"/>
                        </a:rPr>
                        <a:t>Rieke Gerken</a:t>
                      </a:r>
                    </a:p>
                  </a:txBody>
                  <a:tcPr marL="54864" marR="54864" marT="18288" marB="18288">
                    <a:solidFill>
                      <a:srgbClr val="FFFDF8"/>
                    </a:solidFill>
                  </a:tcPr>
                </a:tc>
                <a:tc>
                  <a:txBody>
                    <a:bodyPr/>
                    <a:lstStyle/>
                    <a:p>
                      <a:r>
                        <a:rPr sz="1600" b="0" i="0" u="none">
                          <a:solidFill>
                            <a:srgbClr val="1C2B3A"/>
                          </a:solidFill>
                          <a:latin typeface="Barlow"/>
                        </a:rPr>
                        <a:t>Handball</a:t>
                      </a:r>
                    </a:p>
                  </a:txBody>
                  <a:tcPr marL="54864" marR="54864" marT="18288" marB="18288">
                    <a:solidFill>
                      <a:srgbClr val="FFFDF8"/>
                    </a:solidFill>
                  </a:tcPr>
                </a:tc>
                <a:tc>
                  <a:txBody>
                    <a:bodyPr/>
                    <a:lstStyle/>
                    <a:p>
                      <a:r>
                        <a:rPr sz="1600" b="0" i="0" u="none">
                          <a:solidFill>
                            <a:srgbClr val="1C2B3A"/>
                          </a:solidFill>
                          <a:latin typeface="Barlow"/>
                        </a:rPr>
                        <a:t>Sven Albers</a:t>
                      </a:r>
                    </a:p>
                  </a:txBody>
                  <a:tcPr marL="54864" marR="54864" marT="18288" marB="18288">
                    <a:solidFill>
                      <a:srgbClr val="FFFDF8"/>
                    </a:solidFill>
                  </a:tcPr>
                </a:tc>
                <a:tc>
                  <a:txBody>
                    <a:bodyPr/>
                    <a:lstStyle/>
                    <a:p>
                      <a:r>
                        <a:rPr sz="1600" b="0" i="0" u="none">
                          <a:solidFill>
                            <a:srgbClr val="1C2B3A"/>
                          </a:solidFill>
                          <a:latin typeface="Barlow"/>
                        </a:rPr>
                        <a:t>0000-17320</a:t>
                      </a:r>
                    </a:p>
                  </a:txBody>
                  <a:tcPr marL="54864" marR="54864" marT="18288" marB="18288">
                    <a:solidFill>
                      <a:srgbClr val="FFFDF8"/>
                    </a:solidFill>
                  </a:tcPr>
                </a:tc>
                <a:tc>
                  <a:txBody>
                    <a:bodyPr/>
                    <a:lstStyle/>
                    <a:p>
                      <a:r>
                        <a:rPr sz="1600" b="0" i="0" u="none">
                          <a:solidFill>
                            <a:srgbClr val="1C2B3A"/>
                          </a:solidFill>
                          <a:latin typeface="Barlow"/>
                        </a:rPr>
                        <a:t>Halle Am Mühlenfeld</a:t>
                      </a:r>
                    </a:p>
                  </a:txBody>
                  <a:tcPr marL="54864" marR="54864" marT="18288" marB="18288">
                    <a:solidFill>
                      <a:srgbClr val="FFFDF8"/>
                    </a:solidFill>
                  </a:tcPr>
                </a:tc>
              </a:tr>
              <a:tr h="314960">
                <a:tc>
                  <a:txBody>
                    <a:bodyPr/>
                    <a:lstStyle/>
                    <a:p>
                      <a:pPr algn="r"/>
                      <a:r>
                        <a:rPr sz="1600" b="0" i="0" u="none">
                          <a:solidFill>
                            <a:srgbClr val="1C2B3A"/>
                          </a:solidFill>
                          <a:latin typeface="Barlow"/>
                        </a:rPr>
                        <a:t>23</a:t>
                      </a:r>
                    </a:p>
                  </a:txBody>
                  <a:tcPr marL="54864" marR="54864" marT="18288" marB="18288">
                    <a:solidFill>
                      <a:srgbClr val="FFFDF8"/>
                    </a:solidFill>
                  </a:tcPr>
                </a:tc>
                <a:tc>
                  <a:txBody>
                    <a:bodyPr/>
                    <a:lstStyle/>
                    <a:p>
                      <a:r>
                        <a:rPr sz="1600" b="0" i="0" u="none">
                          <a:solidFill>
                            <a:srgbClr val="1C2B3A"/>
                          </a:solidFill>
                          <a:latin typeface="Barlow"/>
                        </a:rPr>
                        <a:t>Jule Bruns</a:t>
                      </a:r>
                    </a:p>
                  </a:txBody>
                  <a:tcPr marL="54864" marR="54864" marT="18288" marB="18288">
                    <a:solidFill>
                      <a:srgbClr val="FFFDF8"/>
                    </a:solidFill>
                  </a:tcPr>
                </a:tc>
                <a:tc>
                  <a:txBody>
                    <a:bodyPr/>
                    <a:lstStyle/>
                    <a:p>
                      <a:r>
                        <a:rPr sz="1600" b="0" i="0" u="none">
                          <a:solidFill>
                            <a:srgbClr val="1C2B3A"/>
                          </a:solidFill>
                          <a:latin typeface="Barlow"/>
                        </a:rPr>
                        <a:t>Handball</a:t>
                      </a:r>
                    </a:p>
                  </a:txBody>
                  <a:tcPr marL="54864" marR="54864" marT="18288" marB="18288">
                    <a:solidFill>
                      <a:srgbClr val="FFFDF8"/>
                    </a:solidFill>
                  </a:tcPr>
                </a:tc>
                <a:tc>
                  <a:txBody>
                    <a:bodyPr/>
                    <a:lstStyle/>
                    <a:p>
                      <a:r>
                        <a:rPr sz="1600" b="0" i="0" u="none">
                          <a:solidFill>
                            <a:srgbClr val="1C2B3A"/>
                          </a:solidFill>
                          <a:latin typeface="Barlow"/>
                        </a:rPr>
                        <a:t>Sven Albers</a:t>
                      </a:r>
                    </a:p>
                  </a:txBody>
                  <a:tcPr marL="54864" marR="54864" marT="18288" marB="18288">
                    <a:solidFill>
                      <a:srgbClr val="FFFDF8"/>
                    </a:solidFill>
                  </a:tcPr>
                </a:tc>
                <a:tc>
                  <a:txBody>
                    <a:bodyPr/>
                    <a:lstStyle/>
                    <a:p>
                      <a:r>
                        <a:rPr sz="1600" b="0" i="0" u="none">
                          <a:solidFill>
                            <a:srgbClr val="1C2B3A"/>
                          </a:solidFill>
                          <a:latin typeface="Barlow"/>
                        </a:rPr>
                        <a:t>0000-17320</a:t>
                      </a:r>
                    </a:p>
                  </a:txBody>
                  <a:tcPr marL="54864" marR="54864" marT="18288" marB="18288">
                    <a:solidFill>
                      <a:srgbClr val="FFFDF8"/>
                    </a:solidFill>
                  </a:tcPr>
                </a:tc>
                <a:tc>
                  <a:txBody>
                    <a:bodyPr/>
                    <a:lstStyle/>
                    <a:p>
                      <a:r>
                        <a:rPr sz="1600" b="0" i="0" u="none">
                          <a:solidFill>
                            <a:srgbClr val="1C2B3A"/>
                          </a:solidFill>
                          <a:latin typeface="Barlow"/>
                        </a:rPr>
                        <a:t>Halle am Mühlenfeld</a:t>
                      </a:r>
                    </a:p>
                  </a:txBody>
                  <a:tcPr marL="54864" marR="54864" marT="18288" marB="18288">
                    <a:solidFill>
                      <a:srgbClr val="FFFDF8"/>
                    </a:solidFill>
                  </a:tcPr>
                </a:tc>
              </a:tr>
              <a:tr h="314960">
                <a:tc>
                  <a:txBody>
                    <a:bodyPr/>
                    <a:lstStyle/>
                    <a:p>
                      <a:pPr algn="r"/>
                      <a:r>
                        <a:rPr sz="1600" b="0" i="0" u="none">
                          <a:solidFill>
                            <a:srgbClr val="1C2B3A"/>
                          </a:solidFill>
                          <a:latin typeface="Barlow"/>
                        </a:rPr>
                        <a:t>30</a:t>
                      </a:r>
                    </a:p>
                  </a:txBody>
                  <a:tcPr marL="54864" marR="54864" marT="18288" marB="18288">
                    <a:solidFill>
                      <a:srgbClr val="FFFDF8"/>
                    </a:solidFill>
                  </a:tcPr>
                </a:tc>
                <a:tc>
                  <a:txBody>
                    <a:bodyPr/>
                    <a:lstStyle/>
                    <a:p>
                      <a:r>
                        <a:rPr sz="1600" b="0" i="0" u="none">
                          <a:solidFill>
                            <a:srgbClr val="1C2B3A"/>
                          </a:solidFill>
                          <a:latin typeface="Barlow"/>
                        </a:rPr>
                        <a:t>Piet Ollmann</a:t>
                      </a:r>
                    </a:p>
                  </a:txBody>
                  <a:tcPr marL="54864" marR="54864" marT="18288" marB="18288">
                    <a:solidFill>
                      <a:srgbClr val="FFFDF8"/>
                    </a:solidFill>
                  </a:tcPr>
                </a:tc>
                <a:tc>
                  <a:txBody>
                    <a:bodyPr/>
                    <a:lstStyle/>
                    <a:p>
                      <a:r>
                        <a:rPr sz="1600" b="0" i="0" u="none">
                          <a:solidFill>
                            <a:srgbClr val="1C2B3A"/>
                          </a:solidFill>
                          <a:latin typeface="Barlow"/>
                        </a:rPr>
                        <a:t>Handball</a:t>
                      </a:r>
                    </a:p>
                  </a:txBody>
                  <a:tcPr marL="54864" marR="54864" marT="18288" marB="18288">
                    <a:solidFill>
                      <a:srgbClr val="FFFDF8"/>
                    </a:solidFill>
                  </a:tcPr>
                </a:tc>
                <a:tc>
                  <a:txBody>
                    <a:bodyPr/>
                    <a:lstStyle/>
                    <a:p>
                      <a:r>
                        <a:rPr sz="1600" b="0" i="0" u="none">
                          <a:solidFill>
                            <a:srgbClr val="1C2B3A"/>
                          </a:solidFill>
                          <a:latin typeface="Barlow"/>
                        </a:rPr>
                        <a:t>Sven Albers</a:t>
                      </a:r>
                    </a:p>
                  </a:txBody>
                  <a:tcPr marL="54864" marR="54864" marT="18288" marB="18288">
                    <a:solidFill>
                      <a:srgbClr val="FFFDF8"/>
                    </a:solidFill>
                  </a:tcPr>
                </a:tc>
                <a:tc>
                  <a:txBody>
                    <a:bodyPr/>
                    <a:lstStyle/>
                    <a:p>
                      <a:r>
                        <a:rPr sz="1600" b="0" i="0" u="none">
                          <a:solidFill>
                            <a:srgbClr val="1C2B3A"/>
                          </a:solidFill>
                          <a:latin typeface="Barlow"/>
                        </a:rPr>
                        <a:t>0000-17320</a:t>
                      </a:r>
                    </a:p>
                  </a:txBody>
                  <a:tcPr marL="54864" marR="54864" marT="18288" marB="18288">
                    <a:solidFill>
                      <a:srgbClr val="FFFDF8"/>
                    </a:solidFill>
                  </a:tcPr>
                </a:tc>
                <a:tc>
                  <a:txBody>
                    <a:bodyPr/>
                    <a:lstStyle/>
                    <a:p>
                      <a:r>
                        <a:rPr sz="1600" b="0" i="0" u="none">
                          <a:solidFill>
                            <a:srgbClr val="1C2B3A"/>
                          </a:solidFill>
                          <a:latin typeface="Barlow"/>
                        </a:rPr>
                        <a:t>Halle am Mühlenfeld</a:t>
                      </a:r>
                    </a:p>
                  </a:txBody>
                  <a:tcPr marL="54864" marR="54864" marT="18288" marB="18288">
                    <a:solidFill>
                      <a:srgbClr val="FFFD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Änderungsanomalie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2274570"/>
          </a:xfrm>
          <a:prstGeom prst="rect">
            <a:avLst/>
          </a:prstGeom>
          <a:noFill/>
        </p:spPr>
        <p:txBody>
          <a:bodyPr wrap="square" anchor="t" lIns="36576" rIns="36576" tIns="36576" bIns="36576">
            <a:spAutoFit/>
          </a:bodyPr>
          <a:lstStyle/>
          <a:p>
            <a:pPr>
              <a:lnSpc>
                <a:spcPct val="105000"/>
              </a:lnSpc>
              <a:spcAft>
                <a:spcPts val="600"/>
              </a:spcAft>
            </a:pPr>
            <a:r>
              <a:rPr sz="1800" b="0" i="0" u="none">
                <a:solidFill>
                  <a:srgbClr val="1C2B3A"/>
                </a:solidFill>
                <a:latin typeface="Barlow"/>
              </a:rPr>
              <a:t>„Die Telefonnummer von Trainer Sven Albers (0000-17320) steht in allen vier Zeilen (14, 16, 23, 30). Ändert sie sich, muss sie in jeder dieser Zeilen geändert werden. Wird eine Zeile vergessen, sind für denselben Trainer zwei Nummern gespeichert – die Tabelle widerspricht sich.“</a:t>
            </a:r>
          </a:p>
          <a:p>
            <a:pPr>
              <a:lnSpc>
                <a:spcPct val="105000"/>
              </a:lnSpc>
              <a:spcAft>
                <a:spcPts val="600"/>
              </a:spcAft>
            </a:pPr>
            <a:r>
              <a:rPr sz="1800" b="1" i="0" u="none">
                <a:solidFill>
                  <a:srgbClr val="1C2B3A"/>
                </a:solidFill>
                <a:latin typeface="Barlow"/>
              </a:rPr>
              <a:t>1 BE</a:t>
            </a:r>
            <a:r>
              <a:rPr sz="1800" b="0" i="0" u="none">
                <a:solidFill>
                  <a:srgbClr val="1C2B3A"/>
                </a:solidFill>
                <a:latin typeface="Barlow"/>
              </a:rPr>
              <a:t> Anomalieart mit Sachverhalt · </a:t>
            </a:r>
            <a:r>
              <a:rPr sz="1800" b="1" i="0" u="none">
                <a:solidFill>
                  <a:srgbClr val="1C2B3A"/>
                </a:solidFill>
                <a:latin typeface="Barlow"/>
              </a:rPr>
              <a:t>1 BE</a:t>
            </a:r>
            <a:r>
              <a:rPr sz="1800" b="0" i="0" u="none">
                <a:solidFill>
                  <a:srgbClr val="1C2B3A"/>
                </a:solidFill>
                <a:latin typeface="Barlow"/>
              </a:rPr>
              <a:t> konkrete Zeilen/Werte · </a:t>
            </a:r>
            <a:r>
              <a:rPr sz="1800" b="1" i="0" u="none">
                <a:solidFill>
                  <a:srgbClr val="1C2B3A"/>
                </a:solidFill>
                <a:latin typeface="Barlow"/>
              </a:rPr>
              <a:t>1 BE</a:t>
            </a:r>
            <a:r>
              <a:rPr sz="1800" b="0" i="0" u="none">
                <a:solidFill>
                  <a:srgbClr val="1C2B3A"/>
                </a:solidFill>
                <a:latin typeface="Barlow"/>
              </a:rPr>
              <a:t> Folge (Widerspruch).</a:t>
            </a:r>
          </a:p>
          <a:p>
            <a:pPr>
              <a:lnSpc>
                <a:spcPct val="105000"/>
              </a:lnSpc>
              <a:spcAft>
                <a:spcPts val="600"/>
              </a:spcAft>
            </a:pPr>
            <a:r>
              <a:rPr sz="1800" b="0" i="0" u="none">
                <a:solidFill>
                  <a:srgbClr val="1C2B3A"/>
                </a:solidFill>
                <a:latin typeface="Barlow"/>
              </a:rPr>
              <a:t>Typischer Fehler P10: „Bei Änderungen kann es zu Fehlern kommen.“ → höchstens 1 BE.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Fallbesprechung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3893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Wiebke Lüttjohanns Liste hat drei verschiedene Beiträge für Erwachsene: 14,00 €, 12,00 € – und einmal 0,00 €.</a:t>
            </a:r>
          </a:p>
          <a:p>
            <a:pPr>
              <a:lnSpc>
                <a:spcPct val="105000"/>
              </a:lnSpc>
              <a:spcAft>
                <a:spcPts val="600"/>
              </a:spcAft>
            </a:pPr>
            <a:r>
              <a:rPr sz="1900" b="0" i="0" u="none">
                <a:solidFill>
                  <a:srgbClr val="1C2B3A"/>
                </a:solidFill>
                <a:latin typeface="Barlow"/>
              </a:rPr>
              <a:t>„Mitten in der Liste steht ‚Nora Falter, Tischtennis, Monatsbeitrag 0,00 €‘ – und niemand in der Tischtennis-Abteilung hat sie je gesehen.“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DS 8 · Ordnung ins Archiv</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14</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Wir wissen jetzt, wie das Phantom es gemacht hat. Als der Beitrag für Erwachsene von 12 auf 14 Euro stieg, musste der neue Betrag in jeder einzelnen Zeile geändert werden, und in einigen Zeilen blieb der alte Wert stehen. Zwischen 12,00 € und 14,00 € fiel ein Eintrag mit 0,00 € schlicht nicht mehr auf: Das Phantom hat eine Änderungsanomalie ausgenutzt. Heute sorgen wir dafür, dass so etwas nicht wieder passiert. Dazu brauchen wir gute Primärschlüssel – eindeutig, nie NULL, minimal, und zwar für alle denkbaren Daten. Dann zerlegen wir die Liste so, dass jede Information nur noch einmal gespeichert ist und trotzdem nichts verloren geht.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Schlüssel-Check</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15</a:t>
            </a:r>
          </a:p>
        </p:txBody>
      </p:sp>
      <p:graphicFrame>
        <p:nvGraphicFramePr>
          <p:cNvPr id="8" name="Datentabelle"/>
          <p:cNvGraphicFramePr>
            <a:graphicFrameLocks noGrp="1"/>
          </p:cNvGraphicFramePr>
          <p:nvPr/>
        </p:nvGraphicFramePr>
        <p:xfrm>
          <a:off x="548640" y="1691640"/>
          <a:ext cx="11094415" cy="200787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eindeutig</a:t>
                      </a:r>
                    </a:p>
                  </a:txBody>
                  <a:tcPr marL="54864" marR="54864" marT="18288" marB="18288">
                    <a:solidFill>
                      <a:srgbClr val="FFFDF8"/>
                    </a:solidFill>
                  </a:tcPr>
                </a:tc>
                <a:tc>
                  <a:txBody>
                    <a:bodyPr/>
                    <a:lstStyle/>
                    <a:p>
                      <a:r>
                        <a:rPr sz="1700" b="0" i="0" u="none">
                          <a:solidFill>
                            <a:srgbClr val="1C2B3A"/>
                          </a:solidFill>
                          <a:latin typeface="Barlow"/>
                        </a:rPr>
                        <a:t>für </a:t>
                      </a:r>
                      <a:r>
                        <a:rPr sz="1700" b="1" i="0" u="none">
                          <a:solidFill>
                            <a:srgbClr val="1C2B3A"/>
                          </a:solidFill>
                          <a:latin typeface="Barlow"/>
                        </a:rPr>
                        <a:t>alle möglichen</a:t>
                      </a:r>
                      <a:r>
                        <a:rPr sz="1700" b="0" i="0" u="none">
                          <a:solidFill>
                            <a:srgbClr val="1C2B3A"/>
                          </a:solidFill>
                          <a:latin typeface="Barlow"/>
                        </a:rPr>
                        <a:t> Daten – ein Ausschnitt kann das nur widerlegen, nie beweisen</a:t>
                      </a:r>
                    </a:p>
                  </a:txBody>
                  <a:tcPr marL="54864" marR="54864" marT="18288" marB="18288">
                    <a:solidFill>
                      <a:srgbClr val="FFFDF8"/>
                    </a:solidFill>
                  </a:tcPr>
                </a:tc>
              </a:tr>
              <a:tr h="334645">
                <a:tc>
                  <a:txBody>
                    <a:bodyPr/>
                    <a:lstStyle/>
                    <a:p>
                      <a:r>
                        <a:rPr sz="1700" b="0" i="0" u="none">
                          <a:solidFill>
                            <a:srgbClr val="1C2B3A"/>
                          </a:solidFill>
                          <a:latin typeface="Barlow"/>
                        </a:rPr>
                        <a:t>nie NULL</a:t>
                      </a:r>
                    </a:p>
                  </a:txBody>
                  <a:tcPr marL="54864" marR="54864" marT="18288" marB="18288">
                    <a:solidFill>
                      <a:srgbClr val="FFFDF8"/>
                    </a:solidFill>
                  </a:tcPr>
                </a:tc>
                <a:tc>
                  <a:txBody>
                    <a:bodyPr/>
                    <a:lstStyle/>
                    <a:p>
                      <a:r>
                        <a:rPr sz="1700" b="0" i="0" u="none">
                          <a:solidFill>
                            <a:srgbClr val="1C2B3A"/>
                          </a:solidFill>
                          <a:latin typeface="Barlow"/>
                        </a:rPr>
                        <a:t>jeder Datensatz hat einen Schlüsselwert</a:t>
                      </a:r>
                    </a:p>
                  </a:txBody>
                  <a:tcPr marL="54864" marR="54864" marT="18288" marB="18288">
                    <a:solidFill>
                      <a:srgbClr val="FFFDF8"/>
                    </a:solidFill>
                  </a:tcPr>
                </a:tc>
              </a:tr>
              <a:tr h="334645">
                <a:tc>
                  <a:txBody>
                    <a:bodyPr/>
                    <a:lstStyle/>
                    <a:p>
                      <a:r>
                        <a:rPr sz="1700" b="0" i="0" u="none">
                          <a:solidFill>
                            <a:srgbClr val="1C2B3A"/>
                          </a:solidFill>
                          <a:latin typeface="Barlow"/>
                        </a:rPr>
                        <a:t>minimal</a:t>
                      </a:r>
                    </a:p>
                  </a:txBody>
                  <a:tcPr marL="54864" marR="54864" marT="18288" marB="18288">
                    <a:solidFill>
                      <a:srgbClr val="FFFDF8"/>
                    </a:solidFill>
                  </a:tcPr>
                </a:tc>
                <a:tc>
                  <a:txBody>
                    <a:bodyPr/>
                    <a:lstStyle/>
                    <a:p>
                      <a:r>
                        <a:rPr sz="1700" b="0" i="0" u="none">
                          <a:solidFill>
                            <a:srgbClr val="1C2B3A"/>
                          </a:solidFill>
                          <a:latin typeface="Barlow"/>
                        </a:rPr>
                        <a:t>kein Attribut lässt sich weglassen – (MitgliedNr, Nachname) ist nicht minimal</a:t>
                      </a:r>
                    </a:p>
                  </a:txBody>
                  <a:tcPr marL="54864" marR="54864" marT="18288" marB="18288">
                    <a:solidFill>
                      <a:srgbClr val="FFFDF8"/>
                    </a:solidFill>
                  </a:tcPr>
                </a:tc>
              </a:tr>
              <a:tr h="334645">
                <a:tc>
                  <a:txBody>
                    <a:bodyPr/>
                    <a:lstStyle/>
                    <a:p>
                      <a:r>
                        <a:rPr sz="1700" b="0" i="0" u="none">
                          <a:solidFill>
                            <a:srgbClr val="1C2B3A"/>
                          </a:solidFill>
                          <a:latin typeface="Barlow"/>
                        </a:rPr>
                        <a:t>künstlicher Schlüssel</a:t>
                      </a:r>
                    </a:p>
                  </a:txBody>
                  <a:tcPr marL="54864" marR="54864" marT="18288" marB="18288">
                    <a:solidFill>
                      <a:srgbClr val="FFFDF8"/>
                    </a:solidFill>
                  </a:tcPr>
                </a:tc>
                <a:tc>
                  <a:txBody>
                    <a:bodyPr/>
                    <a:lstStyle/>
                    <a:p>
                      <a:r>
                        <a:rPr sz="1700" b="0" i="0" u="none">
                          <a:solidFill>
                            <a:srgbClr val="1C2B3A"/>
                          </a:solidFill>
                          <a:latin typeface="Barlow"/>
                        </a:rPr>
                        <a:t>eigene Nummer (MitgliedNr), wenn kein natürlicher Schlüssel sicher ist</a:t>
                      </a:r>
                    </a:p>
                  </a:txBody>
                  <a:tcPr marL="54864" marR="54864" marT="18288" marB="18288">
                    <a:solidFill>
                      <a:srgbClr val="FFFDF8"/>
                    </a:solidFill>
                  </a:tcPr>
                </a:tc>
              </a:tr>
              <a:tr h="334645">
                <a:tc>
                  <a:txBody>
                    <a:bodyPr/>
                    <a:lstStyle/>
                    <a:p>
                      <a:r>
                        <a:rPr sz="1700" b="0" i="0" u="none">
                          <a:solidFill>
                            <a:srgbClr val="1C2B3A"/>
                          </a:solidFill>
                          <a:latin typeface="Barlow"/>
                        </a:rPr>
                        <a:t>zusammengesetzt</a:t>
                      </a:r>
                    </a:p>
                  </a:txBody>
                  <a:tcPr marL="54864" marR="54864" marT="18288" marB="18288">
                    <a:solidFill>
                      <a:srgbClr val="FFFDF8"/>
                    </a:solidFill>
                  </a:tcPr>
                </a:tc>
                <a:tc>
                  <a:txBody>
                    <a:bodyPr/>
                    <a:lstStyle/>
                    <a:p>
                      <a:r>
                        <a:rPr sz="1700" b="0" i="0" u="none">
                          <a:solidFill>
                            <a:srgbClr val="1C2B3A"/>
                          </a:solidFill>
                          <a:latin typeface="Barlow"/>
                        </a:rPr>
                        <a:t>erst die Kombination ist eindeutig: (</a:t>
                      </a:r>
                      <a:r>
                        <a:rPr sz="1700" b="0" i="0" u="none">
                          <a:solidFill>
                            <a:srgbClr val="B3261E"/>
                          </a:solidFill>
                          <a:latin typeface="IBM Plex Mono"/>
                        </a:rPr>
                        <a:t>↑</a:t>
                      </a:r>
                      <a:r>
                        <a:rPr sz="1700" b="0" i="0" u="none">
                          <a:solidFill>
                            <a:srgbClr val="1C2B3A"/>
                          </a:solidFill>
                          <a:latin typeface="Barlow"/>
                        </a:rPr>
                        <a:t>MitgliedNr, </a:t>
                      </a:r>
                      <a:r>
                        <a:rPr sz="1700" b="0" i="0" u="none">
                          <a:solidFill>
                            <a:srgbClr val="B3261E"/>
                          </a:solidFill>
                          <a:latin typeface="IBM Plex Mono"/>
                        </a:rPr>
                        <a:t>↑</a:t>
                      </a:r>
                      <a:r>
                        <a:rPr sz="1700" b="0" i="0" u="none">
                          <a:solidFill>
                            <a:srgbClr val="1C2B3A"/>
                          </a:solidFill>
                          <a:latin typeface="Barlow"/>
                        </a:rPr>
                        <a:t>AbteilungNr) – Achtung bei Mehrfachvorkommen (Wiedereintritt)</a:t>
                      </a:r>
                    </a:p>
                  </a:txBody>
                  <a:tcPr marL="54864" marR="54864" marT="18288" marB="18288">
                    <a:solidFill>
                      <a:srgbClr val="FFFD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Schlüssel-Detektiv</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16</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15 MIN · MATERIAL: DATENSTREIFEN, KÄRTCHEN</a:t>
            </a:r>
          </a:p>
        </p:txBody>
      </p:sp>
      <p:sp>
        <p:nvSpPr>
          <p:cNvPr id="10" name="TextBox 9"/>
          <p:cNvSpPr txBox="1"/>
          <p:nvPr/>
        </p:nvSpPr>
        <p:spPr>
          <a:xfrm>
            <a:off x="822959" y="2194560"/>
            <a:ext cx="10545775" cy="149098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Jedes Team bekommt 8 Datenstreifen und sucht die </a:t>
            </a:r>
            <a:r>
              <a:rPr sz="1900" b="1" i="0" u="none">
                <a:solidFill>
                  <a:srgbClr val="1C2B3A"/>
                </a:solidFill>
                <a:latin typeface="Barlow"/>
              </a:rPr>
              <a:t>kleinste</a:t>
            </a:r>
            <a:r>
              <a:rPr sz="1900" b="0" i="0" u="none">
                <a:solidFill>
                  <a:srgbClr val="1C2B3A"/>
                </a:solidFill>
                <a:latin typeface="Barlow"/>
              </a:rPr>
              <a:t> Attributkombination, die jedes Mitglied eindeutig bestimmt.</a:t>
            </a:r>
          </a:p>
          <a:p>
            <a:pPr>
              <a:lnSpc>
                <a:spcPct val="105000"/>
              </a:lnSpc>
              <a:spcAft>
                <a:spcPts val="600"/>
              </a:spcAft>
            </a:pPr>
            <a:r>
              <a:rPr sz="1900" b="0" i="0" u="none">
                <a:solidFill>
                  <a:srgbClr val="1C2B3A"/>
                </a:solidFill>
                <a:latin typeface="Barlow"/>
              </a:rPr>
              <a:t>2. Legt euer Kärtchen „Unser Schlüssel: …“ auf den Tisch.</a:t>
            </a:r>
          </a:p>
          <a:p>
            <a:pPr>
              <a:lnSpc>
                <a:spcPct val="105000"/>
              </a:lnSpc>
              <a:spcAft>
                <a:spcPts val="600"/>
              </a:spcAft>
            </a:pPr>
            <a:r>
              <a:rPr sz="1900" b="0" i="0" u="none">
                <a:solidFill>
                  <a:srgbClr val="1C2B3A"/>
                </a:solidFill>
                <a:latin typeface="Barlow"/>
              </a:rPr>
              <a:t>3. Ich liefere nach – passt euer Schlüssel noch? Wenn nicht: umdrehen, neu legen.</a:t>
            </a:r>
          </a:p>
          <a:p>
            <a:pPr>
              <a:lnSpc>
                <a:spcPct val="105000"/>
              </a:lnSpc>
              <a:spcAft>
                <a:spcPts val="600"/>
              </a:spcAft>
            </a:pPr>
            <a:r>
              <a:rPr sz="1900" b="0" i="0" u="none">
                <a:solidFill>
                  <a:srgbClr val="1C2B3A"/>
                </a:solidFill>
                <a:latin typeface="Barlow"/>
              </a:rPr>
              <a:t>4. Am Ende: Kann ein Ausschnitt Eindeutigkeit beweisen?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Zusammengelegte Tabelle untersuchen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17</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694690"/>
          </a:xfrm>
          <a:prstGeom prst="rect">
            <a:avLst/>
          </a:prstGeom>
          <a:noFill/>
        </p:spPr>
        <p:txBody>
          <a:bodyPr wrap="square" anchor="t" lIns="36576" rIns="36576" tIns="36576" bIns="36576">
            <a:spAutoFit/>
          </a:bodyPr>
          <a:lstStyle/>
          <a:p>
            <a:pPr>
              <a:lnSpc>
                <a:spcPct val="105000"/>
              </a:lnSpc>
              <a:spcAft>
                <a:spcPts val="600"/>
              </a:spcAft>
            </a:pPr>
            <a:r>
              <a:rPr sz="1900" b="1" i="0" u="none">
                <a:solidFill>
                  <a:srgbClr val="1C2B3A"/>
                </a:solidFill>
                <a:latin typeface="Barlow"/>
              </a:rPr>
              <a:t>Prüffrage:</a:t>
            </a:r>
            <a:r>
              <a:rPr sz="1900" b="0" i="0" u="none">
                <a:solidFill>
                  <a:srgbClr val="1C2B3A"/>
                </a:solidFill>
                <a:latin typeface="Barlow"/>
              </a:rPr>
              <a:t> Hängt ein Nicht-Schlüssel-Attribut von einem anderen Nicht-Schlüssel-Attribut (oder nur von einem Teil des Schlüssels) ab?</a:t>
            </a:r>
          </a:p>
        </p:txBody>
      </p:sp>
      <p:sp>
        <p:nvSpPr>
          <p:cNvPr id="10" name="TextBox 9"/>
          <p:cNvSpPr txBox="1"/>
          <p:nvPr/>
        </p:nvSpPr>
        <p:spPr>
          <a:xfrm>
            <a:off x="822959" y="2688082"/>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MitgliedBeitrag(</a:t>
            </a:r>
            <a:r>
              <a:rPr sz="1710" b="0" i="0" u="sng">
                <a:solidFill>
                  <a:srgbClr val="1C2B3A"/>
                </a:solidFill>
                <a:latin typeface="IBM Plex Mono"/>
              </a:rPr>
              <a:t>MitgliedNr</a:t>
            </a:r>
            <a:r>
              <a:rPr sz="1710" b="0" i="0" u="none">
                <a:solidFill>
                  <a:srgbClr val="1C2B3A"/>
                </a:solidFill>
                <a:latin typeface="IBM Plex Mono"/>
              </a:rPr>
              <a:t>, Vorname, Nachname, Beitragsgruppe, Monatsbeitrag)</a:t>
            </a:r>
          </a:p>
        </p:txBody>
      </p:sp>
      <p:sp>
        <p:nvSpPr>
          <p:cNvPr id="11" name="TextBox 10"/>
          <p:cNvSpPr txBox="1"/>
          <p:nvPr/>
        </p:nvSpPr>
        <p:spPr>
          <a:xfrm>
            <a:off x="822959" y="3238754"/>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Monatsbeitrag ← Beitragsgruppe: derselbe Betrag steht mehrfach → </a:t>
            </a:r>
            <a:r>
              <a:rPr sz="1900" b="1" i="0" u="none">
                <a:solidFill>
                  <a:srgbClr val="1C2B3A"/>
                </a:solidFill>
                <a:latin typeface="Barlow"/>
              </a:rPr>
              <a:t>Anomalien möglich</a:t>
            </a:r>
            <a:r>
              <a:rPr sz="1900" b="0" i="0" u="none">
                <a:solidFill>
                  <a:srgbClr val="1C2B3A"/>
                </a:solidFill>
                <a:latin typeface="Barlow"/>
              </a:rPr>
              <a:t>.</a:t>
            </a:r>
          </a:p>
        </p:txBody>
      </p:sp>
      <p:sp>
        <p:nvSpPr>
          <p:cNvPr id="12" name="TextBox 11"/>
          <p:cNvSpPr txBox="1"/>
          <p:nvPr/>
        </p:nvSpPr>
        <p:spPr>
          <a:xfrm>
            <a:off x="822959" y="4006596"/>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Beitragsgruppe(</a:t>
            </a:r>
            <a:r>
              <a:rPr sz="1710" b="0" i="0" u="sng">
                <a:solidFill>
                  <a:srgbClr val="1C2B3A"/>
                </a:solidFill>
                <a:latin typeface="IBM Plex Mono"/>
              </a:rPr>
              <a:t>Gruppe</a:t>
            </a:r>
            <a:r>
              <a:rPr sz="1710" b="0" i="0" u="none">
                <a:solidFill>
                  <a:srgbClr val="1C2B3A"/>
                </a:solidFill>
                <a:latin typeface="IBM Plex Mono"/>
              </a:rPr>
              <a:t>, Monatsbeitrag)</a:t>
            </a:r>
          </a:p>
        </p:txBody>
      </p:sp>
      <p:sp>
        <p:nvSpPr>
          <p:cNvPr id="13" name="TextBox 12"/>
          <p:cNvSpPr txBox="1"/>
          <p:nvPr/>
        </p:nvSpPr>
        <p:spPr>
          <a:xfrm>
            <a:off x="822959" y="4557268"/>
            <a:ext cx="10545775" cy="694690"/>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Jedes Attribut hängt vom ganzen Schlüssel und nur von ihm ab → </a:t>
            </a:r>
            <a:r>
              <a:rPr sz="1900" b="1" i="0" u="none">
                <a:solidFill>
                  <a:srgbClr val="1C2B3A"/>
                </a:solidFill>
                <a:latin typeface="Barlow"/>
              </a:rPr>
              <a:t>keine Anomalie möglich</a:t>
            </a:r>
            <a:r>
              <a:rPr sz="1900" b="0" i="0" u="none">
                <a:solidFill>
                  <a:srgbClr val="1C2B3A"/>
                </a:solidFill>
                <a:latin typeface="Barlow"/>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Zerlegung der Rohliste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18</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Die Rohliste </a:t>
            </a:r>
            <a:r>
              <a:rPr sz="1710" b="0" i="0" u="none">
                <a:solidFill>
                  <a:srgbClr val="1C2B3A"/>
                </a:solidFill>
                <a:latin typeface="IBM Plex Mono"/>
              </a:rPr>
              <a:t>MitgliederlisteRoh</a:t>
            </a:r>
            <a:r>
              <a:rPr sz="1900" b="0" i="0" u="none">
                <a:solidFill>
                  <a:srgbClr val="1C2B3A"/>
                </a:solidFill>
                <a:latin typeface="Barlow"/>
              </a:rPr>
              <a:t> wird verlustfrei und redundanzfrei zerlegt in:</a:t>
            </a:r>
          </a:p>
        </p:txBody>
      </p:sp>
      <p:sp>
        <p:nvSpPr>
          <p:cNvPr id="10" name="TextBox 9"/>
          <p:cNvSpPr txBox="1"/>
          <p:nvPr/>
        </p:nvSpPr>
        <p:spPr>
          <a:xfrm>
            <a:off x="822959" y="2386457"/>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Mitglied(</a:t>
            </a:r>
            <a:r>
              <a:rPr sz="1710" b="0" i="0" u="sng">
                <a:solidFill>
                  <a:srgbClr val="1C2B3A"/>
                </a:solidFill>
                <a:latin typeface="IBM Plex Mono"/>
              </a:rPr>
              <a:t>MitgliedNr</a:t>
            </a:r>
            <a:r>
              <a:rPr sz="1710" b="0" i="0" u="none">
                <a:solidFill>
                  <a:srgbClr val="1C2B3A"/>
                </a:solidFill>
                <a:latin typeface="IBM Plex Mono"/>
              </a:rPr>
              <a:t>, Vorname, Nachname, Geburtsjahr, </a:t>
            </a:r>
            <a:r>
              <a:rPr sz="1710" b="0" i="0" u="none">
                <a:solidFill>
                  <a:srgbClr val="B3261E"/>
                </a:solidFill>
                <a:latin typeface="IBM Plex Mono"/>
              </a:rPr>
              <a:t>↑</a:t>
            </a:r>
            <a:r>
              <a:rPr sz="1710" b="0" i="0" u="none">
                <a:solidFill>
                  <a:srgbClr val="1C2B3A"/>
                </a:solidFill>
                <a:latin typeface="IBM Plex Mono"/>
              </a:rPr>
              <a:t>Beitragsgruppe, Eintritt)</a:t>
            </a:r>
          </a:p>
        </p:txBody>
      </p:sp>
      <p:sp>
        <p:nvSpPr>
          <p:cNvPr id="11" name="TextBox 10"/>
          <p:cNvSpPr txBox="1"/>
          <p:nvPr/>
        </p:nvSpPr>
        <p:spPr>
          <a:xfrm>
            <a:off x="822959" y="2937129"/>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Beitragsgruppe(</a:t>
            </a:r>
            <a:r>
              <a:rPr sz="1710" b="0" i="0" u="sng">
                <a:solidFill>
                  <a:srgbClr val="1C2B3A"/>
                </a:solidFill>
                <a:latin typeface="IBM Plex Mono"/>
              </a:rPr>
              <a:t>Gruppe</a:t>
            </a:r>
            <a:r>
              <a:rPr sz="1710" b="0" i="0" u="none">
                <a:solidFill>
                  <a:srgbClr val="1C2B3A"/>
                </a:solidFill>
                <a:latin typeface="IBM Plex Mono"/>
              </a:rPr>
              <a:t>, Monatsbeitrag)</a:t>
            </a:r>
          </a:p>
        </p:txBody>
      </p:sp>
      <p:sp>
        <p:nvSpPr>
          <p:cNvPr id="12" name="TextBox 11"/>
          <p:cNvSpPr txBox="1"/>
          <p:nvPr/>
        </p:nvSpPr>
        <p:spPr>
          <a:xfrm>
            <a:off x="822959" y="3487801"/>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Abteilung(</a:t>
            </a:r>
            <a:r>
              <a:rPr sz="1710" b="0" i="0" u="sng">
                <a:solidFill>
                  <a:srgbClr val="1C2B3A"/>
                </a:solidFill>
                <a:latin typeface="IBM Plex Mono"/>
              </a:rPr>
              <a:t>AbteilungNr</a:t>
            </a:r>
            <a:r>
              <a:rPr sz="1710" b="0" i="0" u="none">
                <a:solidFill>
                  <a:srgbClr val="1C2B3A"/>
                </a:solidFill>
                <a:latin typeface="IBM Plex Mono"/>
              </a:rPr>
              <a:t>, Name, </a:t>
            </a:r>
            <a:r>
              <a:rPr sz="1710" b="0" i="0" u="none">
                <a:solidFill>
                  <a:srgbClr val="B3261E"/>
                </a:solidFill>
                <a:latin typeface="IBM Plex Mono"/>
              </a:rPr>
              <a:t>↑</a:t>
            </a:r>
            <a:r>
              <a:rPr sz="1710" b="0" i="0" u="none">
                <a:solidFill>
                  <a:srgbClr val="1C2B3A"/>
                </a:solidFill>
                <a:latin typeface="IBM Plex Mono"/>
              </a:rPr>
              <a:t>TrainerNr, </a:t>
            </a:r>
            <a:r>
              <a:rPr sz="1710" b="0" i="0" u="none">
                <a:solidFill>
                  <a:srgbClr val="B3261E"/>
                </a:solidFill>
                <a:latin typeface="IBM Plex Mono"/>
              </a:rPr>
              <a:t>↑</a:t>
            </a:r>
            <a:r>
              <a:rPr sz="1710" b="0" i="0" u="none">
                <a:solidFill>
                  <a:srgbClr val="1C2B3A"/>
                </a:solidFill>
                <a:latin typeface="IBM Plex Mono"/>
              </a:rPr>
              <a:t>HalleNr)</a:t>
            </a:r>
          </a:p>
        </p:txBody>
      </p:sp>
      <p:sp>
        <p:nvSpPr>
          <p:cNvPr id="13" name="TextBox 12"/>
          <p:cNvSpPr txBox="1"/>
          <p:nvPr/>
        </p:nvSpPr>
        <p:spPr>
          <a:xfrm>
            <a:off x="822959" y="4038473"/>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Trainer(</a:t>
            </a:r>
            <a:r>
              <a:rPr sz="1710" b="0" i="0" u="sng">
                <a:solidFill>
                  <a:srgbClr val="1C2B3A"/>
                </a:solidFill>
                <a:latin typeface="IBM Plex Mono"/>
              </a:rPr>
              <a:t>TrainerNr</a:t>
            </a:r>
            <a:r>
              <a:rPr sz="1710" b="0" i="0" u="none">
                <a:solidFill>
                  <a:srgbClr val="1C2B3A"/>
                </a:solidFill>
                <a:latin typeface="IBM Plex Mono"/>
              </a:rPr>
              <a:t>, Name, Telefon)</a:t>
            </a:r>
          </a:p>
        </p:txBody>
      </p:sp>
      <p:sp>
        <p:nvSpPr>
          <p:cNvPr id="14" name="TextBox 13"/>
          <p:cNvSpPr txBox="1"/>
          <p:nvPr/>
        </p:nvSpPr>
        <p:spPr>
          <a:xfrm>
            <a:off x="822959" y="4589145"/>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Halle(</a:t>
            </a:r>
            <a:r>
              <a:rPr sz="1710" b="0" i="0" u="sng">
                <a:solidFill>
                  <a:srgbClr val="1C2B3A"/>
                </a:solidFill>
                <a:latin typeface="IBM Plex Mono"/>
              </a:rPr>
              <a:t>HalleNr</a:t>
            </a:r>
            <a:r>
              <a:rPr sz="1710" b="0" i="0" u="none">
                <a:solidFill>
                  <a:srgbClr val="1C2B3A"/>
                </a:solidFill>
                <a:latin typeface="IBM Plex Mono"/>
              </a:rPr>
              <a:t>, Name, Adresse)</a:t>
            </a:r>
          </a:p>
        </p:txBody>
      </p:sp>
      <p:sp>
        <p:nvSpPr>
          <p:cNvPr id="15" name="TextBox 14"/>
          <p:cNvSpPr txBox="1"/>
          <p:nvPr/>
        </p:nvSpPr>
        <p:spPr>
          <a:xfrm>
            <a:off x="822959" y="5139817"/>
            <a:ext cx="10545775" cy="477520"/>
          </a:xfrm>
          <a:prstGeom prst="rect">
            <a:avLst/>
          </a:prstGeom>
          <a:noFill/>
        </p:spPr>
        <p:txBody>
          <a:bodyPr wrap="square" anchor="t" lIns="36576" rIns="36576" tIns="36576" bIns="36576">
            <a:spAutoFit/>
          </a:bodyPr>
          <a:lstStyle/>
          <a:p>
            <a:pPr>
              <a:lnSpc>
                <a:spcPct val="105000"/>
              </a:lnSpc>
            </a:pPr>
            <a:r>
              <a:rPr sz="1710" b="0" i="0" u="none">
                <a:solidFill>
                  <a:srgbClr val="1C2B3A"/>
                </a:solidFill>
                <a:latin typeface="IBM Plex Mono"/>
              </a:rPr>
              <a:t>Mitgliedschaft(</a:t>
            </a:r>
            <a:r>
              <a:rPr sz="1710" b="0" i="0" u="sng">
                <a:solidFill>
                  <a:srgbClr val="B3261E"/>
                </a:solidFill>
                <a:latin typeface="IBM Plex Mono"/>
              </a:rPr>
              <a:t>↑</a:t>
            </a:r>
            <a:r>
              <a:rPr sz="1710" b="0" i="0" u="sng">
                <a:solidFill>
                  <a:srgbClr val="1C2B3A"/>
                </a:solidFill>
                <a:latin typeface="IBM Plex Mono"/>
              </a:rPr>
              <a:t>MitgliedNr, </a:t>
            </a:r>
            <a:r>
              <a:rPr sz="1710" b="0" i="0" u="sng">
                <a:solidFill>
                  <a:srgbClr val="B3261E"/>
                </a:solidFill>
                <a:latin typeface="IBM Plex Mono"/>
              </a:rPr>
              <a:t>↑</a:t>
            </a:r>
            <a:r>
              <a:rPr sz="1710" b="0" i="0" u="sng">
                <a:solidFill>
                  <a:srgbClr val="1C2B3A"/>
                </a:solidFill>
                <a:latin typeface="IBM Plex Mono"/>
              </a:rPr>
              <a:t>AbteilungNr</a:t>
            </a:r>
            <a:r>
              <a:rPr sz="1710" b="0" i="0" u="none">
                <a:solidFill>
                  <a:srgbClr val="1C2B3A"/>
                </a:solidFill>
                <a:latin typeface="IBM Plex Mono"/>
              </a:rPr>
              <a:t>, Seit)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Ist die Zerlegung verlustfrei?</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19</a:t>
            </a:r>
          </a:p>
        </p:txBody>
      </p:sp>
      <p:sp>
        <p:nvSpPr>
          <p:cNvPr id="8" name="SQL-Hintergrund"/>
          <p:cNvSpPr/>
          <p:nvPr/>
        </p:nvSpPr>
        <p:spPr>
          <a:xfrm>
            <a:off x="548640" y="1691640"/>
            <a:ext cx="6101928" cy="1971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696719"/>
          </a:xfrm>
          <a:prstGeom prst="rect">
            <a:avLst/>
          </a:prstGeom>
          <a:noFill/>
        </p:spPr>
        <p:txBody>
          <a:bodyPr wrap="square" lIns="18288" rIns="18288" tIns="18288" bIns="18288">
            <a:spAutoFit/>
          </a:bodyPr>
          <a:lstStyle/>
          <a:p>
            <a:pPr>
              <a:lnSpc>
                <a:spcPct val="100000"/>
              </a:lnSpc>
            </a:pPr>
            <a:r>
              <a:rPr sz="1300" i="0">
                <a:solidFill>
                  <a:srgbClr val="F2A65A"/>
                </a:solidFill>
                <a:latin typeface="IBM Plex Mono"/>
              </a:rPr>
              <a:t>SELECT</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Vorname</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Nachname</a:t>
            </a:r>
            <a:r>
              <a:rPr sz="1300" i="0">
                <a:solidFill>
                  <a:srgbClr val="D8E3D0"/>
                </a:solidFill>
                <a:latin typeface="IBM Plex Mono"/>
              </a:rPr>
              <a:t>,</a:t>
            </a:r>
          </a:p>
          <a:p>
            <a:pPr>
              <a:lnSpc>
                <a:spcPct val="100000"/>
              </a:lnSpc>
            </a:pPr>
            <a:r>
              <a:rPr sz="1300" i="0">
                <a:solidFill>
                  <a:srgbClr val="D8E3D0"/>
                </a:solidFill>
                <a:latin typeface="IBM Plex Mono"/>
              </a:rPr>
              <a:t>       </a:t>
            </a:r>
            <a:r>
              <a:rPr sz="1300" i="0">
                <a:solidFill>
                  <a:srgbClr val="D8E3D0"/>
                </a:solidFill>
                <a:latin typeface="IBM Plex Mono"/>
              </a:rPr>
              <a:t>Abteilung</a:t>
            </a:r>
            <a:r>
              <a:rPr sz="1300" i="0">
                <a:solidFill>
                  <a:srgbClr val="D8E3D0"/>
                </a:solidFill>
                <a:latin typeface="IBM Plex Mono"/>
              </a:rPr>
              <a:t>.</a:t>
            </a:r>
            <a:r>
              <a:rPr sz="1300" i="0">
                <a:solidFill>
                  <a:srgbClr val="D8E3D0"/>
                </a:solidFill>
                <a:latin typeface="IBM Plex Mono"/>
              </a:rPr>
              <a:t>Name</a:t>
            </a:r>
            <a:r>
              <a:rPr sz="1300" i="0">
                <a:solidFill>
                  <a:srgbClr val="D8E3D0"/>
                </a:solidFill>
                <a:latin typeface="IBM Plex Mono"/>
              </a:rPr>
              <a:t> </a:t>
            </a:r>
            <a:r>
              <a:rPr sz="1300" i="0">
                <a:solidFill>
                  <a:srgbClr val="F2A65A"/>
                </a:solidFill>
                <a:latin typeface="IBM Plex Mono"/>
              </a:rPr>
              <a:t>AS</a:t>
            </a:r>
            <a:r>
              <a:rPr sz="1300" i="0">
                <a:solidFill>
                  <a:srgbClr val="D8E3D0"/>
                </a:solidFill>
                <a:latin typeface="IBM Plex Mono"/>
              </a:rPr>
              <a:t> </a:t>
            </a:r>
            <a:r>
              <a:rPr sz="1300" i="0">
                <a:solidFill>
                  <a:srgbClr val="D8E3D0"/>
                </a:solidFill>
                <a:latin typeface="IBM Plex Mono"/>
              </a:rPr>
              <a:t>Abteilung</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Halle</a:t>
            </a:r>
            <a:r>
              <a:rPr sz="1300" i="0">
                <a:solidFill>
                  <a:srgbClr val="D8E3D0"/>
                </a:solidFill>
                <a:latin typeface="IBM Plex Mono"/>
              </a:rPr>
              <a:t>.</a:t>
            </a:r>
            <a:r>
              <a:rPr sz="1300" i="0">
                <a:solidFill>
                  <a:srgbClr val="D8E3D0"/>
                </a:solidFill>
                <a:latin typeface="IBM Plex Mono"/>
              </a:rPr>
              <a:t>Name</a:t>
            </a:r>
            <a:r>
              <a:rPr sz="1300" i="0">
                <a:solidFill>
                  <a:srgbClr val="D8E3D0"/>
                </a:solidFill>
                <a:latin typeface="IBM Plex Mono"/>
              </a:rPr>
              <a:t> </a:t>
            </a:r>
            <a:r>
              <a:rPr sz="1300" i="0">
                <a:solidFill>
                  <a:srgbClr val="F2A65A"/>
                </a:solidFill>
                <a:latin typeface="IBM Plex Mono"/>
              </a:rPr>
              <a:t>AS</a:t>
            </a:r>
            <a:r>
              <a:rPr sz="1300" i="0">
                <a:solidFill>
                  <a:srgbClr val="D8E3D0"/>
                </a:solidFill>
                <a:latin typeface="IBM Plex Mono"/>
              </a:rPr>
              <a:t> </a:t>
            </a:r>
            <a:r>
              <a:rPr sz="1300" i="0">
                <a:solidFill>
                  <a:srgbClr val="D8E3D0"/>
                </a:solidFill>
                <a:latin typeface="IBM Plex Mono"/>
              </a:rPr>
              <a:t>Halle</a:t>
            </a:r>
          </a:p>
          <a:p>
            <a:pPr>
              <a:lnSpc>
                <a:spcPct val="100000"/>
              </a:lnSpc>
            </a:pPr>
            <a:r>
              <a:rPr sz="1300" i="0">
                <a:solidFill>
                  <a:srgbClr val="F2A65A"/>
                </a:solidFill>
                <a:latin typeface="IBM Plex Mono"/>
              </a:rPr>
              <a:t>FROM</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Mitgliedschaft</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Abteilung</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Halle</a:t>
            </a:r>
          </a:p>
          <a:p>
            <a:pPr>
              <a:lnSpc>
                <a:spcPct val="100000"/>
              </a:lnSpc>
            </a:pPr>
            <a:r>
              <a:rPr sz="1300" i="0">
                <a:solidFill>
                  <a:srgbClr val="F2A65A"/>
                </a:solidFill>
                <a:latin typeface="IBM Plex Mono"/>
              </a:rPr>
              <a:t>WHERE</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MitgliedNr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Mitgliedschaft</a:t>
            </a:r>
            <a:r>
              <a:rPr sz="1300" i="0">
                <a:solidFill>
                  <a:srgbClr val="D8E3D0"/>
                </a:solidFill>
                <a:latin typeface="IBM Plex Mono"/>
              </a:rPr>
              <a:t>.</a:t>
            </a:r>
            <a:r>
              <a:rPr sz="1300" i="0">
                <a:solidFill>
                  <a:srgbClr val="D8E3D0"/>
                </a:solidFill>
                <a:latin typeface="IBM Plex Mono"/>
              </a:rPr>
              <a:t>MitgliedNr</a:t>
            </a:r>
          </a:p>
          <a:p>
            <a:pPr>
              <a:lnSpc>
                <a:spcPct val="100000"/>
              </a:lnSpc>
            </a:pPr>
            <a:r>
              <a:rPr sz="1300" i="0">
                <a:solidFill>
                  <a:srgbClr val="D8E3D0"/>
                </a:solidFill>
                <a:latin typeface="IBM Plex Mono"/>
              </a:rPr>
              <a:t>  </a:t>
            </a:r>
            <a:r>
              <a:rPr sz="1300" i="0">
                <a:solidFill>
                  <a:srgbClr val="F2A65A"/>
                </a:solidFill>
                <a:latin typeface="IBM Plex Mono"/>
              </a:rPr>
              <a:t>AND</a:t>
            </a:r>
            <a:r>
              <a:rPr sz="1300" i="0">
                <a:solidFill>
                  <a:srgbClr val="D8E3D0"/>
                </a:solidFill>
                <a:latin typeface="IBM Plex Mono"/>
              </a:rPr>
              <a:t> </a:t>
            </a:r>
            <a:r>
              <a:rPr sz="1300" i="0">
                <a:solidFill>
                  <a:srgbClr val="D8E3D0"/>
                </a:solidFill>
                <a:latin typeface="IBM Plex Mono"/>
              </a:rPr>
              <a:t>Mitgliedschaft</a:t>
            </a:r>
            <a:r>
              <a:rPr sz="1300" i="0">
                <a:solidFill>
                  <a:srgbClr val="D8E3D0"/>
                </a:solidFill>
                <a:latin typeface="IBM Plex Mono"/>
              </a:rPr>
              <a:t>.</a:t>
            </a:r>
            <a:r>
              <a:rPr sz="1300" i="0">
                <a:solidFill>
                  <a:srgbClr val="D8E3D0"/>
                </a:solidFill>
                <a:latin typeface="IBM Plex Mono"/>
              </a:rPr>
              <a:t>AbteilungNr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Abteilung</a:t>
            </a:r>
            <a:r>
              <a:rPr sz="1300" i="0">
                <a:solidFill>
                  <a:srgbClr val="D8E3D0"/>
                </a:solidFill>
                <a:latin typeface="IBM Plex Mono"/>
              </a:rPr>
              <a:t>.</a:t>
            </a:r>
            <a:r>
              <a:rPr sz="1300" i="0">
                <a:solidFill>
                  <a:srgbClr val="D8E3D0"/>
                </a:solidFill>
                <a:latin typeface="IBM Plex Mono"/>
              </a:rPr>
              <a:t>AbteilungNr</a:t>
            </a:r>
          </a:p>
          <a:p>
            <a:pPr>
              <a:lnSpc>
                <a:spcPct val="100000"/>
              </a:lnSpc>
            </a:pPr>
            <a:r>
              <a:rPr sz="1300" i="0">
                <a:solidFill>
                  <a:srgbClr val="D8E3D0"/>
                </a:solidFill>
                <a:latin typeface="IBM Plex Mono"/>
              </a:rPr>
              <a:t>  </a:t>
            </a:r>
            <a:r>
              <a:rPr sz="1300" i="0">
                <a:solidFill>
                  <a:srgbClr val="F2A65A"/>
                </a:solidFill>
                <a:latin typeface="IBM Plex Mono"/>
              </a:rPr>
              <a:t>AND</a:t>
            </a:r>
            <a:r>
              <a:rPr sz="1300" i="0">
                <a:solidFill>
                  <a:srgbClr val="D8E3D0"/>
                </a:solidFill>
                <a:latin typeface="IBM Plex Mono"/>
              </a:rPr>
              <a:t> </a:t>
            </a:r>
            <a:r>
              <a:rPr sz="1300" i="0">
                <a:solidFill>
                  <a:srgbClr val="D8E3D0"/>
                </a:solidFill>
                <a:latin typeface="IBM Plex Mono"/>
              </a:rPr>
              <a:t>Abteilung</a:t>
            </a:r>
            <a:r>
              <a:rPr sz="1300" i="0">
                <a:solidFill>
                  <a:srgbClr val="D8E3D0"/>
                </a:solidFill>
                <a:latin typeface="IBM Plex Mono"/>
              </a:rPr>
              <a:t>.</a:t>
            </a:r>
            <a:r>
              <a:rPr sz="1300" i="0">
                <a:solidFill>
                  <a:srgbClr val="D8E3D0"/>
                </a:solidFill>
                <a:latin typeface="IBM Plex Mono"/>
              </a:rPr>
              <a:t>HalleNr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Halle</a:t>
            </a:r>
            <a:r>
              <a:rPr sz="1300" i="0">
                <a:solidFill>
                  <a:srgbClr val="D8E3D0"/>
                </a:solidFill>
                <a:latin typeface="IBM Plex Mono"/>
              </a:rPr>
              <a:t>.</a:t>
            </a:r>
            <a:r>
              <a:rPr sz="1300" i="0">
                <a:solidFill>
                  <a:srgbClr val="D8E3D0"/>
                </a:solidFill>
                <a:latin typeface="IBM Plex Mono"/>
              </a:rPr>
              <a:t>HalleNr</a:t>
            </a:r>
          </a:p>
          <a:p>
            <a:pPr>
              <a:lnSpc>
                <a:spcPct val="100000"/>
              </a:lnSpc>
            </a:pPr>
            <a:r>
              <a:rPr sz="1300" i="0">
                <a:solidFill>
                  <a:srgbClr val="D8E3D0"/>
                </a:solidFill>
                <a:latin typeface="IBM Plex Mono"/>
              </a:rPr>
              <a:t>  </a:t>
            </a:r>
            <a:r>
              <a:rPr sz="1300" i="0">
                <a:solidFill>
                  <a:srgbClr val="F2A65A"/>
                </a:solidFill>
                <a:latin typeface="IBM Plex Mono"/>
              </a:rPr>
              <a:t>AND</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Nachname</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9BD3A6"/>
                </a:solidFill>
                <a:latin typeface="IBM Plex Mono"/>
              </a:rPr>
              <a:t>'Thaden'</a:t>
            </a:r>
          </a:p>
          <a:p>
            <a:pPr>
              <a:lnSpc>
                <a:spcPct val="100000"/>
              </a:lnSpc>
            </a:pPr>
            <a:r>
              <a:rPr sz="1300" i="0">
                <a:solidFill>
                  <a:srgbClr val="F2A65A"/>
                </a:solidFill>
                <a:latin typeface="IBM Plex Mono"/>
              </a:rPr>
              <a:t>ORDER</a:t>
            </a:r>
            <a:r>
              <a:rPr sz="1300" i="0">
                <a:solidFill>
                  <a:srgbClr val="D8E3D0"/>
                </a:solidFill>
                <a:latin typeface="IBM Plex Mono"/>
              </a:rPr>
              <a:t> </a:t>
            </a:r>
            <a:r>
              <a:rPr sz="1300" i="0">
                <a:solidFill>
                  <a:srgbClr val="F2A65A"/>
                </a:solidFill>
                <a:latin typeface="IBM Plex Mono"/>
              </a:rPr>
              <a:t>BY</a:t>
            </a:r>
            <a:r>
              <a:rPr sz="1300" i="0">
                <a:solidFill>
                  <a:srgbClr val="D8E3D0"/>
                </a:solidFill>
                <a:latin typeface="IBM Plex Mono"/>
              </a:rPr>
              <a:t> </a:t>
            </a:r>
            <a:r>
              <a:rPr sz="1300" i="0">
                <a:solidFill>
                  <a:srgbClr val="D8E3D0"/>
                </a:solidFill>
                <a:latin typeface="IBM Plex Mono"/>
              </a:rPr>
              <a:t>Abteilung</a:t>
            </a:r>
            <a:r>
              <a:rPr sz="1300" i="0">
                <a:solidFill>
                  <a:srgbClr val="D8E3D0"/>
                </a:solidFill>
                <a:latin typeface="IBM Plex Mono"/>
              </a:rPr>
              <a:t>.</a:t>
            </a:r>
            <a:r>
              <a:rPr sz="1300" i="0">
                <a:solidFill>
                  <a:srgbClr val="D8E3D0"/>
                </a:solidFill>
                <a:latin typeface="IBM Plex Mono"/>
              </a:rPr>
              <a:t>Name</a:t>
            </a:r>
          </a:p>
        </p:txBody>
      </p:sp>
      <p:sp>
        <p:nvSpPr>
          <p:cNvPr id="10" name="TextBox 9"/>
          <p:cNvSpPr txBox="1"/>
          <p:nvPr/>
        </p:nvSpPr>
        <p:spPr>
          <a:xfrm>
            <a:off x="548640" y="3754119"/>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4074160"/>
          <a:ext cx="5644132" cy="1023620"/>
        </p:xfrm>
        <a:graphic>
          <a:graphicData uri="http://schemas.openxmlformats.org/drawingml/2006/table">
            <a:tbl>
              <a:tblPr firstRow="1">
                <a:tableStyleId>{5C22544A-7EE6-4342-B048-85BDC9FD1C3A}</a:tableStyleId>
              </a:tblPr>
              <a:tblGrid>
                <a:gridCol w="981608"/>
                <a:gridCol w="1082649"/>
                <a:gridCol w="1385773"/>
                <a:gridCol w="2194102"/>
              </a:tblGrid>
              <a:tr h="255905">
                <a:tc>
                  <a:txBody>
                    <a:bodyPr/>
                    <a:lstStyle/>
                    <a:p>
                      <a:r>
                        <a:rPr sz="1196" b="1" i="0" u="none">
                          <a:solidFill>
                            <a:srgbClr val="1C2B3A"/>
                          </a:solidFill>
                          <a:latin typeface="IBM Plex Mono"/>
                        </a:rPr>
                        <a:t>Vorname</a:t>
                      </a:r>
                    </a:p>
                  </a:txBody>
                  <a:tcPr marL="54864" marR="54864" marT="18288" marB="18288">
                    <a:solidFill>
                      <a:srgbClr val="EBE2D2"/>
                    </a:solidFill>
                  </a:tcPr>
                </a:tc>
                <a:tc>
                  <a:txBody>
                    <a:bodyPr/>
                    <a:lstStyle/>
                    <a:p>
                      <a:r>
                        <a:rPr sz="1196" b="1" i="0" u="none">
                          <a:solidFill>
                            <a:srgbClr val="1C2B3A"/>
                          </a:solidFill>
                          <a:latin typeface="IBM Plex Mono"/>
                        </a:rPr>
                        <a:t>Nachname</a:t>
                      </a:r>
                    </a:p>
                  </a:txBody>
                  <a:tcPr marL="54864" marR="54864" marT="18288" marB="18288">
                    <a:solidFill>
                      <a:srgbClr val="EBE2D2"/>
                    </a:solidFill>
                  </a:tcPr>
                </a:tc>
                <a:tc>
                  <a:txBody>
                    <a:bodyPr/>
                    <a:lstStyle/>
                    <a:p>
                      <a:r>
                        <a:rPr sz="1196" b="1" i="0" u="none">
                          <a:solidFill>
                            <a:srgbClr val="1C2B3A"/>
                          </a:solidFill>
                          <a:latin typeface="IBM Plex Mono"/>
                        </a:rPr>
                        <a:t>Abteilung</a:t>
                      </a:r>
                    </a:p>
                  </a:txBody>
                  <a:tcPr marL="54864" marR="54864" marT="18288" marB="18288">
                    <a:solidFill>
                      <a:srgbClr val="EBE2D2"/>
                    </a:solidFill>
                  </a:tcPr>
                </a:tc>
                <a:tc>
                  <a:txBody>
                    <a:bodyPr/>
                    <a:lstStyle/>
                    <a:p>
                      <a:r>
                        <a:rPr sz="1196" b="1" i="0" u="none">
                          <a:solidFill>
                            <a:srgbClr val="1C2B3A"/>
                          </a:solidFill>
                          <a:latin typeface="IBM Plex Mono"/>
                        </a:rPr>
                        <a:t>Halle</a:t>
                      </a:r>
                    </a:p>
                  </a:txBody>
                  <a:tcPr marL="54864" marR="54864" marT="18288" marB="18288">
                    <a:solidFill>
                      <a:srgbClr val="EBE2D2"/>
                    </a:solidFill>
                  </a:tcPr>
                </a:tc>
              </a:tr>
              <a:tr h="255905">
                <a:tc>
                  <a:txBody>
                    <a:bodyPr/>
                    <a:lstStyle/>
                    <a:p>
                      <a:r>
                        <a:rPr sz="1300" b="0" i="0" u="none">
                          <a:solidFill>
                            <a:srgbClr val="1C2B3A"/>
                          </a:solidFill>
                          <a:latin typeface="Barlow"/>
                        </a:rPr>
                        <a:t>Enno</a:t>
                      </a:r>
                    </a:p>
                  </a:txBody>
                  <a:tcPr marL="54864" marR="54864" marT="18288" marB="18288">
                    <a:solidFill>
                      <a:srgbClr val="FFFDF8"/>
                    </a:solidFill>
                  </a:tcPr>
                </a:tc>
                <a:tc>
                  <a:txBody>
                    <a:bodyPr/>
                    <a:lstStyle/>
                    <a:p>
                      <a:r>
                        <a:rPr sz="1300" b="0" i="0" u="none">
                          <a:solidFill>
                            <a:srgbClr val="1C2B3A"/>
                          </a:solidFill>
                          <a:latin typeface="Barlow"/>
                        </a:rPr>
                        <a:t>Thaden</a:t>
                      </a:r>
                    </a:p>
                  </a:txBody>
                  <a:tcPr marL="54864" marR="54864" marT="18288" marB="18288">
                    <a:solidFill>
                      <a:srgbClr val="FFFDF8"/>
                    </a:solidFill>
                  </a:tcPr>
                </a:tc>
                <a:tc>
                  <a:txBody>
                    <a:bodyPr/>
                    <a:lstStyle/>
                    <a:p>
                      <a:r>
                        <a:rPr sz="1300" b="0" i="0" u="none">
                          <a:solidFill>
                            <a:srgbClr val="1C2B3A"/>
                          </a:solidFill>
                          <a:latin typeface="Barlow"/>
                        </a:rPr>
                        <a:t>Fußball</a:t>
                      </a:r>
                    </a:p>
                  </a:txBody>
                  <a:tcPr marL="54864" marR="54864" marT="18288" marB="18288">
                    <a:solidFill>
                      <a:srgbClr val="FFFDF8"/>
                    </a:solidFill>
                  </a:tcPr>
                </a:tc>
                <a:tc>
                  <a:txBody>
                    <a:bodyPr/>
                    <a:lstStyle/>
                    <a:p>
                      <a:r>
                        <a:rPr sz="1300" b="0" i="0" u="none">
                          <a:solidFill>
                            <a:srgbClr val="1C2B3A"/>
                          </a:solidFill>
                          <a:latin typeface="Barlow"/>
                        </a:rPr>
                        <a:t>Sportplatz Weseraue</a:t>
                      </a:r>
                    </a:p>
                  </a:txBody>
                  <a:tcPr marL="54864" marR="54864" marT="18288" marB="18288">
                    <a:solidFill>
                      <a:srgbClr val="FFFDF8"/>
                    </a:solidFill>
                  </a:tcPr>
                </a:tc>
              </a:tr>
              <a:tr h="255905">
                <a:tc>
                  <a:txBody>
                    <a:bodyPr/>
                    <a:lstStyle/>
                    <a:p>
                      <a:r>
                        <a:rPr sz="1300" b="0" i="0" u="none">
                          <a:solidFill>
                            <a:srgbClr val="1C2B3A"/>
                          </a:solidFill>
                          <a:latin typeface="Barlow"/>
                        </a:rPr>
                        <a:t>Enno</a:t>
                      </a:r>
                    </a:p>
                  </a:txBody>
                  <a:tcPr marL="54864" marR="54864" marT="18288" marB="18288">
                    <a:solidFill>
                      <a:srgbClr val="FFFDF8"/>
                    </a:solidFill>
                  </a:tcPr>
                </a:tc>
                <a:tc>
                  <a:txBody>
                    <a:bodyPr/>
                    <a:lstStyle/>
                    <a:p>
                      <a:r>
                        <a:rPr sz="1300" b="0" i="0" u="none">
                          <a:solidFill>
                            <a:srgbClr val="1C2B3A"/>
                          </a:solidFill>
                          <a:latin typeface="Barlow"/>
                        </a:rPr>
                        <a:t>Thaden</a:t>
                      </a:r>
                    </a:p>
                  </a:txBody>
                  <a:tcPr marL="54864" marR="54864" marT="18288" marB="18288">
                    <a:solidFill>
                      <a:srgbClr val="FFFDF8"/>
                    </a:solidFill>
                  </a:tcPr>
                </a:tc>
                <a:tc>
                  <a:txBody>
                    <a:bodyPr/>
                    <a:lstStyle/>
                    <a:p>
                      <a:r>
                        <a:rPr sz="1300" b="0" i="0" u="none">
                          <a:solidFill>
                            <a:srgbClr val="1C2B3A"/>
                          </a:solidFill>
                          <a:latin typeface="Barlow"/>
                        </a:rPr>
                        <a:t>Handball</a:t>
                      </a:r>
                    </a:p>
                  </a:txBody>
                  <a:tcPr marL="54864" marR="54864" marT="18288" marB="18288">
                    <a:solidFill>
                      <a:srgbClr val="FFFDF8"/>
                    </a:solidFill>
                  </a:tcPr>
                </a:tc>
                <a:tc>
                  <a:txBody>
                    <a:bodyPr/>
                    <a:lstStyle/>
                    <a:p>
                      <a:r>
                        <a:rPr sz="1300" b="0" i="0" u="none">
                          <a:solidFill>
                            <a:srgbClr val="1C2B3A"/>
                          </a:solidFill>
                          <a:latin typeface="Barlow"/>
                        </a:rPr>
                        <a:t>Halle am Mühlenfeld</a:t>
                      </a:r>
                    </a:p>
                  </a:txBody>
                  <a:tcPr marL="54864" marR="54864" marT="18288" marB="18288">
                    <a:solidFill>
                      <a:srgbClr val="FFFDF8"/>
                    </a:solidFill>
                  </a:tcPr>
                </a:tc>
              </a:tr>
              <a:tr h="255905">
                <a:tc>
                  <a:txBody>
                    <a:bodyPr/>
                    <a:lstStyle/>
                    <a:p>
                      <a:r>
                        <a:rPr sz="1300" b="0" i="0" u="none">
                          <a:solidFill>
                            <a:srgbClr val="1C2B3A"/>
                          </a:solidFill>
                          <a:latin typeface="Barlow"/>
                        </a:rPr>
                        <a:t>Enno</a:t>
                      </a:r>
                    </a:p>
                  </a:txBody>
                  <a:tcPr marL="54864" marR="54864" marT="18288" marB="18288">
                    <a:solidFill>
                      <a:srgbClr val="FFFDF8"/>
                    </a:solidFill>
                  </a:tcPr>
                </a:tc>
                <a:tc>
                  <a:txBody>
                    <a:bodyPr/>
                    <a:lstStyle/>
                    <a:p>
                      <a:r>
                        <a:rPr sz="1300" b="0" i="0" u="none">
                          <a:solidFill>
                            <a:srgbClr val="1C2B3A"/>
                          </a:solidFill>
                          <a:latin typeface="Barlow"/>
                        </a:rPr>
                        <a:t>Thaden</a:t>
                      </a:r>
                    </a:p>
                  </a:txBody>
                  <a:tcPr marL="54864" marR="54864" marT="18288" marB="18288">
                    <a:solidFill>
                      <a:srgbClr val="FFFDF8"/>
                    </a:solidFill>
                  </a:tcPr>
                </a:tc>
                <a:tc>
                  <a:txBody>
                    <a:bodyPr/>
                    <a:lstStyle/>
                    <a:p>
                      <a:r>
                        <a:rPr sz="1300" b="0" i="0" u="none">
                          <a:solidFill>
                            <a:srgbClr val="1C2B3A"/>
                          </a:solidFill>
                          <a:latin typeface="Barlow"/>
                        </a:rPr>
                        <a:t>Tischtennis</a:t>
                      </a:r>
                    </a:p>
                  </a:txBody>
                  <a:tcPr marL="54864" marR="54864" marT="18288" marB="18288">
                    <a:solidFill>
                      <a:srgbClr val="FFFDF8"/>
                    </a:solidFill>
                  </a:tcPr>
                </a:tc>
                <a:tc>
                  <a:txBody>
                    <a:bodyPr/>
                    <a:lstStyle/>
                    <a:p>
                      <a:r>
                        <a:rPr sz="1300" b="0" i="0" u="none">
                          <a:solidFill>
                            <a:srgbClr val="1C2B3A"/>
                          </a:solidFill>
                          <a:latin typeface="Barlow"/>
                        </a:rPr>
                        <a:t>Halle am Mühlenfeld</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91135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FROM/WHERE</a:t>
            </a:r>
            <a:r>
              <a:rPr sz="1600" b="0" i="0" u="none">
                <a:solidFill>
                  <a:srgbClr val="1C2B3A"/>
                </a:solidFill>
                <a:latin typeface="Barlow"/>
              </a:rPr>
              <a:t> – Verbund über die Fremdschlüssel: Mitglied → Mitgliedschaft → Abteilung → Halle</a:t>
            </a:r>
          </a:p>
        </p:txBody>
      </p:sp>
      <p:sp>
        <p:nvSpPr>
          <p:cNvPr id="16" name="Rounded Rectangle 15"/>
          <p:cNvSpPr/>
          <p:nvPr/>
        </p:nvSpPr>
        <p:spPr>
          <a:xfrm>
            <a:off x="6924888" y="284988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84988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923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923032"/>
            <a:ext cx="3986646" cy="91135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AND Nachname = 'Thaden'</a:t>
            </a:r>
            <a:r>
              <a:rPr sz="1600" b="0" i="0" u="none">
                <a:solidFill>
                  <a:srgbClr val="1C2B3A"/>
                </a:solidFill>
                <a:latin typeface="Barlow"/>
              </a:rPr>
              <a:t> – Enno Thaden steht in der Rohliste in drei Zeilen (54–56)</a:t>
            </a:r>
          </a:p>
        </p:txBody>
      </p:sp>
      <p:sp>
        <p:nvSpPr>
          <p:cNvPr id="20" name="Rounded Rectangle 19"/>
          <p:cNvSpPr/>
          <p:nvPr/>
        </p:nvSpPr>
        <p:spPr>
          <a:xfrm>
            <a:off x="6924888" y="4008119"/>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4008119"/>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4081271"/>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4081271"/>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SELECT</a:t>
            </a:r>
            <a:r>
              <a:rPr sz="1600" b="0" i="0" u="none">
                <a:solidFill>
                  <a:srgbClr val="1C2B3A"/>
                </a:solidFill>
                <a:latin typeface="Barlow"/>
              </a:rPr>
              <a:t> – Vorname, Nachname, Abteilung, Halle</a:t>
            </a:r>
          </a:p>
        </p:txBody>
      </p:sp>
      <p:sp>
        <p:nvSpPr>
          <p:cNvPr id="24" name="Rounded Rectangle 23"/>
          <p:cNvSpPr/>
          <p:nvPr/>
        </p:nvSpPr>
        <p:spPr>
          <a:xfrm>
            <a:off x="6924888" y="49022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9022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9753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97535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Der Verbund ergibt die drei Rohlisten-Zeilen wieder: </a:t>
            </a:r>
            <a:r>
              <a:rPr sz="1600" b="1" i="0" u="none">
                <a:solidFill>
                  <a:srgbClr val="1C2B3A"/>
                </a:solidFill>
                <a:latin typeface="Barlow"/>
              </a:rPr>
              <a:t>verlustfrei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Wo steht jetzt der Beitrag?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20</a:t>
            </a:r>
          </a:p>
        </p:txBody>
      </p:sp>
      <p:sp>
        <p:nvSpPr>
          <p:cNvPr id="8" name="SQL-Hintergrund"/>
          <p:cNvSpPr/>
          <p:nvPr/>
        </p:nvSpPr>
        <p:spPr>
          <a:xfrm>
            <a:off x="548640" y="1691640"/>
            <a:ext cx="6101928" cy="13519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077595"/>
          </a:xfrm>
          <a:prstGeom prst="rect">
            <a:avLst/>
          </a:prstGeom>
          <a:noFill/>
        </p:spPr>
        <p:txBody>
          <a:bodyPr wrap="square" lIns="18288" rIns="18288" tIns="18288" bIns="18288">
            <a:spAutoFit/>
          </a:bodyPr>
          <a:lstStyle/>
          <a:p>
            <a:pPr>
              <a:lnSpc>
                <a:spcPct val="100000"/>
              </a:lnSpc>
            </a:pPr>
            <a:r>
              <a:rPr sz="1300" i="0">
                <a:solidFill>
                  <a:srgbClr val="F2A65A"/>
                </a:solidFill>
                <a:latin typeface="IBM Plex Mono"/>
              </a:rPr>
              <a:t>SELECT</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Vorname</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Nachname</a:t>
            </a:r>
            <a:r>
              <a:rPr sz="1300" i="0">
                <a:solidFill>
                  <a:srgbClr val="D8E3D0"/>
                </a:solidFill>
                <a:latin typeface="IBM Plex Mono"/>
              </a:rPr>
              <a:t>,</a:t>
            </a:r>
          </a:p>
          <a:p>
            <a:pPr>
              <a:lnSpc>
                <a:spcPct val="100000"/>
              </a:lnSpc>
            </a:pPr>
            <a:r>
              <a:rPr sz="1300" i="0">
                <a:solidFill>
                  <a:srgbClr val="D8E3D0"/>
                </a:solidFill>
                <a:latin typeface="IBM Plex Mono"/>
              </a:rPr>
              <a:t>       </a:t>
            </a:r>
            <a:r>
              <a:rPr sz="1300" i="0">
                <a:solidFill>
                  <a:srgbClr val="D8E3D0"/>
                </a:solidFill>
                <a:latin typeface="IBM Plex Mono"/>
              </a:rPr>
              <a:t>Beitragsgruppe</a:t>
            </a:r>
            <a:r>
              <a:rPr sz="1300" i="0">
                <a:solidFill>
                  <a:srgbClr val="D8E3D0"/>
                </a:solidFill>
                <a:latin typeface="IBM Plex Mono"/>
              </a:rPr>
              <a:t>.</a:t>
            </a:r>
            <a:r>
              <a:rPr sz="1300" i="0">
                <a:solidFill>
                  <a:srgbClr val="D8E3D0"/>
                </a:solidFill>
                <a:latin typeface="IBM Plex Mono"/>
              </a:rPr>
              <a:t>Monatsbeitrag</a:t>
            </a:r>
          </a:p>
          <a:p>
            <a:pPr>
              <a:lnSpc>
                <a:spcPct val="100000"/>
              </a:lnSpc>
            </a:pPr>
            <a:r>
              <a:rPr sz="1300" i="0">
                <a:solidFill>
                  <a:srgbClr val="F2A65A"/>
                </a:solidFill>
                <a:latin typeface="IBM Plex Mono"/>
              </a:rPr>
              <a:t>FROM</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Beitragsgruppe</a:t>
            </a:r>
          </a:p>
          <a:p>
            <a:pPr>
              <a:lnSpc>
                <a:spcPct val="100000"/>
              </a:lnSpc>
            </a:pPr>
            <a:r>
              <a:rPr sz="1300" i="0">
                <a:solidFill>
                  <a:srgbClr val="F2A65A"/>
                </a:solidFill>
                <a:latin typeface="IBM Plex Mono"/>
              </a:rPr>
              <a:t>WHERE</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Beitragsgruppe</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Beitragsgruppe</a:t>
            </a:r>
            <a:r>
              <a:rPr sz="1300" i="0">
                <a:solidFill>
                  <a:srgbClr val="D8E3D0"/>
                </a:solidFill>
                <a:latin typeface="IBM Plex Mono"/>
              </a:rPr>
              <a:t>.</a:t>
            </a:r>
            <a:r>
              <a:rPr sz="1300" i="0">
                <a:solidFill>
                  <a:srgbClr val="D8E3D0"/>
                </a:solidFill>
                <a:latin typeface="IBM Plex Mono"/>
              </a:rPr>
              <a:t>Gruppe</a:t>
            </a:r>
          </a:p>
          <a:p>
            <a:pPr>
              <a:lnSpc>
                <a:spcPct val="100000"/>
              </a:lnSpc>
            </a:pPr>
            <a:r>
              <a:rPr sz="1300" i="0">
                <a:solidFill>
                  <a:srgbClr val="D8E3D0"/>
                </a:solidFill>
                <a:latin typeface="IBM Plex Mono"/>
              </a:rPr>
              <a:t>  </a:t>
            </a:r>
            <a:r>
              <a:rPr sz="1300" i="0">
                <a:solidFill>
                  <a:srgbClr val="F2A65A"/>
                </a:solidFill>
                <a:latin typeface="IBM Plex Mono"/>
              </a:rPr>
              <a:t>AND</a:t>
            </a:r>
            <a:r>
              <a:rPr sz="1300" i="0">
                <a:solidFill>
                  <a:srgbClr val="D8E3D0"/>
                </a:solidFill>
                <a:latin typeface="IBM Plex Mono"/>
              </a:rPr>
              <a:t> </a:t>
            </a:r>
            <a:r>
              <a:rPr sz="1300" i="0">
                <a:solidFill>
                  <a:srgbClr val="D8E3D0"/>
                </a:solidFill>
                <a:latin typeface="IBM Plex Mono"/>
              </a:rPr>
              <a:t>Mitglied</a:t>
            </a:r>
            <a:r>
              <a:rPr sz="1300" i="0">
                <a:solidFill>
                  <a:srgbClr val="D8E3D0"/>
                </a:solidFill>
                <a:latin typeface="IBM Plex Mono"/>
              </a:rPr>
              <a:t>.</a:t>
            </a:r>
            <a:r>
              <a:rPr sz="1300" i="0">
                <a:solidFill>
                  <a:srgbClr val="D8E3D0"/>
                </a:solidFill>
                <a:latin typeface="IBM Plex Mono"/>
              </a:rPr>
              <a:t>Nachname</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9BD3A6"/>
                </a:solidFill>
                <a:latin typeface="IBM Plex Mono"/>
              </a:rPr>
              <a:t>'Falter'</a:t>
            </a:r>
          </a:p>
        </p:txBody>
      </p:sp>
      <p:sp>
        <p:nvSpPr>
          <p:cNvPr id="10" name="TextBox 9"/>
          <p:cNvSpPr txBox="1"/>
          <p:nvPr/>
        </p:nvSpPr>
        <p:spPr>
          <a:xfrm>
            <a:off x="548640" y="3134995"/>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455035"/>
          <a:ext cx="3652112" cy="511810"/>
        </p:xfrm>
        <a:graphic>
          <a:graphicData uri="http://schemas.openxmlformats.org/drawingml/2006/table">
            <a:tbl>
              <a:tblPr firstRow="1">
                <a:tableStyleId>{5C22544A-7EE6-4342-B048-85BDC9FD1C3A}</a:tableStyleId>
              </a:tblPr>
              <a:tblGrid>
                <a:gridCol w="981608"/>
                <a:gridCol w="1082649"/>
                <a:gridCol w="1587855"/>
              </a:tblGrid>
              <a:tr h="255905">
                <a:tc>
                  <a:txBody>
                    <a:bodyPr/>
                    <a:lstStyle/>
                    <a:p>
                      <a:r>
                        <a:rPr sz="1196" b="1" i="0" u="none">
                          <a:solidFill>
                            <a:srgbClr val="1C2B3A"/>
                          </a:solidFill>
                          <a:latin typeface="IBM Plex Mono"/>
                        </a:rPr>
                        <a:t>Vorname</a:t>
                      </a:r>
                    </a:p>
                  </a:txBody>
                  <a:tcPr marL="54864" marR="54864" marT="18288" marB="18288">
                    <a:solidFill>
                      <a:srgbClr val="EBE2D2"/>
                    </a:solidFill>
                  </a:tcPr>
                </a:tc>
                <a:tc>
                  <a:txBody>
                    <a:bodyPr/>
                    <a:lstStyle/>
                    <a:p>
                      <a:r>
                        <a:rPr sz="1196" b="1" i="0" u="none">
                          <a:solidFill>
                            <a:srgbClr val="1C2B3A"/>
                          </a:solidFill>
                          <a:latin typeface="IBM Plex Mono"/>
                        </a:rPr>
                        <a:t>Nachname</a:t>
                      </a:r>
                    </a:p>
                  </a:txBody>
                  <a:tcPr marL="54864" marR="54864" marT="18288" marB="18288">
                    <a:solidFill>
                      <a:srgbClr val="EBE2D2"/>
                    </a:solidFill>
                  </a:tcPr>
                </a:tc>
                <a:tc>
                  <a:txBody>
                    <a:bodyPr/>
                    <a:lstStyle/>
                    <a:p>
                      <a:r>
                        <a:rPr sz="1196" b="1" i="0" u="none">
                          <a:solidFill>
                            <a:srgbClr val="1C2B3A"/>
                          </a:solidFill>
                          <a:latin typeface="IBM Plex Mono"/>
                        </a:rPr>
                        <a:t>Monatsbeitrag</a:t>
                      </a:r>
                    </a:p>
                  </a:txBody>
                  <a:tcPr marL="54864" marR="54864" marT="18288" marB="18288">
                    <a:solidFill>
                      <a:srgbClr val="EBE2D2"/>
                    </a:solidFill>
                  </a:tcPr>
                </a:tc>
              </a:tr>
              <a:tr h="255905">
                <a:tc>
                  <a:txBody>
                    <a:bodyPr/>
                    <a:lstStyle/>
                    <a:p>
                      <a:r>
                        <a:rPr sz="1300" b="0" i="0" u="none">
                          <a:solidFill>
                            <a:srgbClr val="1C2B3A"/>
                          </a:solidFill>
                          <a:latin typeface="Barlow"/>
                        </a:rPr>
                        <a:t>Nora</a:t>
                      </a:r>
                    </a:p>
                  </a:txBody>
                  <a:tcPr marL="54864" marR="54864" marT="18288" marB="18288">
                    <a:solidFill>
                      <a:srgbClr val="FFFDF8"/>
                    </a:solidFill>
                  </a:tcPr>
                </a:tc>
                <a:tc>
                  <a:txBody>
                    <a:bodyPr/>
                    <a:lstStyle/>
                    <a:p>
                      <a:r>
                        <a:rPr sz="1300" b="0" i="0" u="none">
                          <a:solidFill>
                            <a:srgbClr val="1C2B3A"/>
                          </a:solidFill>
                          <a:latin typeface="Barlow"/>
                        </a:rPr>
                        <a:t>Falter</a:t>
                      </a:r>
                    </a:p>
                  </a:txBody>
                  <a:tcPr marL="54864" marR="54864" marT="18288" marB="18288">
                    <a:solidFill>
                      <a:srgbClr val="FFFDF8"/>
                    </a:solidFill>
                  </a:tcPr>
                </a:tc>
                <a:tc>
                  <a:txBody>
                    <a:bodyPr/>
                    <a:lstStyle/>
                    <a:p>
                      <a:pPr algn="r"/>
                      <a:r>
                        <a:rPr sz="1300" b="0" i="0" u="none">
                          <a:solidFill>
                            <a:srgbClr val="1C2B3A"/>
                          </a:solidFill>
                          <a:latin typeface="Barlow"/>
                        </a:rPr>
                        <a:t>14</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Der Monatsbeitrag steht nur noch </a:t>
            </a:r>
            <a:r>
              <a:rPr sz="1600" b="1" i="0" u="none">
                <a:solidFill>
                  <a:srgbClr val="1C2B3A"/>
                </a:solidFill>
                <a:latin typeface="Barlow"/>
              </a:rPr>
              <a:t>einmal</a:t>
            </a:r>
            <a:r>
              <a:rPr sz="1600" b="0" i="0" u="none">
                <a:solidFill>
                  <a:srgbClr val="1C2B3A"/>
                </a:solidFill>
                <a:latin typeface="Barlow"/>
              </a:rPr>
              <a:t>: in Beitragsgruppe</a:t>
            </a:r>
          </a:p>
        </p:txBody>
      </p:sp>
      <p:sp>
        <p:nvSpPr>
          <p:cNvPr id="16" name="Rounded Rectangle 15"/>
          <p:cNvSpPr/>
          <p:nvPr/>
        </p:nvSpPr>
        <p:spPr>
          <a:xfrm>
            <a:off x="6924888" y="258572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Mitglied verweist mit </a:t>
            </a:r>
            <a:r>
              <a:rPr sz="1600" b="0" i="0" u="none">
                <a:solidFill>
                  <a:srgbClr val="B3261E"/>
                </a:solidFill>
                <a:latin typeface="IBM Plex Mono"/>
              </a:rPr>
              <a:t>↑</a:t>
            </a:r>
            <a:r>
              <a:rPr sz="1600" b="0" i="0" u="none">
                <a:solidFill>
                  <a:srgbClr val="1C2B3A"/>
                </a:solidFill>
                <a:latin typeface="Barlow"/>
              </a:rPr>
              <a:t>Beitragsgruppe auf Gruppe</a:t>
            </a:r>
          </a:p>
        </p:txBody>
      </p:sp>
      <p:sp>
        <p:nvSpPr>
          <p:cNvPr id="20" name="Rounded Rectangle 19"/>
          <p:cNvSpPr/>
          <p:nvPr/>
        </p:nvSpPr>
        <p:spPr>
          <a:xfrm>
            <a:off x="6924888" y="34798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798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552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55295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Auch „Nora Falter“ zahlt im neuen Archiv automatisch 14,00 €</a:t>
            </a:r>
          </a:p>
        </p:txBody>
      </p:sp>
      <p:sp>
        <p:nvSpPr>
          <p:cNvPr id="24" name="Rounded Rectangle 23"/>
          <p:cNvSpPr/>
          <p:nvPr/>
        </p:nvSpPr>
        <p:spPr>
          <a:xfrm>
            <a:off x="6924888" y="4373880"/>
            <a:ext cx="4718166" cy="10210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73880"/>
            <a:ext cx="73152" cy="102108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447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447032"/>
            <a:ext cx="3986646" cy="91135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Eine Erhöhung ändert </a:t>
            </a:r>
            <a:r>
              <a:rPr sz="1600" b="1" i="0" u="none">
                <a:solidFill>
                  <a:srgbClr val="1C2B3A"/>
                </a:solidFill>
                <a:latin typeface="Barlow"/>
              </a:rPr>
              <a:t>eine</a:t>
            </a:r>
            <a:r>
              <a:rPr sz="1600" b="0" i="0" u="none">
                <a:solidFill>
                  <a:srgbClr val="1C2B3A"/>
                </a:solidFill>
                <a:latin typeface="Barlow"/>
              </a:rPr>
              <a:t> Zelle – keine Änderungsanomalie mehr: </a:t>
            </a:r>
            <a:r>
              <a:rPr sz="1600" b="1" i="0" u="none">
                <a:solidFill>
                  <a:srgbClr val="1C2B3A"/>
                </a:solidFill>
                <a:latin typeface="Barlow"/>
              </a:rPr>
              <a:t>redundanzfrei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4.2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21</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„Ordnung ins Archiv“</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A4-E2-01 … 05 (gA/eA) · 06 … 08 (eA) · danach Verhör 4</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Zerlegungs-Puzzle (06), Schema-Werkbank (07)</a:t>
            </a:r>
          </a:p>
        </p:txBody>
      </p:sp>
      <p:sp>
        <p:nvSpPr>
          <p:cNvPr id="11" name="TextBox 10"/>
          <p:cNvSpPr txBox="1"/>
          <p:nvPr/>
        </p:nvSpPr>
        <p:spPr>
          <a:xfrm>
            <a:off x="548640" y="4800600"/>
            <a:ext cx="11094415" cy="1030605"/>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Schließe nie aus einem kleinen Ausschnitt, dass ein Attribut eindeutig ist.</a:t>
            </a:r>
          </a:p>
          <a:p>
            <a:pPr>
              <a:lnSpc>
                <a:spcPct val="105000"/>
              </a:lnSpc>
              <a:spcAft>
                <a:spcPts val="600"/>
              </a:spcAft>
            </a:pPr>
            <a:r>
              <a:rPr sz="1700" b="0" i="0" u="none">
                <a:solidFill>
                  <a:srgbClr val="E8E1D3"/>
                </a:solidFill>
                <a:latin typeface="Barlow"/>
              </a:rPr>
              <a:t>▸ gA: 01–05 und Verhör 4; eA zusätzlich Zerlegen (06–08).</a:t>
            </a:r>
          </a:p>
          <a:p>
            <a:pPr>
              <a:lnSpc>
                <a:spcPct val="105000"/>
              </a:lnSpc>
              <a:spcAft>
                <a:spcPts val="600"/>
              </a:spcAft>
            </a:pPr>
            <a:r>
              <a:rPr sz="1700" b="0" i="0" u="none">
                <a:solidFill>
                  <a:srgbClr val="E8E1D3"/>
                </a:solidFill>
                <a:latin typeface="Barlow"/>
              </a:rPr>
              <a:t>▸ AB 4.2 parallel; Cold Case: KÜR Normalformen.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 Ordnung im Archiv</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22</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5646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Schlüssel-Check: eindeutig für alle möglichen Daten · nie NULL · minimal – sonst künstlicher Schlüssel.</a:t>
            </a:r>
          </a:p>
          <a:p>
            <a:pPr>
              <a:lnSpc>
                <a:spcPct val="105000"/>
              </a:lnSpc>
              <a:spcAft>
                <a:spcPts val="600"/>
              </a:spcAft>
            </a:pPr>
            <a:r>
              <a:rPr sz="2000" b="0" i="0" u="none">
                <a:solidFill>
                  <a:srgbClr val="1C2B3A"/>
                </a:solidFill>
                <a:latin typeface="Barlow"/>
              </a:rPr>
              <a:t>▸ Zusammengelegte Tabelle: Hängt ein Attribut nicht vom Schlüssel ab → Anomalien; sonst keine Anomalie möglich.</a:t>
            </a:r>
          </a:p>
          <a:p>
            <a:pPr>
              <a:lnSpc>
                <a:spcPct val="105000"/>
              </a:lnSpc>
              <a:spcAft>
                <a:spcPts val="600"/>
              </a:spcAft>
            </a:pPr>
            <a:r>
              <a:rPr sz="2000" b="0" i="0" u="none">
                <a:solidFill>
                  <a:srgbClr val="1C2B3A"/>
                </a:solidFill>
                <a:latin typeface="Barlow"/>
              </a:rPr>
              <a:t>▸ </a:t>
            </a:r>
            <a:r>
              <a:rPr sz="2000" b="1" i="0" u="none">
                <a:solidFill>
                  <a:srgbClr val="1C2B3A"/>
                </a:solidFill>
                <a:latin typeface="Barlow"/>
              </a:rPr>
              <a:t>verlustfrei:</a:t>
            </a:r>
            <a:r>
              <a:rPr sz="2000" b="0" i="0" u="none">
                <a:solidFill>
                  <a:srgbClr val="1C2B3A"/>
                </a:solidFill>
                <a:latin typeface="Barlow"/>
              </a:rPr>
              <a:t> Der Verbund der Teiltabellen ergibt die Rohliste wieder.</a:t>
            </a:r>
          </a:p>
          <a:p>
            <a:pPr>
              <a:lnSpc>
                <a:spcPct val="105000"/>
              </a:lnSpc>
              <a:spcAft>
                <a:spcPts val="600"/>
              </a:spcAft>
            </a:pPr>
            <a:r>
              <a:rPr sz="2000" b="0" i="0" u="none">
                <a:solidFill>
                  <a:srgbClr val="1C2B3A"/>
                </a:solidFill>
                <a:latin typeface="Barlow"/>
              </a:rPr>
              <a:t>▸ </a:t>
            </a:r>
            <a:r>
              <a:rPr sz="2000" b="1" i="0" u="none">
                <a:solidFill>
                  <a:srgbClr val="1C2B3A"/>
                </a:solidFill>
                <a:latin typeface="Barlow"/>
              </a:rPr>
              <a:t>redundanzfrei:</a:t>
            </a:r>
            <a:r>
              <a:rPr sz="2000" b="0" i="0" u="none">
                <a:solidFill>
                  <a:srgbClr val="1C2B3A"/>
                </a:solidFill>
                <a:latin typeface="Barlow"/>
              </a:rPr>
              <a:t> Jede Information steht genau einmal – jedes Nicht-Schlüssel-Attribut hängt nur vom Schlüssel seiner Tabelle ab.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KÜR · nicht im Abitur: Normalformen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23</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996315"/>
          </a:xfrm>
          <a:prstGeom prst="rect">
            <a:avLst/>
          </a:prstGeom>
          <a:noFill/>
        </p:spPr>
        <p:txBody>
          <a:bodyPr wrap="square" anchor="t" lIns="36576" rIns="36576" tIns="36576" bIns="36576">
            <a:spAutoFit/>
          </a:bodyPr>
          <a:lstStyle/>
          <a:p>
            <a:pPr>
              <a:lnSpc>
                <a:spcPct val="105000"/>
              </a:lnSpc>
              <a:spcAft>
                <a:spcPts val="600"/>
              </a:spcAft>
            </a:pPr>
            <a:r>
              <a:rPr sz="1900" b="1" i="0" u="none">
                <a:solidFill>
                  <a:srgbClr val="1C2B3A"/>
                </a:solidFill>
                <a:latin typeface="Barlow"/>
              </a:rPr>
              <a:t>Funktionale Abhängigkeit</a:t>
            </a:r>
            <a:r>
              <a:rPr sz="1900" b="0" i="0" u="none">
                <a:solidFill>
                  <a:srgbClr val="1C2B3A"/>
                </a:solidFill>
                <a:latin typeface="Barlow"/>
              </a:rPr>
              <a:t> A → B: Zu jedem Wert von A gehört genau ein Wert von B, z. B. Beitragsgruppe → Monatsbeitrag. Im Abitur begründest du Redundanzfreiheit ohne diese Begriffe.</a:t>
            </a:r>
          </a:p>
        </p:txBody>
      </p:sp>
      <p:sp>
        <p:nvSpPr>
          <p:cNvPr id="10" name="TextBox 9"/>
          <p:cNvSpPr txBox="1"/>
          <p:nvPr/>
        </p:nvSpPr>
        <p:spPr>
          <a:xfrm>
            <a:off x="822959" y="2989707"/>
            <a:ext cx="10545775" cy="114109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a:t>
            </a:r>
            <a:r>
              <a:rPr sz="1900" b="1" i="0" u="none">
                <a:solidFill>
                  <a:srgbClr val="1C2B3A"/>
                </a:solidFill>
                <a:latin typeface="Barlow"/>
              </a:rPr>
              <a:t>1. NF:</a:t>
            </a:r>
            <a:r>
              <a:rPr sz="1900" b="0" i="0" u="none">
                <a:solidFill>
                  <a:srgbClr val="1C2B3A"/>
                </a:solidFill>
                <a:latin typeface="Barlow"/>
              </a:rPr>
              <a:t> nur atomare Werte – die Rohliste („Fußball, Tennis“) verletzt sie.</a:t>
            </a:r>
          </a:p>
          <a:p>
            <a:pPr>
              <a:lnSpc>
                <a:spcPct val="105000"/>
              </a:lnSpc>
              <a:spcAft>
                <a:spcPts val="600"/>
              </a:spcAft>
            </a:pPr>
            <a:r>
              <a:rPr sz="1900" b="0" i="0" u="none">
                <a:solidFill>
                  <a:srgbClr val="1C2B3A"/>
                </a:solidFill>
                <a:latin typeface="Barlow"/>
              </a:rPr>
              <a:t>▸ </a:t>
            </a:r>
            <a:r>
              <a:rPr sz="1900" b="1" i="0" u="none">
                <a:solidFill>
                  <a:srgbClr val="1C2B3A"/>
                </a:solidFill>
                <a:latin typeface="Barlow"/>
              </a:rPr>
              <a:t>2. NF:</a:t>
            </a:r>
            <a:r>
              <a:rPr sz="1900" b="0" i="0" u="none">
                <a:solidFill>
                  <a:srgbClr val="1C2B3A"/>
                </a:solidFill>
                <a:latin typeface="Barlow"/>
              </a:rPr>
              <a:t> kein Nicht-Schlüssel-Attribut hängt nur von einem Schlüsselteil ab.</a:t>
            </a:r>
          </a:p>
          <a:p>
            <a:pPr>
              <a:lnSpc>
                <a:spcPct val="105000"/>
              </a:lnSpc>
              <a:spcAft>
                <a:spcPts val="600"/>
              </a:spcAft>
            </a:pPr>
            <a:r>
              <a:rPr sz="1900" b="0" i="0" u="none">
                <a:solidFill>
                  <a:srgbClr val="1C2B3A"/>
                </a:solidFill>
                <a:latin typeface="Barlow"/>
              </a:rPr>
              <a:t>▸ </a:t>
            </a:r>
            <a:r>
              <a:rPr sz="1900" b="1" i="0" u="none">
                <a:solidFill>
                  <a:srgbClr val="1C2B3A"/>
                </a:solidFill>
                <a:latin typeface="Barlow"/>
              </a:rPr>
              <a:t>3. NF:</a:t>
            </a:r>
            <a:r>
              <a:rPr sz="1900" b="0" i="0" u="none">
                <a:solidFill>
                  <a:srgbClr val="1C2B3A"/>
                </a:solidFill>
                <a:latin typeface="Barlow"/>
              </a:rPr>
              <a:t> keine transitive Abhängigkeit (MitgliedNr → Beitragsgruppe → Monatsbeitrag).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24</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UNTERSUCHEN</a:t>
            </a:r>
          </a:p>
        </p:txBody>
      </p:sp>
      <p:sp>
        <p:nvSpPr>
          <p:cNvPr id="10" name="TextBox 9"/>
          <p:cNvSpPr txBox="1"/>
          <p:nvPr/>
        </p:nvSpPr>
        <p:spPr>
          <a:xfrm>
            <a:off x="822959" y="2194560"/>
            <a:ext cx="10545775" cy="1043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die Tabelle Mitgliedschaft(</a:t>
            </a:r>
            <a:r>
              <a:rPr sz="2000" b="0" i="0" u="sng">
                <a:solidFill>
                  <a:srgbClr val="B3261E"/>
                </a:solidFill>
                <a:latin typeface="IBM Plex Mono"/>
              </a:rPr>
              <a:t>↑</a:t>
            </a:r>
            <a:r>
              <a:rPr sz="2000" b="0" i="0" u="sng">
                <a:solidFill>
                  <a:srgbClr val="1C2B3A"/>
                </a:solidFill>
                <a:latin typeface="Barlow"/>
              </a:rPr>
              <a:t>MitgliedNr, </a:t>
            </a:r>
            <a:r>
              <a:rPr sz="2000" b="0" i="0" u="sng">
                <a:solidFill>
                  <a:srgbClr val="B3261E"/>
                </a:solidFill>
                <a:latin typeface="IBM Plex Mono"/>
              </a:rPr>
              <a:t>↑</a:t>
            </a:r>
            <a:r>
              <a:rPr sz="2000" b="0" i="0" u="sng">
                <a:solidFill>
                  <a:srgbClr val="1C2B3A"/>
                </a:solidFill>
                <a:latin typeface="Barlow"/>
              </a:rPr>
              <a:t>AbteilungNr</a:t>
            </a:r>
            <a:r>
              <a:rPr sz="2000" b="0" i="0" u="none">
                <a:solidFill>
                  <a:srgbClr val="1C2B3A"/>
                </a:solidFill>
                <a:latin typeface="Barlow"/>
              </a:rPr>
              <a:t>, Seit) des neuen Archivs. </a:t>
            </a:r>
            <a:r>
              <a:rPr sz="2000" b="1" i="0" u="none">
                <a:solidFill>
                  <a:srgbClr val="1C2B3A"/>
                </a:solidFill>
                <a:latin typeface="Barlow"/>
              </a:rPr>
              <a:t>Untersuchen</a:t>
            </a:r>
            <a:r>
              <a:rPr sz="2000" b="0" i="0" u="none">
                <a:solidFill>
                  <a:srgbClr val="1C2B3A"/>
                </a:solidFill>
                <a:latin typeface="Barlow"/>
              </a:rPr>
              <a:t> Sie, ob in dieser Tabelle Anomalien auftreten können. [3 BE]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keine Anomalie möglich</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25</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2366010"/>
          </a:xfrm>
          <a:prstGeom prst="rect">
            <a:avLst/>
          </a:prstGeom>
          <a:noFill/>
        </p:spPr>
        <p:txBody>
          <a:bodyPr wrap="square" anchor="t" lIns="36576" rIns="36576" tIns="36576" bIns="36576">
            <a:spAutoFit/>
          </a:bodyPr>
          <a:lstStyle/>
          <a:p>
            <a:pPr>
              <a:lnSpc>
                <a:spcPct val="105000"/>
              </a:lnSpc>
              <a:spcAft>
                <a:spcPts val="600"/>
              </a:spcAft>
            </a:pPr>
            <a:r>
              <a:rPr sz="1800" b="0" i="0" u="none">
                <a:solidFill>
                  <a:srgbClr val="1C2B3A"/>
                </a:solidFill>
                <a:latin typeface="Barlow"/>
              </a:rPr>
              <a:t>Das einzige Nicht-Schlüssel-Attribut Seit hängt vom </a:t>
            </a:r>
            <a:r>
              <a:rPr sz="1800" b="1" i="0" u="none">
                <a:solidFill>
                  <a:srgbClr val="1C2B3A"/>
                </a:solidFill>
                <a:latin typeface="Barlow"/>
              </a:rPr>
              <a:t>ganzen</a:t>
            </a:r>
            <a:r>
              <a:rPr sz="1800" b="0" i="0" u="none">
                <a:solidFill>
                  <a:srgbClr val="1C2B3A"/>
                </a:solidFill>
                <a:latin typeface="Barlow"/>
              </a:rPr>
              <a:t> Schlüssel (MitgliedNr, AbteilungNr) ab: Wann jemand in eine Abteilung eingetreten ist, gehört zu genau diesem Paar. Keine Information steht mehrfach (1 BE).</a:t>
            </a:r>
          </a:p>
          <a:p>
            <a:pPr>
              <a:lnSpc>
                <a:spcPct val="105000"/>
              </a:lnSpc>
              <a:spcAft>
                <a:spcPts val="600"/>
              </a:spcAft>
            </a:pPr>
            <a:r>
              <a:rPr sz="1800" b="0" i="0" u="none">
                <a:solidFill>
                  <a:srgbClr val="1C2B3A"/>
                </a:solidFill>
                <a:latin typeface="Barlow"/>
              </a:rPr>
              <a:t>Ändern betrifft genau eine Zeile; Löschen entfernt nur diese Mitgliedschaft (Mitglied und Abteilung bleiben in ihren Tabellen); Einfügen braucht nur das Paar (1 BE).</a:t>
            </a:r>
          </a:p>
          <a:p>
            <a:pPr>
              <a:lnSpc>
                <a:spcPct val="105000"/>
              </a:lnSpc>
              <a:spcAft>
                <a:spcPts val="600"/>
              </a:spcAft>
            </a:pPr>
            <a:r>
              <a:rPr sz="1800" b="0" i="0" u="none">
                <a:solidFill>
                  <a:srgbClr val="1C2B3A"/>
                </a:solidFill>
                <a:latin typeface="Barlow"/>
              </a:rPr>
              <a:t>Also ist </a:t>
            </a:r>
            <a:r>
              <a:rPr sz="1800" b="1" i="0" u="none">
                <a:solidFill>
                  <a:srgbClr val="1C2B3A"/>
                </a:solidFill>
                <a:latin typeface="Barlow"/>
              </a:rPr>
              <a:t>keine Anomalie möglich</a:t>
            </a:r>
            <a:r>
              <a:rPr sz="1800" b="0" i="0" u="none">
                <a:solidFill>
                  <a:srgbClr val="1C2B3A"/>
                </a:solidFill>
                <a:latin typeface="Barlow"/>
              </a:rPr>
              <a:t> (1 BE).</a:t>
            </a:r>
          </a:p>
          <a:p>
            <a:pPr>
              <a:lnSpc>
                <a:spcPct val="105000"/>
              </a:lnSpc>
              <a:spcAft>
                <a:spcPts val="600"/>
              </a:spcAft>
            </a:pPr>
            <a:r>
              <a:rPr sz="1800" b="0" i="0" u="none">
                <a:solidFill>
                  <a:srgbClr val="1C2B3A"/>
                </a:solidFill>
                <a:latin typeface="Barlow"/>
              </a:rPr>
              <a:t>Typischer Fehler P8/P10: „MitgliedNr kommt mehrfach vor, also Redundanz.“</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Fallbesprechung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26</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69100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Beweisstück 4 – </a:t>
            </a:r>
            <a:r>
              <a:rPr sz="1900" b="1" i="0" u="none">
                <a:solidFill>
                  <a:srgbClr val="1C2B3A"/>
                </a:solidFill>
                <a:latin typeface="Barlow"/>
              </a:rPr>
              <a:t>Vereinsausweis:</a:t>
            </a:r>
            <a:r>
              <a:rPr sz="1900" b="0" i="0" u="none">
                <a:solidFill>
                  <a:srgbClr val="1C2B3A"/>
                </a:solidFill>
                <a:latin typeface="Barlow"/>
              </a:rPr>
              <a:t> „TuS Weserstedt · Nora Falter · Abteilung Tischtennis · Beitrag: 0,00 €“, dort, wo das Foto sein sollte, ein gezeichneter Nachtfalter.</a:t>
            </a:r>
          </a:p>
          <a:p>
            <a:pPr>
              <a:lnSpc>
                <a:spcPct val="105000"/>
              </a:lnSpc>
              <a:spcAft>
                <a:spcPts val="600"/>
              </a:spcAft>
            </a:pPr>
            <a:r>
              <a:rPr sz="1900" b="0" i="0" u="none">
                <a:solidFill>
                  <a:srgbClr val="1C2B3A"/>
                </a:solidFill>
                <a:latin typeface="Barlow"/>
              </a:rPr>
              <a:t>„Vier Akten, viermal N. F.“ – Edda räumt die halbe Pinnwand frei: „Mit Zetteln kommen wir nicht weiter, wir brauchen eine eigene Datenbank.“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Chaos im Vereinsarchiv</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4</vt:lpwstr>
  </property>
  <property fmtid="{D5CDD505-2E9C-101B-9397-08002B2CF9AE}" pid="3" name="DD-Art">
    <vt:lpwstr>praesentation</vt:lpwstr>
  </property>
  <property fmtid="{D5CDD505-2E9C-101B-9397-08002B2CF9AE}" pid="4" name="DD-Datenbank">
    <vt:lpwstr>tus</vt:lpwstr>
  </property>
  <property fmtid="{D5CDD505-2E9C-101B-9397-08002B2CF9AE}" pid="5" name="DD-Kuer">
    <vt:lpwstr>nein</vt:lpwstr>
  </property>
</Properties>
</file>