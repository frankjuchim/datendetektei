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Finale der Einheit. Pinnwand zeigen: Steckbrief mit Nachtfalter, „Nora Falter“, Jahrgang 1988, Hafenviertel, Tischtennis beim TuS, an allen Tatorten. Warm-up vorher (10 min): eA W-A5-09…12, gA W-A4-05…08.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STORY 5.12b (leicht gekürzt). gA-Kurse (ohne Akte 5) vor dem ersten Satz ergänzen: „Unsere Fall-Datenbank zeigt: Nur eine Person ist in allen vier Fällen verdächtig – Nora Falter.“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Exporte stammen von verschiedenen Stellen. Kein Bauplan sieht eine Verbindung vor – die Verknüpfung entsteht erst durch die Abfrage. Tokens: R- (Rad), K- (Karte), V- (Verein), WA- (WeserApp). FestZahlung.StandNr 4 = Kaffeemobil.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DD_A6_Unplugged_Steh_auf_wenn. Ansagen: „Alle mit Jahrgang 1988“ (7) → „… nur Hafenviertel“ (3) → „… mit Tarif Plus“ (1, Profil 17). Optional Runde 2: Fischbrötchen (6) → Ruderclub Weser (2) → Tarif Schule (1, Profil 25). Impulse: Was ist ein Quasi-Identifikator? Ab welcher Gruppengröße fühlt ihr euch anonym?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Begriffe aus dem Unplugged entwickeln. Wichtig: Pseudonyme Daten bleiben personenbezogen – die DSGVO gilt für sie. Nur wirklich anonyme Daten fallen heraus.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der Konsole (/konsole/datenspuren). Wie im Unplugged: Mit zwei Merkmalen bleiben im Hafenviertel drei, in Mühlenfeld eine Person.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Verbund über Nicht-Schlüssel-Attribute vervielfacht Zeilen; hier ist das gewollt (Kandidatenmenge), aber COUNT danach vorsichtig deuten. Im Lab dazu A6-E1-05/06.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Ergebnis wird ein Indiz an der Pinnwand; spätere Spuren dürfen frühere Ergebnisse als Wert benutzen (ersetzt Unterabfragen). Ablauf in der Ermittlungskonsole: Nach Spur 6 erscheinen Auflösung und Überleitung. Wer festhängt: Tipps nutzen (gestuft). Spur 1: Klammern bzw. ein BETWEEN über den ganzen Zeitraum; Spur 2: DISTINCT; Spur 6: DISTINCT und Jahrgangsbedingung.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Minuten statt 45 (Abweichung vom Standardtakt zugunsten der Debatte). Herumgehen: P6 (Klammern um OR), P4 (Fahrten statt Menschen), P2 (DISTINCT). Langsame: Schlussplädoyer mit Tipps; 01–06 können als Hausaufgabe folgen.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Gegenprobe Spur 4: Am Kaffeemobil (StandNr 4) gibt es am 29.08. zwischen 22:00 und 22:59 keine einzige Kartenzahlung (21 Uhr: 5, 23 Uhr: 4). Stufe 6a: drei Kandidaten mit 1988/Hafenviertel – Ole Brakhage, Merle Falkenrath, Tamara Leversen.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STORY 7.1 vorlesen (erscheint im Lab nach Spur 6). Nicht als Triumph inszenieren – die Wendung kommt auf der nächsten Folie.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Merle Falkenrath hat sich bei der Stadt gemeldet; was aus ihren Taten folgt, entscheiden andere, nicht die Detektei. Sie wird weder als Bösewicht noch als Heldin dargestellt.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STORY 7.2 (die beiden Unbeteiligten heißen Tamara Leversen und Ole Brakhage – Tamara sitzt gleich als Bürgerin in der Talkrunde). Danach Rollen verteilen.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DD_A6_Unplugged_Rollenkarten-Debatte (Schülerfassung: Rollenkarte 3 ohne Namen – nach der Auflösung eintragen; Lösungsfassung mit vollständiger Karte). Leitfragen: „Welcher Zweck rechtfertigt das Zusammenführen?“ – „Was hätte die Stadt nie veröffentlichen dürfen?“ – „Wer trägt die Verantwortung – wer veröffentlicht oder wer verknüpft?“ Tische vorher umstellen.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Grundlage: informationelle Selbstbestimmung – jede Person entscheidet grundsätzlich selbst über Preisgabe und Verwendung ihrer Daten. Weserstedt-Beispiele aus der Debatte zuordnen lassen (Tafelbild).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Typische Verwechslung: „Verschlüsselung ist Datenschutz“ – sie ist ein Mittel der Datensicherheit, die dem Datenschutz dient. Der nie gesperrte Zugang des Phantoms war ein Datensicherheitsproblem.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Tafelbild-Abfrage (DS_PLANUNG). Ermittler-Notiz: Jede Gruppe in diesem Ergebnis ist ein Risiko. Bezug Cold Case AB 6.1: Mit „mindestens 5“ dürfte die Stadt nach Jahrgang und Stadtteil gar nichts veröffentlichen.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Merkkasten ins Heft. Pinnwand komplett: Steckbrief (nächste Folie nur für die Lehrkraft).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Minuten Einzelarbeit (AB 6.1 Abi-Ecke), dann eine Antwort mit und eine ohne Urteil vergleichen (P10).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Auch richtig: Datenminimierung als zweiter Grundsatz (Zielstation und Zeitpunkte sind für Werbung nicht erforderlich).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 STORY 5.12c. Verhör 6 im Kurs auf „auto“/„offen“ stellen. Ausblick: DS 13 Generalprobe im Abitur-Format (eA 30 BE, gA 25 BE).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Polaroid des vollständigen Steckbriefs (STORY 4.6). Erst nach der Enttarnung zeigen – fehlt im Handout.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1828800"/>
            <a:ext cx="8229600" cy="1280160"/>
          </a:xfrm>
          <a:prstGeom prst="rect">
            <a:avLst/>
          </a:prstGeom>
          <a:noFill/>
        </p:spPr>
        <p:txBody>
          <a:bodyPr wrap="square" anchor="b" lIns="36576" rIns="36576" tIns="36576" bIns="36576">
            <a:spAutoFit/>
          </a:bodyPr>
          <a:lstStyle/>
          <a:p>
            <a:pPr>
              <a:lnSpc>
                <a:spcPct val="105000"/>
              </a:lnSpc>
            </a:pPr>
            <a:r>
              <a:rPr sz="5400" b="0" i="0" u="none">
                <a:solidFill>
                  <a:srgbClr val="E8E1D3"/>
                </a:solidFill>
                <a:latin typeface="Barlow Condensed SemiBold"/>
              </a:rPr>
              <a:t>Datenspuren</a:t>
            </a:r>
          </a:p>
        </p:txBody>
      </p:sp>
      <p:cxnSp>
        <p:nvCxnSpPr>
          <p:cNvPr id="5" name="Roter Faden"/>
          <p:cNvCxnSpPr/>
          <p:nvPr/>
        </p:nvCxnSpPr>
        <p:spPr>
          <a:xfrm>
            <a:off x="548640" y="3291840"/>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484632"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579047"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3474720"/>
            <a:ext cx="8229600" cy="1097280"/>
          </a:xfrm>
          <a:prstGeom prst="rect">
            <a:avLst/>
          </a:prstGeom>
          <a:noFill/>
        </p:spPr>
        <p:txBody>
          <a:bodyPr wrap="square" anchor="t" lIns="36576" rIns="36576" tIns="36576" bIns="36576">
            <a:spAutoFit/>
          </a:bodyPr>
          <a:lstStyle/>
          <a:p>
            <a:pPr>
              <a:lnSpc>
                <a:spcPct val="105000"/>
              </a:lnSpc>
            </a:pPr>
            <a:r>
              <a:rPr sz="2200" b="0" i="0" u="none">
                <a:solidFill>
                  <a:srgbClr val="BDB6A9"/>
                </a:solidFill>
                <a:latin typeface="Barlow"/>
              </a:rPr>
              <a:t>Akte 6 · DS 12 „Das Phantom“ · Schlussplädoyer und Debatte</a:t>
            </a:r>
          </a:p>
        </p:txBody>
      </p:sp>
      <p:pic>
        <p:nvPicPr>
          <p:cNvPr id="9" name="Picture 8" descr="stempel.png"/>
          <p:cNvPicPr>
            <a:picLocks noChangeAspect="1"/>
          </p:cNvPicPr>
          <p:nvPr/>
        </p:nvPicPr>
        <p:blipFill>
          <a:blip r:embed="rId3"/>
          <a:stretch>
            <a:fillRect/>
          </a:stretch>
        </p:blipFill>
        <p:spPr>
          <a:xfrm>
            <a:off x="9052560" y="1463040"/>
            <a:ext cx="2560320" cy="9703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DS 12 · Das Phantom</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Nora Falter existiert nicht – sie ist ein Tarnname. Bürgermeisterin Annegret Vollmers hat uns deshalb Datenexporte der Stadt überlassen: StadtRad-Fahrten, Kartenzahlungen vom Stadtfest, einen Export der TuS-Mitgliederliste, Check-ins der WeserApp und einen Auszug aus dem Einwohnerverzeichnis. In den Exporten stehen keine Namen, nur Kürzel – man nennt das pseudonym. Aber es stehen Jahrgang, Stadtteil, Tarif und Uhrzeiten darin, und solche Angaben können zusammen einen Menschen genauso verraten wie ein Name: Man nennt sie Quasi-Identifikatoren. Heute verknüpft ihr diese Spuren im Schlussplädoyer. Danach reden wir darüber, was wir da eigentlich getan haben – und diese Frage wird unbequemer als jede Abfrage.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Exporte der Stadt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Fünf Tabellen, </a:t>
            </a:r>
            <a:r>
              <a:rPr sz="1900" b="1" i="0" u="none">
                <a:solidFill>
                  <a:srgbClr val="1C2B3A"/>
                </a:solidFill>
                <a:latin typeface="Barlow"/>
              </a:rPr>
              <a:t>keine Fremdschlüssel</a:t>
            </a:r>
            <a:r>
              <a:rPr sz="1900" b="0" i="0" u="none">
                <a:solidFill>
                  <a:srgbClr val="1C2B3A"/>
                </a:solidFill>
                <a:latin typeface="Barlow"/>
              </a:rPr>
              <a:t> – verbunden wird nur über gleiche Werte:</a:t>
            </a:r>
          </a:p>
        </p:txBody>
      </p:sp>
      <p:sp>
        <p:nvSpPr>
          <p:cNvPr id="10" name="TextBox 9"/>
          <p:cNvSpPr txBox="1"/>
          <p:nvPr/>
        </p:nvSpPr>
        <p:spPr>
          <a:xfrm>
            <a:off x="822959" y="2386457"/>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Einwohner(</a:t>
            </a:r>
            <a:r>
              <a:rPr sz="1710" b="0" i="0" u="sng">
                <a:solidFill>
                  <a:srgbClr val="1C2B3A"/>
                </a:solidFill>
                <a:latin typeface="IBM Plex Mono"/>
              </a:rPr>
              <a:t>EinwohnerNr</a:t>
            </a:r>
            <a:r>
              <a:rPr sz="1710" b="0" i="0" u="none">
                <a:solidFill>
                  <a:srgbClr val="1C2B3A"/>
                </a:solidFill>
                <a:latin typeface="IBM Plex Mono"/>
              </a:rPr>
              <a:t>, Vorname, Nachname, Jahrgang, Stadtteil, Strasse)</a:t>
            </a:r>
          </a:p>
        </p:txBody>
      </p:sp>
      <p:sp>
        <p:nvSpPr>
          <p:cNvPr id="11" name="TextBox 10"/>
          <p:cNvSpPr txBox="1"/>
          <p:nvPr/>
        </p:nvSpPr>
        <p:spPr>
          <a:xfrm>
            <a:off x="822959" y="2937129"/>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RadExport(</a:t>
            </a:r>
            <a:r>
              <a:rPr sz="1710" b="0" i="0" u="sng">
                <a:solidFill>
                  <a:srgbClr val="1C2B3A"/>
                </a:solidFill>
                <a:latin typeface="IBM Plex Mono"/>
              </a:rPr>
              <a:t>KundenToken</a:t>
            </a:r>
            <a:r>
              <a:rPr sz="1710" b="0" i="0" u="none">
                <a:solidFill>
                  <a:srgbClr val="1C2B3A"/>
                </a:solidFill>
                <a:latin typeface="IBM Plex Mono"/>
              </a:rPr>
              <a:t>, Jahrgang, Stadtteil, Tarif, StartStation, </a:t>
            </a:r>
            <a:r>
              <a:rPr sz="1710" b="0" i="0" u="sng">
                <a:solidFill>
                  <a:srgbClr val="1C2B3A"/>
                </a:solidFill>
                <a:latin typeface="IBM Plex Mono"/>
              </a:rPr>
              <a:t>Start</a:t>
            </a:r>
            <a:r>
              <a:rPr sz="1710" b="0" i="0" u="none">
                <a:solidFill>
                  <a:srgbClr val="1C2B3A"/>
                </a:solidFill>
                <a:latin typeface="IBM Plex Mono"/>
              </a:rPr>
              <a:t>)</a:t>
            </a:r>
          </a:p>
        </p:txBody>
      </p:sp>
      <p:sp>
        <p:nvSpPr>
          <p:cNvPr id="12" name="TextBox 11"/>
          <p:cNvSpPr txBox="1"/>
          <p:nvPr/>
        </p:nvSpPr>
        <p:spPr>
          <a:xfrm>
            <a:off x="822959" y="3487801"/>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FestZahlung(</a:t>
            </a:r>
            <a:r>
              <a:rPr sz="1710" b="0" i="0" u="sng">
                <a:solidFill>
                  <a:srgbClr val="1C2B3A"/>
                </a:solidFill>
                <a:latin typeface="IBM Plex Mono"/>
              </a:rPr>
              <a:t>KartenToken</a:t>
            </a:r>
            <a:r>
              <a:rPr sz="1710" b="0" i="0" u="none">
                <a:solidFill>
                  <a:srgbClr val="1C2B3A"/>
                </a:solidFill>
                <a:latin typeface="IBM Plex Mono"/>
              </a:rPr>
              <a:t>, StandNr, </a:t>
            </a:r>
            <a:r>
              <a:rPr sz="1710" b="0" i="0" u="sng">
                <a:solidFill>
                  <a:srgbClr val="1C2B3A"/>
                </a:solidFill>
                <a:latin typeface="IBM Plex Mono"/>
              </a:rPr>
              <a:t>Zeitpunkt</a:t>
            </a:r>
            <a:r>
              <a:rPr sz="1710" b="0" i="0" u="none">
                <a:solidFill>
                  <a:srgbClr val="1C2B3A"/>
                </a:solidFill>
                <a:latin typeface="IBM Plex Mono"/>
              </a:rPr>
              <a:t>, Betrag)</a:t>
            </a:r>
          </a:p>
        </p:txBody>
      </p:sp>
      <p:sp>
        <p:nvSpPr>
          <p:cNvPr id="13" name="TextBox 12"/>
          <p:cNvSpPr txBox="1"/>
          <p:nvPr/>
        </p:nvSpPr>
        <p:spPr>
          <a:xfrm>
            <a:off x="822959" y="4038473"/>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VereinExport(</a:t>
            </a:r>
            <a:r>
              <a:rPr sz="1710" b="0" i="0" u="sng">
                <a:solidFill>
                  <a:srgbClr val="1C2B3A"/>
                </a:solidFill>
                <a:latin typeface="IBM Plex Mono"/>
              </a:rPr>
              <a:t>MitgliedToken</a:t>
            </a:r>
            <a:r>
              <a:rPr sz="1710" b="0" i="0" u="none">
                <a:solidFill>
                  <a:srgbClr val="1C2B3A"/>
                </a:solidFill>
                <a:latin typeface="IBM Plex Mono"/>
              </a:rPr>
              <a:t>, Geburtsjahr, </a:t>
            </a:r>
            <a:r>
              <a:rPr sz="1710" b="0" i="0" u="sng">
                <a:solidFill>
                  <a:srgbClr val="1C2B3A"/>
                </a:solidFill>
                <a:latin typeface="IBM Plex Mono"/>
              </a:rPr>
              <a:t>Abteilung</a:t>
            </a:r>
            <a:r>
              <a:rPr sz="1710" b="0" i="0" u="none">
                <a:solidFill>
                  <a:srgbClr val="1C2B3A"/>
                </a:solidFill>
                <a:latin typeface="IBM Plex Mono"/>
              </a:rPr>
              <a:t>, Stadtteil)</a:t>
            </a:r>
          </a:p>
        </p:txBody>
      </p:sp>
      <p:sp>
        <p:nvSpPr>
          <p:cNvPr id="14" name="TextBox 13"/>
          <p:cNvSpPr txBox="1"/>
          <p:nvPr/>
        </p:nvSpPr>
        <p:spPr>
          <a:xfrm>
            <a:off x="822959" y="4589145"/>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AppCheckin(</a:t>
            </a:r>
            <a:r>
              <a:rPr sz="1710" b="0" i="0" u="sng">
                <a:solidFill>
                  <a:srgbClr val="1C2B3A"/>
                </a:solidFill>
                <a:latin typeface="IBM Plex Mono"/>
              </a:rPr>
              <a:t>Geraet</a:t>
            </a:r>
            <a:r>
              <a:rPr sz="1710" b="0" i="0" u="none">
                <a:solidFill>
                  <a:srgbClr val="1C2B3A"/>
                </a:solidFill>
                <a:latin typeface="IBM Plex Mono"/>
              </a:rPr>
              <a:t>, Ort, </a:t>
            </a:r>
            <a:r>
              <a:rPr sz="1710" b="0" i="0" u="sng">
                <a:solidFill>
                  <a:srgbClr val="1C2B3A"/>
                </a:solidFill>
                <a:latin typeface="IBM Plex Mono"/>
              </a:rPr>
              <a:t>Zeitpunkt</a:t>
            </a:r>
            <a:r>
              <a:rPr sz="1710" b="0" i="0" u="none">
                <a:solidFill>
                  <a:srgbClr val="1C2B3A"/>
                </a:solidFill>
                <a:latin typeface="IBM Plex Mono"/>
              </a:rPr>
              <a:t>)</a:t>
            </a:r>
          </a:p>
        </p:txBody>
      </p:sp>
      <p:sp>
        <p:nvSpPr>
          <p:cNvPr id="15" name="TextBox 14"/>
          <p:cNvSpPr txBox="1"/>
          <p:nvPr/>
        </p:nvSpPr>
        <p:spPr>
          <a:xfrm>
            <a:off x="822959" y="5139817"/>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Gleiche Werte: Jahrgang = Geburtsjahr · Stadtteil · StartStation = Ort · Start = Zeitpunkt · Ort = Strasse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Steh auf, wenn …</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7 MIN · MATERIAL: 30 PROFILKARTEN</a:t>
            </a:r>
          </a:p>
        </p:txBody>
      </p:sp>
      <p:sp>
        <p:nvSpPr>
          <p:cNvPr id="10" name="TextBox 9"/>
          <p:cNvSpPr txBox="1"/>
          <p:nvPr/>
        </p:nvSpPr>
        <p:spPr>
          <a:xfrm>
            <a:off x="822959" y="2194560"/>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Zieht verdeckt eine Profilkarte – die Profile sind erfunden.</a:t>
            </a:r>
          </a:p>
          <a:p>
            <a:pPr>
              <a:lnSpc>
                <a:spcPct val="105000"/>
              </a:lnSpc>
              <a:spcAft>
                <a:spcPts val="600"/>
              </a:spcAft>
            </a:pPr>
            <a:r>
              <a:rPr sz="1900" b="0" i="0" u="none">
                <a:solidFill>
                  <a:srgbClr val="1C2B3A"/>
                </a:solidFill>
                <a:latin typeface="Barlow"/>
              </a:rPr>
              <a:t>2. Ich nenne drei Merkmale. Wer alle erfüllt, steht auf bzw. bleibt stehen.</a:t>
            </a:r>
          </a:p>
          <a:p>
            <a:pPr>
              <a:lnSpc>
                <a:spcPct val="105000"/>
              </a:lnSpc>
              <a:spcAft>
                <a:spcPts val="600"/>
              </a:spcAft>
            </a:pPr>
            <a:r>
              <a:rPr sz="1900" b="0" i="0" u="none">
                <a:solidFill>
                  <a:srgbClr val="1C2B3A"/>
                </a:solidFill>
                <a:latin typeface="Barlow"/>
              </a:rPr>
              <a:t>3. Nach jedem Merkmal zählen wir: Wie viele stehen noch?</a:t>
            </a:r>
          </a:p>
          <a:p>
            <a:pPr>
              <a:lnSpc>
                <a:spcPct val="105000"/>
              </a:lnSpc>
              <a:spcAft>
                <a:spcPts val="600"/>
              </a:spcAft>
            </a:pPr>
            <a:r>
              <a:rPr sz="1900" b="0" i="0" u="none">
                <a:solidFill>
                  <a:srgbClr val="1C2B3A"/>
                </a:solidFill>
                <a:latin typeface="Barlow"/>
              </a:rPr>
              <a:t>4. Niemand hat einen Namen genannt. Wurdet ihr trotzdem erkannt?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Pseudonym ist nicht anonym</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graphicFrame>
        <p:nvGraphicFramePr>
          <p:cNvPr id="8" name="Datentabelle"/>
          <p:cNvGraphicFramePr>
            <a:graphicFrameLocks noGrp="1"/>
          </p:cNvGraphicFramePr>
          <p:nvPr/>
        </p:nvGraphicFramePr>
        <p:xfrm>
          <a:off x="548640" y="1691640"/>
          <a:ext cx="11094415" cy="200787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personenbezogen</a:t>
                      </a:r>
                    </a:p>
                  </a:txBody>
                  <a:tcPr marL="54864" marR="54864" marT="18288" marB="18288">
                    <a:solidFill>
                      <a:srgbClr val="FFFDF8"/>
                    </a:solidFill>
                  </a:tcPr>
                </a:tc>
                <a:tc>
                  <a:txBody>
                    <a:bodyPr/>
                    <a:lstStyle/>
                    <a:p>
                      <a:r>
                        <a:rPr sz="1700" b="0" i="0" u="none">
                          <a:solidFill>
                            <a:srgbClr val="1C2B3A"/>
                          </a:solidFill>
                          <a:latin typeface="Barlow"/>
                        </a:rPr>
                        <a:t>Person bestimmt oder bestimmbar (Name, Adresse, Kundennummer)</a:t>
                      </a:r>
                    </a:p>
                  </a:txBody>
                  <a:tcPr marL="54864" marR="54864" marT="18288" marB="18288">
                    <a:solidFill>
                      <a:srgbClr val="FFFDF8"/>
                    </a:solidFill>
                  </a:tcPr>
                </a:tc>
              </a:tr>
              <a:tr h="334645">
                <a:tc>
                  <a:txBody>
                    <a:bodyPr/>
                    <a:lstStyle/>
                    <a:p>
                      <a:r>
                        <a:rPr sz="1700" b="0" i="0" u="none">
                          <a:solidFill>
                            <a:srgbClr val="1C2B3A"/>
                          </a:solidFill>
                          <a:latin typeface="Barlow"/>
                        </a:rPr>
                        <a:t>pseudonym</a:t>
                      </a:r>
                    </a:p>
                  </a:txBody>
                  <a:tcPr marL="54864" marR="54864" marT="18288" marB="18288">
                    <a:solidFill>
                      <a:srgbClr val="FFFDF8"/>
                    </a:solidFill>
                  </a:tcPr>
                </a:tc>
                <a:tc>
                  <a:txBody>
                    <a:bodyPr/>
                    <a:lstStyle/>
                    <a:p>
                      <a:r>
                        <a:rPr sz="1700" b="0" i="0" u="none">
                          <a:solidFill>
                            <a:srgbClr val="1C2B3A"/>
                          </a:solidFill>
                          <a:latin typeface="Barlow"/>
                        </a:rPr>
                        <a:t>Kennzeichen statt Name – mit Zusatzwissen zuordenbar</a:t>
                      </a:r>
                    </a:p>
                  </a:txBody>
                  <a:tcPr marL="54864" marR="54864" marT="18288" marB="18288">
                    <a:solidFill>
                      <a:srgbClr val="FFFDF8"/>
                    </a:solidFill>
                  </a:tcPr>
                </a:tc>
              </a:tr>
              <a:tr h="334645">
                <a:tc>
                  <a:txBody>
                    <a:bodyPr/>
                    <a:lstStyle/>
                    <a:p>
                      <a:r>
                        <a:rPr sz="1700" b="0" i="0" u="none">
                          <a:solidFill>
                            <a:srgbClr val="1C2B3A"/>
                          </a:solidFill>
                          <a:latin typeface="Barlow"/>
                        </a:rPr>
                        <a:t>anonym</a:t>
                      </a:r>
                    </a:p>
                  </a:txBody>
                  <a:tcPr marL="54864" marR="54864" marT="18288" marB="18288">
                    <a:solidFill>
                      <a:srgbClr val="FFFDF8"/>
                    </a:solidFill>
                  </a:tcPr>
                </a:tc>
                <a:tc>
                  <a:txBody>
                    <a:bodyPr/>
                    <a:lstStyle/>
                    <a:p>
                      <a:r>
                        <a:rPr sz="1700" b="0" i="0" u="none">
                          <a:solidFill>
                            <a:srgbClr val="1C2B3A"/>
                          </a:solidFill>
                          <a:latin typeface="Barlow"/>
                        </a:rPr>
                        <a:t>keine Person mehr bestimmbar (z. B. Summe je Stadtteil)</a:t>
                      </a:r>
                    </a:p>
                  </a:txBody>
                  <a:tcPr marL="54864" marR="54864" marT="18288" marB="18288">
                    <a:solidFill>
                      <a:srgbClr val="FFFDF8"/>
                    </a:solidFill>
                  </a:tcPr>
                </a:tc>
              </a:tr>
              <a:tr h="334645">
                <a:tc>
                  <a:txBody>
                    <a:bodyPr/>
                    <a:lstStyle/>
                    <a:p>
                      <a:r>
                        <a:rPr sz="1700" b="0" i="0" u="none">
                          <a:solidFill>
                            <a:srgbClr val="1C2B3A"/>
                          </a:solidFill>
                          <a:latin typeface="Barlow"/>
                        </a:rPr>
                        <a:t>Quasi-Identifikator</a:t>
                      </a:r>
                    </a:p>
                  </a:txBody>
                  <a:tcPr marL="54864" marR="54864" marT="18288" marB="18288">
                    <a:solidFill>
                      <a:srgbClr val="FFFDF8"/>
                    </a:solidFill>
                  </a:tcPr>
                </a:tc>
                <a:tc>
                  <a:txBody>
                    <a:bodyPr/>
                    <a:lstStyle/>
                    <a:p>
                      <a:r>
                        <a:rPr sz="1700" b="0" i="0" u="none">
                          <a:solidFill>
                            <a:srgbClr val="1C2B3A"/>
                          </a:solidFill>
                          <a:latin typeface="Barlow"/>
                        </a:rPr>
                        <a:t>einzeln harmlos, zusammen eindeutig (Jahrgang, Stadtteil)</a:t>
                      </a:r>
                    </a:p>
                  </a:txBody>
                  <a:tcPr marL="54864" marR="54864" marT="18288" marB="18288">
                    <a:solidFill>
                      <a:srgbClr val="FFFDF8"/>
                    </a:solidFill>
                  </a:tcPr>
                </a:tc>
              </a:tr>
              <a:tr h="334645">
                <a:tc>
                  <a:txBody>
                    <a:bodyPr/>
                    <a:lstStyle/>
                    <a:p>
                      <a:r>
                        <a:rPr sz="1700" b="0" i="0" u="none">
                          <a:solidFill>
                            <a:srgbClr val="1C2B3A"/>
                          </a:solidFill>
                          <a:latin typeface="Barlow"/>
                        </a:rPr>
                        <a:t>Re-Identifizierung</a:t>
                      </a:r>
                    </a:p>
                  </a:txBody>
                  <a:tcPr marL="54864" marR="54864" marT="18288" marB="18288">
                    <a:solidFill>
                      <a:srgbClr val="FFFDF8"/>
                    </a:solidFill>
                  </a:tcPr>
                </a:tc>
                <a:tc>
                  <a:txBody>
                    <a:bodyPr/>
                    <a:lstStyle/>
                    <a:p>
                      <a:r>
                        <a:rPr sz="1700" b="0" i="0" u="none">
                          <a:solidFill>
                            <a:srgbClr val="1C2B3A"/>
                          </a:solidFill>
                          <a:latin typeface="Barlow"/>
                        </a:rPr>
                        <a:t>Person aus „anonymen“ Daten wiedererkennen</a:t>
                      </a:r>
                    </a:p>
                  </a:txBody>
                  <a:tcPr marL="54864" marR="54864" marT="18288" marB="18288">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Wie klein ist die Gruppe?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SQL-Hintergrund"/>
          <p:cNvSpPr/>
          <p:nvPr/>
        </p:nvSpPr>
        <p:spPr>
          <a:xfrm>
            <a:off x="548640" y="1691640"/>
            <a:ext cx="6101928" cy="1463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188720"/>
          </a:xfrm>
          <a:prstGeom prst="rect">
            <a:avLst/>
          </a:prstGeom>
          <a:noFill/>
        </p:spPr>
        <p:txBody>
          <a:bodyPr wrap="square" lIns="18288" rIns="18288" tIns="18288" bIns="18288">
            <a:spAutoFit/>
          </a:bodyPr>
          <a:lstStyle/>
          <a:p>
            <a:pPr>
              <a:lnSpc>
                <a:spcPct val="100000"/>
              </a:lnSpc>
            </a:pPr>
            <a:r>
              <a:rPr sz="1800" i="0">
                <a:solidFill>
                  <a:srgbClr val="F2A65A"/>
                </a:solidFill>
                <a:latin typeface="IBM Plex Mono"/>
              </a:rPr>
              <a:t>SELECT</a:t>
            </a:r>
            <a:r>
              <a:rPr sz="1800" i="0">
                <a:solidFill>
                  <a:srgbClr val="D8E3D0"/>
                </a:solidFill>
                <a:latin typeface="IBM Plex Mono"/>
              </a:rPr>
              <a:t> </a:t>
            </a:r>
            <a:r>
              <a:rPr sz="1800" i="0">
                <a:solidFill>
                  <a:srgbClr val="D8E3D0"/>
                </a:solidFill>
                <a:latin typeface="IBM Plex Mono"/>
              </a:rPr>
              <a:t>Stadtteil</a:t>
            </a:r>
            <a:r>
              <a:rPr sz="1800" i="0">
                <a:solidFill>
                  <a:srgbClr val="D8E3D0"/>
                </a:solidFill>
                <a:latin typeface="IBM Plex Mono"/>
              </a:rPr>
              <a:t>,</a:t>
            </a:r>
            <a:r>
              <a:rPr sz="1800" i="0">
                <a:solidFill>
                  <a:srgbClr val="D8E3D0"/>
                </a:solidFill>
                <a:latin typeface="IBM Plex Mono"/>
              </a:rPr>
              <a:t> </a:t>
            </a:r>
            <a:r>
              <a:rPr sz="1800" i="0">
                <a:solidFill>
                  <a:srgbClr val="E6C77A"/>
                </a:solidFill>
                <a:latin typeface="IBM Plex Mono"/>
              </a:rPr>
              <a:t>COUNT</a:t>
            </a:r>
            <a:r>
              <a:rPr sz="1800" i="0">
                <a:solidFill>
                  <a:srgbClr val="D8E3D0"/>
                </a:solidFill>
                <a:latin typeface="IBM Plex Mono"/>
              </a:rPr>
              <a:t>(</a:t>
            </a:r>
            <a:r>
              <a:rPr sz="1800" i="0">
                <a:solidFill>
                  <a:srgbClr val="D8E3D0"/>
                </a:solidFill>
                <a:latin typeface="IBM Plex Mono"/>
              </a:rPr>
              <a:t>*</a:t>
            </a:r>
            <a:r>
              <a:rPr sz="1800" i="0">
                <a:solidFill>
                  <a:srgbClr val="D8E3D0"/>
                </a:solidFill>
                <a:latin typeface="IBM Plex Mono"/>
              </a:rPr>
              <a:t>)</a:t>
            </a:r>
            <a:r>
              <a:rPr sz="1800" i="0">
                <a:solidFill>
                  <a:srgbClr val="D8E3D0"/>
                </a:solidFill>
                <a:latin typeface="IBM Plex Mono"/>
              </a:rPr>
              <a:t> </a:t>
            </a:r>
            <a:r>
              <a:rPr sz="1800" i="0">
                <a:solidFill>
                  <a:srgbClr val="F2A65A"/>
                </a:solidFill>
                <a:latin typeface="IBM Plex Mono"/>
              </a:rPr>
              <a:t>AS</a:t>
            </a:r>
            <a:r>
              <a:rPr sz="1800" i="0">
                <a:solidFill>
                  <a:srgbClr val="D8E3D0"/>
                </a:solidFill>
                <a:latin typeface="IBM Plex Mono"/>
              </a:rPr>
              <a:t> </a:t>
            </a:r>
            <a:r>
              <a:rPr sz="1800" i="0">
                <a:solidFill>
                  <a:srgbClr val="D8E3D0"/>
                </a:solidFill>
                <a:latin typeface="IBM Plex Mono"/>
              </a:rPr>
              <a:t>Einwohner</a:t>
            </a:r>
          </a:p>
          <a:p>
            <a:pPr>
              <a:lnSpc>
                <a:spcPct val="100000"/>
              </a:lnSpc>
            </a:pPr>
            <a:r>
              <a:rPr sz="1800" i="0">
                <a:solidFill>
                  <a:srgbClr val="F2A65A"/>
                </a:solidFill>
                <a:latin typeface="IBM Plex Mono"/>
              </a:rPr>
              <a:t>FROM</a:t>
            </a:r>
            <a:r>
              <a:rPr sz="1800" i="0">
                <a:solidFill>
                  <a:srgbClr val="D8E3D0"/>
                </a:solidFill>
                <a:latin typeface="IBM Plex Mono"/>
              </a:rPr>
              <a:t> </a:t>
            </a:r>
            <a:r>
              <a:rPr sz="1800" i="0">
                <a:solidFill>
                  <a:srgbClr val="D8E3D0"/>
                </a:solidFill>
                <a:latin typeface="IBM Plex Mono"/>
              </a:rPr>
              <a:t>Einwohner</a:t>
            </a:r>
          </a:p>
          <a:p>
            <a:pPr>
              <a:lnSpc>
                <a:spcPct val="100000"/>
              </a:lnSpc>
            </a:pPr>
            <a:r>
              <a:rPr sz="1800" i="0">
                <a:solidFill>
                  <a:srgbClr val="F2A65A"/>
                </a:solidFill>
                <a:latin typeface="IBM Plex Mono"/>
              </a:rPr>
              <a:t>WHERE</a:t>
            </a:r>
            <a:r>
              <a:rPr sz="1800" i="0">
                <a:solidFill>
                  <a:srgbClr val="D8E3D0"/>
                </a:solidFill>
                <a:latin typeface="IBM Plex Mono"/>
              </a:rPr>
              <a:t> </a:t>
            </a:r>
            <a:r>
              <a:rPr sz="1800" i="0">
                <a:solidFill>
                  <a:srgbClr val="D8E3D0"/>
                </a:solidFill>
                <a:latin typeface="IBM Plex Mono"/>
              </a:rPr>
              <a:t>Jahrgang</a:t>
            </a:r>
            <a:r>
              <a:rPr sz="1800" i="0">
                <a:solidFill>
                  <a:srgbClr val="D8E3D0"/>
                </a:solidFill>
                <a:latin typeface="IBM Plex Mono"/>
              </a:rPr>
              <a:t> </a:t>
            </a:r>
            <a:r>
              <a:rPr sz="1800" i="0">
                <a:solidFill>
                  <a:srgbClr val="D8E3D0"/>
                </a:solidFill>
                <a:latin typeface="IBM Plex Mono"/>
              </a:rPr>
              <a:t>=</a:t>
            </a:r>
            <a:r>
              <a:rPr sz="1800" i="0">
                <a:solidFill>
                  <a:srgbClr val="D8E3D0"/>
                </a:solidFill>
                <a:latin typeface="IBM Plex Mono"/>
              </a:rPr>
              <a:t> </a:t>
            </a:r>
            <a:r>
              <a:rPr sz="1800" i="0">
                <a:solidFill>
                  <a:srgbClr val="8CC4FF"/>
                </a:solidFill>
                <a:latin typeface="IBM Plex Mono"/>
              </a:rPr>
              <a:t>1988</a:t>
            </a:r>
          </a:p>
          <a:p>
            <a:pPr>
              <a:lnSpc>
                <a:spcPct val="100000"/>
              </a:lnSpc>
            </a:pPr>
            <a:r>
              <a:rPr sz="1800" i="0">
                <a:solidFill>
                  <a:srgbClr val="F2A65A"/>
                </a:solidFill>
                <a:latin typeface="IBM Plex Mono"/>
              </a:rPr>
              <a:t>GROUP</a:t>
            </a:r>
            <a:r>
              <a:rPr sz="1800" i="0">
                <a:solidFill>
                  <a:srgbClr val="D8E3D0"/>
                </a:solidFill>
                <a:latin typeface="IBM Plex Mono"/>
              </a:rPr>
              <a:t> </a:t>
            </a:r>
            <a:r>
              <a:rPr sz="1800" i="0">
                <a:solidFill>
                  <a:srgbClr val="F2A65A"/>
                </a:solidFill>
                <a:latin typeface="IBM Plex Mono"/>
              </a:rPr>
              <a:t>BY</a:t>
            </a:r>
            <a:r>
              <a:rPr sz="1800" i="0">
                <a:solidFill>
                  <a:srgbClr val="D8E3D0"/>
                </a:solidFill>
                <a:latin typeface="IBM Plex Mono"/>
              </a:rPr>
              <a:t> </a:t>
            </a:r>
            <a:r>
              <a:rPr sz="1800" i="0">
                <a:solidFill>
                  <a:srgbClr val="D8E3D0"/>
                </a:solidFill>
                <a:latin typeface="IBM Plex Mono"/>
              </a:rPr>
              <a:t>Stadtteil</a:t>
            </a:r>
          </a:p>
        </p:txBody>
      </p:sp>
      <p:sp>
        <p:nvSpPr>
          <p:cNvPr id="10" name="TextBox 9"/>
          <p:cNvSpPr txBox="1"/>
          <p:nvPr/>
        </p:nvSpPr>
        <p:spPr>
          <a:xfrm>
            <a:off x="548640" y="3246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566160"/>
          <a:ext cx="2670504" cy="767715"/>
        </p:xfrm>
        <a:graphic>
          <a:graphicData uri="http://schemas.openxmlformats.org/drawingml/2006/table">
            <a:tbl>
              <a:tblPr firstRow="1">
                <a:tableStyleId>{5C22544A-7EE6-4342-B048-85BDC9FD1C3A}</a:tableStyleId>
              </a:tblPr>
              <a:tblGrid>
                <a:gridCol w="1486814"/>
                <a:gridCol w="1183690"/>
              </a:tblGrid>
              <a:tr h="255905">
                <a:tc>
                  <a:txBody>
                    <a:bodyPr/>
                    <a:lstStyle/>
                    <a:p>
                      <a:r>
                        <a:rPr sz="1196" b="1" i="0" u="none">
                          <a:solidFill>
                            <a:srgbClr val="1C2B3A"/>
                          </a:solidFill>
                          <a:latin typeface="IBM Plex Mono"/>
                        </a:rPr>
                        <a:t>Stadtteil</a:t>
                      </a:r>
                    </a:p>
                  </a:txBody>
                  <a:tcPr marL="54864" marR="54864" marT="18288" marB="18288">
                    <a:solidFill>
                      <a:srgbClr val="EBE2D2"/>
                    </a:solidFill>
                  </a:tcPr>
                </a:tc>
                <a:tc>
                  <a:txBody>
                    <a:bodyPr/>
                    <a:lstStyle/>
                    <a:p>
                      <a:r>
                        <a:rPr sz="1196" b="1" i="0" u="none">
                          <a:solidFill>
                            <a:srgbClr val="1C2B3A"/>
                          </a:solidFill>
                          <a:latin typeface="IBM Plex Mono"/>
                        </a:rPr>
                        <a:t>Einwohner</a:t>
                      </a:r>
                    </a:p>
                  </a:txBody>
                  <a:tcPr marL="54864" marR="54864" marT="18288" marB="18288">
                    <a:solidFill>
                      <a:srgbClr val="EBE2D2"/>
                    </a:solidFill>
                  </a:tcPr>
                </a:tc>
              </a:tr>
              <a:tr h="255905">
                <a:tc>
                  <a:txBody>
                    <a:bodyPr/>
                    <a:lstStyle/>
                    <a:p>
                      <a:r>
                        <a:rPr sz="1300" b="0" i="0" u="none">
                          <a:solidFill>
                            <a:srgbClr val="1C2B3A"/>
                          </a:solidFill>
                          <a:latin typeface="Barlow"/>
                        </a:rPr>
                        <a:t>Hafenviertel</a:t>
                      </a:r>
                    </a:p>
                  </a:txBody>
                  <a:tcPr marL="54864" marR="54864" marT="18288" marB="18288">
                    <a:solidFill>
                      <a:srgbClr val="FFFDF8"/>
                    </a:solidFill>
                  </a:tcPr>
                </a:tc>
                <a:tc>
                  <a:txBody>
                    <a:bodyPr/>
                    <a:lstStyle/>
                    <a:p>
                      <a:pPr algn="r"/>
                      <a:r>
                        <a:rPr sz="1300" b="0" i="0" u="none">
                          <a:solidFill>
                            <a:srgbClr val="1C2B3A"/>
                          </a:solidFill>
                          <a:latin typeface="Barlow"/>
                        </a:rPr>
                        <a:t>3</a:t>
                      </a:r>
                    </a:p>
                  </a:txBody>
                  <a:tcPr marL="54864" marR="54864" marT="18288" marB="18288">
                    <a:solidFill>
                      <a:srgbClr val="FFFDF8"/>
                    </a:solidFill>
                  </a:tcPr>
                </a:tc>
              </a:tr>
              <a:tr h="255905">
                <a:tc>
                  <a:txBody>
                    <a:bodyPr/>
                    <a:lstStyle/>
                    <a:p>
                      <a:r>
                        <a:rPr sz="1300" b="0" i="0" u="none">
                          <a:solidFill>
                            <a:srgbClr val="1C2B3A"/>
                          </a:solidFill>
                          <a:latin typeface="Barlow"/>
                        </a:rPr>
                        <a:t>Mühlenfeld</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FROM/WHERE</a:t>
            </a:r>
            <a:r>
              <a:rPr sz="1600" b="0" i="0" u="none">
                <a:solidFill>
                  <a:srgbClr val="1C2B3A"/>
                </a:solidFill>
                <a:latin typeface="Barlow"/>
              </a:rPr>
              <a:t> – alle 250 Einwohner, davon nur Jahrgang 1988</a:t>
            </a:r>
          </a:p>
        </p:txBody>
      </p:sp>
      <p:sp>
        <p:nvSpPr>
          <p:cNvPr id="16" name="Rounded Rectangle 15"/>
          <p:cNvSpPr/>
          <p:nvPr/>
        </p:nvSpPr>
        <p:spPr>
          <a:xfrm>
            <a:off x="6924888" y="258572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GROUP BY Stadtteil</a:t>
            </a:r>
            <a:r>
              <a:rPr sz="1600" b="0" i="0" u="none">
                <a:solidFill>
                  <a:srgbClr val="1C2B3A"/>
                </a:solidFill>
                <a:latin typeface="Barlow"/>
              </a:rPr>
              <a:t> – je Stadtteil eine Gruppe</a:t>
            </a:r>
          </a:p>
        </p:txBody>
      </p:sp>
      <p:sp>
        <p:nvSpPr>
          <p:cNvPr id="20" name="Rounded Rectangle 19"/>
          <p:cNvSpPr/>
          <p:nvPr/>
        </p:nvSpPr>
        <p:spPr>
          <a:xfrm>
            <a:off x="6924888" y="347980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7980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552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55295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COUNT(*)</a:t>
            </a:r>
            <a:r>
              <a:rPr sz="1600" b="0" i="0" u="none">
                <a:solidFill>
                  <a:srgbClr val="1C2B3A"/>
                </a:solidFill>
                <a:latin typeface="Barlow"/>
              </a:rPr>
              <a:t> – Personen je Gruppe</a:t>
            </a:r>
          </a:p>
        </p:txBody>
      </p:sp>
      <p:sp>
        <p:nvSpPr>
          <p:cNvPr id="24" name="Rounded Rectangle 23"/>
          <p:cNvSpPr/>
          <p:nvPr/>
        </p:nvSpPr>
        <p:spPr>
          <a:xfrm>
            <a:off x="6924888" y="430276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0276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37591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37591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In Mühlenfeld ist die Gruppe </a:t>
            </a:r>
            <a:r>
              <a:rPr sz="1600" b="1" i="0" u="none">
                <a:solidFill>
                  <a:srgbClr val="1C2B3A"/>
                </a:solidFill>
                <a:latin typeface="Barlow"/>
              </a:rPr>
              <a:t>eine Person</a:t>
            </a:r>
            <a:r>
              <a:rPr sz="1600" b="0" i="0" u="none">
                <a:solidFill>
                  <a:srgbClr val="1C2B3A"/>
                </a:solidFill>
                <a:latin typeface="Barlow"/>
              </a:rPr>
              <a:t>: Jahrgang + Stadtteil wirken wie ein Name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Exporte verknüpfen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SQL-Hintergrund"/>
          <p:cNvSpPr/>
          <p:nvPr/>
        </p:nvSpPr>
        <p:spPr>
          <a:xfrm>
            <a:off x="548640" y="1691640"/>
            <a:ext cx="6101928"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315720"/>
          </a:xfrm>
          <a:prstGeom prst="rect">
            <a:avLst/>
          </a:prstGeom>
          <a:noFill/>
        </p:spPr>
        <p:txBody>
          <a:bodyPr wrap="square" lIns="18288" rIns="18288" tIns="18288" bIns="18288">
            <a:spAutoFit/>
          </a:bodyPr>
          <a:lstStyle/>
          <a:p>
            <a:pPr>
              <a:lnSpc>
                <a:spcPct val="100000"/>
              </a:lnSpc>
            </a:pPr>
            <a:r>
              <a:rPr sz="1600" i="0">
                <a:solidFill>
                  <a:srgbClr val="F2A65A"/>
                </a:solidFill>
                <a:latin typeface="IBM Plex Mono"/>
              </a:rPr>
              <a:t>SELECT</a:t>
            </a:r>
            <a:r>
              <a:rPr sz="1600" i="0">
                <a:solidFill>
                  <a:srgbClr val="D8E3D0"/>
                </a:solidFill>
                <a:latin typeface="IBM Plex Mono"/>
              </a:rPr>
              <a:t> </a:t>
            </a:r>
            <a:r>
              <a:rPr sz="1600" i="0">
                <a:solidFill>
                  <a:srgbClr val="F2A65A"/>
                </a:solidFill>
                <a:latin typeface="IBM Plex Mono"/>
              </a:rPr>
              <a:t>DISTINCT</a:t>
            </a:r>
            <a:r>
              <a:rPr sz="1600" i="0">
                <a:solidFill>
                  <a:srgbClr val="D8E3D0"/>
                </a:solidFill>
                <a:latin typeface="IBM Plex Mono"/>
              </a:rPr>
              <a:t> </a:t>
            </a:r>
            <a:r>
              <a:rPr sz="1600" i="0">
                <a:solidFill>
                  <a:srgbClr val="D8E3D0"/>
                </a:solidFill>
                <a:latin typeface="IBM Plex Mono"/>
              </a:rPr>
              <a:t>r</a:t>
            </a:r>
            <a:r>
              <a:rPr sz="1600" i="0">
                <a:solidFill>
                  <a:srgbClr val="D8E3D0"/>
                </a:solidFill>
                <a:latin typeface="IBM Plex Mono"/>
              </a:rPr>
              <a:t>.</a:t>
            </a:r>
            <a:r>
              <a:rPr sz="1600" i="0">
                <a:solidFill>
                  <a:srgbClr val="D8E3D0"/>
                </a:solidFill>
                <a:latin typeface="IBM Plex Mono"/>
              </a:rPr>
              <a:t>KundenToken</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v</a:t>
            </a:r>
            <a:r>
              <a:rPr sz="1600" i="0">
                <a:solidFill>
                  <a:srgbClr val="D8E3D0"/>
                </a:solidFill>
                <a:latin typeface="IBM Plex Mono"/>
              </a:rPr>
              <a:t>.</a:t>
            </a:r>
            <a:r>
              <a:rPr sz="1600" i="0">
                <a:solidFill>
                  <a:srgbClr val="D8E3D0"/>
                </a:solidFill>
                <a:latin typeface="IBM Plex Mono"/>
              </a:rPr>
              <a:t>MitgliedToken</a:t>
            </a:r>
          </a:p>
          <a:p>
            <a:pPr>
              <a:lnSpc>
                <a:spcPct val="100000"/>
              </a:lnSpc>
            </a:pPr>
            <a:r>
              <a:rPr sz="1600" i="0">
                <a:solidFill>
                  <a:srgbClr val="F2A65A"/>
                </a:solidFill>
                <a:latin typeface="IBM Plex Mono"/>
              </a:rPr>
              <a:t>FROM</a:t>
            </a:r>
            <a:r>
              <a:rPr sz="1600" i="0">
                <a:solidFill>
                  <a:srgbClr val="D8E3D0"/>
                </a:solidFill>
                <a:latin typeface="IBM Plex Mono"/>
              </a:rPr>
              <a:t> </a:t>
            </a:r>
            <a:r>
              <a:rPr sz="1600" i="0">
                <a:solidFill>
                  <a:srgbClr val="D8E3D0"/>
                </a:solidFill>
                <a:latin typeface="IBM Plex Mono"/>
              </a:rPr>
              <a:t>RadExport</a:t>
            </a:r>
            <a:r>
              <a:rPr sz="1600" i="0">
                <a:solidFill>
                  <a:srgbClr val="D8E3D0"/>
                </a:solidFill>
                <a:latin typeface="IBM Plex Mono"/>
              </a:rPr>
              <a:t> </a:t>
            </a:r>
            <a:r>
              <a:rPr sz="1600" i="0">
                <a:solidFill>
                  <a:srgbClr val="D8E3D0"/>
                </a:solidFill>
                <a:latin typeface="IBM Plex Mono"/>
              </a:rPr>
              <a:t>r</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VereinExport</a:t>
            </a:r>
            <a:r>
              <a:rPr sz="1600" i="0">
                <a:solidFill>
                  <a:srgbClr val="D8E3D0"/>
                </a:solidFill>
                <a:latin typeface="IBM Plex Mono"/>
              </a:rPr>
              <a:t> </a:t>
            </a:r>
            <a:r>
              <a:rPr sz="1600" i="0">
                <a:solidFill>
                  <a:srgbClr val="D8E3D0"/>
                </a:solidFill>
                <a:latin typeface="IBM Plex Mono"/>
              </a:rPr>
              <a:t>v</a:t>
            </a:r>
          </a:p>
          <a:p>
            <a:pPr>
              <a:lnSpc>
                <a:spcPct val="100000"/>
              </a:lnSpc>
            </a:pPr>
            <a:r>
              <a:rPr sz="1600" i="0">
                <a:solidFill>
                  <a:srgbClr val="F2A65A"/>
                </a:solidFill>
                <a:latin typeface="IBM Plex Mono"/>
              </a:rPr>
              <a:t>WHERE</a:t>
            </a:r>
            <a:r>
              <a:rPr sz="1600" i="0">
                <a:solidFill>
                  <a:srgbClr val="D8E3D0"/>
                </a:solidFill>
                <a:latin typeface="IBM Plex Mono"/>
              </a:rPr>
              <a:t> </a:t>
            </a:r>
            <a:r>
              <a:rPr sz="1600" i="0">
                <a:solidFill>
                  <a:srgbClr val="D8E3D0"/>
                </a:solidFill>
                <a:latin typeface="IBM Plex Mono"/>
              </a:rPr>
              <a:t>r</a:t>
            </a:r>
            <a:r>
              <a:rPr sz="1600" i="0">
                <a:solidFill>
                  <a:srgbClr val="D8E3D0"/>
                </a:solidFill>
                <a:latin typeface="IBM Plex Mono"/>
              </a:rPr>
              <a:t>.</a:t>
            </a:r>
            <a:r>
              <a:rPr sz="1600" i="0">
                <a:solidFill>
                  <a:srgbClr val="D8E3D0"/>
                </a:solidFill>
                <a:latin typeface="IBM Plex Mono"/>
              </a:rPr>
              <a:t>Jahrgang</a:t>
            </a:r>
            <a:r>
              <a:rPr sz="1600" i="0">
                <a:solidFill>
                  <a:srgbClr val="D8E3D0"/>
                </a:solidFill>
                <a:latin typeface="IBM Plex Mono"/>
              </a:rPr>
              <a:t> </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v</a:t>
            </a:r>
            <a:r>
              <a:rPr sz="1600" i="0">
                <a:solidFill>
                  <a:srgbClr val="D8E3D0"/>
                </a:solidFill>
                <a:latin typeface="IBM Plex Mono"/>
              </a:rPr>
              <a:t>.</a:t>
            </a:r>
            <a:r>
              <a:rPr sz="1600" i="0">
                <a:solidFill>
                  <a:srgbClr val="D8E3D0"/>
                </a:solidFill>
                <a:latin typeface="IBM Plex Mono"/>
              </a:rPr>
              <a:t>Geburtsjahr</a:t>
            </a:r>
          </a:p>
          <a:p>
            <a:pPr>
              <a:lnSpc>
                <a:spcPct val="100000"/>
              </a:lnSpc>
            </a:pPr>
            <a:r>
              <a:rPr sz="1600" i="0">
                <a:solidFill>
                  <a:srgbClr val="D8E3D0"/>
                </a:solidFill>
                <a:latin typeface="IBM Plex Mono"/>
              </a:rPr>
              <a:t>  </a:t>
            </a:r>
            <a:r>
              <a:rPr sz="1600" i="0">
                <a:solidFill>
                  <a:srgbClr val="F2A65A"/>
                </a:solidFill>
                <a:latin typeface="IBM Plex Mono"/>
              </a:rPr>
              <a:t>AND</a:t>
            </a:r>
            <a:r>
              <a:rPr sz="1600" i="0">
                <a:solidFill>
                  <a:srgbClr val="D8E3D0"/>
                </a:solidFill>
                <a:latin typeface="IBM Plex Mono"/>
              </a:rPr>
              <a:t> </a:t>
            </a:r>
            <a:r>
              <a:rPr sz="1600" i="0">
                <a:solidFill>
                  <a:srgbClr val="D8E3D0"/>
                </a:solidFill>
                <a:latin typeface="IBM Plex Mono"/>
              </a:rPr>
              <a:t>r</a:t>
            </a:r>
            <a:r>
              <a:rPr sz="1600" i="0">
                <a:solidFill>
                  <a:srgbClr val="D8E3D0"/>
                </a:solidFill>
                <a:latin typeface="IBM Plex Mono"/>
              </a:rPr>
              <a:t>.</a:t>
            </a:r>
            <a:r>
              <a:rPr sz="1600" i="0">
                <a:solidFill>
                  <a:srgbClr val="D8E3D0"/>
                </a:solidFill>
                <a:latin typeface="IBM Plex Mono"/>
              </a:rPr>
              <a:t>Stadtteil</a:t>
            </a:r>
            <a:r>
              <a:rPr sz="1600" i="0">
                <a:solidFill>
                  <a:srgbClr val="D8E3D0"/>
                </a:solidFill>
                <a:latin typeface="IBM Plex Mono"/>
              </a:rPr>
              <a:t> </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v</a:t>
            </a:r>
            <a:r>
              <a:rPr sz="1600" i="0">
                <a:solidFill>
                  <a:srgbClr val="D8E3D0"/>
                </a:solidFill>
                <a:latin typeface="IBM Plex Mono"/>
              </a:rPr>
              <a:t>.</a:t>
            </a:r>
            <a:r>
              <a:rPr sz="1600" i="0">
                <a:solidFill>
                  <a:srgbClr val="D8E3D0"/>
                </a:solidFill>
                <a:latin typeface="IBM Plex Mono"/>
              </a:rPr>
              <a:t>Stadtteil</a:t>
            </a:r>
          </a:p>
          <a:p>
            <a:pPr>
              <a:lnSpc>
                <a:spcPct val="100000"/>
              </a:lnSpc>
            </a:pPr>
            <a:r>
              <a:rPr sz="1600" i="0">
                <a:solidFill>
                  <a:srgbClr val="D8E3D0"/>
                </a:solidFill>
                <a:latin typeface="IBM Plex Mono"/>
              </a:rPr>
              <a:t>  </a:t>
            </a:r>
            <a:r>
              <a:rPr sz="1600" i="0">
                <a:solidFill>
                  <a:srgbClr val="F2A65A"/>
                </a:solidFill>
                <a:latin typeface="IBM Plex Mono"/>
              </a:rPr>
              <a:t>AND</a:t>
            </a:r>
            <a:r>
              <a:rPr sz="1600" i="0">
                <a:solidFill>
                  <a:srgbClr val="D8E3D0"/>
                </a:solidFill>
                <a:latin typeface="IBM Plex Mono"/>
              </a:rPr>
              <a:t> </a:t>
            </a:r>
            <a:r>
              <a:rPr sz="1600" i="0">
                <a:solidFill>
                  <a:srgbClr val="D8E3D0"/>
                </a:solidFill>
                <a:latin typeface="IBM Plex Mono"/>
              </a:rPr>
              <a:t>v</a:t>
            </a:r>
            <a:r>
              <a:rPr sz="1600" i="0">
                <a:solidFill>
                  <a:srgbClr val="D8E3D0"/>
                </a:solidFill>
                <a:latin typeface="IBM Plex Mono"/>
              </a:rPr>
              <a:t>.</a:t>
            </a:r>
            <a:r>
              <a:rPr sz="1600" i="0">
                <a:solidFill>
                  <a:srgbClr val="D8E3D0"/>
                </a:solidFill>
                <a:latin typeface="IBM Plex Mono"/>
              </a:rPr>
              <a:t>Abteilung</a:t>
            </a:r>
            <a:r>
              <a:rPr sz="1600" i="0">
                <a:solidFill>
                  <a:srgbClr val="D8E3D0"/>
                </a:solidFill>
                <a:latin typeface="IBM Plex Mono"/>
              </a:rPr>
              <a:t> </a:t>
            </a:r>
            <a:r>
              <a:rPr sz="1600" i="0">
                <a:solidFill>
                  <a:srgbClr val="D8E3D0"/>
                </a:solidFill>
                <a:latin typeface="IBM Plex Mono"/>
              </a:rPr>
              <a:t>=</a:t>
            </a:r>
            <a:r>
              <a:rPr sz="1600" i="0">
                <a:solidFill>
                  <a:srgbClr val="D8E3D0"/>
                </a:solidFill>
                <a:latin typeface="IBM Plex Mono"/>
              </a:rPr>
              <a:t> </a:t>
            </a:r>
            <a:r>
              <a:rPr sz="1600" i="0">
                <a:solidFill>
                  <a:srgbClr val="9BD3A6"/>
                </a:solidFill>
                <a:latin typeface="IBM Plex Mono"/>
              </a:rPr>
              <a:t>'Tennis'</a:t>
            </a:r>
          </a:p>
        </p:txBody>
      </p:sp>
      <p:sp>
        <p:nvSpPr>
          <p:cNvPr id="10" name="TextBox 9"/>
          <p:cNvSpPr txBox="1"/>
          <p:nvPr/>
        </p:nvSpPr>
        <p:spPr>
          <a:xfrm>
            <a:off x="548640" y="3373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693160"/>
          <a:ext cx="2973628" cy="767715"/>
        </p:xfrm>
        <a:graphic>
          <a:graphicData uri="http://schemas.openxmlformats.org/drawingml/2006/table">
            <a:tbl>
              <a:tblPr firstRow="1">
                <a:tableStyleId>{5C22544A-7EE6-4342-B048-85BDC9FD1C3A}</a:tableStyleId>
              </a:tblPr>
              <a:tblGrid>
                <a:gridCol w="1385773"/>
                <a:gridCol w="1587855"/>
              </a:tblGrid>
              <a:tr h="255905">
                <a:tc>
                  <a:txBody>
                    <a:bodyPr/>
                    <a:lstStyle/>
                    <a:p>
                      <a:r>
                        <a:rPr sz="1196" b="1" i="0" u="none">
                          <a:solidFill>
                            <a:srgbClr val="1C2B3A"/>
                          </a:solidFill>
                          <a:latin typeface="IBM Plex Mono"/>
                        </a:rPr>
                        <a:t>KundenToken</a:t>
                      </a:r>
                    </a:p>
                  </a:txBody>
                  <a:tcPr marL="54864" marR="54864" marT="18288" marB="18288">
                    <a:solidFill>
                      <a:srgbClr val="EBE2D2"/>
                    </a:solidFill>
                  </a:tcPr>
                </a:tc>
                <a:tc>
                  <a:txBody>
                    <a:bodyPr/>
                    <a:lstStyle/>
                    <a:p>
                      <a:r>
                        <a:rPr sz="1196" b="1" i="0" u="none">
                          <a:solidFill>
                            <a:srgbClr val="1C2B3A"/>
                          </a:solidFill>
                          <a:latin typeface="IBM Plex Mono"/>
                        </a:rPr>
                        <a:t>MitgliedToken</a:t>
                      </a:r>
                    </a:p>
                  </a:txBody>
                  <a:tcPr marL="54864" marR="54864" marT="18288" marB="18288">
                    <a:solidFill>
                      <a:srgbClr val="EBE2D2"/>
                    </a:solidFill>
                  </a:tcPr>
                </a:tc>
              </a:tr>
              <a:tr h="255905">
                <a:tc>
                  <a:txBody>
                    <a:bodyPr/>
                    <a:lstStyle/>
                    <a:p>
                      <a:r>
                        <a:rPr sz="1300" b="0" i="0" u="none">
                          <a:solidFill>
                            <a:srgbClr val="1C2B3A"/>
                          </a:solidFill>
                          <a:latin typeface="Barlow"/>
                        </a:rPr>
                        <a:t>R-4BB5</a:t>
                      </a:r>
                    </a:p>
                  </a:txBody>
                  <a:tcPr marL="54864" marR="54864" marT="18288" marB="18288">
                    <a:solidFill>
                      <a:srgbClr val="FFFDF8"/>
                    </a:solidFill>
                  </a:tcPr>
                </a:tc>
                <a:tc>
                  <a:txBody>
                    <a:bodyPr/>
                    <a:lstStyle/>
                    <a:p>
                      <a:r>
                        <a:rPr sz="1300" b="0" i="0" u="none">
                          <a:solidFill>
                            <a:srgbClr val="1C2B3A"/>
                          </a:solidFill>
                          <a:latin typeface="Barlow"/>
                        </a:rPr>
                        <a:t>V-7046</a:t>
                      </a:r>
                    </a:p>
                  </a:txBody>
                  <a:tcPr marL="54864" marR="54864" marT="18288" marB="18288">
                    <a:solidFill>
                      <a:srgbClr val="FFFDF8"/>
                    </a:solidFill>
                  </a:tcPr>
                </a:tc>
              </a:tr>
              <a:tr h="255905">
                <a:tc>
                  <a:txBody>
                    <a:bodyPr/>
                    <a:lstStyle/>
                    <a:p>
                      <a:r>
                        <a:rPr sz="1300" b="0" i="0" u="none">
                          <a:solidFill>
                            <a:srgbClr val="1C2B3A"/>
                          </a:solidFill>
                          <a:latin typeface="Barlow"/>
                        </a:rPr>
                        <a:t>R-D3A1</a:t>
                      </a:r>
                    </a:p>
                  </a:txBody>
                  <a:tcPr marL="54864" marR="54864" marT="18288" marB="18288">
                    <a:solidFill>
                      <a:srgbClr val="FFFDF8"/>
                    </a:solidFill>
                  </a:tcPr>
                </a:tc>
                <a:tc>
                  <a:txBody>
                    <a:bodyPr/>
                    <a:lstStyle/>
                    <a:p>
                      <a:r>
                        <a:rPr sz="1300" b="0" i="0" u="none">
                          <a:solidFill>
                            <a:srgbClr val="1C2B3A"/>
                          </a:solidFill>
                          <a:latin typeface="Barlow"/>
                        </a:rPr>
                        <a:t>V-5245</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Kein gemeinsamer Schlüssel – Verbund über </a:t>
            </a:r>
            <a:r>
              <a:rPr sz="1600" b="1" i="0" u="none">
                <a:solidFill>
                  <a:srgbClr val="1C2B3A"/>
                </a:solidFill>
                <a:latin typeface="Barlow"/>
              </a:rPr>
              <a:t>gleiche Werte</a:t>
            </a:r>
            <a:r>
              <a:rPr sz="1600" b="0" i="0" u="none">
                <a:solidFill>
                  <a:srgbClr val="1C2B3A"/>
                </a:solidFill>
                <a:latin typeface="Barlow"/>
              </a:rPr>
              <a:t> (Jahrgang = Geburtsjahr, Stadtteil)</a:t>
            </a:r>
          </a:p>
        </p:txBody>
      </p:sp>
      <p:sp>
        <p:nvSpPr>
          <p:cNvPr id="16" name="Rounded Rectangle 15"/>
          <p:cNvSpPr/>
          <p:nvPr/>
        </p:nvSpPr>
        <p:spPr>
          <a:xfrm>
            <a:off x="6924888" y="284988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84988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923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92303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Stadtteil</a:t>
            </a:r>
            <a:r>
              <a:rPr sz="1600" b="0" i="0" u="none">
                <a:solidFill>
                  <a:srgbClr val="1C2B3A"/>
                </a:solidFill>
                <a:latin typeface="Barlow"/>
              </a:rPr>
              <a:t> gibt es in beiden Tabellen → Alias davor (P7)</a:t>
            </a:r>
          </a:p>
        </p:txBody>
      </p:sp>
      <p:sp>
        <p:nvSpPr>
          <p:cNvPr id="20" name="Rounded Rectangle 19"/>
          <p:cNvSpPr/>
          <p:nvPr/>
        </p:nvSpPr>
        <p:spPr>
          <a:xfrm>
            <a:off x="6924888" y="374396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74396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81711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81711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Ohne </a:t>
            </a:r>
            <a:r>
              <a:rPr sz="1600" b="1" i="0" u="none">
                <a:solidFill>
                  <a:srgbClr val="1C2B3A"/>
                </a:solidFill>
                <a:latin typeface="Barlow"/>
              </a:rPr>
              <a:t>DISTINCT</a:t>
            </a:r>
            <a:r>
              <a:rPr sz="1600" b="0" i="0" u="none">
                <a:solidFill>
                  <a:srgbClr val="1C2B3A"/>
                </a:solidFill>
                <a:latin typeface="Barlow"/>
              </a:rPr>
              <a:t>: 7 Zeilen – eine je Fahrt (P2)</a:t>
            </a:r>
          </a:p>
        </p:txBody>
      </p:sp>
      <p:sp>
        <p:nvSpPr>
          <p:cNvPr id="24" name="Rounded Rectangle 23"/>
          <p:cNvSpPr/>
          <p:nvPr/>
        </p:nvSpPr>
        <p:spPr>
          <a:xfrm>
            <a:off x="6924888" y="463804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63804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7111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71119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Ergebnis: </a:t>
            </a:r>
            <a:r>
              <a:rPr sz="1600" b="1" i="0" u="none">
                <a:solidFill>
                  <a:srgbClr val="1C2B3A"/>
                </a:solidFill>
                <a:latin typeface="Barlow"/>
              </a:rPr>
              <a:t>Kandidaten</a:t>
            </a:r>
            <a:r>
              <a:rPr sz="1600" b="0" i="0" u="none">
                <a:solidFill>
                  <a:srgbClr val="1C2B3A"/>
                </a:solidFill>
                <a:latin typeface="Barlow"/>
              </a:rPr>
              <a:t>, kein Beweis – Rad-Kunde und Vereinsmitglied </a:t>
            </a:r>
            <a:r>
              <a:rPr sz="1600" b="0" i="1" u="none">
                <a:solidFill>
                  <a:srgbClr val="1C2B3A"/>
                </a:solidFill>
                <a:latin typeface="Barlow"/>
              </a:rPr>
              <a:t>könnten</a:t>
            </a:r>
            <a:r>
              <a:rPr sz="1600" b="0" i="0" u="none">
                <a:solidFill>
                  <a:srgbClr val="1C2B3A"/>
                </a:solidFill>
                <a:latin typeface="Barlow"/>
              </a:rPr>
              <a:t> dieselbe Person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Schlussplädoyer – sechs Spuren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2190749"/>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Spur 1: Welche Fahrten begannen vom 08.09. bis 12.09. an der Hafenkante?</a:t>
            </a:r>
          </a:p>
          <a:p>
            <a:pPr>
              <a:lnSpc>
                <a:spcPct val="105000"/>
              </a:lnSpc>
              <a:spcAft>
                <a:spcPts val="600"/>
              </a:spcAft>
            </a:pPr>
            <a:r>
              <a:rPr sz="1900" b="0" i="0" u="none">
                <a:solidFill>
                  <a:srgbClr val="1C2B3A"/>
                </a:solidFill>
                <a:latin typeface="Barlow"/>
              </a:rPr>
              <a:t>▸ Spur 2: Wie viele verschiedene Tokens haben 1988 + Hafenviertel + Plus?</a:t>
            </a:r>
          </a:p>
          <a:p>
            <a:pPr>
              <a:lnSpc>
                <a:spcPct val="105000"/>
              </a:lnSpc>
              <a:spcAft>
                <a:spcPts val="600"/>
              </a:spcAft>
            </a:pPr>
            <a:r>
              <a:rPr sz="1900" b="0" i="0" u="none">
                <a:solidFill>
                  <a:srgbClr val="1C2B3A"/>
                </a:solidFill>
                <a:latin typeface="Barlow"/>
              </a:rPr>
              <a:t>▸ Spur 3: Welches Gerät war zur selben Zeit am selben Ort?</a:t>
            </a:r>
          </a:p>
          <a:p>
            <a:pPr>
              <a:lnSpc>
                <a:spcPct val="105000"/>
              </a:lnSpc>
              <a:spcAft>
                <a:spcPts val="600"/>
              </a:spcAft>
            </a:pPr>
            <a:r>
              <a:rPr sz="1900" b="0" i="0" u="none">
                <a:solidFill>
                  <a:srgbClr val="1C2B3A"/>
                </a:solidFill>
                <a:latin typeface="Barlow"/>
              </a:rPr>
              <a:t>▸ Spur 4: Wo hat das Gerät sonst eingecheckt?</a:t>
            </a:r>
          </a:p>
          <a:p>
            <a:pPr>
              <a:lnSpc>
                <a:spcPct val="105000"/>
              </a:lnSpc>
              <a:spcAft>
                <a:spcPts val="600"/>
              </a:spcAft>
            </a:pPr>
            <a:r>
              <a:rPr sz="1900" b="0" i="0" u="none">
                <a:solidFill>
                  <a:srgbClr val="1C2B3A"/>
                </a:solidFill>
                <a:latin typeface="Barlow"/>
              </a:rPr>
              <a:t>▸ Spur 5: Welches Vereinsmitglied hat dieselben Merkmale?</a:t>
            </a:r>
          </a:p>
          <a:p>
            <a:pPr>
              <a:lnSpc>
                <a:spcPct val="105000"/>
              </a:lnSpc>
              <a:spcAft>
                <a:spcPts val="600"/>
              </a:spcAft>
            </a:pPr>
            <a:r>
              <a:rPr sz="1900" b="0" i="0" u="none">
                <a:solidFill>
                  <a:srgbClr val="1C2B3A"/>
                </a:solidFill>
                <a:latin typeface="Barlow"/>
              </a:rPr>
              <a:t>▸ Spur 6: Wer wohnt an der Adresse, an der das Gerät nachts eincheckt?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6.1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„Das Phantom“</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Schlussplädoyer A6-E1-09 … 14, dann A6-E1-01 … 06 (07/08 als Hausaufgabe)</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Ermittlungskonsole mit Pinnwand</a:t>
            </a:r>
          </a:p>
        </p:txBody>
      </p:sp>
      <p:sp>
        <p:nvSpPr>
          <p:cNvPr id="11" name="TextBox 10"/>
          <p:cNvSpPr txBox="1"/>
          <p:nvPr/>
        </p:nvSpPr>
        <p:spPr>
          <a:xfrm>
            <a:off x="548640" y="4800600"/>
            <a:ext cx="11094415" cy="1030605"/>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Erst das Schlussplädoyer – die Debatte startet nach der Enttarnung.</a:t>
            </a:r>
          </a:p>
          <a:p>
            <a:pPr>
              <a:lnSpc>
                <a:spcPct val="105000"/>
              </a:lnSpc>
              <a:spcAft>
                <a:spcPts val="600"/>
              </a:spcAft>
            </a:pPr>
            <a:r>
              <a:rPr sz="1700" b="0" i="0" u="none">
                <a:solidFill>
                  <a:srgbClr val="E8E1D3"/>
                </a:solidFill>
                <a:latin typeface="Barlow"/>
              </a:rPr>
              <a:t>▸ Stadtteil steht in mehreren Exporten: Tabellenname oder Alias davor.</a:t>
            </a:r>
          </a:p>
          <a:p>
            <a:pPr>
              <a:lnSpc>
                <a:spcPct val="105000"/>
              </a:lnSpc>
              <a:spcAft>
                <a:spcPts val="600"/>
              </a:spcAft>
            </a:pPr>
            <a:r>
              <a:rPr sz="1700" b="0" i="0" u="none">
                <a:solidFill>
                  <a:srgbClr val="E8E1D3"/>
                </a:solidFill>
                <a:latin typeface="Barlow"/>
              </a:rPr>
              <a:t>▸ AB 6.1 Auftrag 3: jedes Indiz notieren.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Indizienkette des Schlussplädoyers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2548890"/>
          </a:xfrm>
          <a:prstGeom prst="rect">
            <a:avLst/>
          </a:prstGeom>
          <a:noFill/>
        </p:spPr>
        <p:txBody>
          <a:bodyPr wrap="square" anchor="t" lIns="36576" rIns="36576" tIns="36576" bIns="36576">
            <a:spAutoFit/>
          </a:bodyPr>
          <a:lstStyle/>
          <a:p>
            <a:pPr>
              <a:lnSpc>
                <a:spcPct val="105000"/>
              </a:lnSpc>
              <a:spcAft>
                <a:spcPts val="600"/>
              </a:spcAft>
            </a:pPr>
            <a:r>
              <a:rPr sz="1800" b="1" i="0" u="none">
                <a:solidFill>
                  <a:srgbClr val="1C2B3A"/>
                </a:solidFill>
                <a:latin typeface="Barlow"/>
              </a:rPr>
              <a:t>Spur 1:</a:t>
            </a:r>
            <a:r>
              <a:rPr sz="1800" b="0" i="0" u="none">
                <a:solidFill>
                  <a:srgbClr val="1C2B3A"/>
                </a:solidFill>
                <a:latin typeface="Barlow"/>
              </a:rPr>
              <a:t> R-7F3A – fünf Nachtfahrten, 1988 · Hafenviertel · Plus</a:t>
            </a:r>
          </a:p>
          <a:p>
            <a:pPr>
              <a:lnSpc>
                <a:spcPct val="105000"/>
              </a:lnSpc>
              <a:spcAft>
                <a:spcPts val="600"/>
              </a:spcAft>
            </a:pPr>
            <a:r>
              <a:rPr sz="1800" b="1" i="0" u="none">
                <a:solidFill>
                  <a:srgbClr val="1C2B3A"/>
                </a:solidFill>
                <a:latin typeface="Barlow"/>
              </a:rPr>
              <a:t>Spur 2:</a:t>
            </a:r>
            <a:r>
              <a:rPr sz="1800" b="0" i="0" u="none">
                <a:solidFill>
                  <a:srgbClr val="1C2B3A"/>
                </a:solidFill>
                <a:latin typeface="Barlow"/>
              </a:rPr>
              <a:t> nur dieses eine Token hat alle drei Merkmale</a:t>
            </a:r>
          </a:p>
          <a:p>
            <a:pPr>
              <a:lnSpc>
                <a:spcPct val="105000"/>
              </a:lnSpc>
              <a:spcAft>
                <a:spcPts val="600"/>
              </a:spcAft>
            </a:pPr>
            <a:r>
              <a:rPr sz="1800" b="1" i="0" u="none">
                <a:solidFill>
                  <a:srgbClr val="1C2B3A"/>
                </a:solidFill>
                <a:latin typeface="Barlow"/>
              </a:rPr>
              <a:t>Spur 3:</a:t>
            </a:r>
            <a:r>
              <a:rPr sz="1800" b="0" i="0" u="none">
                <a:solidFill>
                  <a:srgbClr val="1C2B3A"/>
                </a:solidFill>
                <a:latin typeface="Barlow"/>
              </a:rPr>
              <a:t> Gerät WA-3917 bei allen fünf Fahrten (WA-5530 nur zweimal)</a:t>
            </a:r>
          </a:p>
          <a:p>
            <a:pPr>
              <a:lnSpc>
                <a:spcPct val="105000"/>
              </a:lnSpc>
              <a:spcAft>
                <a:spcPts val="600"/>
              </a:spcAft>
            </a:pPr>
            <a:r>
              <a:rPr sz="1800" b="1" i="0" u="none">
                <a:solidFill>
                  <a:srgbClr val="1C2B3A"/>
                </a:solidFill>
                <a:latin typeface="Barlow"/>
              </a:rPr>
              <a:t>Spur 4:</a:t>
            </a:r>
            <a:r>
              <a:rPr sz="1800" b="0" i="0" u="none">
                <a:solidFill>
                  <a:srgbClr val="1C2B3A"/>
                </a:solidFill>
                <a:latin typeface="Barlow"/>
              </a:rPr>
              <a:t> Festplatz 21:52/23:06 · Fundbüro 14.09. 10:17 · dienstags TuS · nachts Kranstraße 7</a:t>
            </a:r>
          </a:p>
          <a:p>
            <a:pPr>
              <a:lnSpc>
                <a:spcPct val="105000"/>
              </a:lnSpc>
              <a:spcAft>
                <a:spcPts val="600"/>
              </a:spcAft>
            </a:pPr>
            <a:r>
              <a:rPr sz="1800" b="1" i="0" u="none">
                <a:solidFill>
                  <a:srgbClr val="1C2B3A"/>
                </a:solidFill>
                <a:latin typeface="Barlow"/>
              </a:rPr>
              <a:t>Spur 5:</a:t>
            </a:r>
            <a:r>
              <a:rPr sz="1800" b="0" i="0" u="none">
                <a:solidFill>
                  <a:srgbClr val="1C2B3A"/>
                </a:solidFill>
                <a:latin typeface="Barlow"/>
              </a:rPr>
              <a:t> V-2571 – Tischtennis, 1988, Hafenviertel</a:t>
            </a:r>
          </a:p>
          <a:p>
            <a:pPr>
              <a:lnSpc>
                <a:spcPct val="105000"/>
              </a:lnSpc>
              <a:spcAft>
                <a:spcPts val="600"/>
              </a:spcAft>
            </a:pPr>
            <a:r>
              <a:rPr sz="1800" b="1" i="0" u="none">
                <a:solidFill>
                  <a:srgbClr val="1C2B3A"/>
                </a:solidFill>
                <a:latin typeface="Barlow"/>
              </a:rPr>
              <a:t>Spur 6:</a:t>
            </a:r>
            <a:r>
              <a:rPr sz="1800" b="0" i="0" u="none">
                <a:solidFill>
                  <a:srgbClr val="1C2B3A"/>
                </a:solidFill>
                <a:latin typeface="Barlow"/>
              </a:rPr>
              <a:t> Kranstraße 7, Jahrgang 1988: </a:t>
            </a:r>
            <a:r>
              <a:rPr sz="1800" b="1" i="0" u="none">
                <a:solidFill>
                  <a:srgbClr val="1C2B3A"/>
                </a:solidFill>
                <a:latin typeface="Barlow"/>
              </a:rPr>
              <a:t>Merle Falkenrath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 (1/2)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10" name="Rounded Rectangle 9"/>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1920240"/>
            <a:ext cx="10545775" cy="25958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Die Indizienkette ist geschlossen: Hinter Nora Falter steht </a:t>
            </a:r>
            <a:r>
              <a:rPr sz="1900" b="1" i="0" u="none">
                <a:solidFill>
                  <a:srgbClr val="1C2B3A"/>
                </a:solidFill>
                <a:latin typeface="Barlow"/>
              </a:rPr>
              <a:t>Merle Falkenrath</a:t>
            </a:r>
            <a:r>
              <a:rPr sz="1900" b="0" i="0" u="none">
                <a:solidFill>
                  <a:srgbClr val="1C2B3A"/>
                </a:solidFill>
                <a:latin typeface="Barlow"/>
              </a:rPr>
              <a:t>, Jahrgang 1988, wohnhaft im Hafenviertel, Tischtennisspielerin beim TuS – und bis 2025 </a:t>
            </a:r>
            <a:r>
              <a:rPr sz="1900" b="1" i="0" u="none">
                <a:solidFill>
                  <a:srgbClr val="1C2B3A"/>
                </a:solidFill>
                <a:latin typeface="Barlow"/>
              </a:rPr>
              <a:t>Datenschutzbeauftragte der Stadt Weserstedt</a:t>
            </a:r>
            <a:r>
              <a:rPr sz="1900" b="0" i="0" u="none">
                <a:solidFill>
                  <a:srgbClr val="1C2B3A"/>
                </a:solidFill>
                <a:latin typeface="Barlow"/>
              </a:rPr>
              <a:t>. In der Rohliste des TuS stand sie nur ein paar Zeilen unter ihrem Tarnnamen.</a:t>
            </a:r>
          </a:p>
          <a:p>
            <a:pPr>
              <a:lnSpc>
                <a:spcPct val="105000"/>
              </a:lnSpc>
              <a:spcAft>
                <a:spcPts val="600"/>
              </a:spcAft>
            </a:pPr>
            <a:r>
              <a:rPr sz="1900" b="0" i="0" u="none">
                <a:solidFill>
                  <a:srgbClr val="1C2B3A"/>
                </a:solidFill>
                <a:latin typeface="Barlow"/>
              </a:rPr>
              <a:t>Am Morgen nach der Enttarnung liegt im Fundbüro ein brauner Umschlag mit Nachtfalter: der Messing-Kompass, 312,50 € „für die Festkasse“, ein Beleg über die nachgezahlten Vereinsbeiträge und der Schlüssel zu Schuppen 4 – dort stehen die fünf Lastenräder unbeschädigt.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 (2/2)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10" name="Rounded Rectangle 9"/>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1920240"/>
            <a:ext cx="10545775" cy="25958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Dazu ein Brief: Jahrelang hatte sie gewarnt, dass die Stadt zu viele Daten zu lange speichert, dass „pseudonym“ nicht „anonym“ heißt und dass ihr alter Verwaltungszugang nie gesperrt wurde. Ihr Gutachten verschwand in einer Schublade – also hat sie gezeigt, was sie meinte. Jede Spur war eine absichtlich gelegte Datenpanne; am Ende sollte jemand die Daten verknüpfen und sie finden. </a:t>
            </a:r>
            <a:r>
              <a:rPr sz="1900" b="1" i="0" u="none">
                <a:solidFill>
                  <a:srgbClr val="1C2B3A"/>
                </a:solidFill>
                <a:latin typeface="Barlow"/>
              </a:rPr>
              <a:t>Dieser Jemand waren wir.</a:t>
            </a:r>
          </a:p>
          <a:p>
            <a:pPr>
              <a:lnSpc>
                <a:spcPct val="105000"/>
              </a:lnSpc>
              <a:spcAft>
                <a:spcPts val="600"/>
              </a:spcAft>
            </a:pPr>
            <a:r>
              <a:rPr sz="1900" b="0" i="1" u="none">
                <a:solidFill>
                  <a:srgbClr val="1C2B3A"/>
                </a:solidFill>
                <a:latin typeface="Barlow"/>
              </a:rPr>
              <a:t>„Sie hat Unrecht getan, um auf Unrecht hinzuweisen – und wir haben genau das getan, wovor sie gewarnt hat.“</a:t>
            </a:r>
            <a:r>
              <a:rPr sz="1900" b="0" i="0" u="none">
                <a:solidFill>
                  <a:srgbClr val="1C2B3A"/>
                </a:solidFill>
                <a:latin typeface="Barlow"/>
              </a:rPr>
              <a:t> (Edda Lorenz)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Durfte die Detektei das?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2385694"/>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Daten, die für Fahrradverleih, Festabrechnung, Vereinsverwaltung und eine Stadt-App erhoben wurden, haben wir für eine Fahndung zusammengeführt – als private Detektei, ohne dass jemand in Weserstedt davon wusste.</a:t>
            </a:r>
          </a:p>
          <a:p>
            <a:pPr>
              <a:lnSpc>
                <a:spcPct val="105000"/>
              </a:lnSpc>
              <a:spcAft>
                <a:spcPts val="600"/>
              </a:spcAft>
            </a:pPr>
            <a:r>
              <a:rPr sz="1900" b="0" i="0" u="none">
                <a:solidFill>
                  <a:srgbClr val="1C2B3A"/>
                </a:solidFill>
                <a:latin typeface="Barlow"/>
              </a:rPr>
              <a:t>Zwei Unbeteiligte standen auf unserer Kandidatenliste – nur weil sie 1988 geboren sind und im Hafenviertel wohnen.</a:t>
            </a:r>
          </a:p>
          <a:p>
            <a:pPr>
              <a:lnSpc>
                <a:spcPct val="105000"/>
              </a:lnSpc>
              <a:spcAft>
                <a:spcPts val="600"/>
              </a:spcAft>
            </a:pPr>
            <a:r>
              <a:rPr sz="1900" b="1" i="0" u="none">
                <a:solidFill>
                  <a:srgbClr val="1C2B3A"/>
                </a:solidFill>
                <a:latin typeface="Barlow"/>
              </a:rPr>
              <a:t>Durfte die Detektei das? Was hätte die Stadt nie speichern, nie weitergeben dürfen – und was hätte sie technisch anders machen müssen?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Rollenkarten-Debatte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14</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25 MIN · MATERIAL: ROLLEN- UND ARGUMENTKARTEN</a:t>
            </a:r>
          </a:p>
        </p:txBody>
      </p:sp>
      <p:sp>
        <p:nvSpPr>
          <p:cNvPr id="10" name="TextBox 9"/>
          <p:cNvSpPr txBox="1"/>
          <p:nvPr/>
        </p:nvSpPr>
        <p:spPr>
          <a:xfrm>
            <a:off x="822959" y="2194560"/>
            <a:ext cx="10545775" cy="1840864"/>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Fünf Rollengruppen: Stadt · Detektei · Phantom · Bürgerin · Datenschutzbehörde (6 min vorbereiten).</a:t>
            </a:r>
          </a:p>
          <a:p>
            <a:pPr>
              <a:lnSpc>
                <a:spcPct val="105000"/>
              </a:lnSpc>
              <a:spcAft>
                <a:spcPts val="600"/>
              </a:spcAft>
            </a:pPr>
            <a:r>
              <a:rPr sz="1900" b="0" i="0" u="none">
                <a:solidFill>
                  <a:srgbClr val="1C2B3A"/>
                </a:solidFill>
                <a:latin typeface="Barlow"/>
              </a:rPr>
              <a:t>2. Jede Gruppe nutzt mindestens </a:t>
            </a:r>
            <a:r>
              <a:rPr sz="1900" b="1" i="0" u="none">
                <a:solidFill>
                  <a:srgbClr val="1C2B3A"/>
                </a:solidFill>
                <a:latin typeface="Barlow"/>
              </a:rPr>
              <a:t>zwei</a:t>
            </a:r>
            <a:r>
              <a:rPr sz="1900" b="0" i="0" u="none">
                <a:solidFill>
                  <a:srgbClr val="1C2B3A"/>
                </a:solidFill>
                <a:latin typeface="Barlow"/>
              </a:rPr>
              <a:t> DSGVO-Grundsätze.</a:t>
            </a:r>
          </a:p>
          <a:p>
            <a:pPr>
              <a:lnSpc>
                <a:spcPct val="105000"/>
              </a:lnSpc>
              <a:spcAft>
                <a:spcPts val="600"/>
              </a:spcAft>
            </a:pPr>
            <a:r>
              <a:rPr sz="1900" b="0" i="0" u="none">
                <a:solidFill>
                  <a:srgbClr val="1C2B3A"/>
                </a:solidFill>
                <a:latin typeface="Barlow"/>
              </a:rPr>
              <a:t>3. Talkrunde mit je einer Sprecherin bzw. einem Sprecher (12 min), die anderen beobachten.</a:t>
            </a:r>
          </a:p>
          <a:p>
            <a:pPr>
              <a:lnSpc>
                <a:spcPct val="105000"/>
              </a:lnSpc>
              <a:spcAft>
                <a:spcPts val="600"/>
              </a:spcAft>
            </a:pPr>
            <a:r>
              <a:rPr sz="1900" b="0" i="0" u="none">
                <a:solidFill>
                  <a:srgbClr val="1C2B3A"/>
                </a:solidFill>
                <a:latin typeface="Barlow"/>
              </a:rPr>
              <a:t>4. Rollen ablegen: persönliche Abstimmung, zwei Begründungen (4 min).</a:t>
            </a:r>
          </a:p>
          <a:p>
            <a:pPr>
              <a:lnSpc>
                <a:spcPct val="105000"/>
              </a:lnSpc>
              <a:spcAft>
                <a:spcPts val="600"/>
              </a:spcAft>
            </a:pPr>
            <a:r>
              <a:rPr sz="1900" b="0" i="0" u="none">
                <a:solidFill>
                  <a:srgbClr val="1C2B3A"/>
                </a:solidFill>
                <a:latin typeface="Barlow"/>
              </a:rPr>
              <a:t>5. Sicherung: Grundsatz – Sachverhalt – Abwägung – Urteil (3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DSGVO-Grundsätze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15</a:t>
            </a:r>
          </a:p>
        </p:txBody>
      </p:sp>
      <p:graphicFrame>
        <p:nvGraphicFramePr>
          <p:cNvPr id="8" name="Datentabelle"/>
          <p:cNvGraphicFramePr>
            <a:graphicFrameLocks noGrp="1"/>
          </p:cNvGraphicFramePr>
          <p:nvPr/>
        </p:nvGraphicFramePr>
        <p:xfrm>
          <a:off x="548640" y="1691640"/>
          <a:ext cx="11094415" cy="2342515"/>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Rechtmäßigkeit</a:t>
                      </a:r>
                    </a:p>
                  </a:txBody>
                  <a:tcPr marL="54864" marR="54864" marT="18288" marB="18288">
                    <a:solidFill>
                      <a:srgbClr val="FFFDF8"/>
                    </a:solidFill>
                  </a:tcPr>
                </a:tc>
                <a:tc>
                  <a:txBody>
                    <a:bodyPr/>
                    <a:lstStyle/>
                    <a:p>
                      <a:r>
                        <a:rPr sz="1700" b="0" i="0" u="none">
                          <a:solidFill>
                            <a:srgbClr val="1C2B3A"/>
                          </a:solidFill>
                          <a:latin typeface="Barlow"/>
                        </a:rPr>
                        <a:t>Rechtsgrundlage nötig, z. B. Einwilligung (widerrufbar)</a:t>
                      </a:r>
                    </a:p>
                  </a:txBody>
                  <a:tcPr marL="54864" marR="54864" marT="18288" marB="18288">
                    <a:solidFill>
                      <a:srgbClr val="FFFDF8"/>
                    </a:solidFill>
                  </a:tcPr>
                </a:tc>
              </a:tr>
              <a:tr h="334645">
                <a:tc>
                  <a:txBody>
                    <a:bodyPr/>
                    <a:lstStyle/>
                    <a:p>
                      <a:r>
                        <a:rPr sz="1700" b="0" i="0" u="none">
                          <a:solidFill>
                            <a:srgbClr val="1C2B3A"/>
                          </a:solidFill>
                          <a:latin typeface="Barlow"/>
                        </a:rPr>
                        <a:t>Zweckbindung</a:t>
                      </a:r>
                    </a:p>
                  </a:txBody>
                  <a:tcPr marL="54864" marR="54864" marT="18288" marB="18288">
                    <a:solidFill>
                      <a:srgbClr val="FFFDF8"/>
                    </a:solidFill>
                  </a:tcPr>
                </a:tc>
                <a:tc>
                  <a:txBody>
                    <a:bodyPr/>
                    <a:lstStyle/>
                    <a:p>
                      <a:r>
                        <a:rPr sz="1700" b="0" i="0" u="none">
                          <a:solidFill>
                            <a:srgbClr val="1C2B3A"/>
                          </a:solidFill>
                          <a:latin typeface="Barlow"/>
                        </a:rPr>
                        <a:t>nur für den Zweck, für den erhoben wurde</a:t>
                      </a:r>
                    </a:p>
                  </a:txBody>
                  <a:tcPr marL="54864" marR="54864" marT="18288" marB="18288">
                    <a:solidFill>
                      <a:srgbClr val="FFFDF8"/>
                    </a:solidFill>
                  </a:tcPr>
                </a:tc>
              </a:tr>
              <a:tr h="334645">
                <a:tc>
                  <a:txBody>
                    <a:bodyPr/>
                    <a:lstStyle/>
                    <a:p>
                      <a:r>
                        <a:rPr sz="1700" b="0" i="0" u="none">
                          <a:solidFill>
                            <a:srgbClr val="1C2B3A"/>
                          </a:solidFill>
                          <a:latin typeface="Barlow"/>
                        </a:rPr>
                        <a:t>Datenminimierung</a:t>
                      </a:r>
                    </a:p>
                  </a:txBody>
                  <a:tcPr marL="54864" marR="54864" marT="18288" marB="18288">
                    <a:solidFill>
                      <a:srgbClr val="FFFDF8"/>
                    </a:solidFill>
                  </a:tcPr>
                </a:tc>
                <a:tc>
                  <a:txBody>
                    <a:bodyPr/>
                    <a:lstStyle/>
                    <a:p>
                      <a:r>
                        <a:rPr sz="1700" b="0" i="0" u="none">
                          <a:solidFill>
                            <a:srgbClr val="1C2B3A"/>
                          </a:solidFill>
                          <a:latin typeface="Barlow"/>
                        </a:rPr>
                        <a:t>nur so viele Daten wie nötig</a:t>
                      </a:r>
                    </a:p>
                  </a:txBody>
                  <a:tcPr marL="54864" marR="54864" marT="18288" marB="18288">
                    <a:solidFill>
                      <a:srgbClr val="FFFDF8"/>
                    </a:solidFill>
                  </a:tcPr>
                </a:tc>
              </a:tr>
              <a:tr h="334645">
                <a:tc>
                  <a:txBody>
                    <a:bodyPr/>
                    <a:lstStyle/>
                    <a:p>
                      <a:r>
                        <a:rPr sz="1700" b="0" i="0" u="none">
                          <a:solidFill>
                            <a:srgbClr val="1C2B3A"/>
                          </a:solidFill>
                          <a:latin typeface="Barlow"/>
                        </a:rPr>
                        <a:t>Transparenz</a:t>
                      </a:r>
                    </a:p>
                  </a:txBody>
                  <a:tcPr marL="54864" marR="54864" marT="18288" marB="18288">
                    <a:solidFill>
                      <a:srgbClr val="FFFDF8"/>
                    </a:solidFill>
                  </a:tcPr>
                </a:tc>
                <a:tc>
                  <a:txBody>
                    <a:bodyPr/>
                    <a:lstStyle/>
                    <a:p>
                      <a:r>
                        <a:rPr sz="1700" b="0" i="0" u="none">
                          <a:solidFill>
                            <a:srgbClr val="1C2B3A"/>
                          </a:solidFill>
                          <a:latin typeface="Barlow"/>
                        </a:rPr>
                        <a:t>Betroffene wissen, wer was wozu verarbeitet</a:t>
                      </a:r>
                    </a:p>
                  </a:txBody>
                  <a:tcPr marL="54864" marR="54864" marT="18288" marB="18288">
                    <a:solidFill>
                      <a:srgbClr val="FFFDF8"/>
                    </a:solidFill>
                  </a:tcPr>
                </a:tc>
              </a:tr>
              <a:tr h="334645">
                <a:tc>
                  <a:txBody>
                    <a:bodyPr/>
                    <a:lstStyle/>
                    <a:p>
                      <a:r>
                        <a:rPr sz="1700" b="0" i="0" u="none">
                          <a:solidFill>
                            <a:srgbClr val="1C2B3A"/>
                          </a:solidFill>
                          <a:latin typeface="Barlow"/>
                        </a:rPr>
                        <a:t>Speicherbegrenzung</a:t>
                      </a:r>
                    </a:p>
                  </a:txBody>
                  <a:tcPr marL="54864" marR="54864" marT="18288" marB="18288">
                    <a:solidFill>
                      <a:srgbClr val="FFFDF8"/>
                    </a:solidFill>
                  </a:tcPr>
                </a:tc>
                <a:tc>
                  <a:txBody>
                    <a:bodyPr/>
                    <a:lstStyle/>
                    <a:p>
                      <a:r>
                        <a:rPr sz="1700" b="0" i="0" u="none">
                          <a:solidFill>
                            <a:srgbClr val="1C2B3A"/>
                          </a:solidFill>
                          <a:latin typeface="Barlow"/>
                        </a:rPr>
                        <a:t>löschen, sobald der Zweck erfüllt ist</a:t>
                      </a:r>
                    </a:p>
                  </a:txBody>
                  <a:tcPr marL="54864" marR="54864" marT="18288" marB="18288">
                    <a:solidFill>
                      <a:srgbClr val="FFFDF8"/>
                    </a:solidFill>
                  </a:tcPr>
                </a:tc>
              </a:tr>
              <a:tr h="334645">
                <a:tc>
                  <a:txBody>
                    <a:bodyPr/>
                    <a:lstStyle/>
                    <a:p>
                      <a:r>
                        <a:rPr sz="1700" b="0" i="0" u="none">
                          <a:solidFill>
                            <a:srgbClr val="1C2B3A"/>
                          </a:solidFill>
                          <a:latin typeface="Barlow"/>
                        </a:rPr>
                        <a:t>besondere Kategorien</a:t>
                      </a:r>
                    </a:p>
                  </a:txBody>
                  <a:tcPr marL="54864" marR="54864" marT="18288" marB="18288">
                    <a:solidFill>
                      <a:srgbClr val="FFFDF8"/>
                    </a:solidFill>
                  </a:tcPr>
                </a:tc>
                <a:tc>
                  <a:txBody>
                    <a:bodyPr/>
                    <a:lstStyle/>
                    <a:p>
                      <a:r>
                        <a:rPr sz="1700" b="0" i="0" u="none">
                          <a:solidFill>
                            <a:srgbClr val="1C2B3A"/>
                          </a:solidFill>
                          <a:latin typeface="Barlow"/>
                        </a:rPr>
                        <a:t>z. B. Gesundheitsdaten – besonders geschützt</a:t>
                      </a:r>
                    </a:p>
                  </a:txBody>
                  <a:tcPr marL="54864" marR="54864" marT="18288" marB="18288">
                    <a:solidFill>
                      <a:srgbClr val="FFFD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Datenschutz oder Datensicherheit?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16</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Datentabelle"/>
          <p:cNvGraphicFramePr>
            <a:graphicFrameLocks noGrp="1"/>
          </p:cNvGraphicFramePr>
          <p:nvPr/>
        </p:nvGraphicFramePr>
        <p:xfrm>
          <a:off x="822959" y="1920240"/>
          <a:ext cx="10151999" cy="1259840"/>
        </p:xfrm>
        <a:graphic>
          <a:graphicData uri="http://schemas.openxmlformats.org/drawingml/2006/table">
            <a:tbl>
              <a:tblPr firstRow="1">
                <a:tableStyleId>{5C22544A-7EE6-4342-B048-85BDC9FD1C3A}</a:tableStyleId>
              </a:tblPr>
              <a:tblGrid>
                <a:gridCol w="1296000"/>
                <a:gridCol w="3960000"/>
                <a:gridCol w="4895999"/>
              </a:tblGrid>
              <a:tr h="314960">
                <a:tc>
                  <a:txBody>
                    <a:bodyPr/>
                    <a:lstStyle/>
                    <a:p/>
                  </a:txBody>
                  <a:tcPr marL="54864" marR="54864" marT="18288" marB="18288">
                    <a:solidFill>
                      <a:srgbClr val="EBE2D2"/>
                    </a:solidFill>
                  </a:tcPr>
                </a:tc>
                <a:tc>
                  <a:txBody>
                    <a:bodyPr/>
                    <a:lstStyle/>
                    <a:p>
                      <a:r>
                        <a:rPr sz="1472" b="1" i="0" u="none">
                          <a:solidFill>
                            <a:srgbClr val="1C2B3A"/>
                          </a:solidFill>
                          <a:latin typeface="IBM Plex Mono"/>
                        </a:rPr>
                        <a:t>Datenschutz</a:t>
                      </a:r>
                    </a:p>
                  </a:txBody>
                  <a:tcPr marL="54864" marR="54864" marT="18288" marB="18288">
                    <a:solidFill>
                      <a:srgbClr val="EBE2D2"/>
                    </a:solidFill>
                  </a:tcPr>
                </a:tc>
                <a:tc>
                  <a:txBody>
                    <a:bodyPr/>
                    <a:lstStyle/>
                    <a:p>
                      <a:r>
                        <a:rPr sz="1472" b="1" i="0" u="none">
                          <a:solidFill>
                            <a:srgbClr val="1C2B3A"/>
                          </a:solidFill>
                          <a:latin typeface="IBM Plex Mono"/>
                        </a:rPr>
                        <a:t>Datensicherheit</a:t>
                      </a:r>
                    </a:p>
                  </a:txBody>
                  <a:tcPr marL="54864" marR="54864" marT="18288" marB="18288">
                    <a:solidFill>
                      <a:srgbClr val="EBE2D2"/>
                    </a:solidFill>
                  </a:tcPr>
                </a:tc>
              </a:tr>
              <a:tr h="314960">
                <a:tc>
                  <a:txBody>
                    <a:bodyPr/>
                    <a:lstStyle/>
                    <a:p>
                      <a:r>
                        <a:rPr sz="1600" b="0" i="0" u="none">
                          <a:solidFill>
                            <a:srgbClr val="1C2B3A"/>
                          </a:solidFill>
                          <a:latin typeface="Barlow"/>
                        </a:rPr>
                        <a:t>schützt</a:t>
                      </a:r>
                    </a:p>
                  </a:txBody>
                  <a:tcPr marL="54864" marR="54864" marT="18288" marB="18288">
                    <a:solidFill>
                      <a:srgbClr val="FFFDF8"/>
                    </a:solidFill>
                  </a:tcPr>
                </a:tc>
                <a:tc>
                  <a:txBody>
                    <a:bodyPr/>
                    <a:lstStyle/>
                    <a:p>
                      <a:r>
                        <a:rPr sz="1600" b="0" i="0" u="none">
                          <a:solidFill>
                            <a:srgbClr val="1C2B3A"/>
                          </a:solidFill>
                          <a:latin typeface="Barlow"/>
                        </a:rPr>
                        <a:t>Personen und ihre Rechte</a:t>
                      </a:r>
                    </a:p>
                  </a:txBody>
                  <a:tcPr marL="54864" marR="54864" marT="18288" marB="18288">
                    <a:solidFill>
                      <a:srgbClr val="FFFDF8"/>
                    </a:solidFill>
                  </a:tcPr>
                </a:tc>
                <a:tc>
                  <a:txBody>
                    <a:bodyPr/>
                    <a:lstStyle/>
                    <a:p>
                      <a:r>
                        <a:rPr sz="1600" b="0" i="0" u="none">
                          <a:solidFill>
                            <a:srgbClr val="1C2B3A"/>
                          </a:solidFill>
                          <a:latin typeface="Barlow"/>
                        </a:rPr>
                        <a:t>die Daten (vertraulich, unverfälscht, verfügbar)</a:t>
                      </a:r>
                    </a:p>
                  </a:txBody>
                  <a:tcPr marL="54864" marR="54864" marT="18288" marB="18288">
                    <a:solidFill>
                      <a:srgbClr val="FFFDF8"/>
                    </a:solidFill>
                  </a:tcPr>
                </a:tc>
              </a:tr>
              <a:tr h="314960">
                <a:tc>
                  <a:txBody>
                    <a:bodyPr/>
                    <a:lstStyle/>
                    <a:p>
                      <a:r>
                        <a:rPr sz="1600" b="0" i="0" u="none">
                          <a:solidFill>
                            <a:srgbClr val="1C2B3A"/>
                          </a:solidFill>
                          <a:latin typeface="Barlow"/>
                        </a:rPr>
                        <a:t>fragt</a:t>
                      </a:r>
                    </a:p>
                  </a:txBody>
                  <a:tcPr marL="54864" marR="54864" marT="18288" marB="18288">
                    <a:solidFill>
                      <a:srgbClr val="FFFDF8"/>
                    </a:solidFill>
                  </a:tcPr>
                </a:tc>
                <a:tc>
                  <a:txBody>
                    <a:bodyPr/>
                    <a:lstStyle/>
                    <a:p>
                      <a:r>
                        <a:rPr sz="1600" b="0" i="0" u="none">
                          <a:solidFill>
                            <a:srgbClr val="1C2B3A"/>
                          </a:solidFill>
                          <a:latin typeface="Barlow"/>
                        </a:rPr>
                        <a:t>Dürfen wir das?</a:t>
                      </a:r>
                    </a:p>
                  </a:txBody>
                  <a:tcPr marL="54864" marR="54864" marT="18288" marB="18288">
                    <a:solidFill>
                      <a:srgbClr val="FFFDF8"/>
                    </a:solidFill>
                  </a:tcPr>
                </a:tc>
                <a:tc>
                  <a:txBody>
                    <a:bodyPr/>
                    <a:lstStyle/>
                    <a:p>
                      <a:r>
                        <a:rPr sz="1600" b="0" i="0" u="none">
                          <a:solidFill>
                            <a:srgbClr val="1C2B3A"/>
                          </a:solidFill>
                          <a:latin typeface="Barlow"/>
                        </a:rPr>
                        <a:t>Ist es sicher?</a:t>
                      </a:r>
                    </a:p>
                  </a:txBody>
                  <a:tcPr marL="54864" marR="54864" marT="18288" marB="18288">
                    <a:solidFill>
                      <a:srgbClr val="FFFDF8"/>
                    </a:solidFill>
                  </a:tcPr>
                </a:tc>
              </a:tr>
              <a:tr h="314960">
                <a:tc>
                  <a:txBody>
                    <a:bodyPr/>
                    <a:lstStyle/>
                    <a:p>
                      <a:r>
                        <a:rPr sz="1600" b="0" i="0" u="none">
                          <a:solidFill>
                            <a:srgbClr val="1C2B3A"/>
                          </a:solidFill>
                          <a:latin typeface="Barlow"/>
                        </a:rPr>
                        <a:t>Beispiele</a:t>
                      </a:r>
                    </a:p>
                  </a:txBody>
                  <a:tcPr marL="54864" marR="54864" marT="18288" marB="18288">
                    <a:solidFill>
                      <a:srgbClr val="FFFDF8"/>
                    </a:solidFill>
                  </a:tcPr>
                </a:tc>
                <a:tc>
                  <a:txBody>
                    <a:bodyPr/>
                    <a:lstStyle/>
                    <a:p>
                      <a:r>
                        <a:rPr sz="1600" b="0" i="0" u="none">
                          <a:solidFill>
                            <a:srgbClr val="1C2B3A"/>
                          </a:solidFill>
                          <a:latin typeface="Barlow"/>
                        </a:rPr>
                        <a:t>Zweckbindung, Einwilligung, Löschfristen</a:t>
                      </a:r>
                    </a:p>
                  </a:txBody>
                  <a:tcPr marL="54864" marR="54864" marT="18288" marB="18288">
                    <a:solidFill>
                      <a:srgbClr val="FFFDF8"/>
                    </a:solidFill>
                  </a:tcPr>
                </a:tc>
                <a:tc>
                  <a:txBody>
                    <a:bodyPr/>
                    <a:lstStyle/>
                    <a:p>
                      <a:r>
                        <a:rPr sz="1600" b="0" i="0" u="none">
                          <a:solidFill>
                            <a:srgbClr val="1C2B3A"/>
                          </a:solidFill>
                          <a:latin typeface="Barlow"/>
                        </a:rPr>
                        <a:t>Verschlüsselung, Zugriffsrechte, Backups</a:t>
                      </a:r>
                    </a:p>
                  </a:txBody>
                  <a:tcPr marL="54864" marR="54864" marT="18288" marB="18288">
                    <a:solidFill>
                      <a:srgbClr val="FFFDF8"/>
                    </a:solidFill>
                  </a:tcPr>
                </a:tc>
              </a:tr>
            </a:tbl>
          </a:graphicData>
        </a:graphic>
      </p:graphicFrame>
      <p:sp>
        <p:nvSpPr>
          <p:cNvPr id="10" name="TextBox 9"/>
          <p:cNvSpPr txBox="1"/>
          <p:nvPr/>
        </p:nvSpPr>
        <p:spPr>
          <a:xfrm>
            <a:off x="822959" y="3289808"/>
            <a:ext cx="10545775" cy="996315"/>
          </a:xfrm>
          <a:prstGeom prst="rect">
            <a:avLst/>
          </a:prstGeom>
          <a:noFill/>
        </p:spPr>
        <p:txBody>
          <a:bodyPr wrap="square" anchor="t" lIns="36576" rIns="36576" tIns="36576" bIns="36576">
            <a:spAutoFit/>
          </a:bodyPr>
          <a:lstStyle/>
          <a:p>
            <a:pPr>
              <a:lnSpc>
                <a:spcPct val="105000"/>
              </a:lnSpc>
              <a:spcAft>
                <a:spcPts val="600"/>
              </a:spcAft>
            </a:pPr>
            <a:r>
              <a:rPr sz="1900" b="1" i="0" u="none">
                <a:solidFill>
                  <a:srgbClr val="1C2B3A"/>
                </a:solidFill>
                <a:latin typeface="Barlow"/>
              </a:rPr>
              <a:t>Maßnahmen:</a:t>
            </a:r>
            <a:r>
              <a:rPr sz="1900" b="0" i="0" u="none">
                <a:solidFill>
                  <a:srgbClr val="1C2B3A"/>
                </a:solidFill>
                <a:latin typeface="Barlow"/>
              </a:rPr>
              <a:t> Aggregation · Mindestgruppengröße (keine Gruppen unter 5) · Vergröberung (Jahrzehnt statt Jahrgang) · wechselnde Pseudonyme · Zugriffsrechte · Verschlüsselung · Löschfristen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Kleine Gruppen finden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17</a:t>
            </a:r>
          </a:p>
        </p:txBody>
      </p:sp>
      <p:sp>
        <p:nvSpPr>
          <p:cNvPr id="8" name="SQL-Hintergrund"/>
          <p:cNvSpPr/>
          <p:nvPr/>
        </p:nvSpPr>
        <p:spPr>
          <a:xfrm>
            <a:off x="548640" y="1691640"/>
            <a:ext cx="6101928"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315720"/>
          </a:xfrm>
          <a:prstGeom prst="rect">
            <a:avLst/>
          </a:prstGeom>
          <a:noFill/>
        </p:spPr>
        <p:txBody>
          <a:bodyPr wrap="square" lIns="18288" rIns="18288" tIns="18288" bIns="18288">
            <a:spAutoFit/>
          </a:bodyPr>
          <a:lstStyle/>
          <a:p>
            <a:pPr>
              <a:lnSpc>
                <a:spcPct val="100000"/>
              </a:lnSpc>
            </a:pPr>
            <a:r>
              <a:rPr sz="1600" i="0">
                <a:solidFill>
                  <a:srgbClr val="F2A65A"/>
                </a:solidFill>
                <a:latin typeface="IBM Plex Mono"/>
              </a:rPr>
              <a:t>SELECT</a:t>
            </a:r>
            <a:r>
              <a:rPr sz="1600" i="0">
                <a:solidFill>
                  <a:srgbClr val="D8E3D0"/>
                </a:solidFill>
                <a:latin typeface="IBM Plex Mono"/>
              </a:rPr>
              <a:t> </a:t>
            </a:r>
            <a:r>
              <a:rPr sz="1600" i="0">
                <a:solidFill>
                  <a:srgbClr val="D8E3D0"/>
                </a:solidFill>
                <a:latin typeface="IBM Plex Mono"/>
              </a:rPr>
              <a:t>Jahrgang</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Stadtteil</a:t>
            </a:r>
            <a:r>
              <a:rPr sz="1600" i="0">
                <a:solidFill>
                  <a:srgbClr val="D8E3D0"/>
                </a:solidFill>
                <a:latin typeface="IBM Plex Mono"/>
              </a:rPr>
              <a:t>,</a:t>
            </a:r>
            <a:r>
              <a:rPr sz="1600" i="0">
                <a:solidFill>
                  <a:srgbClr val="D8E3D0"/>
                </a:solidFill>
                <a:latin typeface="IBM Plex Mono"/>
              </a:rPr>
              <a:t> </a:t>
            </a:r>
            <a:r>
              <a:rPr sz="1600" i="0">
                <a:solidFill>
                  <a:srgbClr val="E6C77A"/>
                </a:solidFill>
                <a:latin typeface="IBM Plex Mono"/>
              </a:rPr>
              <a:t>COUNT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 </a:t>
            </a:r>
            <a:r>
              <a:rPr sz="1600" i="0">
                <a:solidFill>
                  <a:srgbClr val="F2A65A"/>
                </a:solidFill>
                <a:latin typeface="IBM Plex Mono"/>
              </a:rPr>
              <a:t>AS</a:t>
            </a:r>
            <a:r>
              <a:rPr sz="1600" i="0">
                <a:solidFill>
                  <a:srgbClr val="D8E3D0"/>
                </a:solidFill>
                <a:latin typeface="IBM Plex Mono"/>
              </a:rPr>
              <a:t> </a:t>
            </a:r>
            <a:r>
              <a:rPr sz="1600" i="0">
                <a:solidFill>
                  <a:srgbClr val="D8E3D0"/>
                </a:solidFill>
                <a:latin typeface="IBM Plex Mono"/>
              </a:rPr>
              <a:t>Anzahl</a:t>
            </a:r>
          </a:p>
          <a:p>
            <a:pPr>
              <a:lnSpc>
                <a:spcPct val="100000"/>
              </a:lnSpc>
            </a:pPr>
            <a:r>
              <a:rPr sz="1600" i="0">
                <a:solidFill>
                  <a:srgbClr val="F2A65A"/>
                </a:solidFill>
                <a:latin typeface="IBM Plex Mono"/>
              </a:rPr>
              <a:t>FROM</a:t>
            </a:r>
            <a:r>
              <a:rPr sz="1600" i="0">
                <a:solidFill>
                  <a:srgbClr val="D8E3D0"/>
                </a:solidFill>
                <a:latin typeface="IBM Plex Mono"/>
              </a:rPr>
              <a:t> </a:t>
            </a:r>
            <a:r>
              <a:rPr sz="1600" i="0">
                <a:solidFill>
                  <a:srgbClr val="D8E3D0"/>
                </a:solidFill>
                <a:latin typeface="IBM Plex Mono"/>
              </a:rPr>
              <a:t>Einwohner</a:t>
            </a:r>
          </a:p>
          <a:p>
            <a:pPr>
              <a:lnSpc>
                <a:spcPct val="100000"/>
              </a:lnSpc>
            </a:pPr>
            <a:r>
              <a:rPr sz="1600" i="0">
                <a:solidFill>
                  <a:srgbClr val="F2A65A"/>
                </a:solidFill>
                <a:latin typeface="IBM Plex Mono"/>
              </a:rPr>
              <a:t>GROUP</a:t>
            </a:r>
            <a:r>
              <a:rPr sz="1600" i="0">
                <a:solidFill>
                  <a:srgbClr val="D8E3D0"/>
                </a:solidFill>
                <a:latin typeface="IBM Plex Mono"/>
              </a:rPr>
              <a:t> </a:t>
            </a:r>
            <a:r>
              <a:rPr sz="1600" i="0">
                <a:solidFill>
                  <a:srgbClr val="F2A65A"/>
                </a:solidFill>
                <a:latin typeface="IBM Plex Mono"/>
              </a:rPr>
              <a:t>BY</a:t>
            </a:r>
            <a:r>
              <a:rPr sz="1600" i="0">
                <a:solidFill>
                  <a:srgbClr val="D8E3D0"/>
                </a:solidFill>
                <a:latin typeface="IBM Plex Mono"/>
              </a:rPr>
              <a:t> </a:t>
            </a:r>
            <a:r>
              <a:rPr sz="1600" i="0">
                <a:solidFill>
                  <a:srgbClr val="D8E3D0"/>
                </a:solidFill>
                <a:latin typeface="IBM Plex Mono"/>
              </a:rPr>
              <a:t>Jahrgang</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Stadtteil</a:t>
            </a:r>
          </a:p>
          <a:p>
            <a:pPr>
              <a:lnSpc>
                <a:spcPct val="100000"/>
              </a:lnSpc>
            </a:pPr>
            <a:r>
              <a:rPr sz="1600" i="0">
                <a:solidFill>
                  <a:srgbClr val="F2A65A"/>
                </a:solidFill>
                <a:latin typeface="IBM Plex Mono"/>
              </a:rPr>
              <a:t>HAVING</a:t>
            </a:r>
            <a:r>
              <a:rPr sz="1600" i="0">
                <a:solidFill>
                  <a:srgbClr val="D8E3D0"/>
                </a:solidFill>
                <a:latin typeface="IBM Plex Mono"/>
              </a:rPr>
              <a:t> </a:t>
            </a:r>
            <a:r>
              <a:rPr sz="1600" i="0">
                <a:solidFill>
                  <a:srgbClr val="E6C77A"/>
                </a:solidFill>
                <a:latin typeface="IBM Plex Mono"/>
              </a:rPr>
              <a:t>COUNT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&lt;</a:t>
            </a:r>
            <a:r>
              <a:rPr sz="1600" i="0">
                <a:solidFill>
                  <a:srgbClr val="D8E3D0"/>
                </a:solidFill>
                <a:latin typeface="IBM Plex Mono"/>
              </a:rPr>
              <a:t> </a:t>
            </a:r>
            <a:r>
              <a:rPr sz="1600" i="0">
                <a:solidFill>
                  <a:srgbClr val="8CC4FF"/>
                </a:solidFill>
                <a:latin typeface="IBM Plex Mono"/>
              </a:rPr>
              <a:t>3</a:t>
            </a:r>
          </a:p>
          <a:p>
            <a:pPr>
              <a:lnSpc>
                <a:spcPct val="100000"/>
              </a:lnSpc>
            </a:pPr>
            <a:r>
              <a:rPr sz="1600" i="0">
                <a:solidFill>
                  <a:srgbClr val="F2A65A"/>
                </a:solidFill>
                <a:latin typeface="IBM Plex Mono"/>
              </a:rPr>
              <a:t>ORDER</a:t>
            </a:r>
            <a:r>
              <a:rPr sz="1600" i="0">
                <a:solidFill>
                  <a:srgbClr val="D8E3D0"/>
                </a:solidFill>
                <a:latin typeface="IBM Plex Mono"/>
              </a:rPr>
              <a:t> </a:t>
            </a:r>
            <a:r>
              <a:rPr sz="1600" i="0">
                <a:solidFill>
                  <a:srgbClr val="F2A65A"/>
                </a:solidFill>
                <a:latin typeface="IBM Plex Mono"/>
              </a:rPr>
              <a:t>BY</a:t>
            </a:r>
            <a:r>
              <a:rPr sz="1600" i="0">
                <a:solidFill>
                  <a:srgbClr val="D8E3D0"/>
                </a:solidFill>
                <a:latin typeface="IBM Plex Mono"/>
              </a:rPr>
              <a:t> </a:t>
            </a:r>
            <a:r>
              <a:rPr sz="1600" i="0">
                <a:solidFill>
                  <a:srgbClr val="D8E3D0"/>
                </a:solidFill>
                <a:latin typeface="IBM Plex Mono"/>
              </a:rPr>
              <a:t>Anzahl</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Jahrgang</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Stadtteil</a:t>
            </a:r>
          </a:p>
        </p:txBody>
      </p:sp>
      <p:sp>
        <p:nvSpPr>
          <p:cNvPr id="10" name="TextBox 9"/>
          <p:cNvSpPr txBox="1"/>
          <p:nvPr/>
        </p:nvSpPr>
        <p:spPr>
          <a:xfrm>
            <a:off x="548640" y="3373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693160"/>
          <a:ext cx="3247948" cy="1535430"/>
        </p:xfrm>
        <a:graphic>
          <a:graphicData uri="http://schemas.openxmlformats.org/drawingml/2006/table">
            <a:tbl>
              <a:tblPr firstRow="1">
                <a:tableStyleId>{5C22544A-7EE6-4342-B048-85BDC9FD1C3A}</a:tableStyleId>
              </a:tblPr>
              <a:tblGrid>
                <a:gridCol w="1082649"/>
                <a:gridCol w="1284732"/>
                <a:gridCol w="880567"/>
              </a:tblGrid>
              <a:tr h="255905">
                <a:tc>
                  <a:txBody>
                    <a:bodyPr/>
                    <a:lstStyle/>
                    <a:p>
                      <a:r>
                        <a:rPr sz="1196" b="1" i="0" u="none">
                          <a:solidFill>
                            <a:srgbClr val="1C2B3A"/>
                          </a:solidFill>
                          <a:latin typeface="IBM Plex Mono"/>
                        </a:rPr>
                        <a:t>Jahrgang</a:t>
                      </a:r>
                    </a:p>
                  </a:txBody>
                  <a:tcPr marL="54864" marR="54864" marT="18288" marB="18288">
                    <a:solidFill>
                      <a:srgbClr val="EBE2D2"/>
                    </a:solidFill>
                  </a:tcPr>
                </a:tc>
                <a:tc>
                  <a:txBody>
                    <a:bodyPr/>
                    <a:lstStyle/>
                    <a:p>
                      <a:r>
                        <a:rPr sz="1196" b="1" i="0" u="none">
                          <a:solidFill>
                            <a:srgbClr val="1C2B3A"/>
                          </a:solidFill>
                          <a:latin typeface="IBM Plex Mono"/>
                        </a:rPr>
                        <a:t>Stadtteil</a:t>
                      </a:r>
                    </a:p>
                  </a:txBody>
                  <a:tcPr marL="54864" marR="54864" marT="18288" marB="18288">
                    <a:solidFill>
                      <a:srgbClr val="EBE2D2"/>
                    </a:solidFill>
                  </a:tcPr>
                </a:tc>
                <a:tc>
                  <a:txBody>
                    <a:bodyPr/>
                    <a:lstStyle/>
                    <a:p>
                      <a:r>
                        <a:rPr sz="1196" b="1" i="0" u="none">
                          <a:solidFill>
                            <a:srgbClr val="1C2B3A"/>
                          </a:solidFill>
                          <a:latin typeface="IBM Plex Mono"/>
                        </a:rPr>
                        <a:t>Anzahl</a:t>
                      </a:r>
                    </a:p>
                  </a:txBody>
                  <a:tcPr marL="54864" marR="54864" marT="18288" marB="18288">
                    <a:solidFill>
                      <a:srgbClr val="EBE2D2"/>
                    </a:solidFill>
                  </a:tcPr>
                </a:tc>
              </a:tr>
              <a:tr h="255905">
                <a:tc>
                  <a:txBody>
                    <a:bodyPr/>
                    <a:lstStyle/>
                    <a:p>
                      <a:pPr algn="r"/>
                      <a:r>
                        <a:rPr sz="1300" b="0" i="0" u="none">
                          <a:solidFill>
                            <a:srgbClr val="1C2B3A"/>
                          </a:solidFill>
                          <a:latin typeface="Barlow"/>
                        </a:rPr>
                        <a:t>1940</a:t>
                      </a:r>
                    </a:p>
                  </a:txBody>
                  <a:tcPr marL="54864" marR="54864" marT="18288" marB="18288">
                    <a:solidFill>
                      <a:srgbClr val="FFFDF8"/>
                    </a:solidFill>
                  </a:tcPr>
                </a:tc>
                <a:tc>
                  <a:txBody>
                    <a:bodyPr/>
                    <a:lstStyle/>
                    <a:p>
                      <a:r>
                        <a:rPr sz="1300" b="0" i="0" u="none">
                          <a:solidFill>
                            <a:srgbClr val="1C2B3A"/>
                          </a:solidFill>
                          <a:latin typeface="Barlow"/>
                        </a:rPr>
                        <a:t>Deichkamp</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pPr algn="r"/>
                      <a:r>
                        <a:rPr sz="1300" b="0" i="0" u="none">
                          <a:solidFill>
                            <a:srgbClr val="1C2B3A"/>
                          </a:solidFill>
                          <a:latin typeface="Barlow"/>
                        </a:rPr>
                        <a:t>1942</a:t>
                      </a:r>
                    </a:p>
                  </a:txBody>
                  <a:tcPr marL="54864" marR="54864" marT="18288" marB="18288">
                    <a:solidFill>
                      <a:srgbClr val="FFFDF8"/>
                    </a:solidFill>
                  </a:tcPr>
                </a:tc>
                <a:tc>
                  <a:txBody>
                    <a:bodyPr/>
                    <a:lstStyle/>
                    <a:p>
                      <a:r>
                        <a:rPr sz="1300" b="0" i="0" u="none">
                          <a:solidFill>
                            <a:srgbClr val="1C2B3A"/>
                          </a:solidFill>
                          <a:latin typeface="Barlow"/>
                        </a:rPr>
                        <a:t>Deichkamp</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pPr algn="r"/>
                      <a:r>
                        <a:rPr sz="1300" b="0" i="0" u="none">
                          <a:solidFill>
                            <a:srgbClr val="1C2B3A"/>
                          </a:solidFill>
                          <a:latin typeface="Barlow"/>
                        </a:rPr>
                        <a:t>1944</a:t>
                      </a:r>
                    </a:p>
                  </a:txBody>
                  <a:tcPr marL="54864" marR="54864" marT="18288" marB="18288">
                    <a:solidFill>
                      <a:srgbClr val="FFFDF8"/>
                    </a:solidFill>
                  </a:tcPr>
                </a:tc>
                <a:tc>
                  <a:txBody>
                    <a:bodyPr/>
                    <a:lstStyle/>
                    <a:p>
                      <a:r>
                        <a:rPr sz="1300" b="0" i="0" u="none">
                          <a:solidFill>
                            <a:srgbClr val="1C2B3A"/>
                          </a:solidFill>
                          <a:latin typeface="Barlow"/>
                        </a:rPr>
                        <a:t>Deichkamp</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pPr algn="r"/>
                      <a:r>
                        <a:rPr sz="1300" b="0" i="0" u="none">
                          <a:solidFill>
                            <a:srgbClr val="1C2B3A"/>
                          </a:solidFill>
                          <a:latin typeface="Barlow"/>
                        </a:rPr>
                        <a:t>1944</a:t>
                      </a:r>
                    </a:p>
                  </a:txBody>
                  <a:tcPr marL="54864" marR="54864" marT="18288" marB="18288">
                    <a:solidFill>
                      <a:srgbClr val="FFFDF8"/>
                    </a:solidFill>
                  </a:tcPr>
                </a:tc>
                <a:tc>
                  <a:txBody>
                    <a:bodyPr/>
                    <a:lstStyle/>
                    <a:p>
                      <a:r>
                        <a:rPr sz="1300" b="0" i="0" u="none">
                          <a:solidFill>
                            <a:srgbClr val="1C2B3A"/>
                          </a:solidFill>
                          <a:latin typeface="Barlow"/>
                        </a:rPr>
                        <a:t>Mühlenfeld</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r>
                        <a:rPr sz="1300" b="0" i="0" u="none">
                          <a:solidFill>
                            <a:srgbClr val="1C2B3A"/>
                          </a:solidFill>
                          <a:latin typeface="Barlow"/>
                        </a:rPr>
                        <a:t>…</a:t>
                      </a:r>
                    </a:p>
                  </a:txBody>
                  <a:tcPr marL="54864" marR="54864" marT="18288" marB="18288">
                    <a:solidFill>
                      <a:srgbClr val="FFFDF8"/>
                    </a:solidFill>
                  </a:tcPr>
                </a:tc>
                <a:tc>
                  <a:txBody>
                    <a:bodyPr/>
                    <a:lstStyle/>
                    <a:p>
                      <a:r>
                        <a:rPr sz="1300" b="0" i="0" u="none">
                          <a:solidFill>
                            <a:srgbClr val="1C2B3A"/>
                          </a:solidFill>
                          <a:latin typeface="Barlow"/>
                        </a:rPr>
                        <a:t>…</a:t>
                      </a:r>
                    </a:p>
                  </a:txBody>
                  <a:tcPr marL="54864" marR="54864" marT="18288" marB="18288">
                    <a:solidFill>
                      <a:srgbClr val="FFFDF8"/>
                    </a:solidFill>
                  </a:tcPr>
                </a:tc>
                <a:tc>
                  <a:txBody>
                    <a:bodyPr/>
                    <a:lstStyle/>
                    <a:p>
                      <a:r>
                        <a:rPr sz="1300" b="0" i="0" u="none">
                          <a:solidFill>
                            <a:srgbClr val="1C2B3A"/>
                          </a:solidFill>
                          <a:latin typeface="Barlow"/>
                        </a:rPr>
                        <a:t>…</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GROUP BY</a:t>
            </a:r>
            <a:r>
              <a:rPr sz="1600" b="0" i="0" u="none">
                <a:solidFill>
                  <a:srgbClr val="1C2B3A"/>
                </a:solidFill>
                <a:latin typeface="Barlow"/>
              </a:rPr>
              <a:t> – je Kombination aus Jahrgang und Stadtteil eine Gruppe</a:t>
            </a:r>
          </a:p>
        </p:txBody>
      </p:sp>
      <p:sp>
        <p:nvSpPr>
          <p:cNvPr id="16" name="Rounded Rectangle 15"/>
          <p:cNvSpPr/>
          <p:nvPr/>
        </p:nvSpPr>
        <p:spPr>
          <a:xfrm>
            <a:off x="6924888" y="258572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91135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HAVING COUNT(*) &lt; 3</a:t>
            </a:r>
            <a:r>
              <a:rPr sz="1600" b="0" i="0" u="none">
                <a:solidFill>
                  <a:srgbClr val="1C2B3A"/>
                </a:solidFill>
                <a:latin typeface="Barlow"/>
              </a:rPr>
              <a:t> – nur kleine Gruppen (Bedingung über Gruppen → HAVING, P1)</a:t>
            </a:r>
          </a:p>
        </p:txBody>
      </p:sp>
      <p:sp>
        <p:nvSpPr>
          <p:cNvPr id="20" name="Rounded Rectangle 19"/>
          <p:cNvSpPr/>
          <p:nvPr/>
        </p:nvSpPr>
        <p:spPr>
          <a:xfrm>
            <a:off x="6924888" y="374396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74396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81711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81711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ORDER BY Anzahl</a:t>
            </a:r>
            <a:r>
              <a:rPr sz="1600" b="0" i="0" u="none">
                <a:solidFill>
                  <a:srgbClr val="1C2B3A"/>
                </a:solidFill>
                <a:latin typeface="Barlow"/>
              </a:rPr>
              <a:t> – die kleinsten zuerst</a:t>
            </a:r>
          </a:p>
        </p:txBody>
      </p:sp>
      <p:sp>
        <p:nvSpPr>
          <p:cNvPr id="24" name="Rounded Rectangle 23"/>
          <p:cNvSpPr/>
          <p:nvPr/>
        </p:nvSpPr>
        <p:spPr>
          <a:xfrm>
            <a:off x="6924888" y="463804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63804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7111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71119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180 Gruppen – jede ist ein Risiko: Wer Jahrgang und Stadtteil kennt, findet die Person fast sicher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 Datenspuren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18</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5646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Informationelle Selbstbestimmung: Jede Person entscheidet grundsätzlich selbst über ihre Daten.</a:t>
            </a:r>
          </a:p>
          <a:p>
            <a:pPr>
              <a:lnSpc>
                <a:spcPct val="105000"/>
              </a:lnSpc>
              <a:spcAft>
                <a:spcPts val="600"/>
              </a:spcAft>
            </a:pPr>
            <a:r>
              <a:rPr sz="2000" b="0" i="0" u="none">
                <a:solidFill>
                  <a:srgbClr val="1C2B3A"/>
                </a:solidFill>
                <a:latin typeface="Barlow"/>
              </a:rPr>
              <a:t>▸ Pseudonym ≠ anonym: Quasi-Identifikatoren lassen sich verknüpfen – kleine Gruppen machen Personen erkennbar.</a:t>
            </a:r>
          </a:p>
          <a:p>
            <a:pPr>
              <a:lnSpc>
                <a:spcPct val="105000"/>
              </a:lnSpc>
              <a:spcAft>
                <a:spcPts val="600"/>
              </a:spcAft>
            </a:pPr>
            <a:r>
              <a:rPr sz="2000" b="0" i="0" u="none">
                <a:solidFill>
                  <a:srgbClr val="1C2B3A"/>
                </a:solidFill>
                <a:latin typeface="Barlow"/>
              </a:rPr>
              <a:t>▸ Datenschutz schützt Personen, Datensicherheit schützt Daten.</a:t>
            </a:r>
          </a:p>
          <a:p>
            <a:pPr>
              <a:lnSpc>
                <a:spcPct val="105000"/>
              </a:lnSpc>
              <a:spcAft>
                <a:spcPts val="600"/>
              </a:spcAft>
            </a:pPr>
            <a:r>
              <a:rPr sz="2000" b="0" i="0" u="none">
                <a:solidFill>
                  <a:srgbClr val="1C2B3A"/>
                </a:solidFill>
                <a:latin typeface="Barlow"/>
              </a:rPr>
              <a:t>▸ Beurteilen = Grundsatz – Sachverhalt – Abwägung – Urteil (mit „weil“).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19</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BEURTEILEN</a:t>
            </a:r>
          </a:p>
        </p:txBody>
      </p:sp>
      <p:sp>
        <p:nvSpPr>
          <p:cNvPr id="10" name="TextBox 9"/>
          <p:cNvSpPr txBox="1"/>
          <p:nvPr/>
        </p:nvSpPr>
        <p:spPr>
          <a:xfrm>
            <a:off x="822959" y="2194560"/>
            <a:ext cx="10545775" cy="13614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Die Stadt plant, die Ausleihdaten von StadtRad (Kundennummer, Jahrgang, Stadtteil, Start- und Zielstation, Zeitpunkte) an ein Unternehmen für personalisierte Werbung weiterzugeben. </a:t>
            </a:r>
            <a:r>
              <a:rPr sz="2000" b="1" i="0" u="none">
                <a:solidFill>
                  <a:srgbClr val="1C2B3A"/>
                </a:solidFill>
                <a:latin typeface="Barlow"/>
              </a:rPr>
              <a:t>Beurteilen</a:t>
            </a:r>
            <a:r>
              <a:rPr sz="2000" b="0" i="0" u="none">
                <a:solidFill>
                  <a:srgbClr val="1C2B3A"/>
                </a:solidFill>
                <a:latin typeface="Barlow"/>
              </a:rPr>
              <a:t> Sie dieses Vorhaben unter Bezug auf zwei Grundsätze des Datenschutzes. [4 BE]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beurteilen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20</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2171700"/>
          </a:xfrm>
          <a:prstGeom prst="rect">
            <a:avLst/>
          </a:prstGeom>
          <a:noFill/>
        </p:spPr>
        <p:txBody>
          <a:bodyPr wrap="square" anchor="t" lIns="36576" rIns="36576" tIns="36576" bIns="36576">
            <a:spAutoFit/>
          </a:bodyPr>
          <a:lstStyle/>
          <a:p>
            <a:pPr>
              <a:lnSpc>
                <a:spcPct val="105000"/>
              </a:lnSpc>
              <a:spcAft>
                <a:spcPts val="600"/>
              </a:spcAft>
            </a:pPr>
            <a:r>
              <a:rPr sz="1800" b="1" i="0" u="none">
                <a:solidFill>
                  <a:srgbClr val="1C2B3A"/>
                </a:solidFill>
                <a:latin typeface="Barlow"/>
              </a:rPr>
              <a:t>1 BE</a:t>
            </a:r>
            <a:r>
              <a:rPr sz="1800" b="0" i="0" u="none">
                <a:solidFill>
                  <a:srgbClr val="1C2B3A"/>
                </a:solidFill>
                <a:latin typeface="Barlow"/>
              </a:rPr>
              <a:t> Einordnung: pseudonym, aber personenbezogen (Jahrgang, Stadtteil, Fahrtmuster).</a:t>
            </a:r>
          </a:p>
          <a:p>
            <a:pPr>
              <a:lnSpc>
                <a:spcPct val="105000"/>
              </a:lnSpc>
              <a:spcAft>
                <a:spcPts val="600"/>
              </a:spcAft>
            </a:pPr>
            <a:r>
              <a:rPr sz="1800" b="1" i="0" u="none">
                <a:solidFill>
                  <a:srgbClr val="1C2B3A"/>
                </a:solidFill>
                <a:latin typeface="Barlow"/>
              </a:rPr>
              <a:t>1 BE</a:t>
            </a:r>
            <a:r>
              <a:rPr sz="1800" b="0" i="0" u="none">
                <a:solidFill>
                  <a:srgbClr val="1C2B3A"/>
                </a:solidFill>
                <a:latin typeface="Barlow"/>
              </a:rPr>
              <a:t> Zweckbindung: erhoben für Ausleihe/Abrechnung – Werbung ist ein neuer Zweck.</a:t>
            </a:r>
          </a:p>
          <a:p>
            <a:pPr>
              <a:lnSpc>
                <a:spcPct val="105000"/>
              </a:lnSpc>
              <a:spcAft>
                <a:spcPts val="600"/>
              </a:spcAft>
            </a:pPr>
            <a:r>
              <a:rPr sz="1800" b="1" i="0" u="none">
                <a:solidFill>
                  <a:srgbClr val="1C2B3A"/>
                </a:solidFill>
                <a:latin typeface="Barlow"/>
              </a:rPr>
              <a:t>1 BE</a:t>
            </a:r>
            <a:r>
              <a:rPr sz="1800" b="0" i="0" u="none">
                <a:solidFill>
                  <a:srgbClr val="1C2B3A"/>
                </a:solidFill>
                <a:latin typeface="Barlow"/>
              </a:rPr>
              <a:t> Einwilligung/Transparenz: nur mit freiwilliger, informierter, widerrufbarer Einwilligung.</a:t>
            </a:r>
          </a:p>
          <a:p>
            <a:pPr>
              <a:lnSpc>
                <a:spcPct val="105000"/>
              </a:lnSpc>
              <a:spcAft>
                <a:spcPts val="600"/>
              </a:spcAft>
            </a:pPr>
            <a:r>
              <a:rPr sz="1800" b="1" i="0" u="none">
                <a:solidFill>
                  <a:srgbClr val="1C2B3A"/>
                </a:solidFill>
                <a:latin typeface="Barlow"/>
              </a:rPr>
              <a:t>1 BE</a:t>
            </a:r>
            <a:r>
              <a:rPr sz="1800" b="0" i="0" u="none">
                <a:solidFill>
                  <a:srgbClr val="1C2B3A"/>
                </a:solidFill>
                <a:latin typeface="Barlow"/>
              </a:rPr>
              <a:t> Urteil: so unzulässig; allenfalls mit Opt-in oder nur anonym aggregiert.</a:t>
            </a:r>
          </a:p>
          <a:p>
            <a:pPr>
              <a:lnSpc>
                <a:spcPct val="105000"/>
              </a:lnSpc>
              <a:spcAft>
                <a:spcPts val="600"/>
              </a:spcAft>
            </a:pPr>
            <a:r>
              <a:rPr sz="1800" b="0" i="0" u="none">
                <a:solidFill>
                  <a:srgbClr val="1C2B3A"/>
                </a:solidFill>
                <a:latin typeface="Barlow"/>
              </a:rPr>
              <a:t>Typischer Fehler P10: Grundsätze aufgezählt, kein Urteil → höchstens 2 BE.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Fallbesprechung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21</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78244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Edda legt den fertigen Steckbrief auf den Tisch, daneben eure Ausweise:</a:t>
            </a:r>
          </a:p>
          <a:p>
            <a:pPr>
              <a:lnSpc>
                <a:spcPct val="105000"/>
              </a:lnSpc>
              <a:spcAft>
                <a:spcPts val="600"/>
              </a:spcAft>
            </a:pPr>
            <a:r>
              <a:rPr sz="1900" b="0" i="1" u="none">
                <a:solidFill>
                  <a:srgbClr val="1C2B3A"/>
                </a:solidFill>
                <a:latin typeface="Barlow"/>
              </a:rPr>
              <a:t>„Der Fall ist gelöst – jetzt will ich sehen, ob ihr auch Fälle lösen könnt, die ihr noch nicht kennt.“</a:t>
            </a:r>
          </a:p>
          <a:p>
            <a:pPr>
              <a:lnSpc>
                <a:spcPct val="105000"/>
              </a:lnSpc>
              <a:spcAft>
                <a:spcPts val="600"/>
              </a:spcAft>
            </a:pPr>
            <a:r>
              <a:rPr sz="1900" b="1" i="0" u="none">
                <a:solidFill>
                  <a:srgbClr val="1C2B3A"/>
                </a:solidFill>
                <a:latin typeface="Barlow"/>
              </a:rPr>
              <a:t>Verhör 6</a:t>
            </a:r>
            <a:r>
              <a:rPr sz="1900" b="0" i="0" u="none">
                <a:solidFill>
                  <a:srgbClr val="1C2B3A"/>
                </a:solidFill>
                <a:latin typeface="Barlow"/>
              </a:rPr>
              <a:t> · Fitness-App (15 min) ist freigeschaltet · Warm-up-Karten W-A6 und W-A7 als Vorbereitung auf die Generalprobe (DS 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6 · DATENSPUREN</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Beweisstück 6 – Steckbrief</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22</a:t>
            </a:r>
          </a:p>
        </p:txBody>
      </p:sp>
      <p:sp>
        <p:nvSpPr>
          <p:cNvPr id="10" name="Rounded Rectangle 9"/>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1920240"/>
            <a:ext cx="10545775" cy="1873885"/>
          </a:xfrm>
          <a:prstGeom prst="rect">
            <a:avLst/>
          </a:prstGeom>
          <a:noFill/>
        </p:spPr>
        <p:txBody>
          <a:bodyPr wrap="square" anchor="t" lIns="36576" rIns="36576" tIns="36576" bIns="36576">
            <a:spAutoFit/>
          </a:bodyPr>
          <a:lstStyle/>
          <a:p>
            <a:pPr>
              <a:lnSpc>
                <a:spcPct val="105000"/>
              </a:lnSpc>
              <a:spcAft>
                <a:spcPts val="600"/>
              </a:spcAft>
            </a:pPr>
            <a:r>
              <a:rPr sz="1900" b="1" i="0" u="none">
                <a:solidFill>
                  <a:srgbClr val="1C2B3A"/>
                </a:solidFill>
                <a:latin typeface="Barlow"/>
              </a:rPr>
              <a:t>Name:</a:t>
            </a:r>
            <a:r>
              <a:rPr sz="1900" b="0" i="0" u="none">
                <a:solidFill>
                  <a:srgbClr val="1C2B3A"/>
                </a:solidFill>
                <a:latin typeface="Barlow"/>
              </a:rPr>
              <a:t> Merle Falkenrath · Jahrgang 1988 · Hafenviertel (Kranstraße 7) · Tischtennis beim TuS</a:t>
            </a:r>
          </a:p>
          <a:p>
            <a:pPr>
              <a:lnSpc>
                <a:spcPct val="105000"/>
              </a:lnSpc>
              <a:spcAft>
                <a:spcPts val="600"/>
              </a:spcAft>
            </a:pPr>
            <a:r>
              <a:rPr sz="1900" b="1" i="0" u="none">
                <a:solidFill>
                  <a:srgbClr val="1C2B3A"/>
                </a:solidFill>
                <a:latin typeface="Barlow"/>
              </a:rPr>
              <a:t>Beruf:</a:t>
            </a:r>
            <a:r>
              <a:rPr sz="1900" b="0" i="0" u="none">
                <a:solidFill>
                  <a:srgbClr val="1C2B3A"/>
                </a:solidFill>
                <a:latin typeface="Barlow"/>
              </a:rPr>
              <a:t> bis 2025 Datenschutzbeauftragte der Stadt Weserstedt</a:t>
            </a:r>
          </a:p>
          <a:p>
            <a:pPr>
              <a:lnSpc>
                <a:spcPct val="105000"/>
              </a:lnSpc>
              <a:spcAft>
                <a:spcPts val="600"/>
              </a:spcAft>
            </a:pPr>
            <a:r>
              <a:rPr sz="1900" b="1" i="0" u="none">
                <a:solidFill>
                  <a:srgbClr val="1C2B3A"/>
                </a:solidFill>
                <a:latin typeface="Barlow"/>
              </a:rPr>
              <a:t>Motiv:</a:t>
            </a:r>
            <a:r>
              <a:rPr sz="1900" b="0" i="0" u="none">
                <a:solidFill>
                  <a:srgbClr val="1C2B3A"/>
                </a:solidFill>
                <a:latin typeface="Barlow"/>
              </a:rPr>
              <a:t> zeigen, wie gläsern die Stadt ihre Bürgerinnen und Bürger macht</a:t>
            </a:r>
          </a:p>
          <a:p>
            <a:pPr>
              <a:lnSpc>
                <a:spcPct val="105000"/>
              </a:lnSpc>
              <a:spcAft>
                <a:spcPts val="600"/>
              </a:spcAft>
            </a:pPr>
            <a:r>
              <a:rPr sz="1900" b="0" i="0" u="none">
                <a:solidFill>
                  <a:srgbClr val="1C2B3A"/>
                </a:solidFill>
                <a:latin typeface="Barlow"/>
              </a:rPr>
              <a:t>Eddas Notiz am Rand: </a:t>
            </a:r>
            <a:r>
              <a:rPr sz="1900" b="0" i="1" u="none">
                <a:solidFill>
                  <a:srgbClr val="1C2B3A"/>
                </a:solidFill>
                <a:latin typeface="Barlow"/>
              </a:rPr>
              <a:t>„Und was sagt das über uns?“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Datenspuren</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6</vt:lpwstr>
  </property>
  <property fmtid="{D5CDD505-2E9C-101B-9397-08002B2CF9AE}" pid="3" name="DD-Art">
    <vt:lpwstr>praesentation</vt:lpwstr>
  </property>
  <property fmtid="{D5CDD505-2E9C-101B-9397-08002B2CF9AE}" pid="4" name="DD-Datenbank">
    <vt:lpwstr>datenspuren</vt:lpwstr>
  </property>
  <property fmtid="{D5CDD505-2E9C-101B-9397-08002B2CF9AE}" pid="5" name="DD-Kuer">
    <vt:lpwstr>nein</vt:lpwstr>
  </property>
</Properties>
</file>