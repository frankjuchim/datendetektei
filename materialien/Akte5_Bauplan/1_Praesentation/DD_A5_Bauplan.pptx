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Akte 5 nur in eA-Kursen (im gA-Kurs entfällt sie, Niveau gA blendet sie aus). Diese Präsentation übernimmt die Inhalte der früheren Präsentation „ER-Modell“ mit den Korrekturen aus Spec §11.2: Entitätstyp/Beziehungstyp statt „Entitätsmenge“, Schlüsselattribute im ER unterstrichen, Regeln für rekursive und ternäre Beziehungen und für Beziehungsattribute bei 1:n, zusätzliches Schlüsselattribut bei mehrfach vorkommenden Paaren.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 9, Warm-up (0–10'): Warm-up-Karten A4 (Karten 05–08). Kurz auflösen; Brücke zur Stunde: „Daten stützen, Begründung kommt aus dem Sachzusammenhang.“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Briefing (10–20'). Foto/Skizze der vollen Pinnwand zeigen, falls vorhanden.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Begriffe des Briefings werden auf den nächsten Folien am Plan beschriftet.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Impuls aus DS_PLANUNG. Erwartung: „Ein Ermittler leitet mehrere Fälle, jeder Fall hat genau einen Leiter.“ Falls jemand die n dem Ermittler zuordnet: Leseschablone vorwegnehmen (Zahl steht beim Entitätstyp, über den man spricht).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Korrektur gegenüber der alten Präsentation „ER-Modell“: jetzt Entitätstyp statt „Entitätsmenge“, und die Schlüssel werden im ER markiert. Keine (min,max)- und keine Krähenfuß-Notation.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Mengendiagramm = einzelne Entitäten als Punkte. Bei 1:n hat E3 keine Linie – auch das ist erlaubt (die 1 sagt „höchstens/genau einer“ auf der anderen Seite, nicht „jeder Ermittler muss“). Bei n:m haben Punkte auf **beiden** Seiten mehrere Linien.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Eigenes Beispiel (Schule), nicht die Detektei. Typischer Fehler P9: die Zahl an die eigene Kante schreiben („Ein Schüler – 1“ an Schueler). Regel: Die Zahl steht beim Entitätstyp, über den der Satz eine Mengenangabe macht.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Impuls: „Wo steht der Verdachtsgrad: bei der Person, beim Fall oder dazwischen?“ Erst abstimmen lassen, dann mit dem Gegenbeispiel auflösen. Merkfrage: Ändert sich der Wert, wenn ich eine andere Person oder einen anderen Fall nehme?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SQL-Wiederholung aus Akte 3. Die Daten stützen n auf der Personen-Seite – beweisen tun sie nichts (Ausschnitt-Falle). Die Gegenrichtung (Personen in mehreren Fällen) ist Lab-Aufgabe A5-E1-08 und wird hier nicht gezeigt.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Kopiervorlage DD_A5_Unplugged_Faeden-Kardinalitaeten (20 Rollenkarten + Etiketten). Ablauf und erwartete Beobachtungen in den Lehrerhinweisen. Sicherung: Foto der Fadennetze; drei Kardinalitäten mit Leseschablone an die Tafel. Antwort auf den Impuls: Kommt der Wert einer Fremdschlüsselspalte mehrfach vor → n-Seite.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Lab-Einsatz (35–80'). Herumgehen: Kardinalität an der falschen Kante (P9), Grad an Person (P9), Erläutern ohne Sachzusammenhang (P10) sammeln.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Fallbesprechung (80–90'): Merkkasten sichern.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Abi-Ecke von AB 5.1 (4 BE): je Richtung 1 BE. Operator begründen = Sachverhalt auf Regeln und Zusammenhänge zurückführen („weil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Typisch: „1:n, weil an der Kante 1 und n steht“ (Ablesen statt Begründen, P10).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DS 9. Ausblick: Architekturwettbewerb – Teams bilden, Anforderungstext vorab lesen.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 10, Warm-up (0–10'): Warm-up-Karten A5, Karten 01–04.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Nachsatz: Die Daten stützen n:m; begründet wird es mit dem Sachzusammenhang (ein Buch wird im Laufe der Zeit von vielen gelesen).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Briefing (10–20').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neuen Bausteine folgen auf den nächsten Folien an Mini-Beispielen.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Impuls: „Wer betreut wen? Kann eine Raute zweimal an dasselbe Rechteck?“ Herkunft: Beispiel *istPateVon* aus den EH → bei uns *betreut*. Korrektur gegenüber „ER-Modell“: rekursive Beziehungen fehlten dort.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Fehler, der hier vorkommt: eine Raute „spielt“ mit Attribut „Heim/Gast“ – dann wären Heim- und Gastteam nicht unterscheidbar bzw. es bräuchte n:m.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Impuls aus DS_PLANUNG: „Reichen drei binäre Beziehungen statt der ternären? Was geht verloren?“ Gegenbeispiel: Gesa sagt zu Fall 1 und Fall 3 aus, es wurde im Fundbüro und auf dem Festplatz ausgesagt – wo sagte sie zu welchem Fall aus? Kardinalitäten ternär: m, n, 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Eigenes Beispiel (nicht die Detektei). Gemeinsam an der Tafel markieren; Lösung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Varianten würdigen: *betreut* statt *versorgt* ist gleichwertig. Die Rollen Erfahrene/Neue an die Kanten von *arbeitetEin*.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Wettbewerb (20–50'): Text auch auf AB 5.2 (Auftrag 1) und als Plakat-Vorlage im Unplugged-Set.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Kopiervorlage DD_A5_Unplugged_Architekturwettbewerb. Zeitansage nach 15': „Habt ihr schon alle Beziehungstypen?“ Textprüfer:in verhindert, dass Teams sich in Details verlieren.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Kriterium 1 Punkt. Die Kriterien sind zugleich die Kernpunkte der Referenzlösung.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Lab-Einsatz (65–85'), verkürzt wegen Wettbewerb.</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Fallbesprechung (85–90'): neben den Siegerentwurf legen; Abweichungen als Alternativen würdigen (K40), z. B. aufgelöste Zwischenentität statt n:m. Erst nach dem Wettbewerb zeigen.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Merkkasten DS 10 sichern.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Abi-Ecke von AB 5.2 (gekürzt). 2 BE arbeitetMitAn n:m mit Rolle, 2 BE vertritt rekursiv 1:n, 1 BE Notation.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Typisch: Rolle an Ermittler (P9), Entitätstyp „Vertretung“ (P9).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DS 10. Hausaufgabe: AB 5.2, Lab A5-E2-07/08; Teamplakate für DS 11 aufheben.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 11, Warm-up (0–10'): Warm-up-Karten A5, Karten 05–08.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Briefing (10–20'): fragend-entwickelnd.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Impuls aus DS_PLANUNG: „Wohin kommt der Verweis bei leitet – in Ermittler oder in Fall?“ Oben: mehrere Werte in einer Zelle (nicht atomar). Unten: ein Wert je Zeile → Fremdschlüssel auf der n-Seite. Zweiter Impuls: „Warum kann Person keinen Fremdschlüssel FallNr bekommen, wenn sie in mehreren Fällen verdächtig ist?“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Werkzeugkarte 5 im Ermittler-Handbuch. Korrekturen gegenüber „ER-Modell“: R5 (rekursiv) und R6 (ternär) fehlten dort; Beziehungsattribute bei 1:n kommen in die Relation der n-Seite.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drei Punkte waren in der alten Präsentation „ER-Modell“ falsch oder fehlten (Spec §11.2). Prüffrage für den Schlüssel: Kann dieselbe Kombination zweimal vorkommen?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A5-E3-06 und AB 5.3 Auftrag 3 (Stadtbücherei). Den Namen des Beziehungstyps erfinden die Schüler aus dem Sachzusammenhang.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Zeilen. Edda Lorenz und Ulf Witte erscheinen nicht als „Ermittler“ (MentorNr NULL). Ohne Aliase: „Name ist mehrdeutig“ (P7). Tabellenalias ohne AS (EH).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Kopiervorlage DD_A5_Unplugged_Regelkarten (Vorderseite Regel, Rückseite Begründung, beidseitig drucken). Sicherung: Werkzeugkarte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Lab-Einsatz (35–80'). Verhör 5 im Kurs auf „auto“ oder „offen“ stellen. Typische Fehler: FK auf der 1-Seite, n:m ohne eigene Relation, rekursiver FK gleich benannt wie der PK.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Fallbesprechung (80–90'): mit Begründungen sichern (Werkzeugkarte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Abi-Ecke von AB 5.3: 3 BE Relationen, 2 BE Begründung.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Typisch: Rolle in Ermittler (P9); Begründung ohne Sachzusammenhang (P10).</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Fallbesprechung: die entscheidende Frage aus dem Briefing. Gruppiert wird nach dem Schlüssel (Variante gleichnamig: eine zweite Nora Falter!).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Bekannte an allen vier Tatorten (Fundbüro, StadtRad, Stadtfest, TuS) und Keno Bargmann aus der IT der Stadtverwaltung – eine Insiderin. Lab A5-E3-08 fragt dasselbe über den Namen.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[NUR LEHRKRAFT] Abschluss DS 11 (verrät das Lab-Ergebnis, daher nicht im Handout). Steckbrief ergänzen: einzige Verdächtige in allen vier Fällen · kennt Menschen an jedem Tatort · Insiderin · nicht gemeldet. Hinweis Verhör 5 (ER, 20') und Video 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a:t>
            </a:r>
          </a:p>
        </p:txBody>
      </p:sp>
      <p:sp>
        <p:nvSpPr>
          <p:cNvPr id="4" name="TextBox 3"/>
          <p:cNvSpPr txBox="1"/>
          <p:nvPr/>
        </p:nvSpPr>
        <p:spPr>
          <a:xfrm>
            <a:off x="548640" y="1828800"/>
            <a:ext cx="8229600" cy="1280160"/>
          </a:xfrm>
          <a:prstGeom prst="rect">
            <a:avLst/>
          </a:prstGeom>
          <a:noFill/>
        </p:spPr>
        <p:txBody>
          <a:bodyPr wrap="square" anchor="b" lIns="36576" rIns="36576" tIns="36576" bIns="36576">
            <a:spAutoFit/>
          </a:bodyPr>
          <a:lstStyle/>
          <a:p>
            <a:pPr>
              <a:lnSpc>
                <a:spcPct val="105000"/>
              </a:lnSpc>
            </a:pPr>
            <a:r>
              <a:rPr sz="5400" b="0" i="0" u="none">
                <a:solidFill>
                  <a:srgbClr val="E8E1D3"/>
                </a:solidFill>
                <a:latin typeface="Barlow Condensed SemiBold"/>
              </a:rPr>
              <a:t>Der Bauplan</a:t>
            </a:r>
          </a:p>
        </p:txBody>
      </p:sp>
      <p:cxnSp>
        <p:nvCxnSpPr>
          <p:cNvPr id="5" name="Roter Faden"/>
          <p:cNvCxnSpPr/>
          <p:nvPr/>
        </p:nvCxnSpPr>
        <p:spPr>
          <a:xfrm>
            <a:off x="548640" y="3291840"/>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484632" y="3227832"/>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1579047" y="3227832"/>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3474720"/>
            <a:ext cx="8229600" cy="1097280"/>
          </a:xfrm>
          <a:prstGeom prst="rect">
            <a:avLst/>
          </a:prstGeom>
          <a:noFill/>
        </p:spPr>
        <p:txBody>
          <a:bodyPr wrap="square" anchor="t" lIns="36576" rIns="36576" tIns="36576" bIns="36576">
            <a:spAutoFit/>
          </a:bodyPr>
          <a:lstStyle/>
          <a:p>
            <a:pPr>
              <a:lnSpc>
                <a:spcPct val="105000"/>
              </a:lnSpc>
            </a:pPr>
            <a:r>
              <a:rPr sz="2200" b="0" i="0" u="none">
                <a:solidFill>
                  <a:srgbClr val="BDB6A9"/>
                </a:solidFill>
                <a:latin typeface="Barlow"/>
              </a:rPr>
              <a:t>Akte 5 · DS 9 „Baupläne lesen“ · DS 10 „Der Architekturwettbewerb“ · DS 11 „Vom Plan zur Datenbank“ · nur eA</a:t>
            </a:r>
          </a:p>
        </p:txBody>
      </p:sp>
      <p:pic>
        <p:nvPicPr>
          <p:cNvPr id="9" name="Picture 8" descr="stempel.png"/>
          <p:cNvPicPr>
            <a:picLocks noChangeAspect="1"/>
          </p:cNvPicPr>
          <p:nvPr/>
        </p:nvPicPr>
        <p:blipFill>
          <a:blip r:embed="rId3"/>
          <a:stretch>
            <a:fillRect/>
          </a:stretch>
        </p:blipFill>
        <p:spPr>
          <a:xfrm>
            <a:off x="9052560" y="1463040"/>
            <a:ext cx="2560320" cy="90999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Warm-up: Karten W-A4-05 … 08</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79121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 Einzelarbeit, je Karte 2–3 Minuten, dann Vergleich im Team</a:t>
            </a:r>
          </a:p>
          <a:p>
            <a:pPr>
              <a:lnSpc>
                <a:spcPct val="105000"/>
              </a:lnSpc>
              <a:spcAft>
                <a:spcPts val="600"/>
              </a:spcAft>
            </a:pPr>
            <a:r>
              <a:rPr sz="1900" b="0" i="0" u="none">
                <a:solidFill>
                  <a:srgbClr val="1C2B3A"/>
                </a:solidFill>
                <a:latin typeface="Barlow"/>
              </a:rPr>
              <a:t>▸ Schlüsselkriterien · Ausschnitt-Falle · Verlustfrei? · Zusammengelegt</a:t>
            </a:r>
          </a:p>
        </p:txBody>
      </p:sp>
      <p:sp>
        <p:nvSpPr>
          <p:cNvPr id="10" name="TextBox 9"/>
          <p:cNvSpPr txBox="1"/>
          <p:nvPr/>
        </p:nvSpPr>
        <p:spPr>
          <a:xfrm>
            <a:off x="822959" y="2784602"/>
            <a:ext cx="10545775" cy="69469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Wiederholung aus Akte 4 – die Ausschnitt-Falle brauchen wir heute wieder: Auch eine Kardinalität beweist man nicht mit ein paar Zeilen.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Akte 5: Der Bauplan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Unsere Pinnwand ist voll, und Juri hat die rote Wolle aufgebraucht. Bevor wir eine Datenbank bauen, brauchen wir einen Bauplan – und Baupläne für Datenbanken heißen ER-Diagramme. Ich habe euch einen alten Plan aus dem Polizeiarchiv mitgebracht.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Akte 5: Der Bauplan (Fortsetzung)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Rechtecke sind Entitätstypen, Rauten Beziehungstypen, Ellipsen Attribute, und unterstrichen sind die Schlüsselattribute. An den Kanten steht die Kardinalität: 1, n oder m. Eine Kardinalität rät man nicht, man begründet sie. Auch Beziehungstypen können Attribute haben – etwa den Grad, wie verdächtig eine Person in einem Fall ist. Gleich verbindet ihr Rollenkarten mit Fäden und lest die Kardinalität einfach 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Der alte Bauplan aus dem Polizeiarchiv</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5</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393065"/>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Was sagt die </a:t>
            </a:r>
            <a:r>
              <a:rPr sz="1900" b="1" i="0" u="none">
                <a:solidFill>
                  <a:srgbClr val="1C2B3A"/>
                </a:solidFill>
                <a:latin typeface="Barlow"/>
              </a:rPr>
              <a:t>1</a:t>
            </a:r>
            <a:r>
              <a:rPr sz="1900" b="0" i="0" u="none">
                <a:solidFill>
                  <a:srgbClr val="1C2B3A"/>
                </a:solidFill>
                <a:latin typeface="Barlow"/>
              </a:rPr>
              <a:t> an der Kante bei Ermittler – und was die </a:t>
            </a:r>
            <a:r>
              <a:rPr sz="1900" b="1" i="0" u="none">
                <a:solidFill>
                  <a:srgbClr val="1C2B3A"/>
                </a:solidFill>
                <a:latin typeface="Barlow"/>
              </a:rPr>
              <a:t>n</a:t>
            </a:r>
            <a:r>
              <a:rPr sz="1900" b="0" i="0" u="none">
                <a:solidFill>
                  <a:srgbClr val="1C2B3A"/>
                </a:solidFill>
                <a:latin typeface="Barlow"/>
              </a:rPr>
              <a:t> bei Fall?</a:t>
            </a:r>
          </a:p>
        </p:txBody>
      </p:sp>
      <p:pic>
        <p:nvPicPr>
          <p:cNvPr id="10" name="Picture 9" descr="f140340854631328.png"/>
          <p:cNvPicPr>
            <a:picLocks noChangeAspect="1"/>
          </p:cNvPicPr>
          <p:nvPr/>
        </p:nvPicPr>
        <p:blipFill>
          <a:blip r:embed="rId3"/>
          <a:stretch>
            <a:fillRect/>
          </a:stretch>
        </p:blipFill>
        <p:spPr>
          <a:xfrm>
            <a:off x="1055847" y="2386457"/>
            <a:ext cx="10080000" cy="28826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Chen-Notation nach EH §7</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6</a:t>
            </a:r>
          </a:p>
        </p:txBody>
      </p:sp>
      <p:graphicFrame>
        <p:nvGraphicFramePr>
          <p:cNvPr id="8" name="Datentabelle"/>
          <p:cNvGraphicFramePr>
            <a:graphicFrameLocks noGrp="1"/>
          </p:cNvGraphicFramePr>
          <p:nvPr/>
        </p:nvGraphicFramePr>
        <p:xfrm>
          <a:off x="548640" y="1691640"/>
          <a:ext cx="11094415" cy="2007870"/>
        </p:xfrm>
        <a:graphic>
          <a:graphicData uri="http://schemas.openxmlformats.org/drawingml/2006/table">
            <a:tbl>
              <a:tblPr firstRow="1">
                <a:tableStyleId>{5C22544A-7EE6-4342-B048-85BDC9FD1C3A}</a:tableStyleId>
              </a:tblPr>
              <a:tblGrid>
                <a:gridCol w="2520000"/>
                <a:gridCol w="8574415"/>
              </a:tblGrid>
              <a:tr h="334645">
                <a:tc>
                  <a:txBody>
                    <a:bodyPr/>
                    <a:lstStyle/>
                    <a:p>
                      <a:r>
                        <a:rPr sz="1564" b="1" i="0" u="none">
                          <a:solidFill>
                            <a:srgbClr val="1C2B3A"/>
                          </a:solidFill>
                          <a:latin typeface="IBM Plex Mono"/>
                        </a:rPr>
                        <a:t>Fachbegriff</a:t>
                      </a:r>
                    </a:p>
                  </a:txBody>
                  <a:tcPr marL="54864" marR="54864" marT="18288" marB="18288">
                    <a:solidFill>
                      <a:srgbClr val="EBE2D2"/>
                    </a:solidFill>
                  </a:tcPr>
                </a:tc>
                <a:tc>
                  <a:txBody>
                    <a:bodyPr/>
                    <a:lstStyle/>
                    <a:p>
                      <a:r>
                        <a:rPr sz="1564" b="1" i="0" u="none">
                          <a:solidFill>
                            <a:srgbClr val="1C2B3A"/>
                          </a:solidFill>
                          <a:latin typeface="IBM Plex Mono"/>
                        </a:rPr>
                        <a:t>Bedeutung</a:t>
                      </a:r>
                    </a:p>
                  </a:txBody>
                  <a:tcPr marL="54864" marR="54864" marT="18288" marB="18288">
                    <a:solidFill>
                      <a:srgbClr val="EBE2D2"/>
                    </a:solidFill>
                  </a:tcPr>
                </a:tc>
              </a:tr>
              <a:tr h="334645">
                <a:tc>
                  <a:txBody>
                    <a:bodyPr/>
                    <a:lstStyle/>
                    <a:p>
                      <a:r>
                        <a:rPr sz="1700" b="0" i="0" u="none">
                          <a:solidFill>
                            <a:srgbClr val="1C2B3A"/>
                          </a:solidFill>
                          <a:latin typeface="Barlow"/>
                        </a:rPr>
                        <a:t>Rechteck</a:t>
                      </a:r>
                    </a:p>
                  </a:txBody>
                  <a:tcPr marL="54864" marR="54864" marT="18288" marB="18288">
                    <a:solidFill>
                      <a:srgbClr val="FFFDF8"/>
                    </a:solidFill>
                  </a:tcPr>
                </a:tc>
                <a:tc>
                  <a:txBody>
                    <a:bodyPr/>
                    <a:lstStyle/>
                    <a:p>
                      <a:r>
                        <a:rPr sz="1700" b="1" i="0" u="none">
                          <a:solidFill>
                            <a:srgbClr val="1C2B3A"/>
                          </a:solidFill>
                          <a:latin typeface="Barlow"/>
                        </a:rPr>
                        <a:t>Entitätstyp</a:t>
                      </a:r>
                      <a:r>
                        <a:rPr sz="1700" b="0" i="0" u="none">
                          <a:solidFill>
                            <a:srgbClr val="1C2B3A"/>
                          </a:solidFill>
                          <a:latin typeface="Barlow"/>
                        </a:rPr>
                        <a:t> – Singular: Ermittler, Fall</a:t>
                      </a:r>
                    </a:p>
                  </a:txBody>
                  <a:tcPr marL="54864" marR="54864" marT="18288" marB="18288">
                    <a:solidFill>
                      <a:srgbClr val="FFFDF8"/>
                    </a:solidFill>
                  </a:tcPr>
                </a:tc>
              </a:tr>
              <a:tr h="334645">
                <a:tc>
                  <a:txBody>
                    <a:bodyPr/>
                    <a:lstStyle/>
                    <a:p>
                      <a:r>
                        <a:rPr sz="1700" b="0" i="0" u="none">
                          <a:solidFill>
                            <a:srgbClr val="1C2B3A"/>
                          </a:solidFill>
                          <a:latin typeface="Barlow"/>
                        </a:rPr>
                        <a:t>Raute</a:t>
                      </a:r>
                    </a:p>
                  </a:txBody>
                  <a:tcPr marL="54864" marR="54864" marT="18288" marB="18288">
                    <a:solidFill>
                      <a:srgbClr val="FFFDF8"/>
                    </a:solidFill>
                  </a:tcPr>
                </a:tc>
                <a:tc>
                  <a:txBody>
                    <a:bodyPr/>
                    <a:lstStyle/>
                    <a:p>
                      <a:r>
                        <a:rPr sz="1700" b="1" i="0" u="none">
                          <a:solidFill>
                            <a:srgbClr val="1C2B3A"/>
                          </a:solidFill>
                          <a:latin typeface="Barlow"/>
                        </a:rPr>
                        <a:t>Beziehungstyp</a:t>
                      </a:r>
                      <a:r>
                        <a:rPr sz="1700" b="0" i="0" u="none">
                          <a:solidFill>
                            <a:srgbClr val="1C2B3A"/>
                          </a:solidFill>
                          <a:latin typeface="Barlow"/>
                        </a:rPr>
                        <a:t> – Verb in lowerCamelCase: </a:t>
                      </a:r>
                      <a:r>
                        <a:rPr sz="1700" b="0" i="1" u="none">
                          <a:solidFill>
                            <a:srgbClr val="1C2B3A"/>
                          </a:solidFill>
                          <a:latin typeface="Barlow"/>
                        </a:rPr>
                        <a:t>leitet</a:t>
                      </a:r>
                    </a:p>
                  </a:txBody>
                  <a:tcPr marL="54864" marR="54864" marT="18288" marB="18288">
                    <a:solidFill>
                      <a:srgbClr val="FFFDF8"/>
                    </a:solidFill>
                  </a:tcPr>
                </a:tc>
              </a:tr>
              <a:tr h="334645">
                <a:tc>
                  <a:txBody>
                    <a:bodyPr/>
                    <a:lstStyle/>
                    <a:p>
                      <a:r>
                        <a:rPr sz="1700" b="0" i="0" u="none">
                          <a:solidFill>
                            <a:srgbClr val="1C2B3A"/>
                          </a:solidFill>
                          <a:latin typeface="Barlow"/>
                        </a:rPr>
                        <a:t>Ellipse</a:t>
                      </a:r>
                    </a:p>
                  </a:txBody>
                  <a:tcPr marL="54864" marR="54864" marT="18288" marB="18288">
                    <a:solidFill>
                      <a:srgbClr val="FFFDF8"/>
                    </a:solidFill>
                  </a:tcPr>
                </a:tc>
                <a:tc>
                  <a:txBody>
                    <a:bodyPr/>
                    <a:lstStyle/>
                    <a:p>
                      <a:r>
                        <a:rPr sz="1700" b="1" i="0" u="none">
                          <a:solidFill>
                            <a:srgbClr val="1C2B3A"/>
                          </a:solidFill>
                          <a:latin typeface="Barlow"/>
                        </a:rPr>
                        <a:t>Attribut</a:t>
                      </a:r>
                      <a:r>
                        <a:rPr sz="1700" b="0" i="0" u="none">
                          <a:solidFill>
                            <a:srgbClr val="1C2B3A"/>
                          </a:solidFill>
                          <a:latin typeface="Barlow"/>
                        </a:rPr>
                        <a:t> – Name, Titel</a:t>
                      </a:r>
                    </a:p>
                  </a:txBody>
                  <a:tcPr marL="54864" marR="54864" marT="18288" marB="18288">
                    <a:solidFill>
                      <a:srgbClr val="FFFDF8"/>
                    </a:solidFill>
                  </a:tcPr>
                </a:tc>
              </a:tr>
              <a:tr h="334645">
                <a:tc>
                  <a:txBody>
                    <a:bodyPr/>
                    <a:lstStyle/>
                    <a:p>
                      <a:r>
                        <a:rPr sz="1700" b="0" i="0" u="none">
                          <a:solidFill>
                            <a:srgbClr val="1C2B3A"/>
                          </a:solidFill>
                          <a:latin typeface="Barlow"/>
                        </a:rPr>
                        <a:t>unterstrichene Ellipse</a:t>
                      </a:r>
                    </a:p>
                  </a:txBody>
                  <a:tcPr marL="54864" marR="54864" marT="18288" marB="18288">
                    <a:solidFill>
                      <a:srgbClr val="FFFDF8"/>
                    </a:solidFill>
                  </a:tcPr>
                </a:tc>
                <a:tc>
                  <a:txBody>
                    <a:bodyPr/>
                    <a:lstStyle/>
                    <a:p>
                      <a:r>
                        <a:rPr sz="1700" b="1" i="0" u="none">
                          <a:solidFill>
                            <a:srgbClr val="1C2B3A"/>
                          </a:solidFill>
                          <a:latin typeface="Barlow"/>
                        </a:rPr>
                        <a:t>Schlüsselattribut</a:t>
                      </a:r>
                      <a:r>
                        <a:rPr sz="1700" b="0" i="0" u="none">
                          <a:solidFill>
                            <a:srgbClr val="1C2B3A"/>
                          </a:solidFill>
                          <a:latin typeface="Barlow"/>
                        </a:rPr>
                        <a:t> – </a:t>
                      </a:r>
                      <a:r>
                        <a:rPr sz="1700" b="0" i="0" u="sng">
                          <a:solidFill>
                            <a:srgbClr val="1C2B3A"/>
                          </a:solidFill>
                          <a:latin typeface="Barlow"/>
                        </a:rPr>
                        <a:t>FallNr</a:t>
                      </a:r>
                    </a:p>
                  </a:txBody>
                  <a:tcPr marL="54864" marR="54864" marT="18288" marB="18288">
                    <a:solidFill>
                      <a:srgbClr val="FFFDF8"/>
                    </a:solidFill>
                  </a:tcPr>
                </a:tc>
              </a:tr>
              <a:tr h="334645">
                <a:tc>
                  <a:txBody>
                    <a:bodyPr/>
                    <a:lstStyle/>
                    <a:p>
                      <a:r>
                        <a:rPr sz="1700" b="0" i="0" u="none">
                          <a:solidFill>
                            <a:srgbClr val="1C2B3A"/>
                          </a:solidFill>
                          <a:latin typeface="Barlow"/>
                        </a:rPr>
                        <a:t>1 · n · m an der Kante</a:t>
                      </a:r>
                    </a:p>
                  </a:txBody>
                  <a:tcPr marL="54864" marR="54864" marT="18288" marB="18288">
                    <a:solidFill>
                      <a:srgbClr val="FFFDF8"/>
                    </a:solidFill>
                  </a:tcPr>
                </a:tc>
                <a:tc>
                  <a:txBody>
                    <a:bodyPr/>
                    <a:lstStyle/>
                    <a:p>
                      <a:r>
                        <a:rPr sz="1700" b="1" i="0" u="none">
                          <a:solidFill>
                            <a:srgbClr val="1C2B3A"/>
                          </a:solidFill>
                          <a:latin typeface="Barlow"/>
                        </a:rPr>
                        <a:t>Kardinalität</a:t>
                      </a:r>
                      <a:r>
                        <a:rPr sz="1700" b="0" i="0" u="none">
                          <a:solidFill>
                            <a:srgbClr val="1C2B3A"/>
                          </a:solidFill>
                          <a:latin typeface="Barlow"/>
                        </a:rPr>
                        <a:t> (ternär zusätzlich p)</a:t>
                      </a:r>
                    </a:p>
                  </a:txBody>
                  <a:tcPr marL="54864" marR="54864" marT="18288" marB="18288">
                    <a:solidFill>
                      <a:srgbClr val="FFFDF8"/>
                    </a:solidFill>
                  </a:tcPr>
                </a:tc>
              </a:tr>
            </a:tbl>
          </a:graphicData>
        </a:graphic>
      </p:graphicFrame>
      <p:sp>
        <p:nvSpPr>
          <p:cNvPr id="9" name="TextBox 8"/>
          <p:cNvSpPr txBox="1"/>
          <p:nvPr/>
        </p:nvSpPr>
        <p:spPr>
          <a:xfrm>
            <a:off x="548640" y="3882390"/>
            <a:ext cx="11094415" cy="662940"/>
          </a:xfrm>
          <a:prstGeom prst="rect">
            <a:avLst/>
          </a:prstGeom>
          <a:noFill/>
        </p:spPr>
        <p:txBody>
          <a:bodyPr wrap="square" anchor="t" lIns="36576" rIns="36576" tIns="36576" bIns="36576">
            <a:spAutoFit/>
          </a:bodyPr>
          <a:lstStyle/>
          <a:p>
            <a:pPr>
              <a:lnSpc>
                <a:spcPct val="105000"/>
              </a:lnSpc>
              <a:spcAft>
                <a:spcPts val="600"/>
              </a:spcAft>
            </a:pPr>
            <a:r>
              <a:rPr sz="1800" b="0" i="0" u="none">
                <a:solidFill>
                  <a:srgbClr val="E8E1D3"/>
                </a:solidFill>
                <a:latin typeface="Barlow"/>
              </a:rPr>
              <a:t>Entitätstyp = alle Fälle · Entität = ein einzelner Fall. Im Abitur: Entitätstyp, nicht „Entitätsmenge“; Schlüsselattribute werden im ER-Diagramm </a:t>
            </a:r>
            <a:r>
              <a:rPr sz="1800" b="1" i="0" u="none">
                <a:solidFill>
                  <a:srgbClr val="E8E1D3"/>
                </a:solidFill>
                <a:latin typeface="Barlow"/>
              </a:rPr>
              <a:t>immer</a:t>
            </a:r>
            <a:r>
              <a:rPr sz="1800" b="0" i="0" u="none">
                <a:solidFill>
                  <a:srgbClr val="E8E1D3"/>
                </a:solidFill>
                <a:latin typeface="Barlow"/>
              </a:rPr>
              <a:t> unterstrichen.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Kardinalitäten 1:1 · 1:n · n:m</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7</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folie_mengen.png"/>
          <p:cNvPicPr>
            <a:picLocks noChangeAspect="1"/>
          </p:cNvPicPr>
          <p:nvPr/>
        </p:nvPicPr>
        <p:blipFill>
          <a:blip r:embed="rId3"/>
          <a:stretch>
            <a:fillRect/>
          </a:stretch>
        </p:blipFill>
        <p:spPr>
          <a:xfrm>
            <a:off x="822959" y="1920240"/>
            <a:ext cx="10545775" cy="3195689"/>
          </a:xfrm>
          <a:prstGeom prst="rect">
            <a:avLst/>
          </a:prstGeom>
        </p:spPr>
      </p:pic>
      <p:sp>
        <p:nvSpPr>
          <p:cNvPr id="10" name="TextBox 9"/>
          <p:cNvSpPr txBox="1"/>
          <p:nvPr/>
        </p:nvSpPr>
        <p:spPr>
          <a:xfrm>
            <a:off x="822959" y="5207369"/>
            <a:ext cx="10545775" cy="69051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Leseschablone – immer in </a:t>
            </a:r>
            <a:r>
              <a:rPr sz="1900" b="1" i="0" u="none">
                <a:solidFill>
                  <a:srgbClr val="1C2B3A"/>
                </a:solidFill>
                <a:latin typeface="Barlow"/>
              </a:rPr>
              <a:t>beide</a:t>
            </a:r>
            <a:r>
              <a:rPr sz="1900" b="0" i="0" u="none">
                <a:solidFill>
                  <a:srgbClr val="1C2B3A"/>
                </a:solidFill>
                <a:latin typeface="Barlow"/>
              </a:rPr>
              <a:t> Richtungen: „Ein Ermittler leitet mehrere Fälle; jeder Fall wird von genau einem Ermittler geleitet.“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Beispiel Schritt für Schritt: Kardinalität bestimmen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8</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f140340854621584.png"/>
          <p:cNvPicPr>
            <a:picLocks noChangeAspect="1"/>
          </p:cNvPicPr>
          <p:nvPr/>
        </p:nvPicPr>
        <p:blipFill>
          <a:blip r:embed="rId3"/>
          <a:stretch>
            <a:fillRect/>
          </a:stretch>
        </p:blipFill>
        <p:spPr>
          <a:xfrm>
            <a:off x="3035847" y="1920240"/>
            <a:ext cx="6120000" cy="1583912"/>
          </a:xfrm>
          <a:prstGeom prst="rect">
            <a:avLst/>
          </a:prstGeom>
        </p:spPr>
      </p:pic>
      <p:sp>
        <p:nvSpPr>
          <p:cNvPr id="10" name="TextBox 9"/>
          <p:cNvSpPr txBox="1"/>
          <p:nvPr/>
        </p:nvSpPr>
        <p:spPr>
          <a:xfrm>
            <a:off x="822959" y="3595592"/>
            <a:ext cx="10545775" cy="149098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1. Satz von links: „Ein Schüler besucht </a:t>
            </a:r>
            <a:r>
              <a:rPr sz="1900" b="1" i="0" u="none">
                <a:solidFill>
                  <a:srgbClr val="1C2B3A"/>
                </a:solidFill>
                <a:latin typeface="Barlow"/>
              </a:rPr>
              <a:t>genau eine</a:t>
            </a:r>
            <a:r>
              <a:rPr sz="1900" b="0" i="0" u="none">
                <a:solidFill>
                  <a:srgbClr val="1C2B3A"/>
                </a:solidFill>
                <a:latin typeface="Barlow"/>
              </a:rPr>
              <a:t> Klasse.“ → 1 an die Kante zu </a:t>
            </a:r>
            <a:r>
              <a:rPr sz="1900" b="1" i="0" u="none">
                <a:solidFill>
                  <a:srgbClr val="1C2B3A"/>
                </a:solidFill>
                <a:latin typeface="Barlow"/>
              </a:rPr>
              <a:t>Klasse</a:t>
            </a:r>
          </a:p>
          <a:p>
            <a:pPr>
              <a:lnSpc>
                <a:spcPct val="105000"/>
              </a:lnSpc>
              <a:spcAft>
                <a:spcPts val="600"/>
              </a:spcAft>
            </a:pPr>
            <a:r>
              <a:rPr sz="1900" b="0" i="0" u="none">
                <a:solidFill>
                  <a:srgbClr val="1C2B3A"/>
                </a:solidFill>
                <a:latin typeface="Barlow"/>
              </a:rPr>
              <a:t>2. Satz von rechts: „Eine Klasse wird von </a:t>
            </a:r>
            <a:r>
              <a:rPr sz="1900" b="1" i="0" u="none">
                <a:solidFill>
                  <a:srgbClr val="1C2B3A"/>
                </a:solidFill>
                <a:latin typeface="Barlow"/>
              </a:rPr>
              <a:t>mehreren</a:t>
            </a:r>
            <a:r>
              <a:rPr sz="1900" b="0" i="0" u="none">
                <a:solidFill>
                  <a:srgbClr val="1C2B3A"/>
                </a:solidFill>
                <a:latin typeface="Barlow"/>
              </a:rPr>
              <a:t> Schülern besucht.“ → n an die Kante zu </a:t>
            </a:r>
            <a:r>
              <a:rPr sz="1900" b="1" i="0" u="none">
                <a:solidFill>
                  <a:srgbClr val="1C2B3A"/>
                </a:solidFill>
                <a:latin typeface="Barlow"/>
              </a:rPr>
              <a:t>Schueler</a:t>
            </a:r>
          </a:p>
          <a:p>
            <a:pPr>
              <a:lnSpc>
                <a:spcPct val="105000"/>
              </a:lnSpc>
              <a:spcAft>
                <a:spcPts val="600"/>
              </a:spcAft>
            </a:pPr>
            <a:r>
              <a:rPr sz="1900" b="0" i="0" u="none">
                <a:solidFill>
                  <a:srgbClr val="1C2B3A"/>
                </a:solidFill>
                <a:latin typeface="Barlow"/>
              </a:rPr>
              <a:t>3. Ergebnis lesen: Schueler n : 1 Klasse</a:t>
            </a:r>
          </a:p>
          <a:p>
            <a:pPr>
              <a:lnSpc>
                <a:spcPct val="105000"/>
              </a:lnSpc>
              <a:spcAft>
                <a:spcPts val="600"/>
              </a:spcAft>
            </a:pPr>
            <a:r>
              <a:rPr sz="1900" b="0" i="0" u="none">
                <a:solidFill>
                  <a:srgbClr val="1C2B3A"/>
                </a:solidFill>
                <a:latin typeface="Barlow"/>
              </a:rPr>
              <a:t>4. Gegenprobe im Sachzusammenhang: Kann ein Schüler zwei Klassen besuchen? (Nein.)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Wo steht der Verdachtsgrad?</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9</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69469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Person P3 ist in Fall F2 </a:t>
            </a:r>
            <a:r>
              <a:rPr sz="1900" b="0" i="1" u="none">
                <a:solidFill>
                  <a:srgbClr val="1C2B3A"/>
                </a:solidFill>
                <a:latin typeface="Barlow"/>
              </a:rPr>
              <a:t>hoch</a:t>
            </a:r>
            <a:r>
              <a:rPr sz="1900" b="0" i="0" u="none">
                <a:solidFill>
                  <a:srgbClr val="1C2B3A"/>
                </a:solidFill>
                <a:latin typeface="Barlow"/>
              </a:rPr>
              <a:t>, in Fall F5 </a:t>
            </a:r>
            <a:r>
              <a:rPr sz="1900" b="0" i="1" u="none">
                <a:solidFill>
                  <a:srgbClr val="1C2B3A"/>
                </a:solidFill>
                <a:latin typeface="Barlow"/>
              </a:rPr>
              <a:t>gering</a:t>
            </a:r>
            <a:r>
              <a:rPr sz="1900" b="0" i="0" u="none">
                <a:solidFill>
                  <a:srgbClr val="1C2B3A"/>
                </a:solidFill>
                <a:latin typeface="Barlow"/>
              </a:rPr>
              <a:t> verdächtig → der Grad hängt vom </a:t>
            </a:r>
            <a:r>
              <a:rPr sz="1900" b="1" i="0" u="none">
                <a:solidFill>
                  <a:srgbClr val="1C2B3A"/>
                </a:solidFill>
                <a:latin typeface="Barlow"/>
              </a:rPr>
              <a:t>Paar</a:t>
            </a:r>
            <a:r>
              <a:rPr sz="1900" b="0" i="0" u="none">
                <a:solidFill>
                  <a:srgbClr val="1C2B3A"/>
                </a:solidFill>
                <a:latin typeface="Barlow"/>
              </a:rPr>
              <a:t> ab → Attribut am Beziehungstyp.</a:t>
            </a:r>
          </a:p>
        </p:txBody>
      </p:sp>
      <p:pic>
        <p:nvPicPr>
          <p:cNvPr id="10" name="Picture 9" descr="f140340854620576.png"/>
          <p:cNvPicPr>
            <a:picLocks noChangeAspect="1"/>
          </p:cNvPicPr>
          <p:nvPr/>
        </p:nvPicPr>
        <p:blipFill>
          <a:blip r:embed="rId3"/>
          <a:stretch>
            <a:fillRect/>
          </a:stretch>
        </p:blipFill>
        <p:spPr>
          <a:xfrm>
            <a:off x="2094745" y="2688082"/>
            <a:ext cx="8002204" cy="320979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Daten stützen die Kardinalität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10</a:t>
            </a:r>
          </a:p>
        </p:txBody>
      </p:sp>
      <p:sp>
        <p:nvSpPr>
          <p:cNvPr id="8" name="SQL-Hintergrund"/>
          <p:cNvSpPr/>
          <p:nvPr/>
        </p:nvSpPr>
        <p:spPr>
          <a:xfrm>
            <a:off x="548640" y="1691640"/>
            <a:ext cx="6101928" cy="1463040"/>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QL"/>
          <p:cNvSpPr txBox="1"/>
          <p:nvPr/>
        </p:nvSpPr>
        <p:spPr>
          <a:xfrm>
            <a:off x="731520" y="1828800"/>
            <a:ext cx="5736168" cy="1188720"/>
          </a:xfrm>
          <a:prstGeom prst="rect">
            <a:avLst/>
          </a:prstGeom>
          <a:noFill/>
        </p:spPr>
        <p:txBody>
          <a:bodyPr wrap="square" lIns="18288" rIns="18288" tIns="18288" bIns="18288">
            <a:spAutoFit/>
          </a:bodyPr>
          <a:lstStyle/>
          <a:p>
            <a:pPr>
              <a:lnSpc>
                <a:spcPct val="100000"/>
              </a:lnSpc>
            </a:pPr>
            <a:r>
              <a:rPr sz="1800" i="0">
                <a:solidFill>
                  <a:srgbClr val="F2A65A"/>
                </a:solidFill>
                <a:latin typeface="IBM Plex Mono"/>
              </a:rPr>
              <a:t>SELECT</a:t>
            </a:r>
            <a:r>
              <a:rPr sz="1800" i="0">
                <a:solidFill>
                  <a:srgbClr val="D8E3D0"/>
                </a:solidFill>
                <a:latin typeface="IBM Plex Mono"/>
              </a:rPr>
              <a:t> </a:t>
            </a:r>
            <a:r>
              <a:rPr sz="1800" i="0">
                <a:solidFill>
                  <a:srgbClr val="D8E3D0"/>
                </a:solidFill>
                <a:latin typeface="IBM Plex Mono"/>
              </a:rPr>
              <a:t>FallNr</a:t>
            </a:r>
            <a:r>
              <a:rPr sz="1800" i="0">
                <a:solidFill>
                  <a:srgbClr val="D8E3D0"/>
                </a:solidFill>
                <a:latin typeface="IBM Plex Mono"/>
              </a:rPr>
              <a:t>,</a:t>
            </a:r>
            <a:r>
              <a:rPr sz="1800" i="0">
                <a:solidFill>
                  <a:srgbClr val="D8E3D0"/>
                </a:solidFill>
                <a:latin typeface="IBM Plex Mono"/>
              </a:rPr>
              <a:t> </a:t>
            </a:r>
            <a:r>
              <a:rPr sz="1800" i="0">
                <a:solidFill>
                  <a:srgbClr val="E6C77A"/>
                </a:solidFill>
                <a:latin typeface="IBM Plex Mono"/>
              </a:rPr>
              <a:t>COUNT</a:t>
            </a:r>
            <a:r>
              <a:rPr sz="1800" i="0">
                <a:solidFill>
                  <a:srgbClr val="D8E3D0"/>
                </a:solidFill>
                <a:latin typeface="IBM Plex Mono"/>
              </a:rPr>
              <a:t>(</a:t>
            </a:r>
            <a:r>
              <a:rPr sz="1800" i="0">
                <a:solidFill>
                  <a:srgbClr val="D8E3D0"/>
                </a:solidFill>
                <a:latin typeface="IBM Plex Mono"/>
              </a:rPr>
              <a:t>*</a:t>
            </a:r>
            <a:r>
              <a:rPr sz="1800" i="0">
                <a:solidFill>
                  <a:srgbClr val="D8E3D0"/>
                </a:solidFill>
                <a:latin typeface="IBM Plex Mono"/>
              </a:rPr>
              <a:t>)</a:t>
            </a:r>
            <a:r>
              <a:rPr sz="1800" i="0">
                <a:solidFill>
                  <a:srgbClr val="D8E3D0"/>
                </a:solidFill>
                <a:latin typeface="IBM Plex Mono"/>
              </a:rPr>
              <a:t> </a:t>
            </a:r>
            <a:r>
              <a:rPr sz="1800" i="0">
                <a:solidFill>
                  <a:srgbClr val="F2A65A"/>
                </a:solidFill>
                <a:latin typeface="IBM Plex Mono"/>
              </a:rPr>
              <a:t>AS</a:t>
            </a:r>
            <a:r>
              <a:rPr sz="1800" i="0">
                <a:solidFill>
                  <a:srgbClr val="D8E3D0"/>
                </a:solidFill>
                <a:latin typeface="IBM Plex Mono"/>
              </a:rPr>
              <a:t> </a:t>
            </a:r>
            <a:r>
              <a:rPr sz="1800" i="0">
                <a:solidFill>
                  <a:srgbClr val="D8E3D0"/>
                </a:solidFill>
                <a:latin typeface="IBM Plex Mono"/>
              </a:rPr>
              <a:t>Verdaechtige</a:t>
            </a:r>
          </a:p>
          <a:p>
            <a:pPr>
              <a:lnSpc>
                <a:spcPct val="100000"/>
              </a:lnSpc>
            </a:pPr>
            <a:r>
              <a:rPr sz="1800" i="0">
                <a:solidFill>
                  <a:srgbClr val="F2A65A"/>
                </a:solidFill>
                <a:latin typeface="IBM Plex Mono"/>
              </a:rPr>
              <a:t>FROM</a:t>
            </a:r>
            <a:r>
              <a:rPr sz="1800" i="0">
                <a:solidFill>
                  <a:srgbClr val="D8E3D0"/>
                </a:solidFill>
                <a:latin typeface="IBM Plex Mono"/>
              </a:rPr>
              <a:t> </a:t>
            </a:r>
            <a:r>
              <a:rPr sz="1800" i="0">
                <a:solidFill>
                  <a:srgbClr val="D8E3D0"/>
                </a:solidFill>
                <a:latin typeface="IBM Plex Mono"/>
              </a:rPr>
              <a:t>verdaechtig</a:t>
            </a:r>
          </a:p>
          <a:p>
            <a:pPr>
              <a:lnSpc>
                <a:spcPct val="100000"/>
              </a:lnSpc>
            </a:pPr>
            <a:r>
              <a:rPr sz="1800" i="0">
                <a:solidFill>
                  <a:srgbClr val="F2A65A"/>
                </a:solidFill>
                <a:latin typeface="IBM Plex Mono"/>
              </a:rPr>
              <a:t>GROUP</a:t>
            </a:r>
            <a:r>
              <a:rPr sz="1800" i="0">
                <a:solidFill>
                  <a:srgbClr val="D8E3D0"/>
                </a:solidFill>
                <a:latin typeface="IBM Plex Mono"/>
              </a:rPr>
              <a:t> </a:t>
            </a:r>
            <a:r>
              <a:rPr sz="1800" i="0">
                <a:solidFill>
                  <a:srgbClr val="F2A65A"/>
                </a:solidFill>
                <a:latin typeface="IBM Plex Mono"/>
              </a:rPr>
              <a:t>BY</a:t>
            </a:r>
            <a:r>
              <a:rPr sz="1800" i="0">
                <a:solidFill>
                  <a:srgbClr val="D8E3D0"/>
                </a:solidFill>
                <a:latin typeface="IBM Plex Mono"/>
              </a:rPr>
              <a:t> </a:t>
            </a:r>
            <a:r>
              <a:rPr sz="1800" i="0">
                <a:solidFill>
                  <a:srgbClr val="D8E3D0"/>
                </a:solidFill>
                <a:latin typeface="IBM Plex Mono"/>
              </a:rPr>
              <a:t>FallNr</a:t>
            </a:r>
          </a:p>
          <a:p>
            <a:pPr>
              <a:lnSpc>
                <a:spcPct val="100000"/>
              </a:lnSpc>
            </a:pPr>
            <a:r>
              <a:rPr sz="1800" i="0">
                <a:solidFill>
                  <a:srgbClr val="F2A65A"/>
                </a:solidFill>
                <a:latin typeface="IBM Plex Mono"/>
              </a:rPr>
              <a:t>HAVING</a:t>
            </a:r>
            <a:r>
              <a:rPr sz="1800" i="0">
                <a:solidFill>
                  <a:srgbClr val="D8E3D0"/>
                </a:solidFill>
                <a:latin typeface="IBM Plex Mono"/>
              </a:rPr>
              <a:t> </a:t>
            </a:r>
            <a:r>
              <a:rPr sz="1800" i="0">
                <a:solidFill>
                  <a:srgbClr val="E6C77A"/>
                </a:solidFill>
                <a:latin typeface="IBM Plex Mono"/>
              </a:rPr>
              <a:t>COUNT</a:t>
            </a:r>
            <a:r>
              <a:rPr sz="1800" i="0">
                <a:solidFill>
                  <a:srgbClr val="D8E3D0"/>
                </a:solidFill>
                <a:latin typeface="IBM Plex Mono"/>
              </a:rPr>
              <a:t>(</a:t>
            </a:r>
            <a:r>
              <a:rPr sz="1800" i="0">
                <a:solidFill>
                  <a:srgbClr val="D8E3D0"/>
                </a:solidFill>
                <a:latin typeface="IBM Plex Mono"/>
              </a:rPr>
              <a:t>*</a:t>
            </a:r>
            <a:r>
              <a:rPr sz="1800" i="0">
                <a:solidFill>
                  <a:srgbClr val="D8E3D0"/>
                </a:solidFill>
                <a:latin typeface="IBM Plex Mono"/>
              </a:rPr>
              <a:t>)</a:t>
            </a:r>
            <a:r>
              <a:rPr sz="1800" i="0">
                <a:solidFill>
                  <a:srgbClr val="D8E3D0"/>
                </a:solidFill>
                <a:latin typeface="IBM Plex Mono"/>
              </a:rPr>
              <a:t> </a:t>
            </a:r>
            <a:r>
              <a:rPr sz="1800" i="0">
                <a:solidFill>
                  <a:srgbClr val="D8E3D0"/>
                </a:solidFill>
                <a:latin typeface="IBM Plex Mono"/>
              </a:rPr>
              <a:t>&gt;</a:t>
            </a:r>
            <a:r>
              <a:rPr sz="1800" i="0">
                <a:solidFill>
                  <a:srgbClr val="D8E3D0"/>
                </a:solidFill>
                <a:latin typeface="IBM Plex Mono"/>
              </a:rPr>
              <a:t> </a:t>
            </a:r>
            <a:r>
              <a:rPr sz="1800" i="0">
                <a:solidFill>
                  <a:srgbClr val="8CC4FF"/>
                </a:solidFill>
                <a:latin typeface="IBM Plex Mono"/>
              </a:rPr>
              <a:t>1</a:t>
            </a:r>
            <a:r>
              <a:rPr sz="1800" i="0">
                <a:solidFill>
                  <a:srgbClr val="D8E3D0"/>
                </a:solidFill>
                <a:latin typeface="IBM Plex Mono"/>
              </a:rPr>
              <a:t>;</a:t>
            </a:r>
          </a:p>
        </p:txBody>
      </p:sp>
      <p:sp>
        <p:nvSpPr>
          <p:cNvPr id="10" name="TextBox 9"/>
          <p:cNvSpPr txBox="1"/>
          <p:nvPr/>
        </p:nvSpPr>
        <p:spPr>
          <a:xfrm>
            <a:off x="548640" y="3246120"/>
            <a:ext cx="6101928" cy="274320"/>
          </a:xfrm>
          <a:prstGeom prst="rect">
            <a:avLst/>
          </a:prstGeom>
          <a:noFill/>
        </p:spPr>
        <p:txBody>
          <a:bodyPr wrap="square" anchor="t" lIns="36576" rIns="36576" tIns="36576" bIns="36576">
            <a:spAutoFit/>
          </a:bodyPr>
          <a:lstStyle/>
          <a:p>
            <a:pPr>
              <a:lnSpc>
                <a:spcPct val="105000"/>
              </a:lnSpc>
            </a:pPr>
            <a:r>
              <a:rPr sz="1000" b="1" i="0" u="none" spc="120">
                <a:solidFill>
                  <a:srgbClr val="D4B062"/>
                </a:solidFill>
                <a:latin typeface="IBM Plex Mono"/>
              </a:rPr>
              <a:t>ERGEBNIS</a:t>
            </a:r>
          </a:p>
        </p:txBody>
      </p:sp>
      <p:graphicFrame>
        <p:nvGraphicFramePr>
          <p:cNvPr id="11" name="Ergebnistabelle"/>
          <p:cNvGraphicFramePr>
            <a:graphicFrameLocks noGrp="1"/>
          </p:cNvGraphicFramePr>
          <p:nvPr/>
        </p:nvGraphicFramePr>
        <p:xfrm>
          <a:off x="548640" y="3566160"/>
          <a:ext cx="2367381" cy="1791335"/>
        </p:xfrm>
        <a:graphic>
          <a:graphicData uri="http://schemas.openxmlformats.org/drawingml/2006/table">
            <a:tbl>
              <a:tblPr firstRow="1">
                <a:tableStyleId>{5C22544A-7EE6-4342-B048-85BDC9FD1C3A}</a:tableStyleId>
              </a:tblPr>
              <a:tblGrid>
                <a:gridCol w="880567"/>
                <a:gridCol w="1486814"/>
              </a:tblGrid>
              <a:tr h="255905">
                <a:tc>
                  <a:txBody>
                    <a:bodyPr/>
                    <a:lstStyle/>
                    <a:p>
                      <a:r>
                        <a:rPr sz="1196" b="1" i="0" u="none">
                          <a:solidFill>
                            <a:srgbClr val="1C2B3A"/>
                          </a:solidFill>
                          <a:latin typeface="IBM Plex Mono"/>
                        </a:rPr>
                        <a:t>FallNr</a:t>
                      </a:r>
                    </a:p>
                  </a:txBody>
                  <a:tcPr marL="54864" marR="54864" marT="18288" marB="18288">
                    <a:solidFill>
                      <a:srgbClr val="EBE2D2"/>
                    </a:solidFill>
                  </a:tcPr>
                </a:tc>
                <a:tc>
                  <a:txBody>
                    <a:bodyPr/>
                    <a:lstStyle/>
                    <a:p>
                      <a:r>
                        <a:rPr sz="1196" b="1" i="0" u="none">
                          <a:solidFill>
                            <a:srgbClr val="1C2B3A"/>
                          </a:solidFill>
                          <a:latin typeface="IBM Plex Mono"/>
                        </a:rPr>
                        <a:t>Verdaechtige</a:t>
                      </a:r>
                    </a:p>
                  </a:txBody>
                  <a:tcPr marL="54864" marR="54864" marT="18288" marB="18288">
                    <a:solidFill>
                      <a:srgbClr val="EBE2D2"/>
                    </a:solidFill>
                  </a:tcPr>
                </a:tc>
              </a:tr>
              <a:tr h="255905">
                <a:tc>
                  <a:txBody>
                    <a:bodyPr/>
                    <a:lstStyle/>
                    <a:p>
                      <a:pPr algn="r"/>
                      <a:r>
                        <a:rPr sz="1300" b="0" i="0" u="none">
                          <a:solidFill>
                            <a:srgbClr val="1C2B3A"/>
                          </a:solidFill>
                          <a:latin typeface="Barlow"/>
                        </a:rPr>
                        <a:t>1</a:t>
                      </a:r>
                    </a:p>
                  </a:txBody>
                  <a:tcPr marL="54864" marR="54864" marT="18288" marB="18288">
                    <a:solidFill>
                      <a:srgbClr val="FFFDF8"/>
                    </a:solidFill>
                  </a:tcPr>
                </a:tc>
                <a:tc>
                  <a:txBody>
                    <a:bodyPr/>
                    <a:lstStyle/>
                    <a:p>
                      <a:pPr algn="r"/>
                      <a:r>
                        <a:rPr sz="1300" b="0" i="0" u="none">
                          <a:solidFill>
                            <a:srgbClr val="1C2B3A"/>
                          </a:solidFill>
                          <a:latin typeface="Barlow"/>
                        </a:rPr>
                        <a:t>2</a:t>
                      </a:r>
                    </a:p>
                  </a:txBody>
                  <a:tcPr marL="54864" marR="54864" marT="18288" marB="18288">
                    <a:solidFill>
                      <a:srgbClr val="FFFDF8"/>
                    </a:solidFill>
                  </a:tcPr>
                </a:tc>
              </a:tr>
              <a:tr h="255905">
                <a:tc>
                  <a:txBody>
                    <a:bodyPr/>
                    <a:lstStyle/>
                    <a:p>
                      <a:pPr algn="r"/>
                      <a:r>
                        <a:rPr sz="1300" b="0" i="0" u="none">
                          <a:solidFill>
                            <a:srgbClr val="1C2B3A"/>
                          </a:solidFill>
                          <a:latin typeface="Barlow"/>
                        </a:rPr>
                        <a:t>2</a:t>
                      </a:r>
                    </a:p>
                  </a:txBody>
                  <a:tcPr marL="54864" marR="54864" marT="18288" marB="18288">
                    <a:solidFill>
                      <a:srgbClr val="FFFDF8"/>
                    </a:solidFill>
                  </a:tcPr>
                </a:tc>
                <a:tc>
                  <a:txBody>
                    <a:bodyPr/>
                    <a:lstStyle/>
                    <a:p>
                      <a:pPr algn="r"/>
                      <a:r>
                        <a:rPr sz="1300" b="0" i="0" u="none">
                          <a:solidFill>
                            <a:srgbClr val="1C2B3A"/>
                          </a:solidFill>
                          <a:latin typeface="Barlow"/>
                        </a:rPr>
                        <a:t>2</a:t>
                      </a:r>
                    </a:p>
                  </a:txBody>
                  <a:tcPr marL="54864" marR="54864" marT="18288" marB="18288">
                    <a:solidFill>
                      <a:srgbClr val="FFFDF8"/>
                    </a:solidFill>
                  </a:tcPr>
                </a:tc>
              </a:tr>
              <a:tr h="255905">
                <a:tc>
                  <a:txBody>
                    <a:bodyPr/>
                    <a:lstStyle/>
                    <a:p>
                      <a:pPr algn="r"/>
                      <a:r>
                        <a:rPr sz="1300" b="0" i="0" u="none">
                          <a:solidFill>
                            <a:srgbClr val="1C2B3A"/>
                          </a:solidFill>
                          <a:latin typeface="Barlow"/>
                        </a:rPr>
                        <a:t>3</a:t>
                      </a:r>
                    </a:p>
                  </a:txBody>
                  <a:tcPr marL="54864" marR="54864" marT="18288" marB="18288">
                    <a:solidFill>
                      <a:srgbClr val="FFFDF8"/>
                    </a:solidFill>
                  </a:tcPr>
                </a:tc>
                <a:tc>
                  <a:txBody>
                    <a:bodyPr/>
                    <a:lstStyle/>
                    <a:p>
                      <a:pPr algn="r"/>
                      <a:r>
                        <a:rPr sz="1300" b="0" i="0" u="none">
                          <a:solidFill>
                            <a:srgbClr val="1C2B3A"/>
                          </a:solidFill>
                          <a:latin typeface="Barlow"/>
                        </a:rPr>
                        <a:t>2</a:t>
                      </a:r>
                    </a:p>
                  </a:txBody>
                  <a:tcPr marL="54864" marR="54864" marT="18288" marB="18288">
                    <a:solidFill>
                      <a:srgbClr val="FFFDF8"/>
                    </a:solidFill>
                  </a:tcPr>
                </a:tc>
              </a:tr>
              <a:tr h="255905">
                <a:tc>
                  <a:txBody>
                    <a:bodyPr/>
                    <a:lstStyle/>
                    <a:p>
                      <a:pPr algn="r"/>
                      <a:r>
                        <a:rPr sz="1300" b="0" i="0" u="none">
                          <a:solidFill>
                            <a:srgbClr val="1C2B3A"/>
                          </a:solidFill>
                          <a:latin typeface="Barlow"/>
                        </a:rPr>
                        <a:t>4</a:t>
                      </a:r>
                    </a:p>
                  </a:txBody>
                  <a:tcPr marL="54864" marR="54864" marT="18288" marB="18288">
                    <a:solidFill>
                      <a:srgbClr val="FFFDF8"/>
                    </a:solidFill>
                  </a:tcPr>
                </a:tc>
                <a:tc>
                  <a:txBody>
                    <a:bodyPr/>
                    <a:lstStyle/>
                    <a:p>
                      <a:pPr algn="r"/>
                      <a:r>
                        <a:rPr sz="1300" b="0" i="0" u="none">
                          <a:solidFill>
                            <a:srgbClr val="1C2B3A"/>
                          </a:solidFill>
                          <a:latin typeface="Barlow"/>
                        </a:rPr>
                        <a:t>2</a:t>
                      </a:r>
                    </a:p>
                  </a:txBody>
                  <a:tcPr marL="54864" marR="54864" marT="18288" marB="18288">
                    <a:solidFill>
                      <a:srgbClr val="FFFDF8"/>
                    </a:solidFill>
                  </a:tcPr>
                </a:tc>
              </a:tr>
              <a:tr h="255905">
                <a:tc>
                  <a:txBody>
                    <a:bodyPr/>
                    <a:lstStyle/>
                    <a:p>
                      <a:pPr algn="r"/>
                      <a:r>
                        <a:rPr sz="1300" b="0" i="0" u="none">
                          <a:solidFill>
                            <a:srgbClr val="1C2B3A"/>
                          </a:solidFill>
                          <a:latin typeface="Barlow"/>
                        </a:rPr>
                        <a:t>5</a:t>
                      </a:r>
                    </a:p>
                  </a:txBody>
                  <a:tcPr marL="54864" marR="54864" marT="18288" marB="18288">
                    <a:solidFill>
                      <a:srgbClr val="FFFDF8"/>
                    </a:solidFill>
                  </a:tcPr>
                </a:tc>
                <a:tc>
                  <a:txBody>
                    <a:bodyPr/>
                    <a:lstStyle/>
                    <a:p>
                      <a:pPr algn="r"/>
                      <a:r>
                        <a:rPr sz="1300" b="0" i="0" u="none">
                          <a:solidFill>
                            <a:srgbClr val="1C2B3A"/>
                          </a:solidFill>
                          <a:latin typeface="Barlow"/>
                        </a:rPr>
                        <a:t>2</a:t>
                      </a:r>
                    </a:p>
                  </a:txBody>
                  <a:tcPr marL="54864" marR="54864" marT="18288" marB="18288">
                    <a:solidFill>
                      <a:srgbClr val="FFFDF8"/>
                    </a:solidFill>
                  </a:tcPr>
                </a:tc>
              </a:tr>
              <a:tr h="255905">
                <a:tc>
                  <a:txBody>
                    <a:bodyPr/>
                    <a:lstStyle/>
                    <a:p>
                      <a:r>
                        <a:rPr sz="1300" b="0" i="0" u="none">
                          <a:solidFill>
                            <a:srgbClr val="1C2B3A"/>
                          </a:solidFill>
                          <a:latin typeface="Barlow"/>
                        </a:rPr>
                        <a:t>…</a:t>
                      </a:r>
                    </a:p>
                  </a:txBody>
                  <a:tcPr marL="54864" marR="54864" marT="18288" marB="18288">
                    <a:solidFill>
                      <a:srgbClr val="FFFDF8"/>
                    </a:solidFill>
                  </a:tcPr>
                </a:tc>
                <a:tc>
                  <a:txBody>
                    <a:bodyPr/>
                    <a:lstStyle/>
                    <a:p>
                      <a:r>
                        <a:rPr sz="1300" b="0" i="0" u="none">
                          <a:solidFill>
                            <a:srgbClr val="1C2B3A"/>
                          </a:solidFill>
                          <a:latin typeface="Barlow"/>
                        </a:rPr>
                        <a:t>…</a:t>
                      </a:r>
                    </a:p>
                  </a:txBody>
                  <a:tcPr marL="54864" marR="54864" marT="18288" marB="18288">
                    <a:solidFill>
                      <a:srgbClr val="FFFDF8"/>
                    </a:solidFill>
                  </a:tcPr>
                </a:tc>
              </a:tr>
            </a:tbl>
          </a:graphicData>
        </a:graphic>
      </p:graphicFrame>
      <p:sp>
        <p:nvSpPr>
          <p:cNvPr id="12" name="Rounded Rectangle 11"/>
          <p:cNvSpPr/>
          <p:nvPr/>
        </p:nvSpPr>
        <p:spPr>
          <a:xfrm>
            <a:off x="6924888" y="1691640"/>
            <a:ext cx="4718166" cy="75692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924888" y="1691640"/>
            <a:ext cx="73152" cy="75692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062048" y="176479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1</a:t>
            </a:r>
          </a:p>
        </p:txBody>
      </p:sp>
      <p:sp>
        <p:nvSpPr>
          <p:cNvPr id="15" name="TextBox 14"/>
          <p:cNvSpPr txBox="1"/>
          <p:nvPr/>
        </p:nvSpPr>
        <p:spPr>
          <a:xfrm>
            <a:off x="7519248" y="1764792"/>
            <a:ext cx="3986646" cy="64719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FROM</a:t>
            </a:r>
            <a:r>
              <a:rPr sz="1600" b="0" i="0" u="none">
                <a:solidFill>
                  <a:srgbClr val="1C2B3A"/>
                </a:solidFill>
                <a:latin typeface="Barlow"/>
              </a:rPr>
              <a:t> – die Beziehungstabelle verdaechtig(PersonNr, FallNr, Grad)</a:t>
            </a:r>
          </a:p>
        </p:txBody>
      </p:sp>
      <p:sp>
        <p:nvSpPr>
          <p:cNvPr id="16" name="Rounded Rectangle 15"/>
          <p:cNvSpPr/>
          <p:nvPr/>
        </p:nvSpPr>
        <p:spPr>
          <a:xfrm>
            <a:off x="6924888" y="2585720"/>
            <a:ext cx="4718166" cy="6858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4888" y="2585720"/>
            <a:ext cx="73152" cy="68580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62048" y="265887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2</a:t>
            </a:r>
          </a:p>
        </p:txBody>
      </p:sp>
      <p:sp>
        <p:nvSpPr>
          <p:cNvPr id="19" name="TextBox 18"/>
          <p:cNvSpPr txBox="1"/>
          <p:nvPr/>
        </p:nvSpPr>
        <p:spPr>
          <a:xfrm>
            <a:off x="7519248" y="2658872"/>
            <a:ext cx="3986646" cy="57607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GROUP BY</a:t>
            </a:r>
            <a:r>
              <a:rPr sz="1600" b="0" i="0" u="none">
                <a:solidFill>
                  <a:srgbClr val="1C2B3A"/>
                </a:solidFill>
                <a:latin typeface="Barlow"/>
              </a:rPr>
              <a:t> – eine Gruppe je Fall</a:t>
            </a:r>
          </a:p>
        </p:txBody>
      </p:sp>
      <p:sp>
        <p:nvSpPr>
          <p:cNvPr id="20" name="Rounded Rectangle 19"/>
          <p:cNvSpPr/>
          <p:nvPr/>
        </p:nvSpPr>
        <p:spPr>
          <a:xfrm>
            <a:off x="6924888" y="3408680"/>
            <a:ext cx="4718166" cy="75692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924888" y="3408680"/>
            <a:ext cx="73152" cy="75692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062048" y="348183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3</a:t>
            </a:r>
          </a:p>
        </p:txBody>
      </p:sp>
      <p:sp>
        <p:nvSpPr>
          <p:cNvPr id="23" name="TextBox 22"/>
          <p:cNvSpPr txBox="1"/>
          <p:nvPr/>
        </p:nvSpPr>
        <p:spPr>
          <a:xfrm>
            <a:off x="7519248" y="3481832"/>
            <a:ext cx="3986646" cy="64719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HAVING</a:t>
            </a:r>
            <a:r>
              <a:rPr sz="1600" b="0" i="0" u="none">
                <a:solidFill>
                  <a:srgbClr val="1C2B3A"/>
                </a:solidFill>
                <a:latin typeface="Barlow"/>
              </a:rPr>
              <a:t> – nur Fälle mit mehr als einer verdächtigen Person</a:t>
            </a:r>
          </a:p>
        </p:txBody>
      </p:sp>
      <p:sp>
        <p:nvSpPr>
          <p:cNvPr id="24" name="Rounded Rectangle 23"/>
          <p:cNvSpPr/>
          <p:nvPr/>
        </p:nvSpPr>
        <p:spPr>
          <a:xfrm>
            <a:off x="6924888" y="4302760"/>
            <a:ext cx="4718166" cy="102108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924888" y="4302760"/>
            <a:ext cx="73152" cy="102108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062048" y="437591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4</a:t>
            </a:r>
          </a:p>
        </p:txBody>
      </p:sp>
      <p:sp>
        <p:nvSpPr>
          <p:cNvPr id="27" name="TextBox 26"/>
          <p:cNvSpPr txBox="1"/>
          <p:nvPr/>
        </p:nvSpPr>
        <p:spPr>
          <a:xfrm>
            <a:off x="7519248" y="4375912"/>
            <a:ext cx="3986646" cy="911352"/>
          </a:xfrm>
          <a:prstGeom prst="rect">
            <a:avLst/>
          </a:prstGeom>
          <a:noFill/>
        </p:spPr>
        <p:txBody>
          <a:bodyPr wrap="square" anchor="ctr" lIns="36576" rIns="36576" tIns="36576" bIns="36576">
            <a:spAutoFit/>
          </a:bodyPr>
          <a:lstStyle/>
          <a:p>
            <a:pPr>
              <a:lnSpc>
                <a:spcPct val="105000"/>
              </a:lnSpc>
            </a:pPr>
            <a:r>
              <a:rPr sz="1600" b="0" i="0" u="none">
                <a:solidFill>
                  <a:srgbClr val="1C2B3A"/>
                </a:solidFill>
                <a:latin typeface="Barlow"/>
              </a:rPr>
              <a:t>Ergebnis: Ein Fall – mehrere Personen. Die andere Richtung prüft ihr im Lab (A5-E1-08).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Fäden-Kardinalitäten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11</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UNPLUGGED · 15 MIN · MATERIAL: ROLLENKARTEN, WOLLFÄDEN, ETIKETTEN</a:t>
            </a:r>
          </a:p>
        </p:txBody>
      </p:sp>
      <p:sp>
        <p:nvSpPr>
          <p:cNvPr id="10" name="TextBox 9"/>
          <p:cNvSpPr txBox="1"/>
          <p:nvPr/>
        </p:nvSpPr>
        <p:spPr>
          <a:xfrm>
            <a:off x="822959" y="2194560"/>
            <a:ext cx="10545775" cy="1840864"/>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1. </a:t>
            </a:r>
            <a:r>
              <a:rPr sz="1900" b="1" i="0" u="none">
                <a:solidFill>
                  <a:srgbClr val="1C2B3A"/>
                </a:solidFill>
                <a:latin typeface="Barlow"/>
              </a:rPr>
              <a:t>1:n</a:t>
            </a:r>
            <a:r>
              <a:rPr sz="1900" b="0" i="0" u="none">
                <a:solidFill>
                  <a:srgbClr val="1C2B3A"/>
                </a:solidFill>
                <a:latin typeface="Barlow"/>
              </a:rPr>
              <a:t> – Jede Fall-Karte nimmt einen Faden zu der Ermittlerin, die auf ihrer Karte steht. Wer hält wie viele Fäden?</a:t>
            </a:r>
          </a:p>
          <a:p>
            <a:pPr>
              <a:lnSpc>
                <a:spcPct val="105000"/>
              </a:lnSpc>
              <a:spcAft>
                <a:spcPts val="600"/>
              </a:spcAft>
            </a:pPr>
            <a:r>
              <a:rPr sz="1900" b="0" i="0" u="none">
                <a:solidFill>
                  <a:srgbClr val="1C2B3A"/>
                </a:solidFill>
                <a:latin typeface="Barlow"/>
              </a:rPr>
              <a:t>2. </a:t>
            </a:r>
            <a:r>
              <a:rPr sz="1900" b="1" i="0" u="none">
                <a:solidFill>
                  <a:srgbClr val="1C2B3A"/>
                </a:solidFill>
                <a:latin typeface="Barlow"/>
              </a:rPr>
              <a:t>n:m</a:t>
            </a:r>
            <a:r>
              <a:rPr sz="1900" b="0" i="0" u="none">
                <a:solidFill>
                  <a:srgbClr val="1C2B3A"/>
                </a:solidFill>
                <a:latin typeface="Barlow"/>
              </a:rPr>
              <a:t> – Personen spannen Fäden zu allen Fällen, in denen sie verdächtig sind.</a:t>
            </a:r>
          </a:p>
          <a:p>
            <a:pPr>
              <a:lnSpc>
                <a:spcPct val="105000"/>
              </a:lnSpc>
              <a:spcAft>
                <a:spcPts val="600"/>
              </a:spcAft>
            </a:pPr>
            <a:r>
              <a:rPr sz="1900" b="0" i="0" u="none">
                <a:solidFill>
                  <a:srgbClr val="1C2B3A"/>
                </a:solidFill>
                <a:latin typeface="Barlow"/>
              </a:rPr>
              <a:t>3. </a:t>
            </a:r>
            <a:r>
              <a:rPr sz="1900" b="1" i="0" u="none">
                <a:solidFill>
                  <a:srgbClr val="1C2B3A"/>
                </a:solidFill>
                <a:latin typeface="Barlow"/>
              </a:rPr>
              <a:t>1:1</a:t>
            </a:r>
            <a:r>
              <a:rPr sz="1900" b="0" i="0" u="none">
                <a:solidFill>
                  <a:srgbClr val="1C2B3A"/>
                </a:solidFill>
                <a:latin typeface="Barlow"/>
              </a:rPr>
              <a:t> – Jeder Ermittler zu seinem Dienstausweis.</a:t>
            </a:r>
          </a:p>
          <a:p>
            <a:pPr>
              <a:lnSpc>
                <a:spcPct val="105000"/>
              </a:lnSpc>
              <a:spcAft>
                <a:spcPts val="600"/>
              </a:spcAft>
            </a:pPr>
            <a:r>
              <a:rPr sz="1900" b="0" i="0" u="none">
                <a:solidFill>
                  <a:srgbClr val="1C2B3A"/>
                </a:solidFill>
                <a:latin typeface="Barlow"/>
              </a:rPr>
              <a:t>4. </a:t>
            </a:r>
            <a:r>
              <a:rPr sz="1900" b="1" i="0" u="none">
                <a:solidFill>
                  <a:srgbClr val="1C2B3A"/>
                </a:solidFill>
                <a:latin typeface="Barlow"/>
              </a:rPr>
              <a:t>Beziehungsattribut</a:t>
            </a:r>
            <a:r>
              <a:rPr sz="1900" b="0" i="0" u="none">
                <a:solidFill>
                  <a:srgbClr val="1C2B3A"/>
                </a:solidFill>
                <a:latin typeface="Barlow"/>
              </a:rPr>
              <a:t> – Wohin kommt das Etikett „Grad: hoch“ für Person 3 und Fall 2?</a:t>
            </a:r>
          </a:p>
          <a:p>
            <a:pPr>
              <a:lnSpc>
                <a:spcPct val="105000"/>
              </a:lnSpc>
              <a:spcAft>
                <a:spcPts val="600"/>
              </a:spcAft>
            </a:pPr>
            <a:r>
              <a:rPr sz="1900" b="0" i="0" u="none">
                <a:solidFill>
                  <a:srgbClr val="1C2B3A"/>
                </a:solidFill>
                <a:latin typeface="Barlow"/>
              </a:rPr>
              <a:t>5. Impuls: Woran erkennt ihr in einer Tabelle, welche Kardinalität vorliegt?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Ab ins Lab: Ermittlung 5.1</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12</a:t>
            </a:r>
          </a:p>
        </p:txBody>
      </p:sp>
      <p:sp>
        <p:nvSpPr>
          <p:cNvPr id="8" name="Rounded Rectangle 7"/>
          <p:cNvSpPr/>
          <p:nvPr/>
        </p:nvSpPr>
        <p:spPr>
          <a:xfrm>
            <a:off x="548640" y="1691640"/>
            <a:ext cx="11094415" cy="292608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C5A85"/>
                </a:solidFill>
                <a:latin typeface="IBM Plex Mono"/>
              </a:rPr>
              <a:t>SPUR IM LAB</a:t>
            </a:r>
          </a:p>
        </p:txBody>
      </p:sp>
      <p:sp>
        <p:nvSpPr>
          <p:cNvPr id="10" name="TextBox 9"/>
          <p:cNvSpPr txBox="1"/>
          <p:nvPr/>
        </p:nvSpPr>
        <p:spPr>
          <a:xfrm>
            <a:off x="822959" y="2194560"/>
            <a:ext cx="10545775" cy="2194560"/>
          </a:xfrm>
          <a:prstGeom prst="rect">
            <a:avLst/>
          </a:prstGeom>
          <a:noFill/>
        </p:spPr>
        <p:txBody>
          <a:bodyPr wrap="square" anchor="t" lIns="36576" rIns="36576" tIns="36576" bIns="36576">
            <a:spAutoFit/>
          </a:bodyPr>
          <a:lstStyle/>
          <a:p>
            <a:pPr>
              <a:lnSpc>
                <a:spcPct val="105000"/>
              </a:lnSpc>
              <a:spcAft>
                <a:spcPts val="600"/>
              </a:spcAft>
            </a:pPr>
            <a:r>
              <a:rPr sz="2600" b="0" i="0" u="none">
                <a:solidFill>
                  <a:srgbClr val="1C2B3A"/>
                </a:solidFill>
                <a:latin typeface="Barlow Condensed SemiBold"/>
              </a:rPr>
              <a:t>„Baupläne lesen“</a:t>
            </a:r>
          </a:p>
          <a:p>
            <a:pPr>
              <a:lnSpc>
                <a:spcPct val="105000"/>
              </a:lnSpc>
              <a:spcAft>
                <a:spcPts val="400"/>
              </a:spcAft>
            </a:pPr>
            <a:r>
              <a:rPr sz="1900" b="1" i="0" u="none">
                <a:solidFill>
                  <a:srgbClr val="1C2B3A"/>
                </a:solidFill>
                <a:latin typeface="Barlow"/>
              </a:rPr>
              <a:t>Aufgaben:</a:t>
            </a:r>
            <a:r>
              <a:rPr sz="1900" b="0" i="0" u="none">
                <a:solidFill>
                  <a:srgbClr val="1C2B3A"/>
                </a:solidFill>
                <a:latin typeface="Barlow"/>
              </a:rPr>
              <a:t> A5-E1-01 … 08 (</a:t>
            </a:r>
            <a:r>
              <a:rPr sz="1900" b="0" i="0" u="none">
                <a:solidFill>
                  <a:srgbClr val="D4B062"/>
                </a:solidFill>
                <a:latin typeface="Segoe UI Symbol"/>
              </a:rPr>
              <a:t>★</a:t>
            </a:r>
            <a:r>
              <a:rPr sz="1900" b="0" i="0" u="none">
                <a:solidFill>
                  <a:srgbClr val="1C2B3A"/>
                </a:solidFill>
                <a:latin typeface="Barlow"/>
              </a:rPr>
              <a:t> → </a:t>
            </a:r>
            <a:r>
              <a:rPr sz="1900" b="0" i="0" u="none">
                <a:solidFill>
                  <a:srgbClr val="D4B062"/>
                </a:solidFill>
                <a:latin typeface="Segoe UI Symbol"/>
              </a:rPr>
              <a:t>★★</a:t>
            </a:r>
            <a:r>
              <a:rPr sz="1900" b="0" i="0" u="none">
                <a:solidFill>
                  <a:srgbClr val="1C2B3A"/>
                </a:solidFill>
                <a:latin typeface="Barlow"/>
              </a:rPr>
              <a:t> → </a:t>
            </a:r>
            <a:r>
              <a:rPr sz="1900" b="0" i="0" u="none">
                <a:solidFill>
                  <a:srgbClr val="D4B062"/>
                </a:solidFill>
                <a:latin typeface="Segoe UI Symbol"/>
              </a:rPr>
              <a:t>★★★</a:t>
            </a:r>
            <a:r>
              <a:rPr sz="1900" b="0" i="0" u="none">
                <a:solidFill>
                  <a:srgbClr val="1C2B3A"/>
                </a:solidFill>
                <a:latin typeface="Barlow"/>
              </a:rPr>
              <a:t>)</a:t>
            </a:r>
          </a:p>
          <a:p>
            <a:pPr>
              <a:lnSpc>
                <a:spcPct val="105000"/>
              </a:lnSpc>
              <a:spcAft>
                <a:spcPts val="400"/>
              </a:spcAft>
            </a:pPr>
            <a:r>
              <a:rPr sz="1900" b="1" i="0" u="none">
                <a:solidFill>
                  <a:srgbClr val="1C2B3A"/>
                </a:solidFill>
                <a:latin typeface="Barlow"/>
              </a:rPr>
              <a:t>Werkzeug:</a:t>
            </a:r>
            <a:r>
              <a:rPr sz="1900" b="0" i="0" u="none">
                <a:solidFill>
                  <a:srgbClr val="1C2B3A"/>
                </a:solidFill>
                <a:latin typeface="Barlow"/>
              </a:rPr>
              <a:t> Bauplan-Tisch (Modi lesen und ergänzen)</a:t>
            </a:r>
          </a:p>
        </p:txBody>
      </p:sp>
      <p:sp>
        <p:nvSpPr>
          <p:cNvPr id="11" name="TextBox 10"/>
          <p:cNvSpPr txBox="1"/>
          <p:nvPr/>
        </p:nvSpPr>
        <p:spPr>
          <a:xfrm>
            <a:off x="548640" y="4800600"/>
            <a:ext cx="11094415" cy="1030605"/>
          </a:xfrm>
          <a:prstGeom prst="rect">
            <a:avLst/>
          </a:prstGeom>
          <a:noFill/>
        </p:spPr>
        <p:txBody>
          <a:bodyPr wrap="square" anchor="t" lIns="36576" rIns="36576" tIns="36576" bIns="36576">
            <a:spAutoFit/>
          </a:bodyPr>
          <a:lstStyle/>
          <a:p>
            <a:pPr>
              <a:lnSpc>
                <a:spcPct val="105000"/>
              </a:lnSpc>
              <a:spcAft>
                <a:spcPts val="600"/>
              </a:spcAft>
            </a:pPr>
            <a:r>
              <a:rPr sz="1700" b="0" i="0" u="none">
                <a:solidFill>
                  <a:srgbClr val="E8E1D3"/>
                </a:solidFill>
                <a:latin typeface="Barlow"/>
              </a:rPr>
              <a:t>▸ Auf dem iPad: Listenmodus statt Zeichnen</a:t>
            </a:r>
          </a:p>
          <a:p>
            <a:pPr>
              <a:lnSpc>
                <a:spcPct val="105000"/>
              </a:lnSpc>
              <a:spcAft>
                <a:spcPts val="600"/>
              </a:spcAft>
            </a:pPr>
            <a:r>
              <a:rPr sz="1700" b="0" i="0" u="none">
                <a:solidFill>
                  <a:srgbClr val="E8E1D3"/>
                </a:solidFill>
                <a:latin typeface="Barlow"/>
              </a:rPr>
              <a:t>▸ Parallel: AB 5.1, Aufträge 1–4 auf Papier</a:t>
            </a:r>
          </a:p>
          <a:p>
            <a:pPr>
              <a:lnSpc>
                <a:spcPct val="105000"/>
              </a:lnSpc>
              <a:spcAft>
                <a:spcPts val="600"/>
              </a:spcAft>
            </a:pPr>
            <a:r>
              <a:rPr sz="1700" b="0" i="0" u="none">
                <a:solidFill>
                  <a:srgbClr val="E8E1D3"/>
                </a:solidFill>
                <a:latin typeface="Barlow"/>
              </a:rPr>
              <a:t>▸ Schnelle: Cold Case A5-E1-CC und AB-Cold-Case „Dienstwagen“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Ermittler-Notiz</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13</a:t>
            </a:r>
          </a:p>
        </p:txBody>
      </p:sp>
      <p:sp>
        <p:nvSpPr>
          <p:cNvPr id="8" name="Rounded Rectangle 7"/>
          <p:cNvSpPr/>
          <p:nvPr/>
        </p:nvSpPr>
        <p:spPr>
          <a:xfrm>
            <a:off x="548640" y="1691640"/>
            <a:ext cx="11094415" cy="434340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C5A85"/>
                </a:solidFill>
                <a:latin typeface="IBM Plex Mono"/>
              </a:rPr>
              <a:t>ERMITTLER-NOTIZ</a:t>
            </a:r>
          </a:p>
        </p:txBody>
      </p:sp>
      <p:sp>
        <p:nvSpPr>
          <p:cNvPr id="10" name="TextBox 9"/>
          <p:cNvSpPr txBox="1"/>
          <p:nvPr/>
        </p:nvSpPr>
        <p:spPr>
          <a:xfrm>
            <a:off x="822959" y="2194560"/>
            <a:ext cx="10545775" cy="1932940"/>
          </a:xfrm>
          <a:prstGeom prst="rect">
            <a:avLst/>
          </a:prstGeom>
          <a:noFill/>
        </p:spPr>
        <p:txBody>
          <a:bodyPr wrap="square" anchor="t" lIns="36576" rIns="36576" tIns="36576" bIns="36576">
            <a:spAutoFit/>
          </a:bodyPr>
          <a:lstStyle/>
          <a:p>
            <a:pPr>
              <a:lnSpc>
                <a:spcPct val="105000"/>
              </a:lnSpc>
              <a:spcAft>
                <a:spcPts val="600"/>
              </a:spcAft>
            </a:pPr>
            <a:r>
              <a:rPr sz="2000" b="0" i="0" u="none">
                <a:solidFill>
                  <a:srgbClr val="1C2B3A"/>
                </a:solidFill>
                <a:latin typeface="Barlow"/>
              </a:rPr>
              <a:t>▸ Rechteck = Entitätstyp · Raute = Beziehungstyp · Ellipse = Attribut · unterstrichen = Schlüsselattribut · 1/n/m = Kardinalität.</a:t>
            </a:r>
          </a:p>
          <a:p>
            <a:pPr>
              <a:lnSpc>
                <a:spcPct val="105000"/>
              </a:lnSpc>
              <a:spcAft>
                <a:spcPts val="600"/>
              </a:spcAft>
            </a:pPr>
            <a:r>
              <a:rPr sz="2000" b="0" i="0" u="none">
                <a:solidFill>
                  <a:srgbClr val="1C2B3A"/>
                </a:solidFill>
                <a:latin typeface="Barlow"/>
              </a:rPr>
              <a:t>▸ Leseschablone in </a:t>
            </a:r>
            <a:r>
              <a:rPr sz="2000" b="1" i="0" u="none">
                <a:solidFill>
                  <a:srgbClr val="1C2B3A"/>
                </a:solidFill>
                <a:latin typeface="Barlow"/>
              </a:rPr>
              <a:t>beide</a:t>
            </a:r>
            <a:r>
              <a:rPr sz="2000" b="0" i="0" u="none">
                <a:solidFill>
                  <a:srgbClr val="1C2B3A"/>
                </a:solidFill>
                <a:latin typeface="Barlow"/>
              </a:rPr>
              <a:t> Richtungen; die Zahl steht beim Entitätstyp, über den du sprichst.</a:t>
            </a:r>
          </a:p>
          <a:p>
            <a:pPr>
              <a:lnSpc>
                <a:spcPct val="105000"/>
              </a:lnSpc>
              <a:spcAft>
                <a:spcPts val="600"/>
              </a:spcAft>
            </a:pPr>
            <a:r>
              <a:rPr sz="2000" b="0" i="0" u="none">
                <a:solidFill>
                  <a:srgbClr val="1C2B3A"/>
                </a:solidFill>
                <a:latin typeface="Barlow"/>
              </a:rPr>
              <a:t>▸ Hängt ein Attribut vom Paar ab → an die Raute.</a:t>
            </a:r>
          </a:p>
          <a:p>
            <a:pPr>
              <a:lnSpc>
                <a:spcPct val="105000"/>
              </a:lnSpc>
              <a:spcAft>
                <a:spcPts val="600"/>
              </a:spcAft>
            </a:pPr>
            <a:r>
              <a:rPr sz="2000" b="0" i="0" u="none">
                <a:solidFill>
                  <a:srgbClr val="1C2B3A"/>
                </a:solidFill>
                <a:latin typeface="Barlow"/>
              </a:rPr>
              <a:t>▸ Daten stützen eine Kardinalität nur – begründet wird im Sachzusammenhang.</a:t>
            </a:r>
          </a:p>
          <a:p>
            <a:pPr>
              <a:lnSpc>
                <a:spcPct val="105000"/>
              </a:lnSpc>
              <a:spcAft>
                <a:spcPts val="600"/>
              </a:spcAft>
            </a:pPr>
            <a:r>
              <a:rPr sz="2000" b="0" i="0" u="none">
                <a:solidFill>
                  <a:srgbClr val="1C2B3A"/>
                </a:solidFill>
                <a:latin typeface="Barlow"/>
              </a:rPr>
              <a:t>▸ Fachbegriffe: Entitätstyp, Beziehungstyp – nie „Entitätsmenge“.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Abi-Format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14</a:t>
            </a:r>
          </a:p>
        </p:txBody>
      </p:sp>
      <p:sp>
        <p:nvSpPr>
          <p:cNvPr id="8" name="Rounded Rectangle 7"/>
          <p:cNvSpPr/>
          <p:nvPr/>
        </p:nvSpPr>
        <p:spPr>
          <a:xfrm>
            <a:off x="548640" y="1691640"/>
            <a:ext cx="11094415" cy="4343400"/>
          </a:xfrm>
          <a:prstGeom prst="roundRect">
            <a:avLst>
              <a:gd name="adj" fmla="val 4000"/>
            </a:avLst>
          </a:prstGeom>
          <a:solidFill>
            <a:srgbClr val="F4EDE1"/>
          </a:solidFill>
          <a:ln w="2540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ABI-ECKE · OPERATOR BEGRÜNDEN</a:t>
            </a:r>
          </a:p>
        </p:txBody>
      </p:sp>
      <p:sp>
        <p:nvSpPr>
          <p:cNvPr id="10" name="TextBox 9"/>
          <p:cNvSpPr txBox="1"/>
          <p:nvPr/>
        </p:nvSpPr>
        <p:spPr>
          <a:xfrm>
            <a:off x="822959" y="2194560"/>
            <a:ext cx="10545775" cy="1043940"/>
          </a:xfrm>
          <a:prstGeom prst="rect">
            <a:avLst/>
          </a:prstGeom>
          <a:noFill/>
        </p:spPr>
        <p:txBody>
          <a:bodyPr wrap="square" anchor="t" lIns="36576" rIns="36576" tIns="36576" bIns="36576">
            <a:spAutoFit/>
          </a:bodyPr>
          <a:lstStyle/>
          <a:p>
            <a:pPr>
              <a:lnSpc>
                <a:spcPct val="105000"/>
              </a:lnSpc>
              <a:spcAft>
                <a:spcPts val="600"/>
              </a:spcAft>
            </a:pPr>
            <a:r>
              <a:rPr sz="2000" b="0" i="0" u="none">
                <a:solidFill>
                  <a:srgbClr val="1C2B3A"/>
                </a:solidFill>
                <a:latin typeface="Barlow"/>
              </a:rPr>
              <a:t>Gegeben ist ein ER-Diagramm zur Fallverwaltung einer Detektei. </a:t>
            </a:r>
            <a:r>
              <a:rPr sz="2000" b="1" i="0" u="none">
                <a:solidFill>
                  <a:srgbClr val="1C2B3A"/>
                </a:solidFill>
                <a:latin typeface="Barlow"/>
              </a:rPr>
              <a:t>Begründen</a:t>
            </a:r>
            <a:r>
              <a:rPr sz="2000" b="0" i="0" u="none">
                <a:solidFill>
                  <a:srgbClr val="1C2B3A"/>
                </a:solidFill>
                <a:latin typeface="Barlow"/>
              </a:rPr>
              <a:t> Sie die Kardinalitäten der Beziehungstypen </a:t>
            </a:r>
            <a:r>
              <a:rPr sz="2000" b="0" i="1" u="none">
                <a:solidFill>
                  <a:srgbClr val="1C2B3A"/>
                </a:solidFill>
                <a:latin typeface="Barlow"/>
              </a:rPr>
              <a:t>leitet</a:t>
            </a:r>
            <a:r>
              <a:rPr sz="2000" b="0" i="0" u="none">
                <a:solidFill>
                  <a:srgbClr val="1C2B3A"/>
                </a:solidFill>
                <a:latin typeface="Barlow"/>
              </a:rPr>
              <a:t> und </a:t>
            </a:r>
            <a:r>
              <a:rPr sz="2000" b="0" i="1" u="none">
                <a:solidFill>
                  <a:srgbClr val="1C2B3A"/>
                </a:solidFill>
                <a:latin typeface="Barlow"/>
              </a:rPr>
              <a:t>verdaechtig</a:t>
            </a:r>
            <a:r>
              <a:rPr sz="2000" b="0" i="0" u="none">
                <a:solidFill>
                  <a:srgbClr val="1C2B3A"/>
                </a:solidFill>
                <a:latin typeface="Barlow"/>
              </a:rPr>
              <a:t> im Sachzusammenhang. [4 BE]</a:t>
            </a:r>
          </a:p>
        </p:txBody>
      </p:sp>
      <p:pic>
        <p:nvPicPr>
          <p:cNvPr id="11" name="Picture 10" descr="er_140340854635472.png"/>
          <p:cNvPicPr>
            <a:picLocks noChangeAspect="1"/>
          </p:cNvPicPr>
          <p:nvPr/>
        </p:nvPicPr>
        <p:blipFill>
          <a:blip r:embed="rId3"/>
          <a:stretch>
            <a:fillRect/>
          </a:stretch>
        </p:blipFill>
        <p:spPr>
          <a:xfrm>
            <a:off x="822959" y="3311652"/>
            <a:ext cx="10545775" cy="247962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Lösung Abi-Format (DS 9)</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15</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sp>
        <p:nvSpPr>
          <p:cNvPr id="12" name="TextBox 11"/>
          <p:cNvSpPr txBox="1"/>
          <p:nvPr/>
        </p:nvSpPr>
        <p:spPr>
          <a:xfrm>
            <a:off x="822959" y="2194560"/>
            <a:ext cx="10545775" cy="1325880"/>
          </a:xfrm>
          <a:prstGeom prst="rect">
            <a:avLst/>
          </a:prstGeom>
          <a:noFill/>
        </p:spPr>
        <p:txBody>
          <a:bodyPr wrap="square" anchor="t" lIns="36576" rIns="36576" tIns="36576" bIns="36576">
            <a:spAutoFit/>
          </a:bodyPr>
          <a:lstStyle/>
          <a:p>
            <a:pPr>
              <a:lnSpc>
                <a:spcPct val="105000"/>
              </a:lnSpc>
              <a:spcAft>
                <a:spcPts val="600"/>
              </a:spcAft>
            </a:pPr>
            <a:r>
              <a:rPr sz="1800" b="0" i="1" u="none">
                <a:solidFill>
                  <a:srgbClr val="1C2B3A"/>
                </a:solidFill>
                <a:latin typeface="Barlow"/>
              </a:rPr>
              <a:t>leitet</a:t>
            </a:r>
            <a:r>
              <a:rPr sz="1800" b="0" i="0" u="none">
                <a:solidFill>
                  <a:srgbClr val="1C2B3A"/>
                </a:solidFill>
                <a:latin typeface="Barlow"/>
              </a:rPr>
              <a:t>: Jeder Fall wird von </a:t>
            </a:r>
            <a:r>
              <a:rPr sz="1800" b="1" i="0" u="none">
                <a:solidFill>
                  <a:srgbClr val="1C2B3A"/>
                </a:solidFill>
                <a:latin typeface="Barlow"/>
              </a:rPr>
              <a:t>genau einer</a:t>
            </a:r>
            <a:r>
              <a:rPr sz="1800" b="0" i="0" u="none">
                <a:solidFill>
                  <a:srgbClr val="1C2B3A"/>
                </a:solidFill>
                <a:latin typeface="Barlow"/>
              </a:rPr>
              <a:t> Person verantwortlich geleitet (1); eine Ermittlerin kann </a:t>
            </a:r>
            <a:r>
              <a:rPr sz="1800" b="1" i="0" u="none">
                <a:solidFill>
                  <a:srgbClr val="1C2B3A"/>
                </a:solidFill>
                <a:latin typeface="Barlow"/>
              </a:rPr>
              <a:t>mehrere</a:t>
            </a:r>
            <a:r>
              <a:rPr sz="1800" b="0" i="0" u="none">
                <a:solidFill>
                  <a:srgbClr val="1C2B3A"/>
                </a:solidFill>
                <a:latin typeface="Barlow"/>
              </a:rPr>
              <a:t> Fälle gleichzeitig leiten (n).</a:t>
            </a:r>
          </a:p>
          <a:p>
            <a:pPr>
              <a:lnSpc>
                <a:spcPct val="105000"/>
              </a:lnSpc>
              <a:spcAft>
                <a:spcPts val="600"/>
              </a:spcAft>
            </a:pPr>
            <a:r>
              <a:rPr sz="1800" b="0" i="1" u="none">
                <a:solidFill>
                  <a:srgbClr val="1C2B3A"/>
                </a:solidFill>
                <a:latin typeface="Barlow"/>
              </a:rPr>
              <a:t>verdaechtig</a:t>
            </a:r>
            <a:r>
              <a:rPr sz="1800" b="0" i="0" u="none">
                <a:solidFill>
                  <a:srgbClr val="1C2B3A"/>
                </a:solidFill>
                <a:latin typeface="Barlow"/>
              </a:rPr>
              <a:t>: Eine Person kann in </a:t>
            </a:r>
            <a:r>
              <a:rPr sz="1800" b="1" i="0" u="none">
                <a:solidFill>
                  <a:srgbClr val="1C2B3A"/>
                </a:solidFill>
                <a:latin typeface="Barlow"/>
              </a:rPr>
              <a:t>mehreren</a:t>
            </a:r>
            <a:r>
              <a:rPr sz="1800" b="0" i="0" u="none">
                <a:solidFill>
                  <a:srgbClr val="1C2B3A"/>
                </a:solidFill>
                <a:latin typeface="Barlow"/>
              </a:rPr>
              <a:t> Fällen verdächtig sein (Serie); in einem Fall können </a:t>
            </a:r>
            <a:r>
              <a:rPr sz="1800" b="1" i="0" u="none">
                <a:solidFill>
                  <a:srgbClr val="1C2B3A"/>
                </a:solidFill>
                <a:latin typeface="Barlow"/>
              </a:rPr>
              <a:t>mehrere</a:t>
            </a:r>
            <a:r>
              <a:rPr sz="1800" b="0" i="0" u="none">
                <a:solidFill>
                  <a:srgbClr val="1C2B3A"/>
                </a:solidFill>
                <a:latin typeface="Barlow"/>
              </a:rPr>
              <a:t> Personen verdächtig sein (n:m). Der Grad hängt vom Paar ab.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Cliffhanger</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16</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Juri hat schon mal angefangen, den Bauplan der Detektei zu zeichnen – mit vierzehn Entitätstypen und keiner einzigen Kardinalität.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Warm-up: Karten W-A5-01 … 04</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17</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79121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 Notation benennen · Mengenbild · Aus den Daten · Wohin mit der Note?</a:t>
            </a:r>
          </a:p>
          <a:p>
            <a:pPr>
              <a:lnSpc>
                <a:spcPct val="105000"/>
              </a:lnSpc>
              <a:spcAft>
                <a:spcPts val="600"/>
              </a:spcAft>
            </a:pPr>
            <a:r>
              <a:rPr sz="1900" b="0" i="0" u="none">
                <a:solidFill>
                  <a:srgbClr val="1C2B3A"/>
                </a:solidFill>
                <a:latin typeface="Barlow"/>
              </a:rPr>
              <a:t>▸ Einzelarbeit, dann Vergleich im Team; Karte 03 lösen wir gemeinsam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Lösung Warm-up W-A5-03: Aus den Daten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18</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graphicFrame>
        <p:nvGraphicFramePr>
          <p:cNvPr id="12" name="Datentabelle"/>
          <p:cNvGraphicFramePr>
            <a:graphicFrameLocks noGrp="1"/>
          </p:cNvGraphicFramePr>
          <p:nvPr/>
        </p:nvGraphicFramePr>
        <p:xfrm>
          <a:off x="822959" y="2194560"/>
          <a:ext cx="2165298" cy="1574800"/>
        </p:xfrm>
        <a:graphic>
          <a:graphicData uri="http://schemas.openxmlformats.org/drawingml/2006/table">
            <a:tbl>
              <a:tblPr firstRow="1">
                <a:tableStyleId>{5C22544A-7EE6-4342-B048-85BDC9FD1C3A}</a:tableStyleId>
              </a:tblPr>
              <a:tblGrid>
                <a:gridCol w="1144828"/>
                <a:gridCol w="1020470"/>
              </a:tblGrid>
              <a:tr h="314960">
                <a:tc>
                  <a:txBody>
                    <a:bodyPr/>
                    <a:lstStyle/>
                    <a:p>
                      <a:r>
                        <a:rPr sz="1472" b="1" i="0" u="none">
                          <a:solidFill>
                            <a:srgbClr val="1C2B3A"/>
                          </a:solidFill>
                          <a:latin typeface="IBM Plex Mono"/>
                        </a:rPr>
                        <a:t>LeserNr</a:t>
                      </a:r>
                    </a:p>
                  </a:txBody>
                  <a:tcPr marL="54864" marR="54864" marT="18288" marB="18288">
                    <a:solidFill>
                      <a:srgbClr val="EBE2D2"/>
                    </a:solidFill>
                  </a:tcPr>
                </a:tc>
                <a:tc>
                  <a:txBody>
                    <a:bodyPr/>
                    <a:lstStyle/>
                    <a:p>
                      <a:r>
                        <a:rPr sz="1472" b="1" i="0" u="none">
                          <a:solidFill>
                            <a:srgbClr val="1C2B3A"/>
                          </a:solidFill>
                          <a:latin typeface="IBM Plex Mono"/>
                        </a:rPr>
                        <a:t>BuchNr</a:t>
                      </a:r>
                    </a:p>
                  </a:txBody>
                  <a:tcPr marL="54864" marR="54864" marT="18288" marB="18288">
                    <a:solidFill>
                      <a:srgbClr val="EBE2D2"/>
                    </a:solidFill>
                  </a:tcPr>
                </a:tc>
              </a:tr>
              <a:tr h="314960">
                <a:tc>
                  <a:txBody>
                    <a:bodyPr/>
                    <a:lstStyle/>
                    <a:p>
                      <a:pPr algn="r"/>
                      <a:r>
                        <a:rPr sz="1600" b="0" i="0" u="none">
                          <a:solidFill>
                            <a:srgbClr val="1C2B3A"/>
                          </a:solidFill>
                          <a:latin typeface="Barlow"/>
                        </a:rPr>
                        <a:t>1</a:t>
                      </a:r>
                    </a:p>
                  </a:txBody>
                  <a:tcPr marL="54864" marR="54864" marT="18288" marB="18288">
                    <a:solidFill>
                      <a:srgbClr val="FFFDF8"/>
                    </a:solidFill>
                  </a:tcPr>
                </a:tc>
                <a:tc>
                  <a:txBody>
                    <a:bodyPr/>
                    <a:lstStyle/>
                    <a:p>
                      <a:pPr algn="r"/>
                      <a:r>
                        <a:rPr sz="1600" b="0" i="0" u="none">
                          <a:solidFill>
                            <a:srgbClr val="1C2B3A"/>
                          </a:solidFill>
                          <a:latin typeface="Barlow"/>
                        </a:rPr>
                        <a:t>10</a:t>
                      </a:r>
                    </a:p>
                  </a:txBody>
                  <a:tcPr marL="54864" marR="54864" marT="18288" marB="18288">
                    <a:solidFill>
                      <a:srgbClr val="FFFDF8"/>
                    </a:solidFill>
                  </a:tcPr>
                </a:tc>
              </a:tr>
              <a:tr h="314960">
                <a:tc>
                  <a:txBody>
                    <a:bodyPr/>
                    <a:lstStyle/>
                    <a:p>
                      <a:pPr algn="r"/>
                      <a:r>
                        <a:rPr sz="1600" b="0" i="0" u="none">
                          <a:solidFill>
                            <a:srgbClr val="1C2B3A"/>
                          </a:solidFill>
                          <a:latin typeface="Barlow"/>
                        </a:rPr>
                        <a:t>1</a:t>
                      </a:r>
                    </a:p>
                  </a:txBody>
                  <a:tcPr marL="54864" marR="54864" marT="18288" marB="18288">
                    <a:solidFill>
                      <a:srgbClr val="FFFDF8"/>
                    </a:solidFill>
                  </a:tcPr>
                </a:tc>
                <a:tc>
                  <a:txBody>
                    <a:bodyPr/>
                    <a:lstStyle/>
                    <a:p>
                      <a:pPr algn="r"/>
                      <a:r>
                        <a:rPr sz="1600" b="0" i="0" u="none">
                          <a:solidFill>
                            <a:srgbClr val="1C2B3A"/>
                          </a:solidFill>
                          <a:latin typeface="Barlow"/>
                        </a:rPr>
                        <a:t>11</a:t>
                      </a:r>
                    </a:p>
                  </a:txBody>
                  <a:tcPr marL="54864" marR="54864" marT="18288" marB="18288">
                    <a:solidFill>
                      <a:srgbClr val="FFFDF8"/>
                    </a:solidFill>
                  </a:tcPr>
                </a:tc>
              </a:tr>
              <a:tr h="314960">
                <a:tc>
                  <a:txBody>
                    <a:bodyPr/>
                    <a:lstStyle/>
                    <a:p>
                      <a:pPr algn="r"/>
                      <a:r>
                        <a:rPr sz="1600" b="0" i="0" u="none">
                          <a:solidFill>
                            <a:srgbClr val="1C2B3A"/>
                          </a:solidFill>
                          <a:latin typeface="Barlow"/>
                        </a:rPr>
                        <a:t>2</a:t>
                      </a:r>
                    </a:p>
                  </a:txBody>
                  <a:tcPr marL="54864" marR="54864" marT="18288" marB="18288">
                    <a:solidFill>
                      <a:srgbClr val="FFFDF8"/>
                    </a:solidFill>
                  </a:tcPr>
                </a:tc>
                <a:tc>
                  <a:txBody>
                    <a:bodyPr/>
                    <a:lstStyle/>
                    <a:p>
                      <a:pPr algn="r"/>
                      <a:r>
                        <a:rPr sz="1600" b="0" i="0" u="none">
                          <a:solidFill>
                            <a:srgbClr val="1C2B3A"/>
                          </a:solidFill>
                          <a:latin typeface="Barlow"/>
                        </a:rPr>
                        <a:t>10</a:t>
                      </a:r>
                    </a:p>
                  </a:txBody>
                  <a:tcPr marL="54864" marR="54864" marT="18288" marB="18288">
                    <a:solidFill>
                      <a:srgbClr val="FFFDF8"/>
                    </a:solidFill>
                  </a:tcPr>
                </a:tc>
              </a:tr>
              <a:tr h="314960">
                <a:tc>
                  <a:txBody>
                    <a:bodyPr/>
                    <a:lstStyle/>
                    <a:p>
                      <a:pPr algn="r"/>
                      <a:r>
                        <a:rPr sz="1600" b="0" i="0" u="none">
                          <a:solidFill>
                            <a:srgbClr val="1C2B3A"/>
                          </a:solidFill>
                          <a:latin typeface="Barlow"/>
                        </a:rPr>
                        <a:t>3</a:t>
                      </a:r>
                    </a:p>
                  </a:txBody>
                  <a:tcPr marL="54864" marR="54864" marT="18288" marB="18288">
                    <a:solidFill>
                      <a:srgbClr val="FFFDF8"/>
                    </a:solidFill>
                  </a:tcPr>
                </a:tc>
                <a:tc>
                  <a:txBody>
                    <a:bodyPr/>
                    <a:lstStyle/>
                    <a:p>
                      <a:pPr algn="r"/>
                      <a:r>
                        <a:rPr sz="1600" b="0" i="0" u="none">
                          <a:solidFill>
                            <a:srgbClr val="1C2B3A"/>
                          </a:solidFill>
                          <a:latin typeface="Barlow"/>
                        </a:rPr>
                        <a:t>12</a:t>
                      </a:r>
                    </a:p>
                  </a:txBody>
                  <a:tcPr marL="54864" marR="54864" marT="18288" marB="18288">
                    <a:solidFill>
                      <a:srgbClr val="FFFDF8"/>
                    </a:solidFill>
                  </a:tcPr>
                </a:tc>
              </a:tr>
            </a:tbl>
          </a:graphicData>
        </a:graphic>
      </p:graphicFrame>
      <p:sp>
        <p:nvSpPr>
          <p:cNvPr id="13" name="TextBox 12"/>
          <p:cNvSpPr txBox="1"/>
          <p:nvPr/>
        </p:nvSpPr>
        <p:spPr>
          <a:xfrm>
            <a:off x="822959" y="3879087"/>
            <a:ext cx="10545775" cy="662940"/>
          </a:xfrm>
          <a:prstGeom prst="rect">
            <a:avLst/>
          </a:prstGeom>
          <a:noFill/>
        </p:spPr>
        <p:txBody>
          <a:bodyPr wrap="square" anchor="t" lIns="36576" rIns="36576" tIns="36576" bIns="36576">
            <a:spAutoFit/>
          </a:bodyPr>
          <a:lstStyle/>
          <a:p>
            <a:pPr>
              <a:lnSpc>
                <a:spcPct val="105000"/>
              </a:lnSpc>
              <a:spcAft>
                <a:spcPts val="600"/>
              </a:spcAft>
            </a:pPr>
            <a:r>
              <a:rPr sz="1800" b="0" i="0" u="none">
                <a:solidFill>
                  <a:srgbClr val="1C2B3A"/>
                </a:solidFill>
                <a:latin typeface="Barlow"/>
              </a:rPr>
              <a:t>Leser 1 leiht zwei Bücher </a:t>
            </a:r>
            <a:r>
              <a:rPr sz="1800" b="1" i="0" u="none">
                <a:solidFill>
                  <a:srgbClr val="1C2B3A"/>
                </a:solidFill>
                <a:latin typeface="Barlow"/>
              </a:rPr>
              <a:t>und</a:t>
            </a:r>
            <a:r>
              <a:rPr sz="1800" b="0" i="0" u="none">
                <a:solidFill>
                  <a:srgbClr val="1C2B3A"/>
                </a:solidFill>
                <a:latin typeface="Barlow"/>
              </a:rPr>
              <a:t> Buch 10 wird von zwei Lesern geliehen → </a:t>
            </a:r>
            <a:r>
              <a:rPr sz="1800" b="1" i="0" u="none">
                <a:solidFill>
                  <a:srgbClr val="1C2B3A"/>
                </a:solidFill>
                <a:latin typeface="Barlow"/>
              </a:rPr>
              <a:t>n:m</a:t>
            </a:r>
            <a:r>
              <a:rPr sz="1800" b="0" i="0" u="none">
                <a:solidFill>
                  <a:srgbClr val="1C2B3A"/>
                </a:solidFill>
                <a:latin typeface="Barlow"/>
              </a:rPr>
              <a:t>. Wer nur eine Richtung prüft, kommt auf 1:n.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Der Architekturwettbewerb</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19</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Heute ist Architekturwettbewerb: Jedes Team entwirft den Bauplan für die Fall-Datenbank der Detektei. Ermittler leiten Fälle, erfahrene Ermittler betreuen neue, Personen sind in Fällen verdächtig, Personen kennen andere Personen, und eine Aussage macht eine Person in einem Fall an einem 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Der Architekturwettbewerb (Fortsetzung)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20</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Da stecken Fallstricke drin: Eine Beziehung kann einen Entitätstyp mit sich selbst verbinden. Zwischen denselben Entitätstypen kann es mehrere Beziehungen geben, und manche verbinden sogar drei. Nicht alles lässt sich mit 1, n und m ausdrücken. Am Ende geht ihr auf Galerie-Rundgang – der Siegerentwurf bekommt einen Ehrenplatz an der Pinnwand.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Rekursive Beziehungen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21</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69469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Zwei Kanten zum </a:t>
            </a:r>
            <a:r>
              <a:rPr sz="1900" b="1" i="0" u="none">
                <a:solidFill>
                  <a:srgbClr val="1C2B3A"/>
                </a:solidFill>
                <a:latin typeface="Barlow"/>
              </a:rPr>
              <a:t>selben</a:t>
            </a:r>
            <a:r>
              <a:rPr sz="1900" b="0" i="0" u="none">
                <a:solidFill>
                  <a:srgbClr val="1C2B3A"/>
                </a:solidFill>
                <a:latin typeface="Barlow"/>
              </a:rPr>
              <a:t> Entitätstyp, Rollen an den Kanten – kein Entitätstyp „Mentor“.</a:t>
            </a:r>
          </a:p>
        </p:txBody>
      </p:sp>
      <p:pic>
        <p:nvPicPr>
          <p:cNvPr id="10" name="Picture 9" descr="f_rekursiv.png"/>
          <p:cNvPicPr>
            <a:picLocks noChangeAspect="1"/>
          </p:cNvPicPr>
          <p:nvPr/>
        </p:nvPicPr>
        <p:blipFill>
          <a:blip r:embed="rId3"/>
          <a:stretch>
            <a:fillRect/>
          </a:stretch>
        </p:blipFill>
        <p:spPr>
          <a:xfrm>
            <a:off x="3239444" y="2688082"/>
            <a:ext cx="5712806" cy="3209797"/>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Zwei Beziehungstypen zwischen denselben Entitätstypen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22</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69469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Zwei Rollen (Heim/Gast) = zwei Beziehungstypen. In der Detektei: Person </a:t>
            </a:r>
            <a:r>
              <a:rPr sz="1900" b="0" i="1" u="none">
                <a:solidFill>
                  <a:srgbClr val="1C2B3A"/>
                </a:solidFill>
                <a:latin typeface="Barlow"/>
              </a:rPr>
              <a:t>meldet</a:t>
            </a:r>
            <a:r>
              <a:rPr sz="1900" b="0" i="0" u="none">
                <a:solidFill>
                  <a:srgbClr val="1C2B3A"/>
                </a:solidFill>
                <a:latin typeface="Barlow"/>
              </a:rPr>
              <a:t> Fall und Person ist </a:t>
            </a:r>
            <a:r>
              <a:rPr sz="1900" b="0" i="1" u="none">
                <a:solidFill>
                  <a:srgbClr val="1C2B3A"/>
                </a:solidFill>
                <a:latin typeface="Barlow"/>
              </a:rPr>
              <a:t>verdaechtig</a:t>
            </a:r>
            <a:r>
              <a:rPr sz="1900" b="0" i="0" u="none">
                <a:solidFill>
                  <a:srgbClr val="1C2B3A"/>
                </a:solidFill>
                <a:latin typeface="Barlow"/>
              </a:rPr>
              <a:t> in Fall.</a:t>
            </a:r>
          </a:p>
        </p:txBody>
      </p:sp>
      <p:pic>
        <p:nvPicPr>
          <p:cNvPr id="10" name="Picture 9" descr="f140340854629648.png"/>
          <p:cNvPicPr>
            <a:picLocks noChangeAspect="1"/>
          </p:cNvPicPr>
          <p:nvPr/>
        </p:nvPicPr>
        <p:blipFill>
          <a:blip r:embed="rId3"/>
          <a:stretch>
            <a:fillRect/>
          </a:stretch>
        </p:blipFill>
        <p:spPr>
          <a:xfrm>
            <a:off x="2495847" y="2688082"/>
            <a:ext cx="7200000" cy="306775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Ternär: eine Raute, drei Kanten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23</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69469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Reichen drei binäre Beziehungen? Nein – „wer, in welchem Fall, wo“ ist nur zu dritt eindeutig.</a:t>
            </a:r>
          </a:p>
        </p:txBody>
      </p:sp>
      <p:pic>
        <p:nvPicPr>
          <p:cNvPr id="10" name="Picture 9" descr="f140340854632336.png"/>
          <p:cNvPicPr>
            <a:picLocks noChangeAspect="1"/>
          </p:cNvPicPr>
          <p:nvPr/>
        </p:nvPicPr>
        <p:blipFill>
          <a:blip r:embed="rId3"/>
          <a:stretch>
            <a:fillRect/>
          </a:stretch>
        </p:blipFill>
        <p:spPr>
          <a:xfrm>
            <a:off x="3791007" y="2688082"/>
            <a:ext cx="4609679" cy="3209797"/>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Beispiel Schritt für Schritt: vom Text zum Modell</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24</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129794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„Im Tierheim wird jedes </a:t>
            </a:r>
            <a:r>
              <a:rPr sz="1900" b="1" i="0" u="none">
                <a:solidFill>
                  <a:srgbClr val="1C2B3A"/>
                </a:solidFill>
                <a:latin typeface="Barlow"/>
              </a:rPr>
              <a:t>Tier</a:t>
            </a:r>
            <a:r>
              <a:rPr sz="1900" b="0" i="0" u="none">
                <a:solidFill>
                  <a:srgbClr val="1C2B3A"/>
                </a:solidFill>
                <a:latin typeface="Barlow"/>
              </a:rPr>
              <a:t> (Nummer, Name, Art) von genau einer </a:t>
            </a:r>
            <a:r>
              <a:rPr sz="1900" b="1" i="0" u="none">
                <a:solidFill>
                  <a:srgbClr val="1C2B3A"/>
                </a:solidFill>
                <a:latin typeface="Barlow"/>
              </a:rPr>
              <a:t>Pflegekraft</a:t>
            </a:r>
            <a:r>
              <a:rPr sz="1900" b="0" i="0" u="none">
                <a:solidFill>
                  <a:srgbClr val="1C2B3A"/>
                </a:solidFill>
                <a:latin typeface="Barlow"/>
              </a:rPr>
              <a:t> (Nummer, Name) versorgt. Erfahrene Pflegekräfte arbeiten neue ein. </a:t>
            </a:r>
            <a:r>
              <a:rPr sz="1900" b="1" i="0" u="none">
                <a:solidFill>
                  <a:srgbClr val="1C2B3A"/>
                </a:solidFill>
                <a:latin typeface="Barlow"/>
              </a:rPr>
              <a:t>Helfer</a:t>
            </a:r>
            <a:r>
              <a:rPr sz="1900" b="0" i="0" u="none">
                <a:solidFill>
                  <a:srgbClr val="1C2B3A"/>
                </a:solidFill>
                <a:latin typeface="Barlow"/>
              </a:rPr>
              <a:t> (Ausweisnummer, Name) führen mehrere Tiere aus, ein Tier wird von mehreren Helfern ausgeführt.“</a:t>
            </a:r>
          </a:p>
        </p:txBody>
      </p:sp>
      <p:sp>
        <p:nvSpPr>
          <p:cNvPr id="10" name="TextBox 9"/>
          <p:cNvSpPr txBox="1"/>
          <p:nvPr/>
        </p:nvSpPr>
        <p:spPr>
          <a:xfrm>
            <a:off x="822959" y="3291332"/>
            <a:ext cx="10545775" cy="149098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1. Substantive → Entitätstypen mit Schlüsselattribut</a:t>
            </a:r>
          </a:p>
          <a:p>
            <a:pPr>
              <a:lnSpc>
                <a:spcPct val="105000"/>
              </a:lnSpc>
              <a:spcAft>
                <a:spcPts val="600"/>
              </a:spcAft>
            </a:pPr>
            <a:r>
              <a:rPr sz="1900" b="0" i="0" u="none">
                <a:solidFill>
                  <a:srgbClr val="1C2B3A"/>
                </a:solidFill>
                <a:latin typeface="Barlow"/>
              </a:rPr>
              <a:t>2. Verben → Beziehungstypen</a:t>
            </a:r>
          </a:p>
          <a:p>
            <a:pPr>
              <a:lnSpc>
                <a:spcPct val="105000"/>
              </a:lnSpc>
              <a:spcAft>
                <a:spcPts val="600"/>
              </a:spcAft>
            </a:pPr>
            <a:r>
              <a:rPr sz="1900" b="0" i="0" u="none">
                <a:solidFill>
                  <a:srgbClr val="1C2B3A"/>
                </a:solidFill>
                <a:latin typeface="Barlow"/>
              </a:rPr>
              <a:t>3. Mengenangaben → Kardinalitäten in beide Richtungen</a:t>
            </a:r>
          </a:p>
          <a:p>
            <a:pPr>
              <a:lnSpc>
                <a:spcPct val="105000"/>
              </a:lnSpc>
              <a:spcAft>
                <a:spcPts val="600"/>
              </a:spcAft>
            </a:pPr>
            <a:r>
              <a:rPr sz="1900" b="0" i="0" u="none">
                <a:solidFill>
                  <a:srgbClr val="1C2B3A"/>
                </a:solidFill>
                <a:latin typeface="Barlow"/>
              </a:rPr>
              <a:t>4. Rollen → rekursiver Beziehungstyp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Das Modell zum Tierheim</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25</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393065"/>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Kontrolle: Jede Information des Textes ist im Modell abgehakt.</a:t>
            </a:r>
          </a:p>
        </p:txBody>
      </p:sp>
      <p:pic>
        <p:nvPicPr>
          <p:cNvPr id="10" name="Picture 9" descr="f140340854629760.png"/>
          <p:cNvPicPr>
            <a:picLocks noChangeAspect="1"/>
          </p:cNvPicPr>
          <p:nvPr/>
        </p:nvPicPr>
        <p:blipFill>
          <a:blip r:embed="rId3"/>
          <a:stretch>
            <a:fillRect/>
          </a:stretch>
        </p:blipFill>
        <p:spPr>
          <a:xfrm>
            <a:off x="822959" y="2386457"/>
            <a:ext cx="10545775" cy="327565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Der Anforderungstext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26</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2806065"/>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„Die Detektei verwaltet ihre </a:t>
            </a:r>
            <a:r>
              <a:rPr sz="1900" b="1" i="0" u="none">
                <a:solidFill>
                  <a:srgbClr val="1C2B3A"/>
                </a:solidFill>
                <a:latin typeface="Barlow"/>
              </a:rPr>
              <a:t>Ermittler</a:t>
            </a:r>
            <a:r>
              <a:rPr sz="1900" b="0" i="0" u="none">
                <a:solidFill>
                  <a:srgbClr val="1C2B3A"/>
                </a:solidFill>
                <a:latin typeface="Barlow"/>
              </a:rPr>
              <a:t> (Nummer, Name, Dienstgrad). Erfahrene Ermittler </a:t>
            </a:r>
            <a:r>
              <a:rPr sz="1900" b="1" i="0" u="none">
                <a:solidFill>
                  <a:srgbClr val="1C2B3A"/>
                </a:solidFill>
                <a:latin typeface="Barlow"/>
              </a:rPr>
              <a:t>betreuen</a:t>
            </a:r>
            <a:r>
              <a:rPr sz="1900" b="0" i="0" u="none">
                <a:solidFill>
                  <a:srgbClr val="1C2B3A"/>
                </a:solidFill>
                <a:latin typeface="Barlow"/>
              </a:rPr>
              <a:t> als Mentor mehrere Neulinge; jeder Neuling hat höchstens einen Mentor. Jeder </a:t>
            </a:r>
            <a:r>
              <a:rPr sz="1900" b="1" i="0" u="none">
                <a:solidFill>
                  <a:srgbClr val="1C2B3A"/>
                </a:solidFill>
                <a:latin typeface="Barlow"/>
              </a:rPr>
              <a:t>Fall</a:t>
            </a:r>
            <a:r>
              <a:rPr sz="1900" b="0" i="0" u="none">
                <a:solidFill>
                  <a:srgbClr val="1C2B3A"/>
                </a:solidFill>
                <a:latin typeface="Barlow"/>
              </a:rPr>
              <a:t> (Nummer, Titel, Eröffnungsdatum, Status) wird von genau einem Ermittler </a:t>
            </a:r>
            <a:r>
              <a:rPr sz="1900" b="1" i="0" u="none">
                <a:solidFill>
                  <a:srgbClr val="1C2B3A"/>
                </a:solidFill>
                <a:latin typeface="Barlow"/>
              </a:rPr>
              <a:t>geleitet</a:t>
            </a:r>
            <a:r>
              <a:rPr sz="1900" b="0" i="0" u="none">
                <a:solidFill>
                  <a:srgbClr val="1C2B3A"/>
                </a:solidFill>
                <a:latin typeface="Barlow"/>
              </a:rPr>
              <a:t>. </a:t>
            </a:r>
            <a:r>
              <a:rPr sz="1900" b="1" i="0" u="none">
                <a:solidFill>
                  <a:srgbClr val="1C2B3A"/>
                </a:solidFill>
                <a:latin typeface="Barlow"/>
              </a:rPr>
              <a:t>Personen</a:t>
            </a:r>
            <a:r>
              <a:rPr sz="1900" b="0" i="0" u="none">
                <a:solidFill>
                  <a:srgbClr val="1C2B3A"/>
                </a:solidFill>
                <a:latin typeface="Barlow"/>
              </a:rPr>
              <a:t> (Nummer, Vorname, Nachname, Jahrgang, Stadtteil) können in mehreren Fällen </a:t>
            </a:r>
            <a:r>
              <a:rPr sz="1900" b="1" i="0" u="none">
                <a:solidFill>
                  <a:srgbClr val="1C2B3A"/>
                </a:solidFill>
                <a:latin typeface="Barlow"/>
              </a:rPr>
              <a:t>verdächtig</a:t>
            </a:r>
            <a:r>
              <a:rPr sz="1900" b="0" i="0" u="none">
                <a:solidFill>
                  <a:srgbClr val="1C2B3A"/>
                </a:solidFill>
                <a:latin typeface="Barlow"/>
              </a:rPr>
              <a:t> sein, jeweils mit einem Verdachtsgrad. Personen </a:t>
            </a:r>
            <a:r>
              <a:rPr sz="1900" b="1" i="0" u="none">
                <a:solidFill>
                  <a:srgbClr val="1C2B3A"/>
                </a:solidFill>
                <a:latin typeface="Barlow"/>
              </a:rPr>
              <a:t>kennen</a:t>
            </a:r>
            <a:r>
              <a:rPr sz="1900" b="0" i="0" u="none">
                <a:solidFill>
                  <a:srgbClr val="1C2B3A"/>
                </a:solidFill>
                <a:latin typeface="Barlow"/>
              </a:rPr>
              <a:t> einander seit einem bestimmten Datum. Personen </a:t>
            </a:r>
            <a:r>
              <a:rPr sz="1900" b="1" i="0" u="none">
                <a:solidFill>
                  <a:srgbClr val="1C2B3A"/>
                </a:solidFill>
                <a:latin typeface="Barlow"/>
              </a:rPr>
              <a:t>sagen</a:t>
            </a:r>
            <a:r>
              <a:rPr sz="1900" b="0" i="0" u="none">
                <a:solidFill>
                  <a:srgbClr val="1C2B3A"/>
                </a:solidFill>
                <a:latin typeface="Barlow"/>
              </a:rPr>
              <a:t> zu einem Fall an einem </a:t>
            </a:r>
            <a:r>
              <a:rPr sz="1900" b="1" i="0" u="none">
                <a:solidFill>
                  <a:srgbClr val="1C2B3A"/>
                </a:solidFill>
                <a:latin typeface="Barlow"/>
              </a:rPr>
              <a:t>Ort</a:t>
            </a:r>
            <a:r>
              <a:rPr sz="1900" b="0" i="0" u="none">
                <a:solidFill>
                  <a:srgbClr val="1C2B3A"/>
                </a:solidFill>
                <a:latin typeface="Barlow"/>
              </a:rPr>
              <a:t> (Nummer, Bezeichnung, Stadtteil) zu einem Zeitpunkt </a:t>
            </a:r>
            <a:r>
              <a:rPr sz="1900" b="1" i="0" u="none">
                <a:solidFill>
                  <a:srgbClr val="1C2B3A"/>
                </a:solidFill>
                <a:latin typeface="Barlow"/>
              </a:rPr>
              <a:t>aus</a:t>
            </a:r>
            <a:r>
              <a:rPr sz="1900" b="0" i="0" u="none">
                <a:solidFill>
                  <a:srgbClr val="1C2B3A"/>
                </a:solidFill>
                <a:latin typeface="Barlow"/>
              </a:rPr>
              <a:t>; der Inhalt wird festgehalten. </a:t>
            </a:r>
            <a:r>
              <a:rPr sz="1900" b="1" i="0" u="none">
                <a:solidFill>
                  <a:srgbClr val="1C2B3A"/>
                </a:solidFill>
                <a:latin typeface="Barlow"/>
              </a:rPr>
              <a:t>Beweisstücke</a:t>
            </a:r>
            <a:r>
              <a:rPr sz="1900" b="0" i="0" u="none">
                <a:solidFill>
                  <a:srgbClr val="1C2B3A"/>
                </a:solidFill>
                <a:latin typeface="Barlow"/>
              </a:rPr>
              <a:t> (Nummer, Bezeichnung) gehören zu genau einem Fall und wurden an genau einem Ort gefunden.“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Architekturwettbewerb</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27</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UNPLUGGED · 45 MIN · MATERIAL: PLAKATE, STIFTE, BEWERTUNGSBÖGEN, KLEBEPUNKTE</a:t>
            </a:r>
          </a:p>
        </p:txBody>
      </p:sp>
      <p:sp>
        <p:nvSpPr>
          <p:cNvPr id="10" name="TextBox 9"/>
          <p:cNvSpPr txBox="1"/>
          <p:nvPr/>
        </p:nvSpPr>
        <p:spPr>
          <a:xfrm>
            <a:off x="822959" y="2194560"/>
            <a:ext cx="10545775" cy="1840864"/>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1. </a:t>
            </a:r>
            <a:r>
              <a:rPr sz="1900" b="1" i="0" u="none">
                <a:solidFill>
                  <a:srgbClr val="1C2B3A"/>
                </a:solidFill>
                <a:latin typeface="Barlow"/>
              </a:rPr>
              <a:t>Rollen</a:t>
            </a:r>
            <a:r>
              <a:rPr sz="1900" b="0" i="0" u="none">
                <a:solidFill>
                  <a:srgbClr val="1C2B3A"/>
                </a:solidFill>
                <a:latin typeface="Barlow"/>
              </a:rPr>
              <a:t> im Team: Moderation · Zeichner:in · Textprüfer:in (hakt jede Information ab) · Notationsprüfer:in (EH §7)</a:t>
            </a:r>
          </a:p>
          <a:p>
            <a:pPr>
              <a:lnSpc>
                <a:spcPct val="105000"/>
              </a:lnSpc>
              <a:spcAft>
                <a:spcPts val="600"/>
              </a:spcAft>
            </a:pPr>
            <a:r>
              <a:rPr sz="1900" b="0" i="0" u="none">
                <a:solidFill>
                  <a:srgbClr val="1C2B3A"/>
                </a:solidFill>
                <a:latin typeface="Barlow"/>
              </a:rPr>
              <a:t>2. </a:t>
            </a:r>
            <a:r>
              <a:rPr sz="1900" b="1" i="0" u="none">
                <a:solidFill>
                  <a:srgbClr val="1C2B3A"/>
                </a:solidFill>
                <a:latin typeface="Barlow"/>
              </a:rPr>
              <a:t>Modellieren</a:t>
            </a:r>
            <a:r>
              <a:rPr sz="1900" b="0" i="0" u="none">
                <a:solidFill>
                  <a:srgbClr val="1C2B3A"/>
                </a:solidFill>
                <a:latin typeface="Barlow"/>
              </a:rPr>
              <a:t> (30') auf Plakat A2 oder im Bauplan-Tisch (Modus entwickeln, Export als Bild)</a:t>
            </a:r>
          </a:p>
          <a:p>
            <a:pPr>
              <a:lnSpc>
                <a:spcPct val="105000"/>
              </a:lnSpc>
              <a:spcAft>
                <a:spcPts val="600"/>
              </a:spcAft>
            </a:pPr>
            <a:r>
              <a:rPr sz="1900" b="0" i="0" u="none">
                <a:solidFill>
                  <a:srgbClr val="1C2B3A"/>
                </a:solidFill>
                <a:latin typeface="Barlow"/>
              </a:rPr>
              <a:t>3. </a:t>
            </a:r>
            <a:r>
              <a:rPr sz="1900" b="1" i="0" u="none">
                <a:solidFill>
                  <a:srgbClr val="1C2B3A"/>
                </a:solidFill>
                <a:latin typeface="Barlow"/>
              </a:rPr>
              <a:t>Galerie</a:t>
            </a:r>
            <a:r>
              <a:rPr sz="1900" b="0" i="0" u="none">
                <a:solidFill>
                  <a:srgbClr val="1C2B3A"/>
                </a:solidFill>
                <a:latin typeface="Barlow"/>
              </a:rPr>
              <a:t> (15'): Jedes Team bewertet zwei fremde Entwürfe mit dem Bewertungsbogen</a:t>
            </a:r>
          </a:p>
          <a:p>
            <a:pPr>
              <a:lnSpc>
                <a:spcPct val="105000"/>
              </a:lnSpc>
              <a:spcAft>
                <a:spcPts val="600"/>
              </a:spcAft>
            </a:pPr>
            <a:r>
              <a:rPr sz="1900" b="0" i="0" u="none">
                <a:solidFill>
                  <a:srgbClr val="1C2B3A"/>
                </a:solidFill>
                <a:latin typeface="Barlow"/>
              </a:rPr>
              <a:t>4. Pflichtkommentar: „Das würden wir übernehmen: …“</a:t>
            </a:r>
          </a:p>
          <a:p>
            <a:pPr>
              <a:lnSpc>
                <a:spcPct val="105000"/>
              </a:lnSpc>
              <a:spcAft>
                <a:spcPts val="600"/>
              </a:spcAft>
            </a:pPr>
            <a:r>
              <a:rPr sz="1900" b="0" i="0" u="none">
                <a:solidFill>
                  <a:srgbClr val="1C2B3A"/>
                </a:solidFill>
                <a:latin typeface="Barlow"/>
              </a:rPr>
              <a:t>5. </a:t>
            </a:r>
            <a:r>
              <a:rPr sz="1900" b="1" i="0" u="none">
                <a:solidFill>
                  <a:srgbClr val="1C2B3A"/>
                </a:solidFill>
                <a:latin typeface="Barlow"/>
              </a:rPr>
              <a:t>Siegerehrung</a:t>
            </a:r>
            <a:r>
              <a:rPr sz="1900" b="0" i="0" u="none">
                <a:solidFill>
                  <a:srgbClr val="1C2B3A"/>
                </a:solidFill>
                <a:latin typeface="Barlow"/>
              </a:rPr>
              <a:t>: Punktekleber – das Siegerteam erhält den Stempel ARCHITEKTUR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Der Bewertungsbogen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28</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359029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1. alle 5 Entitätstypen (Ermittler, Fall, Person, Ort, Beweisstück) mit Attributen</a:t>
            </a:r>
          </a:p>
          <a:p>
            <a:pPr>
              <a:lnSpc>
                <a:spcPct val="105000"/>
              </a:lnSpc>
              <a:spcAft>
                <a:spcPts val="600"/>
              </a:spcAft>
            </a:pPr>
            <a:r>
              <a:rPr sz="1900" b="0" i="0" u="none">
                <a:solidFill>
                  <a:srgbClr val="1C2B3A"/>
                </a:solidFill>
                <a:latin typeface="Barlow"/>
              </a:rPr>
              <a:t>2. Schlüsselattribute markiert (unterstrichen)</a:t>
            </a:r>
          </a:p>
          <a:p>
            <a:pPr>
              <a:lnSpc>
                <a:spcPct val="105000"/>
              </a:lnSpc>
              <a:spcAft>
                <a:spcPts val="600"/>
              </a:spcAft>
            </a:pPr>
            <a:r>
              <a:rPr sz="1900" b="0" i="0" u="none">
                <a:solidFill>
                  <a:srgbClr val="1C2B3A"/>
                </a:solidFill>
                <a:latin typeface="Barlow"/>
              </a:rPr>
              <a:t>3. </a:t>
            </a:r>
            <a:r>
              <a:rPr sz="1900" b="0" i="1" u="none">
                <a:solidFill>
                  <a:srgbClr val="1C2B3A"/>
                </a:solidFill>
                <a:latin typeface="Barlow"/>
              </a:rPr>
              <a:t>leitet</a:t>
            </a:r>
            <a:r>
              <a:rPr sz="1900" b="0" i="0" u="none">
                <a:solidFill>
                  <a:srgbClr val="1C2B3A"/>
                </a:solidFill>
                <a:latin typeface="Barlow"/>
              </a:rPr>
              <a:t> 1:n richtig (n an der Kante zu Fall)</a:t>
            </a:r>
          </a:p>
          <a:p>
            <a:pPr>
              <a:lnSpc>
                <a:spcPct val="105000"/>
              </a:lnSpc>
              <a:spcAft>
                <a:spcPts val="600"/>
              </a:spcAft>
            </a:pPr>
            <a:r>
              <a:rPr sz="1900" b="0" i="0" u="none">
                <a:solidFill>
                  <a:srgbClr val="1C2B3A"/>
                </a:solidFill>
                <a:latin typeface="Barlow"/>
              </a:rPr>
              <a:t>4. </a:t>
            </a:r>
            <a:r>
              <a:rPr sz="1900" b="0" i="1" u="none">
                <a:solidFill>
                  <a:srgbClr val="1C2B3A"/>
                </a:solidFill>
                <a:latin typeface="Barlow"/>
              </a:rPr>
              <a:t>betreut</a:t>
            </a:r>
            <a:r>
              <a:rPr sz="1900" b="0" i="0" u="none">
                <a:solidFill>
                  <a:srgbClr val="1C2B3A"/>
                </a:solidFill>
                <a:latin typeface="Barlow"/>
              </a:rPr>
              <a:t> rekursiv 1:n mit Rollen Mentor/Neuling</a:t>
            </a:r>
          </a:p>
          <a:p>
            <a:pPr>
              <a:lnSpc>
                <a:spcPct val="105000"/>
              </a:lnSpc>
              <a:spcAft>
                <a:spcPts val="600"/>
              </a:spcAft>
            </a:pPr>
            <a:r>
              <a:rPr sz="1900" b="0" i="0" u="none">
                <a:solidFill>
                  <a:srgbClr val="1C2B3A"/>
                </a:solidFill>
                <a:latin typeface="Barlow"/>
              </a:rPr>
              <a:t>5. </a:t>
            </a:r>
            <a:r>
              <a:rPr sz="1900" b="0" i="1" u="none">
                <a:solidFill>
                  <a:srgbClr val="1C2B3A"/>
                </a:solidFill>
                <a:latin typeface="Barlow"/>
              </a:rPr>
              <a:t>kennt</a:t>
            </a:r>
            <a:r>
              <a:rPr sz="1900" b="0" i="0" u="none">
                <a:solidFill>
                  <a:srgbClr val="1C2B3A"/>
                </a:solidFill>
                <a:latin typeface="Barlow"/>
              </a:rPr>
              <a:t> rekursiv n:m mit Attribut Seit</a:t>
            </a:r>
          </a:p>
          <a:p>
            <a:pPr>
              <a:lnSpc>
                <a:spcPct val="105000"/>
              </a:lnSpc>
              <a:spcAft>
                <a:spcPts val="600"/>
              </a:spcAft>
            </a:pPr>
            <a:r>
              <a:rPr sz="1900" b="0" i="0" u="none">
                <a:solidFill>
                  <a:srgbClr val="1C2B3A"/>
                </a:solidFill>
                <a:latin typeface="Barlow"/>
              </a:rPr>
              <a:t>6. </a:t>
            </a:r>
            <a:r>
              <a:rPr sz="1900" b="0" i="1" u="none">
                <a:solidFill>
                  <a:srgbClr val="1C2B3A"/>
                </a:solidFill>
                <a:latin typeface="Barlow"/>
              </a:rPr>
              <a:t>verdaechtig</a:t>
            </a:r>
            <a:r>
              <a:rPr sz="1900" b="0" i="0" u="none">
                <a:solidFill>
                  <a:srgbClr val="1C2B3A"/>
                </a:solidFill>
                <a:latin typeface="Barlow"/>
              </a:rPr>
              <a:t> n:m mit Attribut Grad an der Raute</a:t>
            </a:r>
          </a:p>
          <a:p>
            <a:pPr>
              <a:lnSpc>
                <a:spcPct val="105000"/>
              </a:lnSpc>
              <a:spcAft>
                <a:spcPts val="600"/>
              </a:spcAft>
            </a:pPr>
            <a:r>
              <a:rPr sz="1900" b="0" i="0" u="none">
                <a:solidFill>
                  <a:srgbClr val="1C2B3A"/>
                </a:solidFill>
                <a:latin typeface="Barlow"/>
              </a:rPr>
              <a:t>7. </a:t>
            </a:r>
            <a:r>
              <a:rPr sz="1900" b="0" i="1" u="none">
                <a:solidFill>
                  <a:srgbClr val="1C2B3A"/>
                </a:solidFill>
                <a:latin typeface="Barlow"/>
              </a:rPr>
              <a:t>sagtAus</a:t>
            </a:r>
            <a:r>
              <a:rPr sz="1900" b="0" i="0" u="none">
                <a:solidFill>
                  <a:srgbClr val="1C2B3A"/>
                </a:solidFill>
                <a:latin typeface="Barlow"/>
              </a:rPr>
              <a:t> ternär (Person, Fall, Ort) mit Zeitpunkt und Inhalt</a:t>
            </a:r>
          </a:p>
          <a:p>
            <a:pPr>
              <a:lnSpc>
                <a:spcPct val="105000"/>
              </a:lnSpc>
              <a:spcAft>
                <a:spcPts val="600"/>
              </a:spcAft>
            </a:pPr>
            <a:r>
              <a:rPr sz="1900" b="0" i="0" u="none">
                <a:solidFill>
                  <a:srgbClr val="1C2B3A"/>
                </a:solidFill>
                <a:latin typeface="Barlow"/>
              </a:rPr>
              <a:t>8. Beweisstück 1:n zu Fall und 1:n zu Ort</a:t>
            </a:r>
          </a:p>
          <a:p>
            <a:pPr>
              <a:lnSpc>
                <a:spcPct val="105000"/>
              </a:lnSpc>
              <a:spcAft>
                <a:spcPts val="600"/>
              </a:spcAft>
            </a:pPr>
            <a:r>
              <a:rPr sz="1900" b="0" i="0" u="none">
                <a:solidFill>
                  <a:srgbClr val="1C2B3A"/>
                </a:solidFill>
                <a:latin typeface="Barlow"/>
              </a:rPr>
              <a:t>9. Fachsprache und Notation nach EH §7 (Verben, 1/n/m, Singular)</a:t>
            </a:r>
          </a:p>
          <a:p>
            <a:pPr>
              <a:lnSpc>
                <a:spcPct val="105000"/>
              </a:lnSpc>
              <a:spcAft>
                <a:spcPts val="600"/>
              </a:spcAft>
            </a:pPr>
            <a:r>
              <a:rPr sz="1900" b="0" i="0" u="none">
                <a:solidFill>
                  <a:srgbClr val="1C2B3A"/>
                </a:solidFill>
                <a:latin typeface="Barlow"/>
              </a:rPr>
              <a:t>10. Lesbarkeit (wenige Kreuzungen, klare Beschriftung)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Ab ins Lab: Ermittlung 5.2</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29</a:t>
            </a:r>
          </a:p>
        </p:txBody>
      </p:sp>
      <p:sp>
        <p:nvSpPr>
          <p:cNvPr id="8" name="Rounded Rectangle 7"/>
          <p:cNvSpPr/>
          <p:nvPr/>
        </p:nvSpPr>
        <p:spPr>
          <a:xfrm>
            <a:off x="548640" y="1691640"/>
            <a:ext cx="11094415" cy="292608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C5A85"/>
                </a:solidFill>
                <a:latin typeface="IBM Plex Mono"/>
              </a:rPr>
              <a:t>SPUR IM LAB</a:t>
            </a:r>
          </a:p>
        </p:txBody>
      </p:sp>
      <p:sp>
        <p:nvSpPr>
          <p:cNvPr id="10" name="TextBox 9"/>
          <p:cNvSpPr txBox="1"/>
          <p:nvPr/>
        </p:nvSpPr>
        <p:spPr>
          <a:xfrm>
            <a:off x="822959" y="2194560"/>
            <a:ext cx="10545775" cy="2194560"/>
          </a:xfrm>
          <a:prstGeom prst="rect">
            <a:avLst/>
          </a:prstGeom>
          <a:noFill/>
        </p:spPr>
        <p:txBody>
          <a:bodyPr wrap="square" anchor="t" lIns="36576" rIns="36576" tIns="36576" bIns="36576">
            <a:spAutoFit/>
          </a:bodyPr>
          <a:lstStyle/>
          <a:p>
            <a:pPr>
              <a:lnSpc>
                <a:spcPct val="105000"/>
              </a:lnSpc>
              <a:spcAft>
                <a:spcPts val="600"/>
              </a:spcAft>
            </a:pPr>
            <a:r>
              <a:rPr sz="2600" b="0" i="0" u="none">
                <a:solidFill>
                  <a:srgbClr val="1C2B3A"/>
                </a:solidFill>
                <a:latin typeface="Barlow Condensed SemiBold"/>
              </a:rPr>
              <a:t>„Der Architekturwettbewerb“</a:t>
            </a:r>
          </a:p>
          <a:p>
            <a:pPr>
              <a:lnSpc>
                <a:spcPct val="105000"/>
              </a:lnSpc>
              <a:spcAft>
                <a:spcPts val="400"/>
              </a:spcAft>
            </a:pPr>
            <a:r>
              <a:rPr sz="1900" b="1" i="0" u="none">
                <a:solidFill>
                  <a:srgbClr val="1C2B3A"/>
                </a:solidFill>
                <a:latin typeface="Barlow"/>
              </a:rPr>
              <a:t>Aufgaben:</a:t>
            </a:r>
            <a:r>
              <a:rPr sz="1900" b="0" i="0" u="none">
                <a:solidFill>
                  <a:srgbClr val="1C2B3A"/>
                </a:solidFill>
                <a:latin typeface="Barlow"/>
              </a:rPr>
              <a:t> A5-E2-01 … 06 in der Stunde, 07/08 als Hausaufgabe</a:t>
            </a:r>
          </a:p>
          <a:p>
            <a:pPr>
              <a:lnSpc>
                <a:spcPct val="105000"/>
              </a:lnSpc>
              <a:spcAft>
                <a:spcPts val="400"/>
              </a:spcAft>
            </a:pPr>
            <a:r>
              <a:rPr sz="1900" b="1" i="0" u="none">
                <a:solidFill>
                  <a:srgbClr val="1C2B3A"/>
                </a:solidFill>
                <a:latin typeface="Barlow"/>
              </a:rPr>
              <a:t>Werkzeug:</a:t>
            </a:r>
            <a:r>
              <a:rPr sz="1900" b="0" i="0" u="none">
                <a:solidFill>
                  <a:srgbClr val="1C2B3A"/>
                </a:solidFill>
                <a:latin typeface="Barlow"/>
              </a:rPr>
              <a:t> Bauplan-Tisch (Modi ergänzen und entwickeln)</a:t>
            </a:r>
          </a:p>
        </p:txBody>
      </p:sp>
      <p:sp>
        <p:nvSpPr>
          <p:cNvPr id="11" name="TextBox 10"/>
          <p:cNvSpPr txBox="1"/>
          <p:nvPr/>
        </p:nvSpPr>
        <p:spPr>
          <a:xfrm>
            <a:off x="548640" y="4800600"/>
            <a:ext cx="11094415" cy="717550"/>
          </a:xfrm>
          <a:prstGeom prst="rect">
            <a:avLst/>
          </a:prstGeom>
          <a:noFill/>
        </p:spPr>
        <p:txBody>
          <a:bodyPr wrap="square" anchor="t" lIns="36576" rIns="36576" tIns="36576" bIns="36576">
            <a:spAutoFit/>
          </a:bodyPr>
          <a:lstStyle/>
          <a:p>
            <a:pPr>
              <a:lnSpc>
                <a:spcPct val="105000"/>
              </a:lnSpc>
              <a:spcAft>
                <a:spcPts val="600"/>
              </a:spcAft>
            </a:pPr>
            <a:r>
              <a:rPr sz="1700" b="0" i="0" u="none">
                <a:solidFill>
                  <a:srgbClr val="E8E1D3"/>
                </a:solidFill>
                <a:latin typeface="Barlow"/>
              </a:rPr>
              <a:t>▸ Die Referenzlösung erscheint im Lab erst nach A5-E2-07</a:t>
            </a:r>
          </a:p>
          <a:p>
            <a:pPr>
              <a:lnSpc>
                <a:spcPct val="105000"/>
              </a:lnSpc>
              <a:spcAft>
                <a:spcPts val="600"/>
              </a:spcAft>
            </a:pPr>
            <a:r>
              <a:rPr sz="1700" b="0" i="0" u="none">
                <a:solidFill>
                  <a:srgbClr val="E8E1D3"/>
                </a:solidFill>
                <a:latin typeface="Barlow"/>
              </a:rPr>
              <a:t>▸ Parallel bzw. zu Hause: AB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Referenzlösung = Fall-Datenbank der Detektei</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30</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pic>
        <p:nvPicPr>
          <p:cNvPr id="12" name="Picture 11" descr="f140340855161808.png"/>
          <p:cNvPicPr>
            <a:picLocks noChangeAspect="1"/>
          </p:cNvPicPr>
          <p:nvPr/>
        </p:nvPicPr>
        <p:blipFill>
          <a:blip r:embed="rId3"/>
          <a:stretch>
            <a:fillRect/>
          </a:stretch>
        </p:blipFill>
        <p:spPr>
          <a:xfrm>
            <a:off x="3236575" y="2194560"/>
            <a:ext cx="5718544" cy="379476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Ermittler-Notiz</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31</a:t>
            </a:r>
          </a:p>
        </p:txBody>
      </p:sp>
      <p:sp>
        <p:nvSpPr>
          <p:cNvPr id="8" name="Rounded Rectangle 7"/>
          <p:cNvSpPr/>
          <p:nvPr/>
        </p:nvSpPr>
        <p:spPr>
          <a:xfrm>
            <a:off x="548640" y="1691640"/>
            <a:ext cx="11094415" cy="434340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C5A85"/>
                </a:solidFill>
                <a:latin typeface="IBM Plex Mono"/>
              </a:rPr>
              <a:t>ERMITTLER-NOTIZ</a:t>
            </a:r>
          </a:p>
        </p:txBody>
      </p:sp>
      <p:sp>
        <p:nvSpPr>
          <p:cNvPr id="10" name="TextBox 9"/>
          <p:cNvSpPr txBox="1"/>
          <p:nvPr/>
        </p:nvSpPr>
        <p:spPr>
          <a:xfrm>
            <a:off x="822959" y="2194560"/>
            <a:ext cx="10545775" cy="1932940"/>
          </a:xfrm>
          <a:prstGeom prst="rect">
            <a:avLst/>
          </a:prstGeom>
          <a:noFill/>
        </p:spPr>
        <p:txBody>
          <a:bodyPr wrap="square" anchor="t" lIns="36576" rIns="36576" tIns="36576" bIns="36576">
            <a:spAutoFit/>
          </a:bodyPr>
          <a:lstStyle/>
          <a:p>
            <a:pPr>
              <a:lnSpc>
                <a:spcPct val="105000"/>
              </a:lnSpc>
              <a:spcAft>
                <a:spcPts val="600"/>
              </a:spcAft>
            </a:pPr>
            <a:r>
              <a:rPr sz="2000" b="0" i="0" u="none">
                <a:solidFill>
                  <a:srgbClr val="1C2B3A"/>
                </a:solidFill>
                <a:latin typeface="Barlow"/>
              </a:rPr>
              <a:t>▸ Rekursiv: Beziehungstyp mit zwei Kanten zum selben Entitätstyp, Rollen an die Kanten.</a:t>
            </a:r>
          </a:p>
          <a:p>
            <a:pPr>
              <a:lnSpc>
                <a:spcPct val="105000"/>
              </a:lnSpc>
              <a:spcAft>
                <a:spcPts val="600"/>
              </a:spcAft>
            </a:pPr>
            <a:r>
              <a:rPr sz="2000" b="0" i="0" u="none">
                <a:solidFill>
                  <a:srgbClr val="1C2B3A"/>
                </a:solidFill>
                <a:latin typeface="Barlow"/>
              </a:rPr>
              <a:t>▸ Zwei Rollen (Heim/Gast, Leitung/Verdacht) = zwei Beziehungstypen.</a:t>
            </a:r>
          </a:p>
          <a:p>
            <a:pPr>
              <a:lnSpc>
                <a:spcPct val="105000"/>
              </a:lnSpc>
              <a:spcAft>
                <a:spcPts val="600"/>
              </a:spcAft>
            </a:pPr>
            <a:r>
              <a:rPr sz="2000" b="0" i="0" u="none">
                <a:solidFill>
                  <a:srgbClr val="1C2B3A"/>
                </a:solidFill>
                <a:latin typeface="Barlow"/>
              </a:rPr>
              <a:t>▸ Ternär: eine Raute, drei Kanten (m:n:p) – nur zu dritt eindeutig.</a:t>
            </a:r>
          </a:p>
          <a:p>
            <a:pPr>
              <a:lnSpc>
                <a:spcPct val="105000"/>
              </a:lnSpc>
              <a:spcAft>
                <a:spcPts val="600"/>
              </a:spcAft>
            </a:pPr>
            <a:r>
              <a:rPr sz="2000" b="0" i="0" u="none">
                <a:solidFill>
                  <a:srgbClr val="1C2B3A"/>
                </a:solidFill>
                <a:latin typeface="Barlow"/>
              </a:rPr>
              <a:t>▸ Grenzen: „genau drei“, „höchstens 12“, „höherer Dienstgrad“ → Anmerkung zum Modell.</a:t>
            </a:r>
          </a:p>
          <a:p>
            <a:pPr>
              <a:lnSpc>
                <a:spcPct val="105000"/>
              </a:lnSpc>
              <a:spcAft>
                <a:spcPts val="600"/>
              </a:spcAft>
            </a:pPr>
            <a:r>
              <a:rPr sz="2000" b="0" i="0" u="none">
                <a:solidFill>
                  <a:srgbClr val="1C2B3A"/>
                </a:solidFill>
                <a:latin typeface="Barlow"/>
              </a:rPr>
              <a:t>▸ Beurteilen: Alternativen benennen, Folgen abwägen, Urteil begründen.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Abi-Format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32</a:t>
            </a:r>
          </a:p>
        </p:txBody>
      </p:sp>
      <p:sp>
        <p:nvSpPr>
          <p:cNvPr id="8" name="Rounded Rectangle 7"/>
          <p:cNvSpPr/>
          <p:nvPr/>
        </p:nvSpPr>
        <p:spPr>
          <a:xfrm>
            <a:off x="548640" y="1691640"/>
            <a:ext cx="11094415" cy="4343400"/>
          </a:xfrm>
          <a:prstGeom prst="roundRect">
            <a:avLst>
              <a:gd name="adj" fmla="val 4000"/>
            </a:avLst>
          </a:prstGeom>
          <a:solidFill>
            <a:srgbClr val="F4EDE1"/>
          </a:solidFill>
          <a:ln w="2540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ABI-ECKE · OPERATOR ERWEITERN</a:t>
            </a:r>
          </a:p>
        </p:txBody>
      </p:sp>
      <p:sp>
        <p:nvSpPr>
          <p:cNvPr id="10" name="TextBox 9"/>
          <p:cNvSpPr txBox="1"/>
          <p:nvPr/>
        </p:nvSpPr>
        <p:spPr>
          <a:xfrm>
            <a:off x="822959" y="2194560"/>
            <a:ext cx="10545775" cy="1678940"/>
          </a:xfrm>
          <a:prstGeom prst="rect">
            <a:avLst/>
          </a:prstGeom>
          <a:noFill/>
        </p:spPr>
        <p:txBody>
          <a:bodyPr wrap="square" anchor="t" lIns="36576" rIns="36576" tIns="36576" bIns="36576">
            <a:spAutoFit/>
          </a:bodyPr>
          <a:lstStyle/>
          <a:p>
            <a:pPr>
              <a:lnSpc>
                <a:spcPct val="105000"/>
              </a:lnSpc>
              <a:spcAft>
                <a:spcPts val="600"/>
              </a:spcAft>
            </a:pPr>
            <a:r>
              <a:rPr sz="2000" b="0" i="0" u="none">
                <a:solidFill>
                  <a:srgbClr val="1C2B3A"/>
                </a:solidFill>
                <a:latin typeface="Barlow"/>
              </a:rPr>
              <a:t>Gegeben ist das ER-Modell der Detektei (Ermittler </a:t>
            </a:r>
            <a:r>
              <a:rPr sz="2000" b="0" i="1" u="none">
                <a:solidFill>
                  <a:srgbClr val="1C2B3A"/>
                </a:solidFill>
                <a:latin typeface="Barlow"/>
              </a:rPr>
              <a:t>leitet</a:t>
            </a:r>
            <a:r>
              <a:rPr sz="2000" b="0" i="0" u="none">
                <a:solidFill>
                  <a:srgbClr val="1C2B3A"/>
                </a:solidFill>
                <a:latin typeface="Barlow"/>
              </a:rPr>
              <a:t> Fall). Die Detektei möchte zusätzlich erfassen, welche Ermittler mit welcher Rolle an einem Fall mitarbeiten und welcher Ermittler welchen anderen vertritt (höchstens eine feste Vertretung je Ermittler). </a:t>
            </a:r>
            <a:r>
              <a:rPr sz="2000" b="1" i="0" u="none">
                <a:solidFill>
                  <a:srgbClr val="1C2B3A"/>
                </a:solidFill>
                <a:latin typeface="Barlow"/>
              </a:rPr>
              <a:t>Erweitern</a:t>
            </a:r>
            <a:r>
              <a:rPr sz="2000" b="0" i="0" u="none">
                <a:solidFill>
                  <a:srgbClr val="1C2B3A"/>
                </a:solidFill>
                <a:latin typeface="Barlow"/>
              </a:rPr>
              <a:t> Sie das ER-Modell entsprechend. [5 BE]</a:t>
            </a:r>
          </a:p>
        </p:txBody>
      </p:sp>
      <p:pic>
        <p:nvPicPr>
          <p:cNvPr id="11" name="Picture 10" descr="f140340854631328.png"/>
          <p:cNvPicPr>
            <a:picLocks noChangeAspect="1"/>
          </p:cNvPicPr>
          <p:nvPr/>
        </p:nvPicPr>
        <p:blipFill>
          <a:blip r:embed="rId3"/>
          <a:stretch>
            <a:fillRect/>
          </a:stretch>
        </p:blipFill>
        <p:spPr>
          <a:xfrm>
            <a:off x="2684337" y="3946651"/>
            <a:ext cx="6823019" cy="195122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Lösung Abi-Format (DS 10)</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33</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pic>
        <p:nvPicPr>
          <p:cNvPr id="12" name="Picture 11" descr="f140340855167296.png"/>
          <p:cNvPicPr>
            <a:picLocks noChangeAspect="1"/>
          </p:cNvPicPr>
          <p:nvPr/>
        </p:nvPicPr>
        <p:blipFill>
          <a:blip r:embed="rId3"/>
          <a:stretch>
            <a:fillRect/>
          </a:stretch>
        </p:blipFill>
        <p:spPr>
          <a:xfrm>
            <a:off x="2148131" y="2194560"/>
            <a:ext cx="7895431" cy="37947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Cliffhanger</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34</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Der Siegerentwurf kommt auf den Bauplan-Tisch, und Edda sagt nur: „Schön – nächste Stunde wird daraus eine echte Datenbank, und dann fragen wir sie, wer Nora Falter kennt.“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Warm-up: Karten W-A5-05 … 08</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35</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441325"/>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 Rekursiv lesen · Ternär lesen · Text → Mini-ER · Grenzen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Vom Plan zur Datenbank</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36</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Ein Bauplan ist schön, aber ermitteln können wir nur mit Tabellen. Für die Überführung gibt es klare Regeln: Jeder Entitätstyp wird eine Tabelle, bei 1:n wandert der Fremdschlüssel auf die n-Seite, und eine n:m-Beziehung bekommt eine eigene Tabelle mit zusammengesetztem Schlüssel.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Vom Plan zur Datenbank (Fortsetzung)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37</a:t>
            </a:r>
          </a:p>
        </p:txBody>
      </p:sp>
      <p:sp>
        <p:nvSpPr>
          <p:cNvPr id="8" name="Rounded Rectangle 7"/>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0" name="TextBox 9"/>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Im Abitur reicht die Umsetzung nicht, ihr müsst sie begründen. Manchmal geht es auch rückwärts: aus dem Schema das ER-Diagramm. Wenn das Schema steht, füllt Juri die Datenbank mit allem, was wir wissen – und dann fragen wir sie: Wer ist in allen vier Fällen verdächtig, und wen kennt diese Person?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Wohin kommt der Verweis?</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38</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393065"/>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Ermittler </a:t>
            </a:r>
            <a:r>
              <a:rPr sz="1900" b="1" i="0" u="none">
                <a:solidFill>
                  <a:srgbClr val="1C2B3A"/>
                </a:solidFill>
                <a:latin typeface="Barlow"/>
              </a:rPr>
              <a:t>1</a:t>
            </a:r>
            <a:r>
              <a:rPr sz="1900" b="0" i="0" u="none">
                <a:solidFill>
                  <a:srgbClr val="1C2B3A"/>
                </a:solidFill>
                <a:latin typeface="Barlow"/>
              </a:rPr>
              <a:t> – </a:t>
            </a:r>
            <a:r>
              <a:rPr sz="1900" b="0" i="1" u="none">
                <a:solidFill>
                  <a:srgbClr val="1C2B3A"/>
                </a:solidFill>
                <a:latin typeface="Barlow"/>
              </a:rPr>
              <a:t>leitet</a:t>
            </a:r>
            <a:r>
              <a:rPr sz="1900" b="0" i="0" u="none">
                <a:solidFill>
                  <a:srgbClr val="1C2B3A"/>
                </a:solidFill>
                <a:latin typeface="Barlow"/>
              </a:rPr>
              <a:t> – </a:t>
            </a:r>
            <a:r>
              <a:rPr sz="1900" b="1" i="0" u="none">
                <a:solidFill>
                  <a:srgbClr val="1C2B3A"/>
                </a:solidFill>
                <a:latin typeface="Barlow"/>
              </a:rPr>
              <a:t>n</a:t>
            </a:r>
            <a:r>
              <a:rPr sz="1900" b="0" i="0" u="none">
                <a:solidFill>
                  <a:srgbClr val="1C2B3A"/>
                </a:solidFill>
                <a:latin typeface="Barlow"/>
              </a:rPr>
              <a:t> Fall. Probiert beides mit Daten aus:</a:t>
            </a:r>
          </a:p>
        </p:txBody>
      </p:sp>
      <p:graphicFrame>
        <p:nvGraphicFramePr>
          <p:cNvPr id="10" name="Datentabelle"/>
          <p:cNvGraphicFramePr>
            <a:graphicFrameLocks noGrp="1"/>
          </p:cNvGraphicFramePr>
          <p:nvPr/>
        </p:nvGraphicFramePr>
        <p:xfrm>
          <a:off x="822959" y="2386457"/>
          <a:ext cx="4678069" cy="944880"/>
        </p:xfrm>
        <a:graphic>
          <a:graphicData uri="http://schemas.openxmlformats.org/drawingml/2006/table">
            <a:tbl>
              <a:tblPr firstRow="1">
                <a:tableStyleId>{5C22544A-7EE6-4342-B048-85BDC9FD1C3A}</a:tableStyleId>
              </a:tblPr>
              <a:tblGrid>
                <a:gridCol w="1642262"/>
                <a:gridCol w="1766620"/>
                <a:gridCol w="1269187"/>
              </a:tblGrid>
              <a:tr h="314960">
                <a:tc>
                  <a:txBody>
                    <a:bodyPr/>
                    <a:lstStyle/>
                    <a:p>
                      <a:r>
                        <a:rPr sz="1472" b="1" i="0" u="none">
                          <a:solidFill>
                            <a:srgbClr val="1C2B3A"/>
                          </a:solidFill>
                          <a:latin typeface="IBM Plex Mono"/>
                        </a:rPr>
                        <a:t>ErmittlerNr</a:t>
                      </a:r>
                    </a:p>
                  </a:txBody>
                  <a:tcPr marL="54864" marR="54864" marT="18288" marB="18288">
                    <a:solidFill>
                      <a:srgbClr val="EBE2D2"/>
                    </a:solidFill>
                  </a:tcPr>
                </a:tc>
                <a:tc>
                  <a:txBody>
                    <a:bodyPr/>
                    <a:lstStyle/>
                    <a:p>
                      <a:r>
                        <a:rPr sz="1472" b="1" i="0" u="none">
                          <a:solidFill>
                            <a:srgbClr val="1C2B3A"/>
                          </a:solidFill>
                          <a:latin typeface="IBM Plex Mono"/>
                        </a:rPr>
                        <a:t>Name</a:t>
                      </a:r>
                    </a:p>
                  </a:txBody>
                  <a:tcPr marL="54864" marR="54864" marT="18288" marB="18288">
                    <a:solidFill>
                      <a:srgbClr val="EBE2D2"/>
                    </a:solidFill>
                  </a:tcPr>
                </a:tc>
                <a:tc>
                  <a:txBody>
                    <a:bodyPr/>
                    <a:lstStyle/>
                    <a:p>
                      <a:r>
                        <a:rPr sz="1472" b="1" i="0" u="none">
                          <a:solidFill>
                            <a:srgbClr val="1C2B3A"/>
                          </a:solidFill>
                          <a:latin typeface="IBM Plex Mono"/>
                        </a:rPr>
                        <a:t>FallNr ?</a:t>
                      </a:r>
                    </a:p>
                  </a:txBody>
                  <a:tcPr marL="54864" marR="54864" marT="18288" marB="18288">
                    <a:solidFill>
                      <a:srgbClr val="EBE2D2"/>
                    </a:solidFill>
                  </a:tcPr>
                </a:tc>
              </a:tr>
              <a:tr h="314960">
                <a:tc>
                  <a:txBody>
                    <a:bodyPr/>
                    <a:lstStyle/>
                    <a:p>
                      <a:pPr algn="r"/>
                      <a:r>
                        <a:rPr sz="1600" b="0" i="0" u="none">
                          <a:solidFill>
                            <a:srgbClr val="1C2B3A"/>
                          </a:solidFill>
                          <a:latin typeface="Barlow"/>
                        </a:rPr>
                        <a:t>5</a:t>
                      </a:r>
                    </a:p>
                  </a:txBody>
                  <a:tcPr marL="54864" marR="54864" marT="18288" marB="18288">
                    <a:solidFill>
                      <a:srgbClr val="FFFDF8"/>
                    </a:solidFill>
                  </a:tcPr>
                </a:tc>
                <a:tc>
                  <a:txBody>
                    <a:bodyPr/>
                    <a:lstStyle/>
                    <a:p>
                      <a:r>
                        <a:rPr sz="1600" b="0" i="0" u="none">
                          <a:solidFill>
                            <a:srgbClr val="1C2B3A"/>
                          </a:solidFill>
                          <a:latin typeface="Barlow"/>
                        </a:rPr>
                        <a:t>Imke Tiemann</a:t>
                      </a:r>
                    </a:p>
                  </a:txBody>
                  <a:tcPr marL="54864" marR="54864" marT="18288" marB="18288">
                    <a:solidFill>
                      <a:srgbClr val="FFFDF8"/>
                    </a:solidFill>
                  </a:tcPr>
                </a:tc>
                <a:tc>
                  <a:txBody>
                    <a:bodyPr/>
                    <a:lstStyle/>
                    <a:p>
                      <a:r>
                        <a:rPr sz="1600" b="0" i="0" u="none">
                          <a:solidFill>
                            <a:srgbClr val="1C2B3A"/>
                          </a:solidFill>
                          <a:latin typeface="Barlow"/>
                        </a:rPr>
                        <a:t>7, 8, 11</a:t>
                      </a:r>
                    </a:p>
                  </a:txBody>
                  <a:tcPr marL="54864" marR="54864" marT="18288" marB="18288">
                    <a:solidFill>
                      <a:srgbClr val="FFFDF8"/>
                    </a:solidFill>
                  </a:tcPr>
                </a:tc>
              </a:tr>
              <a:tr h="314960">
                <a:tc>
                  <a:txBody>
                    <a:bodyPr/>
                    <a:lstStyle/>
                    <a:p>
                      <a:pPr algn="r"/>
                      <a:r>
                        <a:rPr sz="1600" b="0" i="0" u="none">
                          <a:solidFill>
                            <a:srgbClr val="1C2B3A"/>
                          </a:solidFill>
                          <a:latin typeface="Barlow"/>
                        </a:rPr>
                        <a:t>8</a:t>
                      </a:r>
                    </a:p>
                  </a:txBody>
                  <a:tcPr marL="54864" marR="54864" marT="18288" marB="18288">
                    <a:solidFill>
                      <a:srgbClr val="FFFDF8"/>
                    </a:solidFill>
                  </a:tcPr>
                </a:tc>
                <a:tc>
                  <a:txBody>
                    <a:bodyPr/>
                    <a:lstStyle/>
                    <a:p>
                      <a:r>
                        <a:rPr sz="1600" b="0" i="0" u="none">
                          <a:solidFill>
                            <a:srgbClr val="1C2B3A"/>
                          </a:solidFill>
                          <a:latin typeface="Barlow"/>
                        </a:rPr>
                        <a:t>Deniz Akgül</a:t>
                      </a:r>
                    </a:p>
                  </a:txBody>
                  <a:tcPr marL="54864" marR="54864" marT="18288" marB="18288">
                    <a:solidFill>
                      <a:srgbClr val="FFFDF8"/>
                    </a:solidFill>
                  </a:tcPr>
                </a:tc>
                <a:tc>
                  <a:txBody>
                    <a:bodyPr/>
                    <a:lstStyle/>
                    <a:p>
                      <a:pPr algn="r"/>
                      <a:r>
                        <a:rPr sz="1600" b="0" i="0" u="none">
                          <a:solidFill>
                            <a:srgbClr val="1C2B3A"/>
                          </a:solidFill>
                          <a:latin typeface="Barlow"/>
                        </a:rPr>
                        <a:t>12</a:t>
                      </a:r>
                    </a:p>
                  </a:txBody>
                  <a:tcPr marL="54864" marR="54864" marT="18288" marB="18288">
                    <a:solidFill>
                      <a:srgbClr val="FFFDF8"/>
                    </a:solidFill>
                  </a:tcPr>
                </a:tc>
              </a:tr>
            </a:tbl>
          </a:graphicData>
        </a:graphic>
      </p:graphicFrame>
      <p:graphicFrame>
        <p:nvGraphicFramePr>
          <p:cNvPr id="11" name="Datentabelle"/>
          <p:cNvGraphicFramePr>
            <a:graphicFrameLocks noGrp="1"/>
          </p:cNvGraphicFramePr>
          <p:nvPr/>
        </p:nvGraphicFramePr>
        <p:xfrm>
          <a:off x="822959" y="3441065"/>
          <a:ext cx="6046012" cy="944880"/>
        </p:xfrm>
        <a:graphic>
          <a:graphicData uri="http://schemas.openxmlformats.org/drawingml/2006/table">
            <a:tbl>
              <a:tblPr firstRow="1">
                <a:tableStyleId>{5C22544A-7EE6-4342-B048-85BDC9FD1C3A}</a:tableStyleId>
              </a:tblPr>
              <a:tblGrid>
                <a:gridCol w="1020470"/>
                <a:gridCol w="3756355"/>
                <a:gridCol w="1269187"/>
              </a:tblGrid>
              <a:tr h="314960">
                <a:tc>
                  <a:txBody>
                    <a:bodyPr/>
                    <a:lstStyle/>
                    <a:p>
                      <a:r>
                        <a:rPr sz="1472" b="1" i="0" u="none">
                          <a:solidFill>
                            <a:srgbClr val="1C2B3A"/>
                          </a:solidFill>
                          <a:latin typeface="IBM Plex Mono"/>
                        </a:rPr>
                        <a:t>FallNr</a:t>
                      </a:r>
                    </a:p>
                  </a:txBody>
                  <a:tcPr marL="54864" marR="54864" marT="18288" marB="18288">
                    <a:solidFill>
                      <a:srgbClr val="EBE2D2"/>
                    </a:solidFill>
                  </a:tcPr>
                </a:tc>
                <a:tc>
                  <a:txBody>
                    <a:bodyPr/>
                    <a:lstStyle/>
                    <a:p>
                      <a:r>
                        <a:rPr sz="1472" b="1" i="0" u="none">
                          <a:solidFill>
                            <a:srgbClr val="1C2B3A"/>
                          </a:solidFill>
                          <a:latin typeface="IBM Plex Mono"/>
                        </a:rPr>
                        <a:t>Titel</a:t>
                      </a:r>
                    </a:p>
                  </a:txBody>
                  <a:tcPr marL="54864" marR="54864" marT="18288" marB="18288">
                    <a:solidFill>
                      <a:srgbClr val="EBE2D2"/>
                    </a:solidFill>
                  </a:tcPr>
                </a:tc>
                <a:tc>
                  <a:txBody>
                    <a:bodyPr/>
                    <a:lstStyle/>
                    <a:p>
                      <a:r>
                        <a:rPr sz="1472" b="1" i="0" u="none">
                          <a:solidFill>
                            <a:srgbClr val="1C2B3A"/>
                          </a:solidFill>
                          <a:latin typeface="IBM Plex Mono"/>
                        </a:rPr>
                        <a:t>LeiterNr</a:t>
                      </a:r>
                    </a:p>
                  </a:txBody>
                  <a:tcPr marL="54864" marR="54864" marT="18288" marB="18288">
                    <a:solidFill>
                      <a:srgbClr val="EBE2D2"/>
                    </a:solidFill>
                  </a:tcPr>
                </a:tc>
              </a:tr>
              <a:tr h="314960">
                <a:tc>
                  <a:txBody>
                    <a:bodyPr/>
                    <a:lstStyle/>
                    <a:p>
                      <a:pPr algn="r"/>
                      <a:r>
                        <a:rPr sz="1600" b="0" i="0" u="none">
                          <a:solidFill>
                            <a:srgbClr val="1C2B3A"/>
                          </a:solidFill>
                          <a:latin typeface="Barlow"/>
                        </a:rPr>
                        <a:t>7</a:t>
                      </a:r>
                    </a:p>
                  </a:txBody>
                  <a:tcPr marL="54864" marR="54864" marT="18288" marB="18288">
                    <a:solidFill>
                      <a:srgbClr val="FFFDF8"/>
                    </a:solidFill>
                  </a:tcPr>
                </a:tc>
                <a:tc>
                  <a:txBody>
                    <a:bodyPr/>
                    <a:lstStyle/>
                    <a:p>
                      <a:r>
                        <a:rPr sz="1600" b="0" i="0" u="none">
                          <a:solidFill>
                            <a:srgbClr val="1C2B3A"/>
                          </a:solidFill>
                          <a:latin typeface="Barlow"/>
                        </a:rPr>
                        <a:t>Der doppelte Bauantrag</a:t>
                      </a:r>
                    </a:p>
                  </a:txBody>
                  <a:tcPr marL="54864" marR="54864" marT="18288" marB="18288">
                    <a:solidFill>
                      <a:srgbClr val="FFFDF8"/>
                    </a:solidFill>
                  </a:tcPr>
                </a:tc>
                <a:tc>
                  <a:txBody>
                    <a:bodyPr/>
                    <a:lstStyle/>
                    <a:p>
                      <a:pPr algn="r"/>
                      <a:r>
                        <a:rPr sz="1600" b="0" i="0" u="none">
                          <a:solidFill>
                            <a:srgbClr val="1C2B3A"/>
                          </a:solidFill>
                          <a:latin typeface="Barlow"/>
                        </a:rPr>
                        <a:t>5</a:t>
                      </a:r>
                    </a:p>
                  </a:txBody>
                  <a:tcPr marL="54864" marR="54864" marT="18288" marB="18288">
                    <a:solidFill>
                      <a:srgbClr val="FFFDF8"/>
                    </a:solidFill>
                  </a:tcPr>
                </a:tc>
              </a:tr>
              <a:tr h="314960">
                <a:tc>
                  <a:txBody>
                    <a:bodyPr/>
                    <a:lstStyle/>
                    <a:p>
                      <a:pPr algn="r"/>
                      <a:r>
                        <a:rPr sz="1600" b="0" i="0" u="none">
                          <a:solidFill>
                            <a:srgbClr val="1C2B3A"/>
                          </a:solidFill>
                          <a:latin typeface="Barlow"/>
                        </a:rPr>
                        <a:t>8</a:t>
                      </a:r>
                    </a:p>
                  </a:txBody>
                  <a:tcPr marL="54864" marR="54864" marT="18288" marB="18288">
                    <a:solidFill>
                      <a:srgbClr val="FFFDF8"/>
                    </a:solidFill>
                  </a:tcPr>
                </a:tc>
                <a:tc>
                  <a:txBody>
                    <a:bodyPr/>
                    <a:lstStyle/>
                    <a:p>
                      <a:r>
                        <a:rPr sz="1600" b="0" i="0" u="none">
                          <a:solidFill>
                            <a:srgbClr val="1C2B3A"/>
                          </a:solidFill>
                          <a:latin typeface="Barlow"/>
                        </a:rPr>
                        <a:t>Die verschwundene Gästeliste</a:t>
                      </a:r>
                    </a:p>
                  </a:txBody>
                  <a:tcPr marL="54864" marR="54864" marT="18288" marB="18288">
                    <a:solidFill>
                      <a:srgbClr val="FFFDF8"/>
                    </a:solidFill>
                  </a:tcPr>
                </a:tc>
                <a:tc>
                  <a:txBody>
                    <a:bodyPr/>
                    <a:lstStyle/>
                    <a:p>
                      <a:pPr algn="r"/>
                      <a:r>
                        <a:rPr sz="1600" b="0" i="0" u="none">
                          <a:solidFill>
                            <a:srgbClr val="1C2B3A"/>
                          </a:solidFill>
                          <a:latin typeface="Barlow"/>
                        </a:rPr>
                        <a:t>5</a:t>
                      </a:r>
                    </a:p>
                  </a:txBody>
                  <a:tcPr marL="54864" marR="54864" marT="18288" marB="18288">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Überführungsregeln R1–R6 (Beispiel Schule)</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39</a:t>
            </a:r>
          </a:p>
        </p:txBody>
      </p:sp>
      <p:graphicFrame>
        <p:nvGraphicFramePr>
          <p:cNvPr id="8" name="Datentabelle"/>
          <p:cNvGraphicFramePr>
            <a:graphicFrameLocks noGrp="1"/>
          </p:cNvGraphicFramePr>
          <p:nvPr/>
        </p:nvGraphicFramePr>
        <p:xfrm>
          <a:off x="548640" y="1691640"/>
          <a:ext cx="10799999" cy="2204720"/>
        </p:xfrm>
        <a:graphic>
          <a:graphicData uri="http://schemas.openxmlformats.org/drawingml/2006/table">
            <a:tbl>
              <a:tblPr firstRow="1">
                <a:tableStyleId>{5C22544A-7EE6-4342-B048-85BDC9FD1C3A}</a:tableStyleId>
              </a:tblPr>
              <a:tblGrid>
                <a:gridCol w="1439999"/>
                <a:gridCol w="9360000"/>
              </a:tblGrid>
              <a:tr h="314960">
                <a:tc>
                  <a:txBody>
                    <a:bodyPr/>
                    <a:lstStyle/>
                    <a:p>
                      <a:r>
                        <a:rPr sz="1472" b="1" i="0" u="none">
                          <a:solidFill>
                            <a:srgbClr val="1C2B3A"/>
                          </a:solidFill>
                          <a:latin typeface="IBM Plex Mono"/>
                        </a:rPr>
                        <a:t>Regel</a:t>
                      </a:r>
                    </a:p>
                  </a:txBody>
                  <a:tcPr marL="54864" marR="54864" marT="18288" marB="18288">
                    <a:solidFill>
                      <a:srgbClr val="EBE2D2"/>
                    </a:solidFill>
                  </a:tcPr>
                </a:tc>
                <a:tc>
                  <a:txBody>
                    <a:bodyPr/>
                    <a:lstStyle/>
                    <a:p>
                      <a:r>
                        <a:rPr sz="1472" b="1" i="0" u="none">
                          <a:solidFill>
                            <a:srgbClr val="1C2B3A"/>
                          </a:solidFill>
                          <a:latin typeface="IBM Plex Mono"/>
                        </a:rPr>
                        <a:t>Umsetzung im Relationenschema</a:t>
                      </a:r>
                    </a:p>
                  </a:txBody>
                  <a:tcPr marL="54864" marR="54864" marT="18288" marB="18288">
                    <a:solidFill>
                      <a:srgbClr val="EBE2D2"/>
                    </a:solidFill>
                  </a:tcPr>
                </a:tc>
              </a:tr>
              <a:tr h="314960">
                <a:tc>
                  <a:txBody>
                    <a:bodyPr/>
                    <a:lstStyle/>
                    <a:p>
                      <a:r>
                        <a:rPr sz="1600" b="1" i="0" u="none">
                          <a:solidFill>
                            <a:srgbClr val="1C2B3A"/>
                          </a:solidFill>
                          <a:latin typeface="Barlow"/>
                        </a:rPr>
                        <a:t>R1</a:t>
                      </a:r>
                      <a:r>
                        <a:rPr sz="1600" b="0" i="0" u="none">
                          <a:solidFill>
                            <a:srgbClr val="1C2B3A"/>
                          </a:solidFill>
                          <a:latin typeface="Barlow"/>
                        </a:rPr>
                        <a:t> Entitätstyp</a:t>
                      </a:r>
                    </a:p>
                  </a:txBody>
                  <a:tcPr marL="54864" marR="54864" marT="18288" marB="18288">
                    <a:solidFill>
                      <a:srgbClr val="FFFDF8"/>
                    </a:solidFill>
                  </a:tcPr>
                </a:tc>
                <a:tc>
                  <a:txBody>
                    <a:bodyPr/>
                    <a:lstStyle/>
                    <a:p>
                      <a:r>
                        <a:rPr sz="1600" b="0" i="0" u="none">
                          <a:solidFill>
                            <a:srgbClr val="1C2B3A"/>
                          </a:solidFill>
                          <a:latin typeface="Barlow"/>
                        </a:rPr>
                        <a:t>Kurs(</a:t>
                      </a:r>
                      <a:r>
                        <a:rPr sz="1600" b="0" i="0" u="sng">
                          <a:solidFill>
                            <a:srgbClr val="1C2B3A"/>
                          </a:solidFill>
                          <a:latin typeface="Barlow"/>
                        </a:rPr>
                        <a:t>KursNr</a:t>
                      </a:r>
                      <a:r>
                        <a:rPr sz="1600" b="0" i="0" u="none">
                          <a:solidFill>
                            <a:srgbClr val="1C2B3A"/>
                          </a:solidFill>
                          <a:latin typeface="Barlow"/>
                        </a:rPr>
                        <a:t>, Titel) – Schlüsselattribut → Primärschlüssel</a:t>
                      </a:r>
                    </a:p>
                  </a:txBody>
                  <a:tcPr marL="54864" marR="54864" marT="18288" marB="18288">
                    <a:solidFill>
                      <a:srgbClr val="FFFDF8"/>
                    </a:solidFill>
                  </a:tcPr>
                </a:tc>
              </a:tr>
              <a:tr h="314960">
                <a:tc>
                  <a:txBody>
                    <a:bodyPr/>
                    <a:lstStyle/>
                    <a:p>
                      <a:r>
                        <a:rPr sz="1600" b="1" i="0" u="none">
                          <a:solidFill>
                            <a:srgbClr val="1C2B3A"/>
                          </a:solidFill>
                          <a:latin typeface="Barlow"/>
                        </a:rPr>
                        <a:t>R2</a:t>
                      </a:r>
                      <a:r>
                        <a:rPr sz="1600" b="0" i="0" u="none">
                          <a:solidFill>
                            <a:srgbClr val="1C2B3A"/>
                          </a:solidFill>
                          <a:latin typeface="Barlow"/>
                        </a:rPr>
                        <a:t> 1:n</a:t>
                      </a:r>
                    </a:p>
                  </a:txBody>
                  <a:tcPr marL="54864" marR="54864" marT="18288" marB="18288">
                    <a:solidFill>
                      <a:srgbClr val="FFFDF8"/>
                    </a:solidFill>
                  </a:tcPr>
                </a:tc>
                <a:tc>
                  <a:txBody>
                    <a:bodyPr/>
                    <a:lstStyle/>
                    <a:p>
                      <a:r>
                        <a:rPr sz="1600" b="0" i="0" u="none">
                          <a:solidFill>
                            <a:srgbClr val="1C2B3A"/>
                          </a:solidFill>
                          <a:latin typeface="Barlow"/>
                        </a:rPr>
                        <a:t>Kurs(</a:t>
                      </a:r>
                      <a:r>
                        <a:rPr sz="1600" b="0" i="0" u="sng">
                          <a:solidFill>
                            <a:srgbClr val="1C2B3A"/>
                          </a:solidFill>
                          <a:latin typeface="Barlow"/>
                        </a:rPr>
                        <a:t>KursNr</a:t>
                      </a:r>
                      <a:r>
                        <a:rPr sz="1600" b="0" i="0" u="none">
                          <a:solidFill>
                            <a:srgbClr val="1C2B3A"/>
                          </a:solidFill>
                          <a:latin typeface="Barlow"/>
                        </a:rPr>
                        <a:t>, Titel, </a:t>
                      </a:r>
                      <a:r>
                        <a:rPr sz="1600" b="0" i="0" u="none">
                          <a:solidFill>
                            <a:srgbClr val="B3261E"/>
                          </a:solidFill>
                          <a:latin typeface="IBM Plex Mono"/>
                        </a:rPr>
                        <a:t>↑</a:t>
                      </a:r>
                      <a:r>
                        <a:rPr sz="1600" b="0" i="0" u="none">
                          <a:solidFill>
                            <a:srgbClr val="1C2B3A"/>
                          </a:solidFill>
                          <a:latin typeface="Barlow"/>
                        </a:rPr>
                        <a:t>LehrkraftNr) – Fremdschlüssel auf der </a:t>
                      </a:r>
                      <a:r>
                        <a:rPr sz="1600" b="1" i="0" u="none">
                          <a:solidFill>
                            <a:srgbClr val="1C2B3A"/>
                          </a:solidFill>
                          <a:latin typeface="Barlow"/>
                        </a:rPr>
                        <a:t>n-Seite</a:t>
                      </a:r>
                      <a:r>
                        <a:rPr sz="1600" b="0" i="0" u="none">
                          <a:solidFill>
                            <a:srgbClr val="1C2B3A"/>
                          </a:solidFill>
                          <a:latin typeface="Barlow"/>
                        </a:rPr>
                        <a:t>; Attribute des Beziehungstyps ebenfalls dorthin</a:t>
                      </a:r>
                    </a:p>
                  </a:txBody>
                  <a:tcPr marL="54864" marR="54864" marT="18288" marB="18288">
                    <a:solidFill>
                      <a:srgbClr val="FFFDF8"/>
                    </a:solidFill>
                  </a:tcPr>
                </a:tc>
              </a:tr>
              <a:tr h="314960">
                <a:tc>
                  <a:txBody>
                    <a:bodyPr/>
                    <a:lstStyle/>
                    <a:p>
                      <a:r>
                        <a:rPr sz="1600" b="1" i="0" u="none">
                          <a:solidFill>
                            <a:srgbClr val="1C2B3A"/>
                          </a:solidFill>
                          <a:latin typeface="Barlow"/>
                        </a:rPr>
                        <a:t>R3</a:t>
                      </a:r>
                      <a:r>
                        <a:rPr sz="1600" b="0" i="0" u="none">
                          <a:solidFill>
                            <a:srgbClr val="1C2B3A"/>
                          </a:solidFill>
                          <a:latin typeface="Barlow"/>
                        </a:rPr>
                        <a:t> n:m</a:t>
                      </a:r>
                    </a:p>
                  </a:txBody>
                  <a:tcPr marL="54864" marR="54864" marT="18288" marB="18288">
                    <a:solidFill>
                      <a:srgbClr val="FFFDF8"/>
                    </a:solidFill>
                  </a:tcPr>
                </a:tc>
                <a:tc>
                  <a:txBody>
                    <a:bodyPr/>
                    <a:lstStyle/>
                    <a:p>
                      <a:r>
                        <a:rPr sz="1600" b="0" i="0" u="none">
                          <a:solidFill>
                            <a:srgbClr val="1C2B3A"/>
                          </a:solidFill>
                          <a:latin typeface="Barlow"/>
                        </a:rPr>
                        <a:t>belegt(</a:t>
                      </a:r>
                      <a:r>
                        <a:rPr sz="1600" b="0" i="0" u="sng">
                          <a:solidFill>
                            <a:srgbClr val="B3261E"/>
                          </a:solidFill>
                          <a:latin typeface="IBM Plex Mono"/>
                        </a:rPr>
                        <a:t>↑</a:t>
                      </a:r>
                      <a:r>
                        <a:rPr sz="1600" b="0" i="0" u="sng">
                          <a:solidFill>
                            <a:srgbClr val="1C2B3A"/>
                          </a:solidFill>
                          <a:latin typeface="Barlow"/>
                        </a:rPr>
                        <a:t>SchuelerNr</a:t>
                      </a:r>
                      <a:r>
                        <a:rPr sz="1600" b="0" i="0" u="none">
                          <a:solidFill>
                            <a:srgbClr val="1C2B3A"/>
                          </a:solidFill>
                          <a:latin typeface="Barlow"/>
                        </a:rPr>
                        <a:t>, </a:t>
                      </a:r>
                      <a:r>
                        <a:rPr sz="1600" b="0" i="0" u="sng">
                          <a:solidFill>
                            <a:srgbClr val="B3261E"/>
                          </a:solidFill>
                          <a:latin typeface="IBM Plex Mono"/>
                        </a:rPr>
                        <a:t>↑</a:t>
                      </a:r>
                      <a:r>
                        <a:rPr sz="1600" b="0" i="0" u="sng">
                          <a:solidFill>
                            <a:srgbClr val="1C2B3A"/>
                          </a:solidFill>
                          <a:latin typeface="Barlow"/>
                        </a:rPr>
                        <a:t>KursNr</a:t>
                      </a:r>
                      <a:r>
                        <a:rPr sz="1600" b="0" i="0" u="none">
                          <a:solidFill>
                            <a:srgbClr val="1C2B3A"/>
                          </a:solidFill>
                          <a:latin typeface="Barlow"/>
                        </a:rPr>
                        <a:t>, Note) – eigene Relation, Primärschlüssel aus beiden Fremdschlüsseln</a:t>
                      </a:r>
                    </a:p>
                  </a:txBody>
                  <a:tcPr marL="54864" marR="54864" marT="18288" marB="18288">
                    <a:solidFill>
                      <a:srgbClr val="FFFDF8"/>
                    </a:solidFill>
                  </a:tcPr>
                </a:tc>
              </a:tr>
              <a:tr h="314960">
                <a:tc>
                  <a:txBody>
                    <a:bodyPr/>
                    <a:lstStyle/>
                    <a:p>
                      <a:r>
                        <a:rPr sz="1600" b="1" i="0" u="none">
                          <a:solidFill>
                            <a:srgbClr val="1C2B3A"/>
                          </a:solidFill>
                          <a:latin typeface="Barlow"/>
                        </a:rPr>
                        <a:t>R4</a:t>
                      </a:r>
                      <a:r>
                        <a:rPr sz="1600" b="0" i="0" u="none">
                          <a:solidFill>
                            <a:srgbClr val="1C2B3A"/>
                          </a:solidFill>
                          <a:latin typeface="Barlow"/>
                        </a:rPr>
                        <a:t> 1:1</a:t>
                      </a:r>
                    </a:p>
                  </a:txBody>
                  <a:tcPr marL="54864" marR="54864" marT="18288" marB="18288">
                    <a:solidFill>
                      <a:srgbClr val="FFFDF8"/>
                    </a:solidFill>
                  </a:tcPr>
                </a:tc>
                <a:tc>
                  <a:txBody>
                    <a:bodyPr/>
                    <a:lstStyle/>
                    <a:p>
                      <a:r>
                        <a:rPr sz="1600" b="0" i="0" u="none">
                          <a:solidFill>
                            <a:srgbClr val="1C2B3A"/>
                          </a:solidFill>
                          <a:latin typeface="Barlow"/>
                        </a:rPr>
                        <a:t>Schliessfach(</a:t>
                      </a:r>
                      <a:r>
                        <a:rPr sz="1600" b="0" i="0" u="sng">
                          <a:solidFill>
                            <a:srgbClr val="1C2B3A"/>
                          </a:solidFill>
                          <a:latin typeface="Barlow"/>
                        </a:rPr>
                        <a:t>FachNr</a:t>
                      </a:r>
                      <a:r>
                        <a:rPr sz="1600" b="0" i="0" u="none">
                          <a:solidFill>
                            <a:srgbClr val="1C2B3A"/>
                          </a:solidFill>
                          <a:latin typeface="Barlow"/>
                        </a:rPr>
                        <a:t>, Etage, </a:t>
                      </a:r>
                      <a:r>
                        <a:rPr sz="1600" b="0" i="0" u="none">
                          <a:solidFill>
                            <a:srgbClr val="B3261E"/>
                          </a:solidFill>
                          <a:latin typeface="IBM Plex Mono"/>
                        </a:rPr>
                        <a:t>↑</a:t>
                      </a:r>
                      <a:r>
                        <a:rPr sz="1600" b="0" i="0" u="none">
                          <a:solidFill>
                            <a:srgbClr val="1C2B3A"/>
                          </a:solidFill>
                          <a:latin typeface="Barlow"/>
                        </a:rPr>
                        <a:t>LehrkraftNr) – Fremdschlüssel auf </a:t>
                      </a:r>
                      <a:r>
                        <a:rPr sz="1600" b="1" i="0" u="none">
                          <a:solidFill>
                            <a:srgbClr val="1C2B3A"/>
                          </a:solidFill>
                          <a:latin typeface="Barlow"/>
                        </a:rPr>
                        <a:t>einer</a:t>
                      </a:r>
                      <a:r>
                        <a:rPr sz="1600" b="0" i="0" u="none">
                          <a:solidFill>
                            <a:srgbClr val="1C2B3A"/>
                          </a:solidFill>
                          <a:latin typeface="Barlow"/>
                        </a:rPr>
                        <a:t> Seite (oder beide Relationen zusammenlegen)</a:t>
                      </a:r>
                    </a:p>
                  </a:txBody>
                  <a:tcPr marL="54864" marR="54864" marT="18288" marB="18288">
                    <a:solidFill>
                      <a:srgbClr val="FFFDF8"/>
                    </a:solidFill>
                  </a:tcPr>
                </a:tc>
              </a:tr>
              <a:tr h="314960">
                <a:tc>
                  <a:txBody>
                    <a:bodyPr/>
                    <a:lstStyle/>
                    <a:p>
                      <a:r>
                        <a:rPr sz="1600" b="1" i="0" u="none">
                          <a:solidFill>
                            <a:srgbClr val="1C2B3A"/>
                          </a:solidFill>
                          <a:latin typeface="Barlow"/>
                        </a:rPr>
                        <a:t>R5</a:t>
                      </a:r>
                      <a:r>
                        <a:rPr sz="1600" b="0" i="0" u="none">
                          <a:solidFill>
                            <a:srgbClr val="1C2B3A"/>
                          </a:solidFill>
                          <a:latin typeface="Barlow"/>
                        </a:rPr>
                        <a:t> rekursiv</a:t>
                      </a:r>
                    </a:p>
                  </a:txBody>
                  <a:tcPr marL="54864" marR="54864" marT="18288" marB="18288">
                    <a:solidFill>
                      <a:srgbClr val="FFFDF8"/>
                    </a:solidFill>
                  </a:tcPr>
                </a:tc>
                <a:tc>
                  <a:txBody>
                    <a:bodyPr/>
                    <a:lstStyle/>
                    <a:p>
                      <a:r>
                        <a:rPr sz="1600" b="0" i="0" u="none">
                          <a:solidFill>
                            <a:srgbClr val="1C2B3A"/>
                          </a:solidFill>
                          <a:latin typeface="Barlow"/>
                        </a:rPr>
                        <a:t>Schueler(</a:t>
                      </a:r>
                      <a:r>
                        <a:rPr sz="1600" b="0" i="0" u="sng">
                          <a:solidFill>
                            <a:srgbClr val="1C2B3A"/>
                          </a:solidFill>
                          <a:latin typeface="Barlow"/>
                        </a:rPr>
                        <a:t>SchuelerNr</a:t>
                      </a:r>
                      <a:r>
                        <a:rPr sz="1600" b="0" i="0" u="none">
                          <a:solidFill>
                            <a:srgbClr val="1C2B3A"/>
                          </a:solidFill>
                          <a:latin typeface="Barlow"/>
                        </a:rPr>
                        <a:t>, Name, </a:t>
                      </a:r>
                      <a:r>
                        <a:rPr sz="1600" b="0" i="0" u="none">
                          <a:solidFill>
                            <a:srgbClr val="B3261E"/>
                          </a:solidFill>
                          <a:latin typeface="IBM Plex Mono"/>
                        </a:rPr>
                        <a:t>↑</a:t>
                      </a:r>
                      <a:r>
                        <a:rPr sz="1600" b="0" i="0" u="none">
                          <a:solidFill>
                            <a:srgbClr val="1C2B3A"/>
                          </a:solidFill>
                          <a:latin typeface="Barlow"/>
                        </a:rPr>
                        <a:t>PateNr) – Fremdschlüssel auf die eigene Relation, benannt nach der Rolle; rekursiv n:m → eigene Relation mit zwei Fremdschlüsseln auf dieselbe Relation</a:t>
                      </a:r>
                    </a:p>
                  </a:txBody>
                  <a:tcPr marL="54864" marR="54864" marT="18288" marB="18288">
                    <a:solidFill>
                      <a:srgbClr val="FFFDF8"/>
                    </a:solidFill>
                  </a:tcPr>
                </a:tc>
              </a:tr>
              <a:tr h="314960">
                <a:tc>
                  <a:txBody>
                    <a:bodyPr/>
                    <a:lstStyle/>
                    <a:p>
                      <a:r>
                        <a:rPr sz="1600" b="1" i="0" u="none">
                          <a:solidFill>
                            <a:srgbClr val="1C2B3A"/>
                          </a:solidFill>
                          <a:latin typeface="Barlow"/>
                        </a:rPr>
                        <a:t>R6</a:t>
                      </a:r>
                      <a:r>
                        <a:rPr sz="1600" b="0" i="0" u="none">
                          <a:solidFill>
                            <a:srgbClr val="1C2B3A"/>
                          </a:solidFill>
                          <a:latin typeface="Barlow"/>
                        </a:rPr>
                        <a:t> ternär</a:t>
                      </a:r>
                    </a:p>
                  </a:txBody>
                  <a:tcPr marL="54864" marR="54864" marT="18288" marB="18288">
                    <a:solidFill>
                      <a:srgbClr val="FFFDF8"/>
                    </a:solidFill>
                  </a:tcPr>
                </a:tc>
                <a:tc>
                  <a:txBody>
                    <a:bodyPr/>
                    <a:lstStyle/>
                    <a:p>
                      <a:r>
                        <a:rPr sz="1600" b="0" i="0" u="none">
                          <a:solidFill>
                            <a:srgbClr val="1C2B3A"/>
                          </a:solidFill>
                          <a:latin typeface="Barlow"/>
                        </a:rPr>
                        <a:t>praesentiert(</a:t>
                      </a:r>
                      <a:r>
                        <a:rPr sz="1600" b="0" i="0" u="sng">
                          <a:solidFill>
                            <a:srgbClr val="B3261E"/>
                          </a:solidFill>
                          <a:latin typeface="IBM Plex Mono"/>
                        </a:rPr>
                        <a:t>↑</a:t>
                      </a:r>
                      <a:r>
                        <a:rPr sz="1600" b="0" i="0" u="sng">
                          <a:solidFill>
                            <a:srgbClr val="1C2B3A"/>
                          </a:solidFill>
                          <a:latin typeface="Barlow"/>
                        </a:rPr>
                        <a:t>SchuelerNr</a:t>
                      </a:r>
                      <a:r>
                        <a:rPr sz="1600" b="0" i="0" u="none">
                          <a:solidFill>
                            <a:srgbClr val="1C2B3A"/>
                          </a:solidFill>
                          <a:latin typeface="Barlow"/>
                        </a:rPr>
                        <a:t>, </a:t>
                      </a:r>
                      <a:r>
                        <a:rPr sz="1600" b="0" i="0" u="sng">
                          <a:solidFill>
                            <a:srgbClr val="B3261E"/>
                          </a:solidFill>
                          <a:latin typeface="IBM Plex Mono"/>
                        </a:rPr>
                        <a:t>↑</a:t>
                      </a:r>
                      <a:r>
                        <a:rPr sz="1600" b="0" i="0" u="sng">
                          <a:solidFill>
                            <a:srgbClr val="1C2B3A"/>
                          </a:solidFill>
                          <a:latin typeface="Barlow"/>
                        </a:rPr>
                        <a:t>KursNr</a:t>
                      </a:r>
                      <a:r>
                        <a:rPr sz="1600" b="0" i="0" u="none">
                          <a:solidFill>
                            <a:srgbClr val="1C2B3A"/>
                          </a:solidFill>
                          <a:latin typeface="Barlow"/>
                        </a:rPr>
                        <a:t>, </a:t>
                      </a:r>
                      <a:r>
                        <a:rPr sz="1600" b="0" i="0" u="sng">
                          <a:solidFill>
                            <a:srgbClr val="B3261E"/>
                          </a:solidFill>
                          <a:latin typeface="IBM Plex Mono"/>
                        </a:rPr>
                        <a:t>↑</a:t>
                      </a:r>
                      <a:r>
                        <a:rPr sz="1600" b="0" i="0" u="sng">
                          <a:solidFill>
                            <a:srgbClr val="1C2B3A"/>
                          </a:solidFill>
                          <a:latin typeface="Barlow"/>
                        </a:rPr>
                        <a:t>RaumNr</a:t>
                      </a:r>
                      <a:r>
                        <a:rPr sz="1600" b="0" i="0" u="none">
                          <a:solidFill>
                            <a:srgbClr val="1C2B3A"/>
                          </a:solidFill>
                          <a:latin typeface="Barlow"/>
                        </a:rPr>
                        <a:t>, Thema) – eigene Relation mit drei Fremdschlüsseln im Primärschlüssel</a:t>
                      </a:r>
                    </a:p>
                  </a:txBody>
                  <a:tcPr marL="54864" marR="54864" marT="18288" marB="18288">
                    <a:solidFill>
                      <a:srgbClr val="FFFD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Zwei Feinheiten, die im Abitur zählen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40</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2084070"/>
          </a:xfrm>
          <a:prstGeom prst="rect">
            <a:avLst/>
          </a:prstGeom>
          <a:noFill/>
        </p:spPr>
        <p:txBody>
          <a:bodyPr wrap="square" anchor="t" lIns="36576" rIns="36576" tIns="36576" bIns="36576">
            <a:spAutoFit/>
          </a:bodyPr>
          <a:lstStyle/>
          <a:p>
            <a:pPr>
              <a:lnSpc>
                <a:spcPct val="105000"/>
              </a:lnSpc>
              <a:spcAft>
                <a:spcPts val="600"/>
              </a:spcAft>
            </a:pPr>
            <a:r>
              <a:rPr sz="1900" b="1" i="0" u="none">
                <a:solidFill>
                  <a:srgbClr val="1C2B3A"/>
                </a:solidFill>
                <a:latin typeface="Barlow"/>
              </a:rPr>
              <a:t>Attribut am 1:n-Beziehungstyp</a:t>
            </a:r>
            <a:r>
              <a:rPr sz="1900" b="0" i="0" u="none">
                <a:solidFill>
                  <a:srgbClr val="1C2B3A"/>
                </a:solidFill>
                <a:latin typeface="Barlow"/>
              </a:rPr>
              <a:t> → in die Relation der </a:t>
            </a:r>
            <a:r>
              <a:rPr sz="1900" b="1" i="0" u="none">
                <a:solidFill>
                  <a:srgbClr val="1C2B3A"/>
                </a:solidFill>
                <a:latin typeface="Barlow"/>
              </a:rPr>
              <a:t>n-Seite</a:t>
            </a:r>
            <a:r>
              <a:rPr sz="1900" b="0" i="0" u="none">
                <a:solidFill>
                  <a:srgbClr val="1C2B3A"/>
                </a:solidFill>
                <a:latin typeface="Barlow"/>
              </a:rPr>
              <a:t>: Lehrkraft 1 – </a:t>
            </a:r>
            <a:r>
              <a:rPr sz="1900" b="0" i="1" u="none">
                <a:solidFill>
                  <a:srgbClr val="1C2B3A"/>
                </a:solidFill>
                <a:latin typeface="Barlow"/>
              </a:rPr>
              <a:t>leitet</a:t>
            </a:r>
            <a:r>
              <a:rPr sz="1900" b="0" i="0" u="none">
                <a:solidFill>
                  <a:srgbClr val="1C2B3A"/>
                </a:solidFill>
                <a:latin typeface="Barlow"/>
              </a:rPr>
              <a:t> (seit) – n Kurs ergibt Kurs(</a:t>
            </a:r>
            <a:r>
              <a:rPr sz="1900" b="0" i="0" u="sng">
                <a:solidFill>
                  <a:srgbClr val="1C2B3A"/>
                </a:solidFill>
                <a:latin typeface="Barlow"/>
              </a:rPr>
              <a:t>KursNr</a:t>
            </a:r>
            <a:r>
              <a:rPr sz="1900" b="0" i="0" u="none">
                <a:solidFill>
                  <a:srgbClr val="1C2B3A"/>
                </a:solidFill>
                <a:latin typeface="Barlow"/>
              </a:rPr>
              <a:t>, Titel, </a:t>
            </a:r>
            <a:r>
              <a:rPr sz="1900" b="0" i="0" u="none">
                <a:solidFill>
                  <a:srgbClr val="B3261E"/>
                </a:solidFill>
                <a:latin typeface="IBM Plex Mono"/>
              </a:rPr>
              <a:t>↑</a:t>
            </a:r>
            <a:r>
              <a:rPr sz="1900" b="0" i="0" u="none">
                <a:solidFill>
                  <a:srgbClr val="1C2B3A"/>
                </a:solidFill>
                <a:latin typeface="Barlow"/>
              </a:rPr>
              <a:t>LehrkraftNr, LeitetSeit).</a:t>
            </a:r>
          </a:p>
          <a:p>
            <a:pPr>
              <a:lnSpc>
                <a:spcPct val="105000"/>
              </a:lnSpc>
              <a:spcAft>
                <a:spcPts val="600"/>
              </a:spcAft>
            </a:pPr>
            <a:r>
              <a:rPr sz="1900" b="1" i="0" u="none">
                <a:solidFill>
                  <a:srgbClr val="1C2B3A"/>
                </a:solidFill>
                <a:latin typeface="Barlow"/>
              </a:rPr>
              <a:t>Paar kommt mehrfach vor</a:t>
            </a:r>
            <a:r>
              <a:rPr sz="1900" b="0" i="0" u="none">
                <a:solidFill>
                  <a:srgbClr val="1C2B3A"/>
                </a:solidFill>
                <a:latin typeface="Barlow"/>
              </a:rPr>
              <a:t> → zusätzliches Schlüsselattribut: Spieler bucht Platz jede Woche → bucht(</a:t>
            </a:r>
            <a:r>
              <a:rPr sz="1900" b="0" i="0" u="sng">
                <a:solidFill>
                  <a:srgbClr val="B3261E"/>
                </a:solidFill>
                <a:latin typeface="IBM Plex Mono"/>
              </a:rPr>
              <a:t>↑</a:t>
            </a:r>
            <a:r>
              <a:rPr sz="1900" b="0" i="0" u="sng">
                <a:solidFill>
                  <a:srgbClr val="1C2B3A"/>
                </a:solidFill>
                <a:latin typeface="Barlow"/>
              </a:rPr>
              <a:t>SpielerNr</a:t>
            </a:r>
            <a:r>
              <a:rPr sz="1900" b="0" i="0" u="none">
                <a:solidFill>
                  <a:srgbClr val="1C2B3A"/>
                </a:solidFill>
                <a:latin typeface="Barlow"/>
              </a:rPr>
              <a:t>, </a:t>
            </a:r>
            <a:r>
              <a:rPr sz="1900" b="0" i="0" u="sng">
                <a:solidFill>
                  <a:srgbClr val="B3261E"/>
                </a:solidFill>
                <a:latin typeface="IBM Plex Mono"/>
              </a:rPr>
              <a:t>↑</a:t>
            </a:r>
            <a:r>
              <a:rPr sz="1900" b="0" i="0" u="sng">
                <a:solidFill>
                  <a:srgbClr val="1C2B3A"/>
                </a:solidFill>
                <a:latin typeface="Barlow"/>
              </a:rPr>
              <a:t>PlatzNr</a:t>
            </a:r>
            <a:r>
              <a:rPr sz="1900" b="0" i="0" u="none">
                <a:solidFill>
                  <a:srgbClr val="1C2B3A"/>
                </a:solidFill>
                <a:latin typeface="Barlow"/>
              </a:rPr>
              <a:t>, </a:t>
            </a:r>
            <a:r>
              <a:rPr sz="1900" b="0" i="0" u="sng">
                <a:solidFill>
                  <a:srgbClr val="1C2B3A"/>
                </a:solidFill>
                <a:latin typeface="Barlow"/>
              </a:rPr>
              <a:t>Beginn</a:t>
            </a:r>
            <a:r>
              <a:rPr sz="1900" b="0" i="0" u="none">
                <a:solidFill>
                  <a:srgbClr val="1C2B3A"/>
                </a:solidFill>
                <a:latin typeface="Barlow"/>
              </a:rPr>
              <a:t>) oder eigene BuchungNr.</a:t>
            </a:r>
          </a:p>
          <a:p>
            <a:pPr>
              <a:lnSpc>
                <a:spcPct val="105000"/>
              </a:lnSpc>
              <a:spcAft>
                <a:spcPts val="600"/>
              </a:spcAft>
            </a:pPr>
            <a:r>
              <a:rPr sz="1900" b="1" i="0" u="none">
                <a:solidFill>
                  <a:srgbClr val="1C2B3A"/>
                </a:solidFill>
                <a:latin typeface="Barlow"/>
              </a:rPr>
              <a:t>Rekursiver Fremdschlüssel</a:t>
            </a:r>
            <a:r>
              <a:rPr sz="1900" b="0" i="0" u="none">
                <a:solidFill>
                  <a:srgbClr val="1C2B3A"/>
                </a:solidFill>
                <a:latin typeface="Barlow"/>
              </a:rPr>
              <a:t> heißt nach der Rolle: Schueler(</a:t>
            </a:r>
            <a:r>
              <a:rPr sz="1900" b="0" i="0" u="sng">
                <a:solidFill>
                  <a:srgbClr val="1C2B3A"/>
                </a:solidFill>
                <a:latin typeface="Barlow"/>
              </a:rPr>
              <a:t>SchuelerNr</a:t>
            </a:r>
            <a:r>
              <a:rPr sz="1900" b="0" i="0" u="none">
                <a:solidFill>
                  <a:srgbClr val="1C2B3A"/>
                </a:solidFill>
                <a:latin typeface="Barlow"/>
              </a:rPr>
              <a:t>, Name, </a:t>
            </a:r>
            <a:r>
              <a:rPr sz="1900" b="0" i="0" u="none">
                <a:solidFill>
                  <a:srgbClr val="B3261E"/>
                </a:solidFill>
                <a:latin typeface="IBM Plex Mono"/>
              </a:rPr>
              <a:t>↑</a:t>
            </a:r>
            <a:r>
              <a:rPr sz="1900" b="0" i="0" u="none">
                <a:solidFill>
                  <a:srgbClr val="1C2B3A"/>
                </a:solidFill>
                <a:latin typeface="Barlow"/>
              </a:rPr>
              <a:t>PateNr).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Rückrichtung: Schema → ER</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41</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920240"/>
            <a:ext cx="10545775" cy="149098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 Relation mit eigenem Schlüssel → Entitätstyp</a:t>
            </a:r>
          </a:p>
          <a:p>
            <a:pPr>
              <a:lnSpc>
                <a:spcPct val="105000"/>
              </a:lnSpc>
              <a:spcAft>
                <a:spcPts val="600"/>
              </a:spcAft>
            </a:pPr>
            <a:r>
              <a:rPr sz="1900" b="0" i="0" u="none">
                <a:solidFill>
                  <a:srgbClr val="1C2B3A"/>
                </a:solidFill>
                <a:latin typeface="Barlow"/>
              </a:rPr>
              <a:t>▸ Fremdschlüssel in einer Entitätsrelation → 1:n (Fremdschlüssel auf der n-Seite)</a:t>
            </a:r>
          </a:p>
          <a:p>
            <a:pPr>
              <a:lnSpc>
                <a:spcPct val="105000"/>
              </a:lnSpc>
              <a:spcAft>
                <a:spcPts val="600"/>
              </a:spcAft>
            </a:pPr>
            <a:r>
              <a:rPr sz="1900" b="0" i="0" u="none">
                <a:solidFill>
                  <a:srgbClr val="1C2B3A"/>
                </a:solidFill>
                <a:latin typeface="Barlow"/>
              </a:rPr>
              <a:t>▸ Schlüssel aus zwei (drei) Fremdschlüsseln → n:m (ternär); übrige Attribute an die Raute</a:t>
            </a:r>
          </a:p>
          <a:p>
            <a:pPr>
              <a:lnSpc>
                <a:spcPct val="105000"/>
              </a:lnSpc>
              <a:spcAft>
                <a:spcPts val="600"/>
              </a:spcAft>
            </a:pPr>
            <a:r>
              <a:rPr sz="1900" b="0" i="0" u="none">
                <a:solidFill>
                  <a:srgbClr val="1C2B3A"/>
                </a:solidFill>
                <a:latin typeface="Barlow"/>
              </a:rPr>
              <a:t>▸ Fremdschlüssel werden </a:t>
            </a:r>
            <a:r>
              <a:rPr sz="1900" b="1" i="0" u="none">
                <a:solidFill>
                  <a:srgbClr val="1C2B3A"/>
                </a:solidFill>
                <a:latin typeface="Barlow"/>
              </a:rPr>
              <a:t>keine</a:t>
            </a:r>
            <a:r>
              <a:rPr sz="1900" b="0" i="0" u="none">
                <a:solidFill>
                  <a:srgbClr val="1C2B3A"/>
                </a:solidFill>
                <a:latin typeface="Barlow"/>
              </a:rPr>
              <a:t> Attribute im ER-Diagramm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Self-Join Schritt für Schritt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42</a:t>
            </a:r>
          </a:p>
        </p:txBody>
      </p:sp>
      <p:sp>
        <p:nvSpPr>
          <p:cNvPr id="8" name="SQL-Hintergrund"/>
          <p:cNvSpPr/>
          <p:nvPr/>
        </p:nvSpPr>
        <p:spPr>
          <a:xfrm>
            <a:off x="548640" y="1691640"/>
            <a:ext cx="6101928" cy="1336040"/>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QL"/>
          <p:cNvSpPr txBox="1"/>
          <p:nvPr/>
        </p:nvSpPr>
        <p:spPr>
          <a:xfrm>
            <a:off x="731520" y="1828800"/>
            <a:ext cx="5736168" cy="1061720"/>
          </a:xfrm>
          <a:prstGeom prst="rect">
            <a:avLst/>
          </a:prstGeom>
          <a:noFill/>
        </p:spPr>
        <p:txBody>
          <a:bodyPr wrap="square" lIns="18288" rIns="18288" tIns="18288" bIns="18288">
            <a:spAutoFit/>
          </a:bodyPr>
          <a:lstStyle/>
          <a:p>
            <a:pPr>
              <a:lnSpc>
                <a:spcPct val="100000"/>
              </a:lnSpc>
            </a:pPr>
            <a:r>
              <a:rPr sz="1600" i="0">
                <a:solidFill>
                  <a:srgbClr val="F2A65A"/>
                </a:solidFill>
                <a:latin typeface="IBM Plex Mono"/>
              </a:rPr>
              <a:t>SELECT</a:t>
            </a:r>
            <a:r>
              <a:rPr sz="1600" i="0">
                <a:solidFill>
                  <a:srgbClr val="D8E3D0"/>
                </a:solidFill>
                <a:latin typeface="IBM Plex Mono"/>
              </a:rPr>
              <a:t> </a:t>
            </a:r>
            <a:r>
              <a:rPr sz="1600" i="0">
                <a:solidFill>
                  <a:srgbClr val="D8E3D0"/>
                </a:solidFill>
                <a:latin typeface="IBM Plex Mono"/>
              </a:rPr>
              <a:t>e</a:t>
            </a:r>
            <a:r>
              <a:rPr sz="1600" i="0">
                <a:solidFill>
                  <a:srgbClr val="D8E3D0"/>
                </a:solidFill>
                <a:latin typeface="IBM Plex Mono"/>
              </a:rPr>
              <a:t>.</a:t>
            </a:r>
            <a:r>
              <a:rPr sz="1600" i="0">
                <a:solidFill>
                  <a:srgbClr val="D8E3D0"/>
                </a:solidFill>
                <a:latin typeface="IBM Plex Mono"/>
              </a:rPr>
              <a:t>Name</a:t>
            </a:r>
            <a:r>
              <a:rPr sz="1600" i="0">
                <a:solidFill>
                  <a:srgbClr val="D8E3D0"/>
                </a:solidFill>
                <a:latin typeface="IBM Plex Mono"/>
              </a:rPr>
              <a:t> </a:t>
            </a:r>
            <a:r>
              <a:rPr sz="1600" i="0">
                <a:solidFill>
                  <a:srgbClr val="F2A65A"/>
                </a:solidFill>
                <a:latin typeface="IBM Plex Mono"/>
              </a:rPr>
              <a:t>AS</a:t>
            </a:r>
            <a:r>
              <a:rPr sz="1600" i="0">
                <a:solidFill>
                  <a:srgbClr val="D8E3D0"/>
                </a:solidFill>
                <a:latin typeface="IBM Plex Mono"/>
              </a:rPr>
              <a:t> </a:t>
            </a:r>
            <a:r>
              <a:rPr sz="1600" i="0">
                <a:solidFill>
                  <a:srgbClr val="D8E3D0"/>
                </a:solidFill>
                <a:latin typeface="IBM Plex Mono"/>
              </a:rPr>
              <a:t>Ermittler</a:t>
            </a:r>
            <a:r>
              <a:rPr sz="1600" i="0">
                <a:solidFill>
                  <a:srgbClr val="D8E3D0"/>
                </a:solidFill>
                <a:latin typeface="IBM Plex Mono"/>
              </a:rPr>
              <a:t>,</a:t>
            </a:r>
            <a:r>
              <a:rPr sz="1600" i="0">
                <a:solidFill>
                  <a:srgbClr val="D8E3D0"/>
                </a:solidFill>
                <a:latin typeface="IBM Plex Mono"/>
              </a:rPr>
              <a:t> </a:t>
            </a:r>
            <a:r>
              <a:rPr sz="1600" i="0">
                <a:solidFill>
                  <a:srgbClr val="D8E3D0"/>
                </a:solidFill>
                <a:latin typeface="IBM Plex Mono"/>
              </a:rPr>
              <a:t>m</a:t>
            </a:r>
            <a:r>
              <a:rPr sz="1600" i="0">
                <a:solidFill>
                  <a:srgbClr val="D8E3D0"/>
                </a:solidFill>
                <a:latin typeface="IBM Plex Mono"/>
              </a:rPr>
              <a:t>.</a:t>
            </a:r>
            <a:r>
              <a:rPr sz="1600" i="0">
                <a:solidFill>
                  <a:srgbClr val="D8E3D0"/>
                </a:solidFill>
                <a:latin typeface="IBM Plex Mono"/>
              </a:rPr>
              <a:t>Name</a:t>
            </a:r>
            <a:r>
              <a:rPr sz="1600" i="0">
                <a:solidFill>
                  <a:srgbClr val="D8E3D0"/>
                </a:solidFill>
                <a:latin typeface="IBM Plex Mono"/>
              </a:rPr>
              <a:t> </a:t>
            </a:r>
            <a:r>
              <a:rPr sz="1600" i="0">
                <a:solidFill>
                  <a:srgbClr val="F2A65A"/>
                </a:solidFill>
                <a:latin typeface="IBM Plex Mono"/>
              </a:rPr>
              <a:t>AS</a:t>
            </a:r>
            <a:r>
              <a:rPr sz="1600" i="0">
                <a:solidFill>
                  <a:srgbClr val="D8E3D0"/>
                </a:solidFill>
                <a:latin typeface="IBM Plex Mono"/>
              </a:rPr>
              <a:t> </a:t>
            </a:r>
            <a:r>
              <a:rPr sz="1600" i="0">
                <a:solidFill>
                  <a:srgbClr val="D8E3D0"/>
                </a:solidFill>
                <a:latin typeface="IBM Plex Mono"/>
              </a:rPr>
              <a:t>Mentor</a:t>
            </a:r>
          </a:p>
          <a:p>
            <a:pPr>
              <a:lnSpc>
                <a:spcPct val="100000"/>
              </a:lnSpc>
            </a:pPr>
            <a:r>
              <a:rPr sz="1600" i="0">
                <a:solidFill>
                  <a:srgbClr val="F2A65A"/>
                </a:solidFill>
                <a:latin typeface="IBM Plex Mono"/>
              </a:rPr>
              <a:t>FROM</a:t>
            </a:r>
            <a:r>
              <a:rPr sz="1600" i="0">
                <a:solidFill>
                  <a:srgbClr val="D8E3D0"/>
                </a:solidFill>
                <a:latin typeface="IBM Plex Mono"/>
              </a:rPr>
              <a:t> </a:t>
            </a:r>
            <a:r>
              <a:rPr sz="1600" i="0">
                <a:solidFill>
                  <a:srgbClr val="D8E3D0"/>
                </a:solidFill>
                <a:latin typeface="IBM Plex Mono"/>
              </a:rPr>
              <a:t>Ermittler</a:t>
            </a:r>
            <a:r>
              <a:rPr sz="1600" i="0">
                <a:solidFill>
                  <a:srgbClr val="D8E3D0"/>
                </a:solidFill>
                <a:latin typeface="IBM Plex Mono"/>
              </a:rPr>
              <a:t> </a:t>
            </a:r>
            <a:r>
              <a:rPr sz="1600" i="0">
                <a:solidFill>
                  <a:srgbClr val="D8E3D0"/>
                </a:solidFill>
                <a:latin typeface="IBM Plex Mono"/>
              </a:rPr>
              <a:t>e</a:t>
            </a:r>
            <a:r>
              <a:rPr sz="1600" i="0">
                <a:solidFill>
                  <a:srgbClr val="D8E3D0"/>
                </a:solidFill>
                <a:latin typeface="IBM Plex Mono"/>
              </a:rPr>
              <a:t>,</a:t>
            </a:r>
            <a:r>
              <a:rPr sz="1600" i="0">
                <a:solidFill>
                  <a:srgbClr val="D8E3D0"/>
                </a:solidFill>
                <a:latin typeface="IBM Plex Mono"/>
              </a:rPr>
              <a:t> </a:t>
            </a:r>
            <a:r>
              <a:rPr sz="1600" i="0">
                <a:solidFill>
                  <a:srgbClr val="D8E3D0"/>
                </a:solidFill>
                <a:latin typeface="IBM Plex Mono"/>
              </a:rPr>
              <a:t>Ermittler</a:t>
            </a:r>
            <a:r>
              <a:rPr sz="1600" i="0">
                <a:solidFill>
                  <a:srgbClr val="D8E3D0"/>
                </a:solidFill>
                <a:latin typeface="IBM Plex Mono"/>
              </a:rPr>
              <a:t> </a:t>
            </a:r>
            <a:r>
              <a:rPr sz="1600" i="0">
                <a:solidFill>
                  <a:srgbClr val="D8E3D0"/>
                </a:solidFill>
                <a:latin typeface="IBM Plex Mono"/>
              </a:rPr>
              <a:t>m</a:t>
            </a:r>
          </a:p>
          <a:p>
            <a:pPr>
              <a:lnSpc>
                <a:spcPct val="100000"/>
              </a:lnSpc>
            </a:pPr>
            <a:r>
              <a:rPr sz="1600" i="0">
                <a:solidFill>
                  <a:srgbClr val="F2A65A"/>
                </a:solidFill>
                <a:latin typeface="IBM Plex Mono"/>
              </a:rPr>
              <a:t>WHERE</a:t>
            </a:r>
            <a:r>
              <a:rPr sz="1600" i="0">
                <a:solidFill>
                  <a:srgbClr val="D8E3D0"/>
                </a:solidFill>
                <a:latin typeface="IBM Plex Mono"/>
              </a:rPr>
              <a:t> </a:t>
            </a:r>
            <a:r>
              <a:rPr sz="1600" i="0">
                <a:solidFill>
                  <a:srgbClr val="D8E3D0"/>
                </a:solidFill>
                <a:latin typeface="IBM Plex Mono"/>
              </a:rPr>
              <a:t>e</a:t>
            </a:r>
            <a:r>
              <a:rPr sz="1600" i="0">
                <a:solidFill>
                  <a:srgbClr val="D8E3D0"/>
                </a:solidFill>
                <a:latin typeface="IBM Plex Mono"/>
              </a:rPr>
              <a:t>.</a:t>
            </a:r>
            <a:r>
              <a:rPr sz="1600" i="0">
                <a:solidFill>
                  <a:srgbClr val="D8E3D0"/>
                </a:solidFill>
                <a:latin typeface="IBM Plex Mono"/>
              </a:rPr>
              <a:t>MentorNr</a:t>
            </a:r>
            <a:r>
              <a:rPr sz="1600" i="0">
                <a:solidFill>
                  <a:srgbClr val="D8E3D0"/>
                </a:solidFill>
                <a:latin typeface="IBM Plex Mono"/>
              </a:rPr>
              <a:t> </a:t>
            </a:r>
            <a:r>
              <a:rPr sz="1600" i="0">
                <a:solidFill>
                  <a:srgbClr val="D8E3D0"/>
                </a:solidFill>
                <a:latin typeface="IBM Plex Mono"/>
              </a:rPr>
              <a:t>=</a:t>
            </a:r>
            <a:r>
              <a:rPr sz="1600" i="0">
                <a:solidFill>
                  <a:srgbClr val="D8E3D0"/>
                </a:solidFill>
                <a:latin typeface="IBM Plex Mono"/>
              </a:rPr>
              <a:t> </a:t>
            </a:r>
            <a:r>
              <a:rPr sz="1600" i="0">
                <a:solidFill>
                  <a:srgbClr val="D8E3D0"/>
                </a:solidFill>
                <a:latin typeface="IBM Plex Mono"/>
              </a:rPr>
              <a:t>m</a:t>
            </a:r>
            <a:r>
              <a:rPr sz="1600" i="0">
                <a:solidFill>
                  <a:srgbClr val="D8E3D0"/>
                </a:solidFill>
                <a:latin typeface="IBM Plex Mono"/>
              </a:rPr>
              <a:t>.</a:t>
            </a:r>
            <a:r>
              <a:rPr sz="1600" i="0">
                <a:solidFill>
                  <a:srgbClr val="D8E3D0"/>
                </a:solidFill>
                <a:latin typeface="IBM Plex Mono"/>
              </a:rPr>
              <a:t>ErmittlerNr</a:t>
            </a:r>
          </a:p>
          <a:p>
            <a:pPr>
              <a:lnSpc>
                <a:spcPct val="100000"/>
              </a:lnSpc>
            </a:pPr>
            <a:r>
              <a:rPr sz="1600" i="0">
                <a:solidFill>
                  <a:srgbClr val="F2A65A"/>
                </a:solidFill>
                <a:latin typeface="IBM Plex Mono"/>
              </a:rPr>
              <a:t>ORDER</a:t>
            </a:r>
            <a:r>
              <a:rPr sz="1600" i="0">
                <a:solidFill>
                  <a:srgbClr val="D8E3D0"/>
                </a:solidFill>
                <a:latin typeface="IBM Plex Mono"/>
              </a:rPr>
              <a:t> </a:t>
            </a:r>
            <a:r>
              <a:rPr sz="1600" i="0">
                <a:solidFill>
                  <a:srgbClr val="F2A65A"/>
                </a:solidFill>
                <a:latin typeface="IBM Plex Mono"/>
              </a:rPr>
              <a:t>BY</a:t>
            </a:r>
            <a:r>
              <a:rPr sz="1600" i="0">
                <a:solidFill>
                  <a:srgbClr val="D8E3D0"/>
                </a:solidFill>
                <a:latin typeface="IBM Plex Mono"/>
              </a:rPr>
              <a:t> </a:t>
            </a:r>
            <a:r>
              <a:rPr sz="1600" i="0">
                <a:solidFill>
                  <a:srgbClr val="D8E3D0"/>
                </a:solidFill>
                <a:latin typeface="IBM Plex Mono"/>
              </a:rPr>
              <a:t>m</a:t>
            </a:r>
            <a:r>
              <a:rPr sz="1600" i="0">
                <a:solidFill>
                  <a:srgbClr val="D8E3D0"/>
                </a:solidFill>
                <a:latin typeface="IBM Plex Mono"/>
              </a:rPr>
              <a:t>.</a:t>
            </a:r>
            <a:r>
              <a:rPr sz="1600" i="0">
                <a:solidFill>
                  <a:srgbClr val="D8E3D0"/>
                </a:solidFill>
                <a:latin typeface="IBM Plex Mono"/>
              </a:rPr>
              <a:t>Name</a:t>
            </a:r>
            <a:r>
              <a:rPr sz="1600" i="0">
                <a:solidFill>
                  <a:srgbClr val="D8E3D0"/>
                </a:solidFill>
                <a:latin typeface="IBM Plex Mono"/>
              </a:rPr>
              <a:t>,</a:t>
            </a:r>
            <a:r>
              <a:rPr sz="1600" i="0">
                <a:solidFill>
                  <a:srgbClr val="D8E3D0"/>
                </a:solidFill>
                <a:latin typeface="IBM Plex Mono"/>
              </a:rPr>
              <a:t> </a:t>
            </a:r>
            <a:r>
              <a:rPr sz="1600" i="0">
                <a:solidFill>
                  <a:srgbClr val="D8E3D0"/>
                </a:solidFill>
                <a:latin typeface="IBM Plex Mono"/>
              </a:rPr>
              <a:t>e</a:t>
            </a:r>
            <a:r>
              <a:rPr sz="1600" i="0">
                <a:solidFill>
                  <a:srgbClr val="D8E3D0"/>
                </a:solidFill>
                <a:latin typeface="IBM Plex Mono"/>
              </a:rPr>
              <a:t>.</a:t>
            </a:r>
            <a:r>
              <a:rPr sz="1600" i="0">
                <a:solidFill>
                  <a:srgbClr val="D8E3D0"/>
                </a:solidFill>
                <a:latin typeface="IBM Plex Mono"/>
              </a:rPr>
              <a:t>Name</a:t>
            </a:r>
            <a:r>
              <a:rPr sz="1600" i="0">
                <a:solidFill>
                  <a:srgbClr val="D8E3D0"/>
                </a:solidFill>
                <a:latin typeface="IBM Plex Mono"/>
              </a:rPr>
              <a:t>;</a:t>
            </a:r>
          </a:p>
        </p:txBody>
      </p:sp>
      <p:sp>
        <p:nvSpPr>
          <p:cNvPr id="10" name="TextBox 9"/>
          <p:cNvSpPr txBox="1"/>
          <p:nvPr/>
        </p:nvSpPr>
        <p:spPr>
          <a:xfrm>
            <a:off x="548640" y="3119120"/>
            <a:ext cx="6101928" cy="274320"/>
          </a:xfrm>
          <a:prstGeom prst="rect">
            <a:avLst/>
          </a:prstGeom>
          <a:noFill/>
        </p:spPr>
        <p:txBody>
          <a:bodyPr wrap="square" anchor="t" lIns="36576" rIns="36576" tIns="36576" bIns="36576">
            <a:spAutoFit/>
          </a:bodyPr>
          <a:lstStyle/>
          <a:p>
            <a:pPr>
              <a:lnSpc>
                <a:spcPct val="105000"/>
              </a:lnSpc>
            </a:pPr>
            <a:r>
              <a:rPr sz="1000" b="1" i="0" u="none" spc="120">
                <a:solidFill>
                  <a:srgbClr val="D4B062"/>
                </a:solidFill>
                <a:latin typeface="IBM Plex Mono"/>
              </a:rPr>
              <a:t>ERGEBNIS</a:t>
            </a:r>
          </a:p>
        </p:txBody>
      </p:sp>
      <p:graphicFrame>
        <p:nvGraphicFramePr>
          <p:cNvPr id="11" name="Ergebnistabelle"/>
          <p:cNvGraphicFramePr>
            <a:graphicFrameLocks noGrp="1"/>
          </p:cNvGraphicFramePr>
          <p:nvPr/>
        </p:nvGraphicFramePr>
        <p:xfrm>
          <a:off x="548640" y="3439160"/>
          <a:ext cx="3377792" cy="1791335"/>
        </p:xfrm>
        <a:graphic>
          <a:graphicData uri="http://schemas.openxmlformats.org/drawingml/2006/table">
            <a:tbl>
              <a:tblPr firstRow="1">
                <a:tableStyleId>{5C22544A-7EE6-4342-B048-85BDC9FD1C3A}</a:tableStyleId>
              </a:tblPr>
              <a:tblGrid>
                <a:gridCol w="1688896"/>
                <a:gridCol w="1688896"/>
              </a:tblGrid>
              <a:tr h="255905">
                <a:tc>
                  <a:txBody>
                    <a:bodyPr/>
                    <a:lstStyle/>
                    <a:p>
                      <a:r>
                        <a:rPr sz="1196" b="1" i="0" u="none">
                          <a:solidFill>
                            <a:srgbClr val="1C2B3A"/>
                          </a:solidFill>
                          <a:latin typeface="IBM Plex Mono"/>
                        </a:rPr>
                        <a:t>Ermittler</a:t>
                      </a:r>
                    </a:p>
                  </a:txBody>
                  <a:tcPr marL="54864" marR="54864" marT="18288" marB="18288">
                    <a:solidFill>
                      <a:srgbClr val="EBE2D2"/>
                    </a:solidFill>
                  </a:tcPr>
                </a:tc>
                <a:tc>
                  <a:txBody>
                    <a:bodyPr/>
                    <a:lstStyle/>
                    <a:p>
                      <a:r>
                        <a:rPr sz="1196" b="1" i="0" u="none">
                          <a:solidFill>
                            <a:srgbClr val="1C2B3A"/>
                          </a:solidFill>
                          <a:latin typeface="IBM Plex Mono"/>
                        </a:rPr>
                        <a:t>Mentor</a:t>
                      </a:r>
                    </a:p>
                  </a:txBody>
                  <a:tcPr marL="54864" marR="54864" marT="18288" marB="18288">
                    <a:solidFill>
                      <a:srgbClr val="EBE2D2"/>
                    </a:solidFill>
                  </a:tcPr>
                </a:tc>
              </a:tr>
              <a:tr h="255905">
                <a:tc>
                  <a:txBody>
                    <a:bodyPr/>
                    <a:lstStyle/>
                    <a:p>
                      <a:r>
                        <a:rPr sz="1300" b="0" i="0" u="none">
                          <a:solidFill>
                            <a:srgbClr val="1C2B3A"/>
                          </a:solidFill>
                          <a:latin typeface="Barlow"/>
                        </a:rPr>
                        <a:t>Helge Saathoff</a:t>
                      </a:r>
                    </a:p>
                  </a:txBody>
                  <a:tcPr marL="54864" marR="54864" marT="18288" marB="18288">
                    <a:solidFill>
                      <a:srgbClr val="FFFDF8"/>
                    </a:solidFill>
                  </a:tcPr>
                </a:tc>
                <a:tc>
                  <a:txBody>
                    <a:bodyPr/>
                    <a:lstStyle/>
                    <a:p>
                      <a:r>
                        <a:rPr sz="1300" b="0" i="0" u="none">
                          <a:solidFill>
                            <a:srgbClr val="1C2B3A"/>
                          </a:solidFill>
                          <a:latin typeface="Barlow"/>
                        </a:rPr>
                        <a:t>Edda Lorenz</a:t>
                      </a:r>
                    </a:p>
                  </a:txBody>
                  <a:tcPr marL="54864" marR="54864" marT="18288" marB="18288">
                    <a:solidFill>
                      <a:srgbClr val="FFFDF8"/>
                    </a:solidFill>
                  </a:tcPr>
                </a:tc>
              </a:tr>
              <a:tr h="255905">
                <a:tc>
                  <a:txBody>
                    <a:bodyPr/>
                    <a:lstStyle/>
                    <a:p>
                      <a:r>
                        <a:rPr sz="1300" b="0" i="0" u="none">
                          <a:solidFill>
                            <a:srgbClr val="1C2B3A"/>
                          </a:solidFill>
                          <a:latin typeface="Barlow"/>
                        </a:rPr>
                        <a:t>Juri Brandes</a:t>
                      </a:r>
                    </a:p>
                  </a:txBody>
                  <a:tcPr marL="54864" marR="54864" marT="18288" marB="18288">
                    <a:solidFill>
                      <a:srgbClr val="FFFDF8"/>
                    </a:solidFill>
                  </a:tcPr>
                </a:tc>
                <a:tc>
                  <a:txBody>
                    <a:bodyPr/>
                    <a:lstStyle/>
                    <a:p>
                      <a:r>
                        <a:rPr sz="1300" b="0" i="0" u="none">
                          <a:solidFill>
                            <a:srgbClr val="1C2B3A"/>
                          </a:solidFill>
                          <a:latin typeface="Barlow"/>
                        </a:rPr>
                        <a:t>Edda Lorenz</a:t>
                      </a:r>
                    </a:p>
                  </a:txBody>
                  <a:tcPr marL="54864" marR="54864" marT="18288" marB="18288">
                    <a:solidFill>
                      <a:srgbClr val="FFFDF8"/>
                    </a:solidFill>
                  </a:tcPr>
                </a:tc>
              </a:tr>
              <a:tr h="255905">
                <a:tc>
                  <a:txBody>
                    <a:bodyPr/>
                    <a:lstStyle/>
                    <a:p>
                      <a:r>
                        <a:rPr sz="1300" b="0" i="0" u="none">
                          <a:solidFill>
                            <a:srgbClr val="1C2B3A"/>
                          </a:solidFill>
                          <a:latin typeface="Barlow"/>
                        </a:rPr>
                        <a:t>Maren Kolthoff</a:t>
                      </a:r>
                    </a:p>
                  </a:txBody>
                  <a:tcPr marL="54864" marR="54864" marT="18288" marB="18288">
                    <a:solidFill>
                      <a:srgbClr val="FFFDF8"/>
                    </a:solidFill>
                  </a:tcPr>
                </a:tc>
                <a:tc>
                  <a:txBody>
                    <a:bodyPr/>
                    <a:lstStyle/>
                    <a:p>
                      <a:r>
                        <a:rPr sz="1300" b="0" i="0" u="none">
                          <a:solidFill>
                            <a:srgbClr val="1C2B3A"/>
                          </a:solidFill>
                          <a:latin typeface="Barlow"/>
                        </a:rPr>
                        <a:t>Edda Lorenz</a:t>
                      </a:r>
                    </a:p>
                  </a:txBody>
                  <a:tcPr marL="54864" marR="54864" marT="18288" marB="18288">
                    <a:solidFill>
                      <a:srgbClr val="FFFDF8"/>
                    </a:solidFill>
                  </a:tcPr>
                </a:tc>
              </a:tr>
              <a:tr h="255905">
                <a:tc>
                  <a:txBody>
                    <a:bodyPr/>
                    <a:lstStyle/>
                    <a:p>
                      <a:r>
                        <a:rPr sz="1300" b="0" i="0" u="none">
                          <a:solidFill>
                            <a:srgbClr val="1C2B3A"/>
                          </a:solidFill>
                          <a:latin typeface="Barlow"/>
                        </a:rPr>
                        <a:t>Deniz Akgül</a:t>
                      </a:r>
                    </a:p>
                  </a:txBody>
                  <a:tcPr marL="54864" marR="54864" marT="18288" marB="18288">
                    <a:solidFill>
                      <a:srgbClr val="FFFDF8"/>
                    </a:solidFill>
                  </a:tcPr>
                </a:tc>
                <a:tc>
                  <a:txBody>
                    <a:bodyPr/>
                    <a:lstStyle/>
                    <a:p>
                      <a:r>
                        <a:rPr sz="1300" b="0" i="0" u="none">
                          <a:solidFill>
                            <a:srgbClr val="1C2B3A"/>
                          </a:solidFill>
                          <a:latin typeface="Barlow"/>
                        </a:rPr>
                        <a:t>Helge Saathoff</a:t>
                      </a:r>
                    </a:p>
                  </a:txBody>
                  <a:tcPr marL="54864" marR="54864" marT="18288" marB="18288">
                    <a:solidFill>
                      <a:srgbClr val="FFFDF8"/>
                    </a:solidFill>
                  </a:tcPr>
                </a:tc>
              </a:tr>
              <a:tr h="255905">
                <a:tc>
                  <a:txBody>
                    <a:bodyPr/>
                    <a:lstStyle/>
                    <a:p>
                      <a:r>
                        <a:rPr sz="1300" b="0" i="0" u="none">
                          <a:solidFill>
                            <a:srgbClr val="1C2B3A"/>
                          </a:solidFill>
                          <a:latin typeface="Barlow"/>
                        </a:rPr>
                        <a:t>Svea Hinners</a:t>
                      </a:r>
                    </a:p>
                  </a:txBody>
                  <a:tcPr marL="54864" marR="54864" marT="18288" marB="18288">
                    <a:solidFill>
                      <a:srgbClr val="FFFDF8"/>
                    </a:solidFill>
                  </a:tcPr>
                </a:tc>
                <a:tc>
                  <a:txBody>
                    <a:bodyPr/>
                    <a:lstStyle/>
                    <a:p>
                      <a:r>
                        <a:rPr sz="1300" b="0" i="0" u="none">
                          <a:solidFill>
                            <a:srgbClr val="1C2B3A"/>
                          </a:solidFill>
                          <a:latin typeface="Barlow"/>
                        </a:rPr>
                        <a:t>Helge Saathoff</a:t>
                      </a:r>
                    </a:p>
                  </a:txBody>
                  <a:tcPr marL="54864" marR="54864" marT="18288" marB="18288">
                    <a:solidFill>
                      <a:srgbClr val="FFFDF8"/>
                    </a:solidFill>
                  </a:tcPr>
                </a:tc>
              </a:tr>
              <a:tr h="255905">
                <a:tc>
                  <a:txBody>
                    <a:bodyPr/>
                    <a:lstStyle/>
                    <a:p>
                      <a:r>
                        <a:rPr sz="1300" b="0" i="0" u="none">
                          <a:solidFill>
                            <a:srgbClr val="1C2B3A"/>
                          </a:solidFill>
                          <a:latin typeface="Barlow"/>
                        </a:rPr>
                        <a:t>…</a:t>
                      </a:r>
                    </a:p>
                  </a:txBody>
                  <a:tcPr marL="54864" marR="54864" marT="18288" marB="18288">
                    <a:solidFill>
                      <a:srgbClr val="FFFDF8"/>
                    </a:solidFill>
                  </a:tcPr>
                </a:tc>
                <a:tc>
                  <a:txBody>
                    <a:bodyPr/>
                    <a:lstStyle/>
                    <a:p>
                      <a:r>
                        <a:rPr sz="1300" b="0" i="0" u="none">
                          <a:solidFill>
                            <a:srgbClr val="1C2B3A"/>
                          </a:solidFill>
                          <a:latin typeface="Barlow"/>
                        </a:rPr>
                        <a:t>…</a:t>
                      </a:r>
                    </a:p>
                  </a:txBody>
                  <a:tcPr marL="54864" marR="54864" marT="18288" marB="18288">
                    <a:solidFill>
                      <a:srgbClr val="FFFDF8"/>
                    </a:solidFill>
                  </a:tcPr>
                </a:tc>
              </a:tr>
            </a:tbl>
          </a:graphicData>
        </a:graphic>
      </p:graphicFrame>
      <p:sp>
        <p:nvSpPr>
          <p:cNvPr id="12" name="Rounded Rectangle 11"/>
          <p:cNvSpPr/>
          <p:nvPr/>
        </p:nvSpPr>
        <p:spPr>
          <a:xfrm>
            <a:off x="6924888" y="1691640"/>
            <a:ext cx="4718166" cy="75692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924888" y="1691640"/>
            <a:ext cx="73152" cy="75692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062048" y="176479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1</a:t>
            </a:r>
          </a:p>
        </p:txBody>
      </p:sp>
      <p:sp>
        <p:nvSpPr>
          <p:cNvPr id="15" name="TextBox 14"/>
          <p:cNvSpPr txBox="1"/>
          <p:nvPr/>
        </p:nvSpPr>
        <p:spPr>
          <a:xfrm>
            <a:off x="7519248" y="1764792"/>
            <a:ext cx="3986646" cy="64719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FROM</a:t>
            </a:r>
            <a:r>
              <a:rPr sz="1600" b="0" i="0" u="none">
                <a:solidFill>
                  <a:srgbClr val="1C2B3A"/>
                </a:solidFill>
                <a:latin typeface="Barlow"/>
              </a:rPr>
              <a:t> – Ermittler zweimal: </a:t>
            </a:r>
            <a:r>
              <a:rPr sz="1440" b="0" i="0" u="none">
                <a:solidFill>
                  <a:srgbClr val="1C2B3A"/>
                </a:solidFill>
                <a:latin typeface="IBM Plex Mono"/>
              </a:rPr>
              <a:t>e</a:t>
            </a:r>
            <a:r>
              <a:rPr sz="1600" b="0" i="0" u="none">
                <a:solidFill>
                  <a:srgbClr val="1C2B3A"/>
                </a:solidFill>
                <a:latin typeface="Barlow"/>
              </a:rPr>
              <a:t> (betreut) und </a:t>
            </a:r>
            <a:r>
              <a:rPr sz="1440" b="0" i="0" u="none">
                <a:solidFill>
                  <a:srgbClr val="1C2B3A"/>
                </a:solidFill>
                <a:latin typeface="IBM Plex Mono"/>
              </a:rPr>
              <a:t>m</a:t>
            </a:r>
            <a:r>
              <a:rPr sz="1600" b="0" i="0" u="none">
                <a:solidFill>
                  <a:srgbClr val="1C2B3A"/>
                </a:solidFill>
                <a:latin typeface="Barlow"/>
              </a:rPr>
              <a:t> (Mentor)</a:t>
            </a:r>
          </a:p>
        </p:txBody>
      </p:sp>
      <p:sp>
        <p:nvSpPr>
          <p:cNvPr id="16" name="Rounded Rectangle 15"/>
          <p:cNvSpPr/>
          <p:nvPr/>
        </p:nvSpPr>
        <p:spPr>
          <a:xfrm>
            <a:off x="6924888" y="2585720"/>
            <a:ext cx="4718166" cy="75692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924888" y="2585720"/>
            <a:ext cx="73152" cy="75692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62048" y="265887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2</a:t>
            </a:r>
          </a:p>
        </p:txBody>
      </p:sp>
      <p:sp>
        <p:nvSpPr>
          <p:cNvPr id="19" name="TextBox 18"/>
          <p:cNvSpPr txBox="1"/>
          <p:nvPr/>
        </p:nvSpPr>
        <p:spPr>
          <a:xfrm>
            <a:off x="7519248" y="2658872"/>
            <a:ext cx="3986646" cy="64719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WHERE</a:t>
            </a:r>
            <a:r>
              <a:rPr sz="1600" b="0" i="0" u="none">
                <a:solidFill>
                  <a:srgbClr val="1C2B3A"/>
                </a:solidFill>
                <a:latin typeface="Barlow"/>
              </a:rPr>
              <a:t> – Verbund über den rekursiven Fremdschlüssel MentorNr</a:t>
            </a:r>
          </a:p>
        </p:txBody>
      </p:sp>
      <p:sp>
        <p:nvSpPr>
          <p:cNvPr id="20" name="Rounded Rectangle 19"/>
          <p:cNvSpPr/>
          <p:nvPr/>
        </p:nvSpPr>
        <p:spPr>
          <a:xfrm>
            <a:off x="6924888" y="3479800"/>
            <a:ext cx="4718166" cy="75692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924888" y="3479800"/>
            <a:ext cx="73152" cy="75692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062048" y="355295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3</a:t>
            </a:r>
          </a:p>
        </p:txBody>
      </p:sp>
      <p:sp>
        <p:nvSpPr>
          <p:cNvPr id="23" name="TextBox 22"/>
          <p:cNvSpPr txBox="1"/>
          <p:nvPr/>
        </p:nvSpPr>
        <p:spPr>
          <a:xfrm>
            <a:off x="7519248" y="3552952"/>
            <a:ext cx="3986646" cy="64719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ORDER BY</a:t>
            </a:r>
            <a:r>
              <a:rPr sz="1600" b="0" i="0" u="none">
                <a:solidFill>
                  <a:srgbClr val="1C2B3A"/>
                </a:solidFill>
                <a:latin typeface="Barlow"/>
              </a:rPr>
              <a:t> – nach Mentor, dann nach Name</a:t>
            </a:r>
          </a:p>
        </p:txBody>
      </p:sp>
      <p:sp>
        <p:nvSpPr>
          <p:cNvPr id="24" name="Rounded Rectangle 23"/>
          <p:cNvSpPr/>
          <p:nvPr/>
        </p:nvSpPr>
        <p:spPr>
          <a:xfrm>
            <a:off x="6924888" y="4373880"/>
            <a:ext cx="4718166" cy="75692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924888" y="4373880"/>
            <a:ext cx="73152" cy="756920"/>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062048" y="4447032"/>
            <a:ext cx="457200" cy="457200"/>
          </a:xfrm>
          <a:prstGeom prst="rect">
            <a:avLst/>
          </a:prstGeom>
          <a:noFill/>
        </p:spPr>
        <p:txBody>
          <a:bodyPr wrap="square" anchor="t" lIns="36576" rIns="36576" tIns="36576" bIns="36576">
            <a:spAutoFit/>
          </a:bodyPr>
          <a:lstStyle/>
          <a:p>
            <a:pPr>
              <a:lnSpc>
                <a:spcPct val="105000"/>
              </a:lnSpc>
            </a:pPr>
            <a:r>
              <a:rPr sz="2400" b="0" i="0" u="none">
                <a:solidFill>
                  <a:srgbClr val="B3261E"/>
                </a:solidFill>
                <a:latin typeface="Barlow Condensed SemiBold"/>
              </a:rPr>
              <a:t>4</a:t>
            </a:r>
          </a:p>
        </p:txBody>
      </p:sp>
      <p:sp>
        <p:nvSpPr>
          <p:cNvPr id="27" name="TextBox 26"/>
          <p:cNvSpPr txBox="1"/>
          <p:nvPr/>
        </p:nvSpPr>
        <p:spPr>
          <a:xfrm>
            <a:off x="7519248" y="4447032"/>
            <a:ext cx="3986646" cy="647192"/>
          </a:xfrm>
          <a:prstGeom prst="rect">
            <a:avLst/>
          </a:prstGeom>
          <a:noFill/>
        </p:spPr>
        <p:txBody>
          <a:bodyPr wrap="square" anchor="ctr" lIns="36576" rIns="36576" tIns="36576" bIns="36576">
            <a:spAutoFit/>
          </a:bodyPr>
          <a:lstStyle/>
          <a:p>
            <a:pPr>
              <a:lnSpc>
                <a:spcPct val="105000"/>
              </a:lnSpc>
            </a:pPr>
            <a:r>
              <a:rPr sz="1600" b="1" i="0" u="none">
                <a:solidFill>
                  <a:srgbClr val="1C2B3A"/>
                </a:solidFill>
                <a:latin typeface="Barlow"/>
              </a:rPr>
              <a:t>SELECT</a:t>
            </a:r>
            <a:r>
              <a:rPr sz="1600" b="0" i="0" u="none">
                <a:solidFill>
                  <a:srgbClr val="1C2B3A"/>
                </a:solidFill>
                <a:latin typeface="Barlow"/>
              </a:rPr>
              <a:t> – Spaltenaliase machen die Rollen lesbar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Regelkarten-Umzug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43</a:t>
            </a:r>
          </a:p>
        </p:txBody>
      </p:sp>
      <p:sp>
        <p:nvSpPr>
          <p:cNvPr id="8" name="Rounded Rectangle 7"/>
          <p:cNvSpPr/>
          <p:nvPr/>
        </p:nvSpPr>
        <p:spPr>
          <a:xfrm>
            <a:off x="548640" y="1691640"/>
            <a:ext cx="11094415" cy="434340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UNPLUGGED · 15 MIN · MATERIAL: REGELKARTEN R1–R6, RELATIONENKARTEN, TEAMPLAKAT</a:t>
            </a:r>
          </a:p>
        </p:txBody>
      </p:sp>
      <p:sp>
        <p:nvSpPr>
          <p:cNvPr id="10" name="TextBox 9"/>
          <p:cNvSpPr txBox="1"/>
          <p:nvPr/>
        </p:nvSpPr>
        <p:spPr>
          <a:xfrm>
            <a:off x="822959" y="2194560"/>
            <a:ext cx="10545775" cy="1490980"/>
          </a:xfrm>
          <a:prstGeom prst="rect">
            <a:avLst/>
          </a:prstGeom>
          <a:noFill/>
        </p:spPr>
        <p:txBody>
          <a:bodyPr wrap="square" anchor="t" lIns="36576" rIns="36576" tIns="36576" bIns="36576">
            <a:spAutoFit/>
          </a:bodyPr>
          <a:lstStyle/>
          <a:p>
            <a:pPr>
              <a:lnSpc>
                <a:spcPct val="105000"/>
              </a:lnSpc>
              <a:spcAft>
                <a:spcPts val="600"/>
              </a:spcAft>
            </a:pPr>
            <a:r>
              <a:rPr sz="1900" b="0" i="0" u="none">
                <a:solidFill>
                  <a:srgbClr val="1C2B3A"/>
                </a:solidFill>
                <a:latin typeface="Barlow"/>
              </a:rPr>
              <a:t>1. Für jedes Rechteck eures Wettbewerbsplakats entsteht eine Relationenkarte (R1), Schlüssel unterstrichen.</a:t>
            </a:r>
          </a:p>
          <a:p>
            <a:pPr>
              <a:lnSpc>
                <a:spcPct val="105000"/>
              </a:lnSpc>
              <a:spcAft>
                <a:spcPts val="600"/>
              </a:spcAft>
            </a:pPr>
            <a:r>
              <a:rPr sz="1900" b="0" i="0" u="none">
                <a:solidFill>
                  <a:srgbClr val="1C2B3A"/>
                </a:solidFill>
                <a:latin typeface="Barlow"/>
              </a:rPr>
              <a:t>2. Für jede Raute die passende Regelkarte ziehen und „umziehen“: Fremdschlüssel rot mit </a:t>
            </a:r>
            <a:r>
              <a:rPr sz="1900" b="0" i="0" u="none">
                <a:solidFill>
                  <a:srgbClr val="B3261E"/>
                </a:solidFill>
                <a:latin typeface="IBM Plex Mono"/>
              </a:rPr>
              <a:t>↑</a:t>
            </a:r>
            <a:r>
              <a:rPr sz="1900" b="0" i="0" u="none">
                <a:solidFill>
                  <a:srgbClr val="1C2B3A"/>
                </a:solidFill>
                <a:latin typeface="Barlow"/>
              </a:rPr>
              <a:t>, ggf. neue Karte.</a:t>
            </a:r>
          </a:p>
          <a:p>
            <a:pPr>
              <a:lnSpc>
                <a:spcPct val="105000"/>
              </a:lnSpc>
              <a:spcAft>
                <a:spcPts val="600"/>
              </a:spcAft>
            </a:pPr>
            <a:r>
              <a:rPr sz="1900" b="0" i="0" u="none">
                <a:solidFill>
                  <a:srgbClr val="1C2B3A"/>
                </a:solidFill>
                <a:latin typeface="Barlow"/>
              </a:rPr>
              <a:t>3. Probe: drei Beispielzeilen für </a:t>
            </a:r>
            <a:r>
              <a:rPr sz="1900" b="0" i="1" u="none">
                <a:solidFill>
                  <a:srgbClr val="1C2B3A"/>
                </a:solidFill>
                <a:latin typeface="Barlow"/>
              </a:rPr>
              <a:t>verdaechtig</a:t>
            </a:r>
            <a:r>
              <a:rPr sz="1900" b="0" i="0" u="none">
                <a:solidFill>
                  <a:srgbClr val="1C2B3A"/>
                </a:solidFill>
                <a:latin typeface="Barlow"/>
              </a:rPr>
              <a:t> – ohne Mehrfachwerte, ohne wiederholte Personendaten?</a:t>
            </a:r>
          </a:p>
          <a:p>
            <a:pPr>
              <a:lnSpc>
                <a:spcPct val="105000"/>
              </a:lnSpc>
              <a:spcAft>
                <a:spcPts val="600"/>
              </a:spcAft>
            </a:pPr>
            <a:r>
              <a:rPr sz="1900" b="0" i="0" u="none">
                <a:solidFill>
                  <a:srgbClr val="1C2B3A"/>
                </a:solidFill>
                <a:latin typeface="Barlow"/>
              </a:rPr>
              <a:t>4. Austausch: „Welche Regel habt ihr hier angewendet – und warum nicht eine andere?“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Ab ins Lab: Ermittlung 5.3</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44</a:t>
            </a:r>
          </a:p>
        </p:txBody>
      </p:sp>
      <p:sp>
        <p:nvSpPr>
          <p:cNvPr id="8" name="Rounded Rectangle 7"/>
          <p:cNvSpPr/>
          <p:nvPr/>
        </p:nvSpPr>
        <p:spPr>
          <a:xfrm>
            <a:off x="548640" y="1691640"/>
            <a:ext cx="11094415" cy="292608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C5A85"/>
                </a:solidFill>
                <a:latin typeface="IBM Plex Mono"/>
              </a:rPr>
              <a:t>SPUR IM LAB</a:t>
            </a:r>
          </a:p>
        </p:txBody>
      </p:sp>
      <p:sp>
        <p:nvSpPr>
          <p:cNvPr id="10" name="TextBox 9"/>
          <p:cNvSpPr txBox="1"/>
          <p:nvPr/>
        </p:nvSpPr>
        <p:spPr>
          <a:xfrm>
            <a:off x="822959" y="2194560"/>
            <a:ext cx="10545775" cy="2194560"/>
          </a:xfrm>
          <a:prstGeom prst="rect">
            <a:avLst/>
          </a:prstGeom>
          <a:noFill/>
        </p:spPr>
        <p:txBody>
          <a:bodyPr wrap="square" anchor="t" lIns="36576" rIns="36576" tIns="36576" bIns="36576">
            <a:spAutoFit/>
          </a:bodyPr>
          <a:lstStyle/>
          <a:p>
            <a:pPr>
              <a:lnSpc>
                <a:spcPct val="105000"/>
              </a:lnSpc>
              <a:spcAft>
                <a:spcPts val="600"/>
              </a:spcAft>
            </a:pPr>
            <a:r>
              <a:rPr sz="2600" b="0" i="0" u="none">
                <a:solidFill>
                  <a:srgbClr val="1C2B3A"/>
                </a:solidFill>
                <a:latin typeface="Barlow Condensed SemiBold"/>
              </a:rPr>
              <a:t>„Vom Plan zur Datenbank“</a:t>
            </a:r>
          </a:p>
          <a:p>
            <a:pPr>
              <a:lnSpc>
                <a:spcPct val="105000"/>
              </a:lnSpc>
              <a:spcAft>
                <a:spcPts val="400"/>
              </a:spcAft>
            </a:pPr>
            <a:r>
              <a:rPr sz="1900" b="1" i="0" u="none">
                <a:solidFill>
                  <a:srgbClr val="1C2B3A"/>
                </a:solidFill>
                <a:latin typeface="Barlow"/>
              </a:rPr>
              <a:t>Aufgaben:</a:t>
            </a:r>
            <a:r>
              <a:rPr sz="1900" b="0" i="0" u="none">
                <a:solidFill>
                  <a:srgbClr val="1C2B3A"/>
                </a:solidFill>
                <a:latin typeface="Barlow"/>
              </a:rPr>
              <a:t> A5-E3-01 … 08</a:t>
            </a:r>
          </a:p>
          <a:p>
            <a:pPr>
              <a:lnSpc>
                <a:spcPct val="105000"/>
              </a:lnSpc>
              <a:spcAft>
                <a:spcPts val="400"/>
              </a:spcAft>
            </a:pPr>
            <a:r>
              <a:rPr sz="1900" b="1" i="0" u="none">
                <a:solidFill>
                  <a:srgbClr val="1C2B3A"/>
                </a:solidFill>
                <a:latin typeface="Barlow"/>
              </a:rPr>
              <a:t>Werkzeug:</a:t>
            </a:r>
            <a:r>
              <a:rPr sz="1900" b="0" i="0" u="none">
                <a:solidFill>
                  <a:srgbClr val="1C2B3A"/>
                </a:solidFill>
                <a:latin typeface="Barlow"/>
              </a:rPr>
              <a:t> Schema-Werkbank, Bauplan-Tisch (Rückrichtung), Konsole (Fall-Datenbank)</a:t>
            </a:r>
          </a:p>
        </p:txBody>
      </p:sp>
      <p:sp>
        <p:nvSpPr>
          <p:cNvPr id="11" name="TextBox 10"/>
          <p:cNvSpPr txBox="1"/>
          <p:nvPr/>
        </p:nvSpPr>
        <p:spPr>
          <a:xfrm>
            <a:off x="548640" y="4800600"/>
            <a:ext cx="11094415" cy="717550"/>
          </a:xfrm>
          <a:prstGeom prst="rect">
            <a:avLst/>
          </a:prstGeom>
          <a:noFill/>
        </p:spPr>
        <p:txBody>
          <a:bodyPr wrap="square" anchor="t" lIns="36576" rIns="36576" tIns="36576" bIns="36576">
            <a:spAutoFit/>
          </a:bodyPr>
          <a:lstStyle/>
          <a:p>
            <a:pPr>
              <a:lnSpc>
                <a:spcPct val="105000"/>
              </a:lnSpc>
              <a:spcAft>
                <a:spcPts val="600"/>
              </a:spcAft>
            </a:pPr>
            <a:r>
              <a:rPr sz="1700" b="0" i="0" u="none">
                <a:solidFill>
                  <a:srgbClr val="E8E1D3"/>
                </a:solidFill>
                <a:latin typeface="Barlow"/>
              </a:rPr>
              <a:t>▸ Danach: Verhör 5 · Kletterhalle (20 Minuten, ohne Tipps)</a:t>
            </a:r>
          </a:p>
          <a:p>
            <a:pPr>
              <a:lnSpc>
                <a:spcPct val="105000"/>
              </a:lnSpc>
              <a:spcAft>
                <a:spcPts val="600"/>
              </a:spcAft>
            </a:pPr>
            <a:r>
              <a:rPr sz="1700" b="0" i="0" u="none">
                <a:solidFill>
                  <a:srgbClr val="E8E1D3"/>
                </a:solidFill>
                <a:latin typeface="Barlow"/>
              </a:rPr>
              <a:t>▸ Parallel: AB 5.3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Ermittler-Notiz</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45</a:t>
            </a:r>
          </a:p>
        </p:txBody>
      </p:sp>
      <p:sp>
        <p:nvSpPr>
          <p:cNvPr id="8" name="Rounded Rectangle 7"/>
          <p:cNvSpPr/>
          <p:nvPr/>
        </p:nvSpPr>
        <p:spPr>
          <a:xfrm>
            <a:off x="548640" y="1691640"/>
            <a:ext cx="11094415" cy="434340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C5A85"/>
                </a:solidFill>
                <a:latin typeface="IBM Plex Mono"/>
              </a:rPr>
              <a:t>ERMITTLER-NOTIZ</a:t>
            </a:r>
          </a:p>
        </p:txBody>
      </p:sp>
      <p:sp>
        <p:nvSpPr>
          <p:cNvPr id="10" name="TextBox 9"/>
          <p:cNvSpPr txBox="1"/>
          <p:nvPr/>
        </p:nvSpPr>
        <p:spPr>
          <a:xfrm>
            <a:off x="822959" y="2194560"/>
            <a:ext cx="10545775" cy="1932940"/>
          </a:xfrm>
          <a:prstGeom prst="rect">
            <a:avLst/>
          </a:prstGeom>
          <a:noFill/>
        </p:spPr>
        <p:txBody>
          <a:bodyPr wrap="square" anchor="t" lIns="36576" rIns="36576" tIns="36576" bIns="36576">
            <a:spAutoFit/>
          </a:bodyPr>
          <a:lstStyle/>
          <a:p>
            <a:pPr>
              <a:lnSpc>
                <a:spcPct val="105000"/>
              </a:lnSpc>
              <a:spcAft>
                <a:spcPts val="600"/>
              </a:spcAft>
            </a:pPr>
            <a:r>
              <a:rPr sz="2000" b="0" i="0" u="none">
                <a:solidFill>
                  <a:srgbClr val="1C2B3A"/>
                </a:solidFill>
                <a:latin typeface="Barlow"/>
              </a:rPr>
              <a:t>▸ R1 Entitätstyp → Relation · R2 1:n → Fremdschlüssel auf die n-Seite</a:t>
            </a:r>
          </a:p>
          <a:p>
            <a:pPr>
              <a:lnSpc>
                <a:spcPct val="105000"/>
              </a:lnSpc>
              <a:spcAft>
                <a:spcPts val="600"/>
              </a:spcAft>
            </a:pPr>
            <a:r>
              <a:rPr sz="2000" b="0" i="0" u="none">
                <a:solidFill>
                  <a:srgbClr val="1C2B3A"/>
                </a:solidFill>
                <a:latin typeface="Barlow"/>
              </a:rPr>
              <a:t>▸ R3 n:m → eigene Relation, Schlüssel aus beiden Fremdschlüsseln</a:t>
            </a:r>
          </a:p>
          <a:p>
            <a:pPr>
              <a:lnSpc>
                <a:spcPct val="105000"/>
              </a:lnSpc>
              <a:spcAft>
                <a:spcPts val="600"/>
              </a:spcAft>
            </a:pPr>
            <a:r>
              <a:rPr sz="2000" b="0" i="0" u="none">
                <a:solidFill>
                  <a:srgbClr val="1C2B3A"/>
                </a:solidFill>
                <a:latin typeface="Barlow"/>
              </a:rPr>
              <a:t>▸ R4 1:1 → Fremdschlüssel auf einer Seite · R5 rekursiv → Fremdschlüssel nach Rolle</a:t>
            </a:r>
          </a:p>
          <a:p>
            <a:pPr>
              <a:lnSpc>
                <a:spcPct val="105000"/>
              </a:lnSpc>
              <a:spcAft>
                <a:spcPts val="600"/>
              </a:spcAft>
            </a:pPr>
            <a:r>
              <a:rPr sz="2000" b="0" i="0" u="none">
                <a:solidFill>
                  <a:srgbClr val="1C2B3A"/>
                </a:solidFill>
                <a:latin typeface="Barlow"/>
              </a:rPr>
              <a:t>▸ R6 ternär → eigene Relation mit drei Fremdschlüsseln; Paar/Trio mehrfach → zusätzliches Schlüsselattribut</a:t>
            </a:r>
          </a:p>
          <a:p>
            <a:pPr>
              <a:lnSpc>
                <a:spcPct val="105000"/>
              </a:lnSpc>
              <a:spcAft>
                <a:spcPts val="600"/>
              </a:spcAft>
            </a:pPr>
            <a:r>
              <a:rPr sz="2000" b="0" i="0" u="none">
                <a:solidFill>
                  <a:srgbClr val="1C2B3A"/>
                </a:solidFill>
                <a:latin typeface="Barlow"/>
              </a:rPr>
              <a:t>▸ Self-Join: dieselbe Tabelle zweimal mit verschiedenen Aliasen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Abi-Format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46</a:t>
            </a:r>
          </a:p>
        </p:txBody>
      </p:sp>
      <p:sp>
        <p:nvSpPr>
          <p:cNvPr id="8" name="Rounded Rectangle 7"/>
          <p:cNvSpPr/>
          <p:nvPr/>
        </p:nvSpPr>
        <p:spPr>
          <a:xfrm>
            <a:off x="548640" y="1691640"/>
            <a:ext cx="11094415" cy="4343400"/>
          </a:xfrm>
          <a:prstGeom prst="roundRect">
            <a:avLst>
              <a:gd name="adj" fmla="val 4000"/>
            </a:avLst>
          </a:prstGeom>
          <a:solidFill>
            <a:srgbClr val="F4EDE1"/>
          </a:solidFill>
          <a:ln w="2540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ABI-ECKE · OPERATOR ÜBERFÜHREN / BEGRÜNDEN</a:t>
            </a:r>
          </a:p>
        </p:txBody>
      </p:sp>
      <p:sp>
        <p:nvSpPr>
          <p:cNvPr id="10" name="TextBox 9"/>
          <p:cNvSpPr txBox="1"/>
          <p:nvPr/>
        </p:nvSpPr>
        <p:spPr>
          <a:xfrm>
            <a:off x="822959" y="2194560"/>
            <a:ext cx="10545775" cy="1043940"/>
          </a:xfrm>
          <a:prstGeom prst="rect">
            <a:avLst/>
          </a:prstGeom>
          <a:noFill/>
        </p:spPr>
        <p:txBody>
          <a:bodyPr wrap="square" anchor="t" lIns="36576" rIns="36576" tIns="36576" bIns="36576">
            <a:spAutoFit/>
          </a:bodyPr>
          <a:lstStyle/>
          <a:p>
            <a:pPr>
              <a:lnSpc>
                <a:spcPct val="105000"/>
              </a:lnSpc>
              <a:spcAft>
                <a:spcPts val="600"/>
              </a:spcAft>
            </a:pPr>
            <a:r>
              <a:rPr sz="2000" b="0" i="0" u="none">
                <a:solidFill>
                  <a:srgbClr val="1C2B3A"/>
                </a:solidFill>
                <a:latin typeface="Barlow"/>
              </a:rPr>
              <a:t>Gegeben ist das ER-Modell einer Erweiterung der Fall-Datenbank. </a:t>
            </a:r>
            <a:r>
              <a:rPr sz="2000" b="1" i="0" u="none">
                <a:solidFill>
                  <a:srgbClr val="1C2B3A"/>
                </a:solidFill>
                <a:latin typeface="Barlow"/>
              </a:rPr>
              <a:t>Erstellen</a:t>
            </a:r>
            <a:r>
              <a:rPr sz="2000" b="0" i="0" u="none">
                <a:solidFill>
                  <a:srgbClr val="1C2B3A"/>
                </a:solidFill>
                <a:latin typeface="Barlow"/>
              </a:rPr>
              <a:t> Sie zu dem Modell das Relationenschema in Kurzschreibweise und </a:t>
            </a:r>
            <a:r>
              <a:rPr sz="2000" b="1" i="0" u="none">
                <a:solidFill>
                  <a:srgbClr val="1C2B3A"/>
                </a:solidFill>
                <a:latin typeface="Barlow"/>
              </a:rPr>
              <a:t>begründen</a:t>
            </a:r>
            <a:r>
              <a:rPr sz="2000" b="0" i="0" u="none">
                <a:solidFill>
                  <a:srgbClr val="1C2B3A"/>
                </a:solidFill>
                <a:latin typeface="Barlow"/>
              </a:rPr>
              <a:t> Sie die Umsetzung des Beziehungstyps </a:t>
            </a:r>
            <a:r>
              <a:rPr sz="2000" b="0" i="1" u="none">
                <a:solidFill>
                  <a:srgbClr val="1C2B3A"/>
                </a:solidFill>
                <a:latin typeface="Barlow"/>
              </a:rPr>
              <a:t>arbeitetMitAn</a:t>
            </a:r>
            <a:r>
              <a:rPr sz="2000" b="0" i="0" u="none">
                <a:solidFill>
                  <a:srgbClr val="1C2B3A"/>
                </a:solidFill>
                <a:latin typeface="Barlow"/>
              </a:rPr>
              <a:t>. [5 BE]</a:t>
            </a:r>
          </a:p>
        </p:txBody>
      </p:sp>
      <p:pic>
        <p:nvPicPr>
          <p:cNvPr id="11" name="Picture 10" descr="f140340855167296.png"/>
          <p:cNvPicPr>
            <a:picLocks noChangeAspect="1"/>
          </p:cNvPicPr>
          <p:nvPr/>
        </p:nvPicPr>
        <p:blipFill>
          <a:blip r:embed="rId3"/>
          <a:stretch>
            <a:fillRect/>
          </a:stretch>
        </p:blipFill>
        <p:spPr>
          <a:xfrm>
            <a:off x="3405376" y="3311652"/>
            <a:ext cx="5380942" cy="2586227"/>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Lösung Abi-Format (DS 11)</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47</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sp>
        <p:nvSpPr>
          <p:cNvPr id="12" name="TextBox 11"/>
          <p:cNvSpPr txBox="1"/>
          <p:nvPr/>
        </p:nvSpPr>
        <p:spPr>
          <a:xfrm>
            <a:off x="822959" y="2194560"/>
            <a:ext cx="10545775" cy="457200"/>
          </a:xfrm>
          <a:prstGeom prst="rect">
            <a:avLst/>
          </a:prstGeom>
          <a:noFill/>
        </p:spPr>
        <p:txBody>
          <a:bodyPr wrap="square" anchor="t" lIns="36576" rIns="36576" tIns="36576" bIns="36576">
            <a:spAutoFit/>
          </a:bodyPr>
          <a:lstStyle/>
          <a:p>
            <a:pPr>
              <a:lnSpc>
                <a:spcPct val="105000"/>
              </a:lnSpc>
            </a:pPr>
            <a:r>
              <a:rPr sz="1620" b="0" i="0" u="none">
                <a:solidFill>
                  <a:srgbClr val="1C2B3A"/>
                </a:solidFill>
                <a:latin typeface="IBM Plex Mono"/>
              </a:rPr>
              <a:t>Ermittler(</a:t>
            </a:r>
            <a:r>
              <a:rPr sz="1620" b="0" i="0" u="sng">
                <a:solidFill>
                  <a:srgbClr val="1C2B3A"/>
                </a:solidFill>
                <a:latin typeface="IBM Plex Mono"/>
              </a:rPr>
              <a:t>ErmittlerNr</a:t>
            </a:r>
            <a:r>
              <a:rPr sz="1620" b="0" i="0" u="none">
                <a:solidFill>
                  <a:srgbClr val="1C2B3A"/>
                </a:solidFill>
                <a:latin typeface="IBM Plex Mono"/>
              </a:rPr>
              <a:t>, Name, Dienstgrad, </a:t>
            </a:r>
            <a:r>
              <a:rPr sz="1620" b="0" i="0" u="none">
                <a:solidFill>
                  <a:srgbClr val="B3261E"/>
                </a:solidFill>
                <a:latin typeface="IBM Plex Mono"/>
              </a:rPr>
              <a:t>↑</a:t>
            </a:r>
            <a:r>
              <a:rPr sz="1620" b="0" i="0" u="none">
                <a:solidFill>
                  <a:srgbClr val="1C2B3A"/>
                </a:solidFill>
                <a:latin typeface="IBM Plex Mono"/>
              </a:rPr>
              <a:t>VertretungNr)</a:t>
            </a:r>
          </a:p>
        </p:txBody>
      </p:sp>
      <p:sp>
        <p:nvSpPr>
          <p:cNvPr id="13" name="TextBox 12"/>
          <p:cNvSpPr txBox="1"/>
          <p:nvPr/>
        </p:nvSpPr>
        <p:spPr>
          <a:xfrm>
            <a:off x="822959" y="2724912"/>
            <a:ext cx="10545775" cy="457200"/>
          </a:xfrm>
          <a:prstGeom prst="rect">
            <a:avLst/>
          </a:prstGeom>
          <a:noFill/>
        </p:spPr>
        <p:txBody>
          <a:bodyPr wrap="square" anchor="t" lIns="36576" rIns="36576" tIns="36576" bIns="36576">
            <a:spAutoFit/>
          </a:bodyPr>
          <a:lstStyle/>
          <a:p>
            <a:pPr>
              <a:lnSpc>
                <a:spcPct val="105000"/>
              </a:lnSpc>
            </a:pPr>
            <a:r>
              <a:rPr sz="1620" b="0" i="0" u="none">
                <a:solidFill>
                  <a:srgbClr val="1C2B3A"/>
                </a:solidFill>
                <a:latin typeface="IBM Plex Mono"/>
              </a:rPr>
              <a:t>Fall(</a:t>
            </a:r>
            <a:r>
              <a:rPr sz="1620" b="0" i="0" u="sng">
                <a:solidFill>
                  <a:srgbClr val="1C2B3A"/>
                </a:solidFill>
                <a:latin typeface="IBM Plex Mono"/>
              </a:rPr>
              <a:t>FallNr</a:t>
            </a:r>
            <a:r>
              <a:rPr sz="1620" b="0" i="0" u="none">
                <a:solidFill>
                  <a:srgbClr val="1C2B3A"/>
                </a:solidFill>
                <a:latin typeface="IBM Plex Mono"/>
              </a:rPr>
              <a:t>, Titel, Eroeffnet, </a:t>
            </a:r>
            <a:r>
              <a:rPr sz="1620" b="0" i="0" u="none">
                <a:solidFill>
                  <a:srgbClr val="B3261E"/>
                </a:solidFill>
                <a:latin typeface="IBM Plex Mono"/>
              </a:rPr>
              <a:t>↑</a:t>
            </a:r>
            <a:r>
              <a:rPr sz="1620" b="0" i="0" u="none">
                <a:solidFill>
                  <a:srgbClr val="1C2B3A"/>
                </a:solidFill>
                <a:latin typeface="IBM Plex Mono"/>
              </a:rPr>
              <a:t>LeiterNr)</a:t>
            </a:r>
          </a:p>
        </p:txBody>
      </p:sp>
      <p:sp>
        <p:nvSpPr>
          <p:cNvPr id="14" name="TextBox 13"/>
          <p:cNvSpPr txBox="1"/>
          <p:nvPr/>
        </p:nvSpPr>
        <p:spPr>
          <a:xfrm>
            <a:off x="822959" y="3255264"/>
            <a:ext cx="10545775" cy="457200"/>
          </a:xfrm>
          <a:prstGeom prst="rect">
            <a:avLst/>
          </a:prstGeom>
          <a:noFill/>
        </p:spPr>
        <p:txBody>
          <a:bodyPr wrap="square" anchor="t" lIns="36576" rIns="36576" tIns="36576" bIns="36576">
            <a:spAutoFit/>
          </a:bodyPr>
          <a:lstStyle/>
          <a:p>
            <a:pPr>
              <a:lnSpc>
                <a:spcPct val="105000"/>
              </a:lnSpc>
            </a:pPr>
            <a:r>
              <a:rPr sz="1620" b="0" i="0" u="none">
                <a:solidFill>
                  <a:srgbClr val="1C2B3A"/>
                </a:solidFill>
                <a:latin typeface="IBM Plex Mono"/>
              </a:rPr>
              <a:t>arbeitetMitAn(</a:t>
            </a:r>
            <a:r>
              <a:rPr sz="1620" b="0" i="0" u="sng">
                <a:solidFill>
                  <a:srgbClr val="B3261E"/>
                </a:solidFill>
                <a:latin typeface="IBM Plex Mono"/>
              </a:rPr>
              <a:t>↑</a:t>
            </a:r>
            <a:r>
              <a:rPr sz="1620" b="0" i="0" u="sng">
                <a:solidFill>
                  <a:srgbClr val="1C2B3A"/>
                </a:solidFill>
                <a:latin typeface="IBM Plex Mono"/>
              </a:rPr>
              <a:t>ErmittlerNr</a:t>
            </a:r>
            <a:r>
              <a:rPr sz="1620" b="0" i="0" u="none">
                <a:solidFill>
                  <a:srgbClr val="1C2B3A"/>
                </a:solidFill>
                <a:latin typeface="IBM Plex Mono"/>
              </a:rPr>
              <a:t>, </a:t>
            </a:r>
            <a:r>
              <a:rPr sz="1620" b="0" i="0" u="sng">
                <a:solidFill>
                  <a:srgbClr val="B3261E"/>
                </a:solidFill>
                <a:latin typeface="IBM Plex Mono"/>
              </a:rPr>
              <a:t>↑</a:t>
            </a:r>
            <a:r>
              <a:rPr sz="1620" b="0" i="0" u="sng">
                <a:solidFill>
                  <a:srgbClr val="1C2B3A"/>
                </a:solidFill>
                <a:latin typeface="IBM Plex Mono"/>
              </a:rPr>
              <a:t>FallNr</a:t>
            </a:r>
            <a:r>
              <a:rPr sz="1620" b="0" i="0" u="none">
                <a:solidFill>
                  <a:srgbClr val="1C2B3A"/>
                </a:solidFill>
                <a:latin typeface="IBM Plex Mono"/>
              </a:rPr>
              <a:t>, Rolle)</a:t>
            </a:r>
          </a:p>
        </p:txBody>
      </p:sp>
      <p:sp>
        <p:nvSpPr>
          <p:cNvPr id="15" name="TextBox 14"/>
          <p:cNvSpPr txBox="1"/>
          <p:nvPr/>
        </p:nvSpPr>
        <p:spPr>
          <a:xfrm>
            <a:off x="822959" y="3785615"/>
            <a:ext cx="10545775" cy="662940"/>
          </a:xfrm>
          <a:prstGeom prst="rect">
            <a:avLst/>
          </a:prstGeom>
          <a:noFill/>
        </p:spPr>
        <p:txBody>
          <a:bodyPr wrap="square" anchor="t" lIns="36576" rIns="36576" tIns="36576" bIns="36576">
            <a:spAutoFit/>
          </a:bodyPr>
          <a:lstStyle/>
          <a:p>
            <a:pPr>
              <a:lnSpc>
                <a:spcPct val="105000"/>
              </a:lnSpc>
              <a:spcAft>
                <a:spcPts val="600"/>
              </a:spcAft>
            </a:pPr>
            <a:r>
              <a:rPr sz="1800" b="0" i="0" u="none">
                <a:solidFill>
                  <a:srgbClr val="1C2B3A"/>
                </a:solidFill>
                <a:latin typeface="Barlow"/>
              </a:rPr>
              <a:t>n:m → in keiner der beiden Relationen passt ein einzelner Wert; das Paar ist Schlüssel, die Rolle hängt vom Paar ab.</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Beweisstück: Ermittlungsnetz (1/2)</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48</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sp>
        <p:nvSpPr>
          <p:cNvPr id="12" name="SQL-Hintergrund"/>
          <p:cNvSpPr/>
          <p:nvPr/>
        </p:nvSpPr>
        <p:spPr>
          <a:xfrm>
            <a:off x="822959" y="2194560"/>
            <a:ext cx="10545775" cy="2225040"/>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QL"/>
          <p:cNvSpPr txBox="1"/>
          <p:nvPr/>
        </p:nvSpPr>
        <p:spPr>
          <a:xfrm>
            <a:off x="1005839" y="2331720"/>
            <a:ext cx="10180015" cy="1950720"/>
          </a:xfrm>
          <a:prstGeom prst="rect">
            <a:avLst/>
          </a:prstGeom>
          <a:noFill/>
        </p:spPr>
        <p:txBody>
          <a:bodyPr wrap="square" lIns="18288" rIns="18288" tIns="18288" bIns="18288">
            <a:spAutoFit/>
          </a:bodyPr>
          <a:lstStyle/>
          <a:p>
            <a:pPr>
              <a:lnSpc>
                <a:spcPct val="100000"/>
              </a:lnSpc>
            </a:pPr>
            <a:r>
              <a:rPr sz="2000" i="0">
                <a:solidFill>
                  <a:srgbClr val="F2A65A"/>
                </a:solidFill>
                <a:latin typeface="IBM Plex Mono"/>
              </a:rPr>
              <a:t>SELECT</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PersonNr</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Vorname</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Nachname</a:t>
            </a:r>
          </a:p>
          <a:p>
            <a:pPr>
              <a:lnSpc>
                <a:spcPct val="100000"/>
              </a:lnSpc>
            </a:pPr>
            <a:r>
              <a:rPr sz="2000" i="0">
                <a:solidFill>
                  <a:srgbClr val="F2A65A"/>
                </a:solidFill>
                <a:latin typeface="IBM Plex Mono"/>
              </a:rPr>
              <a:t>FROM</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verdaechtig</a:t>
            </a:r>
          </a:p>
          <a:p>
            <a:pPr>
              <a:lnSpc>
                <a:spcPct val="100000"/>
              </a:lnSpc>
            </a:pPr>
            <a:r>
              <a:rPr sz="2000" i="0">
                <a:solidFill>
                  <a:srgbClr val="F2A65A"/>
                </a:solidFill>
                <a:latin typeface="IBM Plex Mono"/>
              </a:rPr>
              <a:t>WHERE</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PersonNr</a:t>
            </a:r>
            <a:r>
              <a:rPr sz="2000" i="0">
                <a:solidFill>
                  <a:srgbClr val="D8E3D0"/>
                </a:solidFill>
                <a:latin typeface="IBM Plex Mono"/>
              </a:rPr>
              <a:t> </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verdaechtig</a:t>
            </a:r>
            <a:r>
              <a:rPr sz="2000" i="0">
                <a:solidFill>
                  <a:srgbClr val="D8E3D0"/>
                </a:solidFill>
                <a:latin typeface="IBM Plex Mono"/>
              </a:rPr>
              <a:t>.</a:t>
            </a:r>
            <a:r>
              <a:rPr sz="2000" i="0">
                <a:solidFill>
                  <a:srgbClr val="D8E3D0"/>
                </a:solidFill>
                <a:latin typeface="IBM Plex Mono"/>
              </a:rPr>
              <a:t>PersonNr</a:t>
            </a:r>
          </a:p>
          <a:p>
            <a:pPr>
              <a:lnSpc>
                <a:spcPct val="100000"/>
              </a:lnSpc>
            </a:pPr>
            <a:r>
              <a:rPr sz="2000" i="0">
                <a:solidFill>
                  <a:srgbClr val="D8E3D0"/>
                </a:solidFill>
                <a:latin typeface="IBM Plex Mono"/>
              </a:rPr>
              <a:t>  </a:t>
            </a:r>
            <a:r>
              <a:rPr sz="2000" i="0">
                <a:solidFill>
                  <a:srgbClr val="F2A65A"/>
                </a:solidFill>
                <a:latin typeface="IBM Plex Mono"/>
              </a:rPr>
              <a:t>AND</a:t>
            </a:r>
            <a:r>
              <a:rPr sz="2000" i="0">
                <a:solidFill>
                  <a:srgbClr val="D8E3D0"/>
                </a:solidFill>
                <a:latin typeface="IBM Plex Mono"/>
              </a:rPr>
              <a:t> </a:t>
            </a:r>
            <a:r>
              <a:rPr sz="2000" i="0">
                <a:solidFill>
                  <a:srgbClr val="D8E3D0"/>
                </a:solidFill>
                <a:latin typeface="IBM Plex Mono"/>
              </a:rPr>
              <a:t>verdaechtig</a:t>
            </a:r>
            <a:r>
              <a:rPr sz="2000" i="0">
                <a:solidFill>
                  <a:srgbClr val="D8E3D0"/>
                </a:solidFill>
                <a:latin typeface="IBM Plex Mono"/>
              </a:rPr>
              <a:t>.</a:t>
            </a:r>
            <a:r>
              <a:rPr sz="2000" i="0">
                <a:solidFill>
                  <a:srgbClr val="D8E3D0"/>
                </a:solidFill>
                <a:latin typeface="IBM Plex Mono"/>
              </a:rPr>
              <a:t>FallNr</a:t>
            </a:r>
            <a:r>
              <a:rPr sz="2000" i="0">
                <a:solidFill>
                  <a:srgbClr val="D8E3D0"/>
                </a:solidFill>
                <a:latin typeface="IBM Plex Mono"/>
              </a:rPr>
              <a:t> </a:t>
            </a:r>
            <a:r>
              <a:rPr sz="2000" i="0">
                <a:solidFill>
                  <a:srgbClr val="F2A65A"/>
                </a:solidFill>
                <a:latin typeface="IBM Plex Mono"/>
              </a:rPr>
              <a:t>IN</a:t>
            </a:r>
            <a:r>
              <a:rPr sz="2000" i="0">
                <a:solidFill>
                  <a:srgbClr val="D8E3D0"/>
                </a:solidFill>
                <a:latin typeface="IBM Plex Mono"/>
              </a:rPr>
              <a:t> </a:t>
            </a:r>
            <a:r>
              <a:rPr sz="2000" i="0">
                <a:solidFill>
                  <a:srgbClr val="D8E3D0"/>
                </a:solidFill>
                <a:latin typeface="IBM Plex Mono"/>
              </a:rPr>
              <a:t>(</a:t>
            </a:r>
            <a:r>
              <a:rPr sz="2000" i="0">
                <a:solidFill>
                  <a:srgbClr val="8CC4FF"/>
                </a:solidFill>
                <a:latin typeface="IBM Plex Mono"/>
              </a:rPr>
              <a:t>1</a:t>
            </a:r>
            <a:r>
              <a:rPr sz="2000" i="0">
                <a:solidFill>
                  <a:srgbClr val="D8E3D0"/>
                </a:solidFill>
                <a:latin typeface="IBM Plex Mono"/>
              </a:rPr>
              <a:t>,</a:t>
            </a:r>
            <a:r>
              <a:rPr sz="2000" i="0">
                <a:solidFill>
                  <a:srgbClr val="D8E3D0"/>
                </a:solidFill>
                <a:latin typeface="IBM Plex Mono"/>
              </a:rPr>
              <a:t> </a:t>
            </a:r>
            <a:r>
              <a:rPr sz="2000" i="0">
                <a:solidFill>
                  <a:srgbClr val="8CC4FF"/>
                </a:solidFill>
                <a:latin typeface="IBM Plex Mono"/>
              </a:rPr>
              <a:t>2</a:t>
            </a:r>
            <a:r>
              <a:rPr sz="2000" i="0">
                <a:solidFill>
                  <a:srgbClr val="D8E3D0"/>
                </a:solidFill>
                <a:latin typeface="IBM Plex Mono"/>
              </a:rPr>
              <a:t>,</a:t>
            </a:r>
            <a:r>
              <a:rPr sz="2000" i="0">
                <a:solidFill>
                  <a:srgbClr val="D8E3D0"/>
                </a:solidFill>
                <a:latin typeface="IBM Plex Mono"/>
              </a:rPr>
              <a:t> </a:t>
            </a:r>
            <a:r>
              <a:rPr sz="2000" i="0">
                <a:solidFill>
                  <a:srgbClr val="8CC4FF"/>
                </a:solidFill>
                <a:latin typeface="IBM Plex Mono"/>
              </a:rPr>
              <a:t>3</a:t>
            </a:r>
            <a:r>
              <a:rPr sz="2000" i="0">
                <a:solidFill>
                  <a:srgbClr val="D8E3D0"/>
                </a:solidFill>
                <a:latin typeface="IBM Plex Mono"/>
              </a:rPr>
              <a:t>,</a:t>
            </a:r>
            <a:r>
              <a:rPr sz="2000" i="0">
                <a:solidFill>
                  <a:srgbClr val="D8E3D0"/>
                </a:solidFill>
                <a:latin typeface="IBM Plex Mono"/>
              </a:rPr>
              <a:t> </a:t>
            </a:r>
            <a:r>
              <a:rPr sz="2000" i="0">
                <a:solidFill>
                  <a:srgbClr val="8CC4FF"/>
                </a:solidFill>
                <a:latin typeface="IBM Plex Mono"/>
              </a:rPr>
              <a:t>4</a:t>
            </a:r>
            <a:r>
              <a:rPr sz="2000" i="0">
                <a:solidFill>
                  <a:srgbClr val="D8E3D0"/>
                </a:solidFill>
                <a:latin typeface="IBM Plex Mono"/>
              </a:rPr>
              <a:t>)</a:t>
            </a:r>
          </a:p>
          <a:p>
            <a:pPr>
              <a:lnSpc>
                <a:spcPct val="100000"/>
              </a:lnSpc>
            </a:pPr>
            <a:r>
              <a:rPr sz="2000" i="0">
                <a:solidFill>
                  <a:srgbClr val="F2A65A"/>
                </a:solidFill>
                <a:latin typeface="IBM Plex Mono"/>
              </a:rPr>
              <a:t>GROUP</a:t>
            </a:r>
            <a:r>
              <a:rPr sz="2000" i="0">
                <a:solidFill>
                  <a:srgbClr val="D8E3D0"/>
                </a:solidFill>
                <a:latin typeface="IBM Plex Mono"/>
              </a:rPr>
              <a:t> </a:t>
            </a:r>
            <a:r>
              <a:rPr sz="2000" i="0">
                <a:solidFill>
                  <a:srgbClr val="F2A65A"/>
                </a:solidFill>
                <a:latin typeface="IBM Plex Mono"/>
              </a:rPr>
              <a:t>BY</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PersonNr</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Vorname</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a:t>
            </a:r>
            <a:r>
              <a:rPr sz="2000" i="0">
                <a:solidFill>
                  <a:srgbClr val="D8E3D0"/>
                </a:solidFill>
                <a:latin typeface="IBM Plex Mono"/>
              </a:rPr>
              <a:t>Nachname</a:t>
            </a:r>
          </a:p>
          <a:p>
            <a:pPr>
              <a:lnSpc>
                <a:spcPct val="100000"/>
              </a:lnSpc>
            </a:pPr>
            <a:r>
              <a:rPr sz="2000" i="0">
                <a:solidFill>
                  <a:srgbClr val="F2A65A"/>
                </a:solidFill>
                <a:latin typeface="IBM Plex Mono"/>
              </a:rPr>
              <a:t>HAVING</a:t>
            </a:r>
            <a:r>
              <a:rPr sz="2000" i="0">
                <a:solidFill>
                  <a:srgbClr val="D8E3D0"/>
                </a:solidFill>
                <a:latin typeface="IBM Plex Mono"/>
              </a:rPr>
              <a:t> </a:t>
            </a:r>
            <a:r>
              <a:rPr sz="2000" i="0">
                <a:solidFill>
                  <a:srgbClr val="E6C77A"/>
                </a:solidFill>
                <a:latin typeface="IBM Plex Mono"/>
              </a:rPr>
              <a:t>COUNT</a:t>
            </a:r>
            <a:r>
              <a:rPr sz="2000" i="0">
                <a:solidFill>
                  <a:srgbClr val="D8E3D0"/>
                </a:solidFill>
                <a:latin typeface="IBM Plex Mono"/>
              </a:rPr>
              <a:t>(</a:t>
            </a:r>
            <a:r>
              <a:rPr sz="2000" i="0">
                <a:solidFill>
                  <a:srgbClr val="D8E3D0"/>
                </a:solidFill>
                <a:latin typeface="IBM Plex Mono"/>
              </a:rPr>
              <a:t>*</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a:t>
            </a:r>
            <a:r>
              <a:rPr sz="2000" i="0">
                <a:solidFill>
                  <a:srgbClr val="D8E3D0"/>
                </a:solidFill>
                <a:latin typeface="IBM Plex Mono"/>
              </a:rPr>
              <a:t> </a:t>
            </a:r>
            <a:r>
              <a:rPr sz="2000" i="0">
                <a:solidFill>
                  <a:srgbClr val="8CC4FF"/>
                </a:solidFill>
                <a:latin typeface="IBM Plex Mono"/>
              </a:rPr>
              <a:t>4</a:t>
            </a:r>
            <a:r>
              <a:rPr sz="2000" i="0">
                <a:solidFill>
                  <a:srgbClr val="D8E3D0"/>
                </a:solidFill>
                <a:latin typeface="IBM Plex Mono"/>
              </a:rPr>
              <a:t>;</a:t>
            </a:r>
          </a:p>
        </p:txBody>
      </p:sp>
      <p:graphicFrame>
        <p:nvGraphicFramePr>
          <p:cNvPr id="14" name="Ergebnistabelle"/>
          <p:cNvGraphicFramePr>
            <a:graphicFrameLocks noGrp="1"/>
          </p:cNvGraphicFramePr>
          <p:nvPr/>
        </p:nvGraphicFramePr>
        <p:xfrm>
          <a:off x="822959" y="4529328"/>
          <a:ext cx="3683202" cy="629920"/>
        </p:xfrm>
        <a:graphic>
          <a:graphicData uri="http://schemas.openxmlformats.org/drawingml/2006/table">
            <a:tbl>
              <a:tblPr firstRow="1">
                <a:tableStyleId>{5C22544A-7EE6-4342-B048-85BDC9FD1C3A}</a:tableStyleId>
              </a:tblPr>
              <a:tblGrid>
                <a:gridCol w="1269187"/>
                <a:gridCol w="1144828"/>
                <a:gridCol w="1269187"/>
              </a:tblGrid>
              <a:tr h="314960">
                <a:tc>
                  <a:txBody>
                    <a:bodyPr/>
                    <a:lstStyle/>
                    <a:p>
                      <a:r>
                        <a:rPr sz="1472" b="1" i="0" u="none">
                          <a:solidFill>
                            <a:srgbClr val="1C2B3A"/>
                          </a:solidFill>
                          <a:latin typeface="IBM Plex Mono"/>
                        </a:rPr>
                        <a:t>PersonNr</a:t>
                      </a:r>
                    </a:p>
                  </a:txBody>
                  <a:tcPr marL="54864" marR="54864" marT="18288" marB="18288">
                    <a:solidFill>
                      <a:srgbClr val="EBE2D2"/>
                    </a:solidFill>
                  </a:tcPr>
                </a:tc>
                <a:tc>
                  <a:txBody>
                    <a:bodyPr/>
                    <a:lstStyle/>
                    <a:p>
                      <a:r>
                        <a:rPr sz="1472" b="1" i="0" u="none">
                          <a:solidFill>
                            <a:srgbClr val="1C2B3A"/>
                          </a:solidFill>
                          <a:latin typeface="IBM Plex Mono"/>
                        </a:rPr>
                        <a:t>Vorname</a:t>
                      </a:r>
                    </a:p>
                  </a:txBody>
                  <a:tcPr marL="54864" marR="54864" marT="18288" marB="18288">
                    <a:solidFill>
                      <a:srgbClr val="EBE2D2"/>
                    </a:solidFill>
                  </a:tcPr>
                </a:tc>
                <a:tc>
                  <a:txBody>
                    <a:bodyPr/>
                    <a:lstStyle/>
                    <a:p>
                      <a:r>
                        <a:rPr sz="1472" b="1" i="0" u="none">
                          <a:solidFill>
                            <a:srgbClr val="1C2B3A"/>
                          </a:solidFill>
                          <a:latin typeface="IBM Plex Mono"/>
                        </a:rPr>
                        <a:t>Nachname</a:t>
                      </a:r>
                    </a:p>
                  </a:txBody>
                  <a:tcPr marL="54864" marR="54864" marT="18288" marB="18288">
                    <a:solidFill>
                      <a:srgbClr val="EBE2D2"/>
                    </a:solidFill>
                  </a:tcPr>
                </a:tc>
              </a:tr>
              <a:tr h="314960">
                <a:tc>
                  <a:txBody>
                    <a:bodyPr/>
                    <a:lstStyle/>
                    <a:p>
                      <a:pPr algn="r"/>
                      <a:r>
                        <a:rPr sz="1600" b="0" i="0" u="none">
                          <a:solidFill>
                            <a:srgbClr val="1C2B3A"/>
                          </a:solidFill>
                          <a:latin typeface="Barlow"/>
                        </a:rPr>
                        <a:t>13</a:t>
                      </a:r>
                    </a:p>
                  </a:txBody>
                  <a:tcPr marL="54864" marR="54864" marT="18288" marB="18288">
                    <a:solidFill>
                      <a:srgbClr val="FFFDF8"/>
                    </a:solidFill>
                  </a:tcPr>
                </a:tc>
                <a:tc>
                  <a:txBody>
                    <a:bodyPr/>
                    <a:lstStyle/>
                    <a:p>
                      <a:r>
                        <a:rPr sz="1600" b="0" i="0" u="none">
                          <a:solidFill>
                            <a:srgbClr val="1C2B3A"/>
                          </a:solidFill>
                          <a:latin typeface="Barlow"/>
                        </a:rPr>
                        <a:t>Nora</a:t>
                      </a:r>
                    </a:p>
                  </a:txBody>
                  <a:tcPr marL="54864" marR="54864" marT="18288" marB="18288">
                    <a:solidFill>
                      <a:srgbClr val="FFFDF8"/>
                    </a:solidFill>
                  </a:tcPr>
                </a:tc>
                <a:tc>
                  <a:txBody>
                    <a:bodyPr/>
                    <a:lstStyle/>
                    <a:p>
                      <a:r>
                        <a:rPr sz="1600" b="0" i="0" u="none">
                          <a:solidFill>
                            <a:srgbClr val="1C2B3A"/>
                          </a:solidFill>
                          <a:latin typeface="Barlow"/>
                        </a:rPr>
                        <a:t>Falter</a:t>
                      </a:r>
                    </a:p>
                  </a:txBody>
                  <a:tcPr marL="54864" marR="54864" marT="18288" marB="18288">
                    <a:solidFill>
                      <a:srgbClr val="FFFDF8"/>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Beweisstück: Ermittlungsnetz (2/2)</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49</a:t>
            </a:r>
          </a:p>
        </p:txBody>
      </p:sp>
      <p:sp>
        <p:nvSpPr>
          <p:cNvPr id="10" name="Rounded Rectangle 9"/>
          <p:cNvSpPr/>
          <p:nvPr/>
        </p:nvSpPr>
        <p:spPr>
          <a:xfrm>
            <a:off x="548640" y="1691640"/>
            <a:ext cx="11094415" cy="4343400"/>
          </a:xfrm>
          <a:prstGeom prst="roundRect">
            <a:avLst>
              <a:gd name="adj" fmla="val 4000"/>
            </a:avLst>
          </a:prstGeom>
          <a:solidFill>
            <a:srgbClr val="F4EDE1"/>
          </a:solidFill>
          <a:ln w="25400">
            <a:solidFill>
              <a:srgbClr val="5FAF8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2F6B4F"/>
                </a:solidFill>
                <a:latin typeface="IBM Plex Mono"/>
              </a:rPr>
              <a:t>LÖSUNG</a:t>
            </a:r>
          </a:p>
        </p:txBody>
      </p:sp>
      <p:sp>
        <p:nvSpPr>
          <p:cNvPr id="12" name="SQL-Hintergrund"/>
          <p:cNvSpPr/>
          <p:nvPr/>
        </p:nvSpPr>
        <p:spPr>
          <a:xfrm>
            <a:off x="822959" y="2194560"/>
            <a:ext cx="10545775" cy="1907540"/>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QL"/>
          <p:cNvSpPr txBox="1"/>
          <p:nvPr/>
        </p:nvSpPr>
        <p:spPr>
          <a:xfrm>
            <a:off x="1005839" y="2331720"/>
            <a:ext cx="10180015" cy="1633220"/>
          </a:xfrm>
          <a:prstGeom prst="rect">
            <a:avLst/>
          </a:prstGeom>
          <a:noFill/>
        </p:spPr>
        <p:txBody>
          <a:bodyPr wrap="square" lIns="18288" rIns="18288" tIns="18288" bIns="18288">
            <a:spAutoFit/>
          </a:bodyPr>
          <a:lstStyle/>
          <a:p>
            <a:pPr>
              <a:lnSpc>
                <a:spcPct val="100000"/>
              </a:lnSpc>
            </a:pPr>
            <a:r>
              <a:rPr sz="2000" i="0">
                <a:solidFill>
                  <a:srgbClr val="F2A65A"/>
                </a:solidFill>
                <a:latin typeface="IBM Plex Mono"/>
              </a:rPr>
              <a:t>SELECT</a:t>
            </a:r>
            <a:r>
              <a:rPr sz="2000" i="0">
                <a:solidFill>
                  <a:srgbClr val="D8E3D0"/>
                </a:solidFill>
                <a:latin typeface="IBM Plex Mono"/>
              </a:rPr>
              <a:t> </a:t>
            </a:r>
            <a:r>
              <a:rPr sz="2000" i="0">
                <a:solidFill>
                  <a:srgbClr val="D8E3D0"/>
                </a:solidFill>
                <a:latin typeface="IBM Plex Mono"/>
              </a:rPr>
              <a:t>b</a:t>
            </a:r>
            <a:r>
              <a:rPr sz="2000" i="0">
                <a:solidFill>
                  <a:srgbClr val="D8E3D0"/>
                </a:solidFill>
                <a:latin typeface="IBM Plex Mono"/>
              </a:rPr>
              <a:t>.</a:t>
            </a:r>
            <a:r>
              <a:rPr sz="2000" i="0">
                <a:solidFill>
                  <a:srgbClr val="D8E3D0"/>
                </a:solidFill>
                <a:latin typeface="IBM Plex Mono"/>
              </a:rPr>
              <a:t>Vorname</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b</a:t>
            </a:r>
            <a:r>
              <a:rPr sz="2000" i="0">
                <a:solidFill>
                  <a:srgbClr val="D8E3D0"/>
                </a:solidFill>
                <a:latin typeface="IBM Plex Mono"/>
              </a:rPr>
              <a:t>.</a:t>
            </a:r>
            <a:r>
              <a:rPr sz="2000" i="0">
                <a:solidFill>
                  <a:srgbClr val="D8E3D0"/>
                </a:solidFill>
                <a:latin typeface="IBM Plex Mono"/>
              </a:rPr>
              <a:t>Nachname</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b</a:t>
            </a:r>
            <a:r>
              <a:rPr sz="2000" i="0">
                <a:solidFill>
                  <a:srgbClr val="D8E3D0"/>
                </a:solidFill>
                <a:latin typeface="IBM Plex Mono"/>
              </a:rPr>
              <a:t>.</a:t>
            </a:r>
            <a:r>
              <a:rPr sz="2000" i="0">
                <a:solidFill>
                  <a:srgbClr val="D8E3D0"/>
                </a:solidFill>
                <a:latin typeface="IBM Plex Mono"/>
              </a:rPr>
              <a:t>Stadtteil</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k</a:t>
            </a:r>
            <a:r>
              <a:rPr sz="2000" i="0">
                <a:solidFill>
                  <a:srgbClr val="D8E3D0"/>
                </a:solidFill>
                <a:latin typeface="IBM Plex Mono"/>
              </a:rPr>
              <a:t>.</a:t>
            </a:r>
            <a:r>
              <a:rPr sz="2000" i="0">
                <a:solidFill>
                  <a:srgbClr val="D8E3D0"/>
                </a:solidFill>
                <a:latin typeface="IBM Plex Mono"/>
              </a:rPr>
              <a:t>Seit</a:t>
            </a:r>
          </a:p>
          <a:p>
            <a:pPr>
              <a:lnSpc>
                <a:spcPct val="100000"/>
              </a:lnSpc>
            </a:pPr>
            <a:r>
              <a:rPr sz="2000" i="0">
                <a:solidFill>
                  <a:srgbClr val="F2A65A"/>
                </a:solidFill>
                <a:latin typeface="IBM Plex Mono"/>
              </a:rPr>
              <a:t>FROM</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 </a:t>
            </a:r>
            <a:r>
              <a:rPr sz="2000" i="0">
                <a:solidFill>
                  <a:srgbClr val="D8E3D0"/>
                </a:solidFill>
                <a:latin typeface="IBM Plex Mono"/>
              </a:rPr>
              <a:t>p</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kennt</a:t>
            </a:r>
            <a:r>
              <a:rPr sz="2000" i="0">
                <a:solidFill>
                  <a:srgbClr val="D8E3D0"/>
                </a:solidFill>
                <a:latin typeface="IBM Plex Mono"/>
              </a:rPr>
              <a:t> </a:t>
            </a:r>
            <a:r>
              <a:rPr sz="2000" i="0">
                <a:solidFill>
                  <a:srgbClr val="D8E3D0"/>
                </a:solidFill>
                <a:latin typeface="IBM Plex Mono"/>
              </a:rPr>
              <a:t>k</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Person</a:t>
            </a:r>
            <a:r>
              <a:rPr sz="2000" i="0">
                <a:solidFill>
                  <a:srgbClr val="D8E3D0"/>
                </a:solidFill>
                <a:latin typeface="IBM Plex Mono"/>
              </a:rPr>
              <a:t> </a:t>
            </a:r>
            <a:r>
              <a:rPr sz="2000" i="0">
                <a:solidFill>
                  <a:srgbClr val="D8E3D0"/>
                </a:solidFill>
                <a:latin typeface="IBM Plex Mono"/>
              </a:rPr>
              <a:t>b</a:t>
            </a:r>
          </a:p>
          <a:p>
            <a:pPr>
              <a:lnSpc>
                <a:spcPct val="100000"/>
              </a:lnSpc>
            </a:pPr>
            <a:r>
              <a:rPr sz="2000" i="0">
                <a:solidFill>
                  <a:srgbClr val="F2A65A"/>
                </a:solidFill>
                <a:latin typeface="IBM Plex Mono"/>
              </a:rPr>
              <a:t>WHERE</a:t>
            </a:r>
            <a:r>
              <a:rPr sz="2000" i="0">
                <a:solidFill>
                  <a:srgbClr val="D8E3D0"/>
                </a:solidFill>
                <a:latin typeface="IBM Plex Mono"/>
              </a:rPr>
              <a:t> </a:t>
            </a:r>
            <a:r>
              <a:rPr sz="2000" i="0">
                <a:solidFill>
                  <a:srgbClr val="D8E3D0"/>
                </a:solidFill>
                <a:latin typeface="IBM Plex Mono"/>
              </a:rPr>
              <a:t>p</a:t>
            </a:r>
            <a:r>
              <a:rPr sz="2000" i="0">
                <a:solidFill>
                  <a:srgbClr val="D8E3D0"/>
                </a:solidFill>
                <a:latin typeface="IBM Plex Mono"/>
              </a:rPr>
              <a:t>.</a:t>
            </a:r>
            <a:r>
              <a:rPr sz="2000" i="0">
                <a:solidFill>
                  <a:srgbClr val="D8E3D0"/>
                </a:solidFill>
                <a:latin typeface="IBM Plex Mono"/>
              </a:rPr>
              <a:t>PersonNr</a:t>
            </a:r>
            <a:r>
              <a:rPr sz="2000" i="0">
                <a:solidFill>
                  <a:srgbClr val="D8E3D0"/>
                </a:solidFill>
                <a:latin typeface="IBM Plex Mono"/>
              </a:rPr>
              <a:t> </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k</a:t>
            </a:r>
            <a:r>
              <a:rPr sz="2000" i="0">
                <a:solidFill>
                  <a:srgbClr val="D8E3D0"/>
                </a:solidFill>
                <a:latin typeface="IBM Plex Mono"/>
              </a:rPr>
              <a:t>.</a:t>
            </a:r>
            <a:r>
              <a:rPr sz="2000" i="0">
                <a:solidFill>
                  <a:srgbClr val="D8E3D0"/>
                </a:solidFill>
                <a:latin typeface="IBM Plex Mono"/>
              </a:rPr>
              <a:t>PersonNr</a:t>
            </a:r>
          </a:p>
          <a:p>
            <a:pPr>
              <a:lnSpc>
                <a:spcPct val="100000"/>
              </a:lnSpc>
            </a:pPr>
            <a:r>
              <a:rPr sz="2000" i="0">
                <a:solidFill>
                  <a:srgbClr val="D8E3D0"/>
                </a:solidFill>
                <a:latin typeface="IBM Plex Mono"/>
              </a:rPr>
              <a:t>  </a:t>
            </a:r>
            <a:r>
              <a:rPr sz="2000" i="0">
                <a:solidFill>
                  <a:srgbClr val="F2A65A"/>
                </a:solidFill>
                <a:latin typeface="IBM Plex Mono"/>
              </a:rPr>
              <a:t>AND</a:t>
            </a:r>
            <a:r>
              <a:rPr sz="2000" i="0">
                <a:solidFill>
                  <a:srgbClr val="D8E3D0"/>
                </a:solidFill>
                <a:latin typeface="IBM Plex Mono"/>
              </a:rPr>
              <a:t> </a:t>
            </a:r>
            <a:r>
              <a:rPr sz="2000" i="0">
                <a:solidFill>
                  <a:srgbClr val="D8E3D0"/>
                </a:solidFill>
                <a:latin typeface="IBM Plex Mono"/>
              </a:rPr>
              <a:t>k</a:t>
            </a:r>
            <a:r>
              <a:rPr sz="2000" i="0">
                <a:solidFill>
                  <a:srgbClr val="D8E3D0"/>
                </a:solidFill>
                <a:latin typeface="IBM Plex Mono"/>
              </a:rPr>
              <a:t>.</a:t>
            </a:r>
            <a:r>
              <a:rPr sz="2000" i="0">
                <a:solidFill>
                  <a:srgbClr val="D8E3D0"/>
                </a:solidFill>
                <a:latin typeface="IBM Plex Mono"/>
              </a:rPr>
              <a:t>BekannterNr</a:t>
            </a:r>
            <a:r>
              <a:rPr sz="2000" i="0">
                <a:solidFill>
                  <a:srgbClr val="D8E3D0"/>
                </a:solidFill>
                <a:latin typeface="IBM Plex Mono"/>
              </a:rPr>
              <a:t> </a:t>
            </a:r>
            <a:r>
              <a:rPr sz="2000" i="0">
                <a:solidFill>
                  <a:srgbClr val="D8E3D0"/>
                </a:solidFill>
                <a:latin typeface="IBM Plex Mono"/>
              </a:rPr>
              <a:t>=</a:t>
            </a:r>
            <a:r>
              <a:rPr sz="2000" i="0">
                <a:solidFill>
                  <a:srgbClr val="D8E3D0"/>
                </a:solidFill>
                <a:latin typeface="IBM Plex Mono"/>
              </a:rPr>
              <a:t> </a:t>
            </a:r>
            <a:r>
              <a:rPr sz="2000" i="0">
                <a:solidFill>
                  <a:srgbClr val="D8E3D0"/>
                </a:solidFill>
                <a:latin typeface="IBM Plex Mono"/>
              </a:rPr>
              <a:t>b</a:t>
            </a:r>
            <a:r>
              <a:rPr sz="2000" i="0">
                <a:solidFill>
                  <a:srgbClr val="D8E3D0"/>
                </a:solidFill>
                <a:latin typeface="IBM Plex Mono"/>
              </a:rPr>
              <a:t>.</a:t>
            </a:r>
            <a:r>
              <a:rPr sz="2000" i="0">
                <a:solidFill>
                  <a:srgbClr val="D8E3D0"/>
                </a:solidFill>
                <a:latin typeface="IBM Plex Mono"/>
              </a:rPr>
              <a:t>PersonNr</a:t>
            </a:r>
          </a:p>
          <a:p>
            <a:pPr>
              <a:lnSpc>
                <a:spcPct val="100000"/>
              </a:lnSpc>
            </a:pPr>
            <a:r>
              <a:rPr sz="2000" i="0">
                <a:solidFill>
                  <a:srgbClr val="D8E3D0"/>
                </a:solidFill>
                <a:latin typeface="IBM Plex Mono"/>
              </a:rPr>
              <a:t>  </a:t>
            </a:r>
            <a:r>
              <a:rPr sz="2000" i="0">
                <a:solidFill>
                  <a:srgbClr val="F2A65A"/>
                </a:solidFill>
                <a:latin typeface="IBM Plex Mono"/>
              </a:rPr>
              <a:t>AND</a:t>
            </a:r>
            <a:r>
              <a:rPr sz="2000" i="0">
                <a:solidFill>
                  <a:srgbClr val="D8E3D0"/>
                </a:solidFill>
                <a:latin typeface="IBM Plex Mono"/>
              </a:rPr>
              <a:t> </a:t>
            </a:r>
            <a:r>
              <a:rPr sz="2000" i="0">
                <a:solidFill>
                  <a:srgbClr val="D8E3D0"/>
                </a:solidFill>
                <a:latin typeface="IBM Plex Mono"/>
              </a:rPr>
              <a:t>p</a:t>
            </a:r>
            <a:r>
              <a:rPr sz="2000" i="0">
                <a:solidFill>
                  <a:srgbClr val="D8E3D0"/>
                </a:solidFill>
                <a:latin typeface="IBM Plex Mono"/>
              </a:rPr>
              <a:t>.</a:t>
            </a:r>
            <a:r>
              <a:rPr sz="2000" i="0">
                <a:solidFill>
                  <a:srgbClr val="D8E3D0"/>
                </a:solidFill>
                <a:latin typeface="IBM Plex Mono"/>
              </a:rPr>
              <a:t>PersonNr</a:t>
            </a:r>
            <a:r>
              <a:rPr sz="2000" i="0">
                <a:solidFill>
                  <a:srgbClr val="D8E3D0"/>
                </a:solidFill>
                <a:latin typeface="IBM Plex Mono"/>
              </a:rPr>
              <a:t> </a:t>
            </a:r>
            <a:r>
              <a:rPr sz="2000" i="0">
                <a:solidFill>
                  <a:srgbClr val="D8E3D0"/>
                </a:solidFill>
                <a:latin typeface="IBM Plex Mono"/>
              </a:rPr>
              <a:t>=</a:t>
            </a:r>
            <a:r>
              <a:rPr sz="2000" i="0">
                <a:solidFill>
                  <a:srgbClr val="D8E3D0"/>
                </a:solidFill>
                <a:latin typeface="IBM Plex Mono"/>
              </a:rPr>
              <a:t> </a:t>
            </a:r>
            <a:r>
              <a:rPr sz="2000" i="0">
                <a:solidFill>
                  <a:srgbClr val="8CC4FF"/>
                </a:solidFill>
                <a:latin typeface="IBM Plex Mono"/>
              </a:rPr>
              <a:t>13</a:t>
            </a:r>
            <a:r>
              <a:rPr sz="2000" i="0">
                <a:solidFill>
                  <a:srgbClr val="D8E3D0"/>
                </a:solidFill>
                <a:latin typeface="IBM Plex Mono"/>
              </a:rPr>
              <a:t>;</a:t>
            </a:r>
          </a:p>
        </p:txBody>
      </p:sp>
      <p:graphicFrame>
        <p:nvGraphicFramePr>
          <p:cNvPr id="14" name="Ergebnistabelle"/>
          <p:cNvGraphicFramePr>
            <a:graphicFrameLocks noGrp="1"/>
          </p:cNvGraphicFramePr>
          <p:nvPr/>
        </p:nvGraphicFramePr>
        <p:xfrm>
          <a:off x="822959" y="4211828"/>
          <a:ext cx="4952389" cy="1889760"/>
        </p:xfrm>
        <a:graphic>
          <a:graphicData uri="http://schemas.openxmlformats.org/drawingml/2006/table">
            <a:tbl>
              <a:tblPr firstRow="1">
                <a:tableStyleId>{5C22544A-7EE6-4342-B048-85BDC9FD1C3A}</a:tableStyleId>
              </a:tblPr>
              <a:tblGrid>
                <a:gridCol w="1144828"/>
                <a:gridCol w="1517904"/>
                <a:gridCol w="1517904"/>
                <a:gridCol w="771753"/>
              </a:tblGrid>
              <a:tr h="314960">
                <a:tc>
                  <a:txBody>
                    <a:bodyPr/>
                    <a:lstStyle/>
                    <a:p>
                      <a:r>
                        <a:rPr sz="1472" b="1" i="0" u="none">
                          <a:solidFill>
                            <a:srgbClr val="1C2B3A"/>
                          </a:solidFill>
                          <a:latin typeface="IBM Plex Mono"/>
                        </a:rPr>
                        <a:t>Vorname</a:t>
                      </a:r>
                    </a:p>
                  </a:txBody>
                  <a:tcPr marL="54864" marR="54864" marT="18288" marB="18288">
                    <a:solidFill>
                      <a:srgbClr val="EBE2D2"/>
                    </a:solidFill>
                  </a:tcPr>
                </a:tc>
                <a:tc>
                  <a:txBody>
                    <a:bodyPr/>
                    <a:lstStyle/>
                    <a:p>
                      <a:r>
                        <a:rPr sz="1472" b="1" i="0" u="none">
                          <a:solidFill>
                            <a:srgbClr val="1C2B3A"/>
                          </a:solidFill>
                          <a:latin typeface="IBM Plex Mono"/>
                        </a:rPr>
                        <a:t>Nachname</a:t>
                      </a:r>
                    </a:p>
                  </a:txBody>
                  <a:tcPr marL="54864" marR="54864" marT="18288" marB="18288">
                    <a:solidFill>
                      <a:srgbClr val="EBE2D2"/>
                    </a:solidFill>
                  </a:tcPr>
                </a:tc>
                <a:tc>
                  <a:txBody>
                    <a:bodyPr/>
                    <a:lstStyle/>
                    <a:p>
                      <a:r>
                        <a:rPr sz="1472" b="1" i="0" u="none">
                          <a:solidFill>
                            <a:srgbClr val="1C2B3A"/>
                          </a:solidFill>
                          <a:latin typeface="IBM Plex Mono"/>
                        </a:rPr>
                        <a:t>Stadtteil</a:t>
                      </a:r>
                    </a:p>
                  </a:txBody>
                  <a:tcPr marL="54864" marR="54864" marT="18288" marB="18288">
                    <a:solidFill>
                      <a:srgbClr val="EBE2D2"/>
                    </a:solidFill>
                  </a:tcPr>
                </a:tc>
                <a:tc>
                  <a:txBody>
                    <a:bodyPr/>
                    <a:lstStyle/>
                    <a:p>
                      <a:r>
                        <a:rPr sz="1472" b="1" i="0" u="none">
                          <a:solidFill>
                            <a:srgbClr val="1C2B3A"/>
                          </a:solidFill>
                          <a:latin typeface="IBM Plex Mono"/>
                        </a:rPr>
                        <a:t>Seit</a:t>
                      </a:r>
                    </a:p>
                  </a:txBody>
                  <a:tcPr marL="54864" marR="54864" marT="18288" marB="18288">
                    <a:solidFill>
                      <a:srgbClr val="EBE2D2"/>
                    </a:solidFill>
                  </a:tcPr>
                </a:tc>
              </a:tr>
              <a:tr h="314960">
                <a:tc>
                  <a:txBody>
                    <a:bodyPr/>
                    <a:lstStyle/>
                    <a:p>
                      <a:r>
                        <a:rPr sz="1600" b="0" i="0" u="none">
                          <a:solidFill>
                            <a:srgbClr val="1C2B3A"/>
                          </a:solidFill>
                          <a:latin typeface="Barlow"/>
                        </a:rPr>
                        <a:t>Gesa</a:t>
                      </a:r>
                    </a:p>
                  </a:txBody>
                  <a:tcPr marL="54864" marR="54864" marT="18288" marB="18288">
                    <a:solidFill>
                      <a:srgbClr val="FFFDF8"/>
                    </a:solidFill>
                  </a:tcPr>
                </a:tc>
                <a:tc>
                  <a:txBody>
                    <a:bodyPr/>
                    <a:lstStyle/>
                    <a:p>
                      <a:r>
                        <a:rPr sz="1600" b="0" i="0" u="none">
                          <a:solidFill>
                            <a:srgbClr val="1C2B3A"/>
                          </a:solidFill>
                          <a:latin typeface="Barlow"/>
                        </a:rPr>
                        <a:t>Ohlendiek</a:t>
                      </a:r>
                    </a:p>
                  </a:txBody>
                  <a:tcPr marL="54864" marR="54864" marT="18288" marB="18288">
                    <a:solidFill>
                      <a:srgbClr val="FFFDF8"/>
                    </a:solidFill>
                  </a:tcPr>
                </a:tc>
                <a:tc>
                  <a:txBody>
                    <a:bodyPr/>
                    <a:lstStyle/>
                    <a:p>
                      <a:r>
                        <a:rPr sz="1600" b="0" i="0" u="none">
                          <a:solidFill>
                            <a:srgbClr val="1C2B3A"/>
                          </a:solidFill>
                          <a:latin typeface="Barlow"/>
                        </a:rPr>
                        <a:t>Altstadt</a:t>
                      </a:r>
                    </a:p>
                  </a:txBody>
                  <a:tcPr marL="54864" marR="54864" marT="18288" marB="18288">
                    <a:solidFill>
                      <a:srgbClr val="FFFDF8"/>
                    </a:solidFill>
                  </a:tcPr>
                </a:tc>
                <a:tc>
                  <a:txBody>
                    <a:bodyPr/>
                    <a:lstStyle/>
                    <a:p>
                      <a:pPr algn="r"/>
                      <a:r>
                        <a:rPr sz="1600" b="0" i="0" u="none">
                          <a:solidFill>
                            <a:srgbClr val="1C2B3A"/>
                          </a:solidFill>
                          <a:latin typeface="Barlow"/>
                        </a:rPr>
                        <a:t>2026</a:t>
                      </a:r>
                    </a:p>
                  </a:txBody>
                  <a:tcPr marL="54864" marR="54864" marT="18288" marB="18288">
                    <a:solidFill>
                      <a:srgbClr val="FFFDF8"/>
                    </a:solidFill>
                  </a:tcPr>
                </a:tc>
              </a:tr>
              <a:tr h="314960">
                <a:tc>
                  <a:txBody>
                    <a:bodyPr/>
                    <a:lstStyle/>
                    <a:p>
                      <a:r>
                        <a:rPr sz="1600" b="0" i="0" u="none">
                          <a:solidFill>
                            <a:srgbClr val="1C2B3A"/>
                          </a:solidFill>
                          <a:latin typeface="Barlow"/>
                        </a:rPr>
                        <a:t>Bent</a:t>
                      </a:r>
                    </a:p>
                  </a:txBody>
                  <a:tcPr marL="54864" marR="54864" marT="18288" marB="18288">
                    <a:solidFill>
                      <a:srgbClr val="FFFDF8"/>
                    </a:solidFill>
                  </a:tcPr>
                </a:tc>
                <a:tc>
                  <a:txBody>
                    <a:bodyPr/>
                    <a:lstStyle/>
                    <a:p>
                      <a:r>
                        <a:rPr sz="1600" b="0" i="0" u="none">
                          <a:solidFill>
                            <a:srgbClr val="1C2B3A"/>
                          </a:solidFill>
                          <a:latin typeface="Barlow"/>
                        </a:rPr>
                        <a:t>Hollwedel</a:t>
                      </a:r>
                    </a:p>
                  </a:txBody>
                  <a:tcPr marL="54864" marR="54864" marT="18288" marB="18288">
                    <a:solidFill>
                      <a:srgbClr val="FFFDF8"/>
                    </a:solidFill>
                  </a:tcPr>
                </a:tc>
                <a:tc>
                  <a:txBody>
                    <a:bodyPr/>
                    <a:lstStyle/>
                    <a:p>
                      <a:r>
                        <a:rPr sz="1600" b="0" i="0" u="none">
                          <a:solidFill>
                            <a:srgbClr val="1C2B3A"/>
                          </a:solidFill>
                          <a:latin typeface="Barlow"/>
                        </a:rPr>
                        <a:t>Lindenhof</a:t>
                      </a:r>
                    </a:p>
                  </a:txBody>
                  <a:tcPr marL="54864" marR="54864" marT="18288" marB="18288">
                    <a:solidFill>
                      <a:srgbClr val="FFFDF8"/>
                    </a:solidFill>
                  </a:tcPr>
                </a:tc>
                <a:tc>
                  <a:txBody>
                    <a:bodyPr/>
                    <a:lstStyle/>
                    <a:p>
                      <a:pPr algn="r"/>
                      <a:r>
                        <a:rPr sz="1600" b="0" i="0" u="none">
                          <a:solidFill>
                            <a:srgbClr val="1C2B3A"/>
                          </a:solidFill>
                          <a:latin typeface="Barlow"/>
                        </a:rPr>
                        <a:t>2026</a:t>
                      </a:r>
                    </a:p>
                  </a:txBody>
                  <a:tcPr marL="54864" marR="54864" marT="18288" marB="18288">
                    <a:solidFill>
                      <a:srgbClr val="FFFDF8"/>
                    </a:solidFill>
                  </a:tcPr>
                </a:tc>
              </a:tr>
              <a:tr h="314960">
                <a:tc>
                  <a:txBody>
                    <a:bodyPr/>
                    <a:lstStyle/>
                    <a:p>
                      <a:r>
                        <a:rPr sz="1600" b="0" i="0" u="none">
                          <a:solidFill>
                            <a:srgbClr val="1C2B3A"/>
                          </a:solidFill>
                          <a:latin typeface="Barlow"/>
                        </a:rPr>
                        <a:t>Selin</a:t>
                      </a:r>
                    </a:p>
                  </a:txBody>
                  <a:tcPr marL="54864" marR="54864" marT="18288" marB="18288">
                    <a:solidFill>
                      <a:srgbClr val="FFFDF8"/>
                    </a:solidFill>
                  </a:tcPr>
                </a:tc>
                <a:tc>
                  <a:txBody>
                    <a:bodyPr/>
                    <a:lstStyle/>
                    <a:p>
                      <a:r>
                        <a:rPr sz="1600" b="0" i="0" u="none">
                          <a:solidFill>
                            <a:srgbClr val="1C2B3A"/>
                          </a:solidFill>
                          <a:latin typeface="Barlow"/>
                        </a:rPr>
                        <a:t>Aksoy</a:t>
                      </a:r>
                    </a:p>
                  </a:txBody>
                  <a:tcPr marL="54864" marR="54864" marT="18288" marB="18288">
                    <a:solidFill>
                      <a:srgbClr val="FFFDF8"/>
                    </a:solidFill>
                  </a:tcPr>
                </a:tc>
                <a:tc>
                  <a:txBody>
                    <a:bodyPr/>
                    <a:lstStyle/>
                    <a:p>
                      <a:r>
                        <a:rPr sz="1600" b="0" i="0" u="none">
                          <a:solidFill>
                            <a:srgbClr val="1C2B3A"/>
                          </a:solidFill>
                          <a:latin typeface="Barlow"/>
                        </a:rPr>
                        <a:t>Lindenhof</a:t>
                      </a:r>
                    </a:p>
                  </a:txBody>
                  <a:tcPr marL="54864" marR="54864" marT="18288" marB="18288">
                    <a:solidFill>
                      <a:srgbClr val="FFFDF8"/>
                    </a:solidFill>
                  </a:tcPr>
                </a:tc>
                <a:tc>
                  <a:txBody>
                    <a:bodyPr/>
                    <a:lstStyle/>
                    <a:p>
                      <a:pPr algn="r"/>
                      <a:r>
                        <a:rPr sz="1600" b="0" i="0" u="none">
                          <a:solidFill>
                            <a:srgbClr val="1C2B3A"/>
                          </a:solidFill>
                          <a:latin typeface="Barlow"/>
                        </a:rPr>
                        <a:t>2026</a:t>
                      </a:r>
                    </a:p>
                  </a:txBody>
                  <a:tcPr marL="54864" marR="54864" marT="18288" marB="18288">
                    <a:solidFill>
                      <a:srgbClr val="FFFDF8"/>
                    </a:solidFill>
                  </a:tcPr>
                </a:tc>
              </a:tr>
              <a:tr h="314960">
                <a:tc>
                  <a:txBody>
                    <a:bodyPr/>
                    <a:lstStyle/>
                    <a:p>
                      <a:r>
                        <a:rPr sz="1600" b="0" i="0" u="none">
                          <a:solidFill>
                            <a:srgbClr val="1C2B3A"/>
                          </a:solidFill>
                          <a:latin typeface="Barlow"/>
                        </a:rPr>
                        <a:t>Wiebke</a:t>
                      </a:r>
                    </a:p>
                  </a:txBody>
                  <a:tcPr marL="54864" marR="54864" marT="18288" marB="18288">
                    <a:solidFill>
                      <a:srgbClr val="FFFDF8"/>
                    </a:solidFill>
                  </a:tcPr>
                </a:tc>
                <a:tc>
                  <a:txBody>
                    <a:bodyPr/>
                    <a:lstStyle/>
                    <a:p>
                      <a:r>
                        <a:rPr sz="1600" b="0" i="0" u="none">
                          <a:solidFill>
                            <a:srgbClr val="1C2B3A"/>
                          </a:solidFill>
                          <a:latin typeface="Barlow"/>
                        </a:rPr>
                        <a:t>Lüttjohann</a:t>
                      </a:r>
                    </a:p>
                  </a:txBody>
                  <a:tcPr marL="54864" marR="54864" marT="18288" marB="18288">
                    <a:solidFill>
                      <a:srgbClr val="FFFDF8"/>
                    </a:solidFill>
                  </a:tcPr>
                </a:tc>
                <a:tc>
                  <a:txBody>
                    <a:bodyPr/>
                    <a:lstStyle/>
                    <a:p>
                      <a:r>
                        <a:rPr sz="1600" b="0" i="0" u="none">
                          <a:solidFill>
                            <a:srgbClr val="1C2B3A"/>
                          </a:solidFill>
                          <a:latin typeface="Barlow"/>
                        </a:rPr>
                        <a:t>Mühlenfeld</a:t>
                      </a:r>
                    </a:p>
                  </a:txBody>
                  <a:tcPr marL="54864" marR="54864" marT="18288" marB="18288">
                    <a:solidFill>
                      <a:srgbClr val="FFFDF8"/>
                    </a:solidFill>
                  </a:tcPr>
                </a:tc>
                <a:tc>
                  <a:txBody>
                    <a:bodyPr/>
                    <a:lstStyle/>
                    <a:p>
                      <a:pPr algn="r"/>
                      <a:r>
                        <a:rPr sz="1600" b="0" i="0" u="none">
                          <a:solidFill>
                            <a:srgbClr val="1C2B3A"/>
                          </a:solidFill>
                          <a:latin typeface="Barlow"/>
                        </a:rPr>
                        <a:t>2026</a:t>
                      </a:r>
                    </a:p>
                  </a:txBody>
                  <a:tcPr marL="54864" marR="54864" marT="18288" marB="18288">
                    <a:solidFill>
                      <a:srgbClr val="FFFDF8"/>
                    </a:solidFill>
                  </a:tcPr>
                </a:tc>
              </a:tr>
              <a:tr h="314960">
                <a:tc>
                  <a:txBody>
                    <a:bodyPr/>
                    <a:lstStyle/>
                    <a:p>
                      <a:r>
                        <a:rPr sz="1600" b="0" i="0" u="none">
                          <a:solidFill>
                            <a:srgbClr val="1C2B3A"/>
                          </a:solidFill>
                          <a:latin typeface="Barlow"/>
                        </a:rPr>
                        <a:t>Keno</a:t>
                      </a:r>
                    </a:p>
                  </a:txBody>
                  <a:tcPr marL="54864" marR="54864" marT="18288" marB="18288">
                    <a:solidFill>
                      <a:srgbClr val="FFFDF8"/>
                    </a:solidFill>
                  </a:tcPr>
                </a:tc>
                <a:tc>
                  <a:txBody>
                    <a:bodyPr/>
                    <a:lstStyle/>
                    <a:p>
                      <a:r>
                        <a:rPr sz="1600" b="0" i="0" u="none">
                          <a:solidFill>
                            <a:srgbClr val="1C2B3A"/>
                          </a:solidFill>
                          <a:latin typeface="Barlow"/>
                        </a:rPr>
                        <a:t>Bargmann</a:t>
                      </a:r>
                    </a:p>
                  </a:txBody>
                  <a:tcPr marL="54864" marR="54864" marT="18288" marB="18288">
                    <a:solidFill>
                      <a:srgbClr val="FFFDF8"/>
                    </a:solidFill>
                  </a:tcPr>
                </a:tc>
                <a:tc>
                  <a:txBody>
                    <a:bodyPr/>
                    <a:lstStyle/>
                    <a:p>
                      <a:r>
                        <a:rPr sz="1600" b="0" i="0" u="none">
                          <a:solidFill>
                            <a:srgbClr val="1C2B3A"/>
                          </a:solidFill>
                          <a:latin typeface="Barlow"/>
                        </a:rPr>
                        <a:t>Nordheide</a:t>
                      </a:r>
                    </a:p>
                  </a:txBody>
                  <a:tcPr marL="54864" marR="54864" marT="18288" marB="18288">
                    <a:solidFill>
                      <a:srgbClr val="FFFDF8"/>
                    </a:solidFill>
                  </a:tcPr>
                </a:tc>
                <a:tc>
                  <a:txBody>
                    <a:bodyPr/>
                    <a:lstStyle/>
                    <a:p>
                      <a:pPr algn="r"/>
                      <a:r>
                        <a:rPr sz="1600" b="0" i="0" u="none">
                          <a:solidFill>
                            <a:srgbClr val="1C2B3A"/>
                          </a:solidFill>
                          <a:latin typeface="Barlow"/>
                        </a:rPr>
                        <a:t>2026</a:t>
                      </a:r>
                    </a:p>
                  </a:txBody>
                  <a:tcPr marL="54864" marR="54864" marT="18288" marB="18288">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AKTE 5 · DER BAUPLAN</a:t>
            </a:r>
          </a:p>
        </p:txBody>
      </p:sp>
      <p:sp>
        <p:nvSpPr>
          <p:cNvPr id="3" name="TextBox 2"/>
          <p:cNvSpPr txBox="1"/>
          <p:nvPr/>
        </p:nvSpPr>
        <p:spPr>
          <a:xfrm>
            <a:off x="548640" y="566928"/>
            <a:ext cx="935705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Cliffhanger</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arker Lehrkraft"/>
          <p:cNvSpPr/>
          <p:nvPr/>
        </p:nvSpPr>
        <p:spPr>
          <a:xfrm>
            <a:off x="10042855" y="310896"/>
            <a:ext cx="1600200" cy="310896"/>
          </a:xfrm>
          <a:prstGeom prst="roundRect">
            <a:avLst>
              <a:gd name="adj" fmla="val 4000"/>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42855" y="310896"/>
            <a:ext cx="1600200" cy="310896"/>
          </a:xfrm>
          <a:prstGeom prst="rect">
            <a:avLst/>
          </a:prstGeom>
          <a:noFill/>
        </p:spPr>
        <p:txBody>
          <a:bodyPr wrap="square" anchor="ctr" lIns="36576" rIns="36576" tIns="36576" bIns="36576">
            <a:spAutoFit/>
          </a:bodyPr>
          <a:lstStyle/>
          <a:p>
            <a:pPr algn="ctr">
              <a:lnSpc>
                <a:spcPct val="105000"/>
              </a:lnSpc>
            </a:pPr>
            <a:r>
              <a:rPr sz="1000" b="1" i="0" u="none">
                <a:solidFill>
                  <a:srgbClr val="141B22"/>
                </a:solidFill>
                <a:latin typeface="IBM Plex Mono"/>
              </a:rPr>
              <a:t>NUR LEHRKRAFT</a:t>
            </a:r>
          </a:p>
        </p:txBody>
      </p:sp>
      <p:sp>
        <p:nvSpPr>
          <p:cNvPr id="9" name="TextBox 8"/>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50</a:t>
            </a:r>
          </a:p>
        </p:txBody>
      </p:sp>
      <p:sp>
        <p:nvSpPr>
          <p:cNvPr id="10" name="Rounded Rectangle 9"/>
          <p:cNvSpPr/>
          <p:nvPr/>
        </p:nvSpPr>
        <p:spPr>
          <a:xfrm>
            <a:off x="548640" y="1691640"/>
            <a:ext cx="11094415" cy="420624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1828800"/>
            <a:ext cx="10637215" cy="274320"/>
          </a:xfrm>
          <a:prstGeom prst="rect">
            <a:avLst/>
          </a:prstGeom>
          <a:noFill/>
        </p:spPr>
        <p:txBody>
          <a:bodyPr wrap="square" anchor="t" lIns="36576" rIns="36576" tIns="36576" bIns="36576">
            <a:spAutoFit/>
          </a:bodyPr>
          <a:lstStyle/>
          <a:p>
            <a:pPr>
              <a:lnSpc>
                <a:spcPct val="105000"/>
              </a:lnSpc>
            </a:pPr>
            <a:r>
              <a:rPr sz="1050" b="1" i="0" u="none" spc="120">
                <a:solidFill>
                  <a:srgbClr val="B3261E"/>
                </a:solidFill>
                <a:latin typeface="IBM Plex Mono"/>
              </a:rPr>
              <a:t>BRIEFING · EDDA LORENZ</a:t>
            </a:r>
          </a:p>
        </p:txBody>
      </p:sp>
      <p:sp>
        <p:nvSpPr>
          <p:cNvPr id="12" name="TextBox 11"/>
          <p:cNvSpPr txBox="1"/>
          <p:nvPr/>
        </p:nvSpPr>
        <p:spPr>
          <a:xfrm>
            <a:off x="822959" y="2240280"/>
            <a:ext cx="10545775" cy="3474720"/>
          </a:xfrm>
          <a:prstGeom prst="rect">
            <a:avLst/>
          </a:prstGeom>
          <a:noFill/>
        </p:spPr>
        <p:txBody>
          <a:bodyPr wrap="square" anchor="t" lIns="36576" rIns="36576" tIns="36576" bIns="36576">
            <a:spAutoFit/>
          </a:bodyPr>
          <a:lstStyle/>
          <a:p>
            <a:pPr>
              <a:lnSpc>
                <a:spcPct val="105000"/>
              </a:lnSpc>
            </a:pPr>
            <a:r>
              <a:rPr sz="2200" b="0" i="1" u="none">
                <a:solidFill>
                  <a:srgbClr val="1C2B3A"/>
                </a:solidFill>
                <a:latin typeface="Barlow"/>
              </a:rPr>
              <a:t>Die Antwort ist eindeutig: Nora Falter – verdächtig in allen vier Fällen, mit Bekannten an jedem Tatort. Doch die Bürgermeisterin lässt ausrichten: Eine Nora Falter ist in Weserstedt nicht gemeldet.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 Bauplan</dc:title>
  <dc:subject/>
  <dc:creator>Datendetektei Weserstedt</dc:creator>
  <cp:keywords/>
  <dc:description>generated using python-pptx</dc:description>
  <cp:lastModifiedBy>Datendetektei Weserstedt</cp:lastModifiedBy>
  <cp:revision>1</cp:revision>
  <dcterms:created xsi:type="dcterms:W3CDTF">2013-01-27T09:14:16Z</dcterms:created>
  <dcterms:modified xsi:type="dcterms:W3CDTF">2013-01-27T09:15:58Z</dcterms:modified>
  <cp:category/>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D-Akte">
    <vt:lpwstr>5</vt:lpwstr>
  </property>
  <property fmtid="{D5CDD505-2E9C-101B-9397-08002B2CF9AE}" pid="3" name="DD-Art">
    <vt:lpwstr>praesentation</vt:lpwstr>
  </property>
  <property fmtid="{D5CDD505-2E9C-101B-9397-08002B2CF9AE}" pid="4" name="DD-Datenbank">
    <vt:lpwstr>detektei</vt:lpwstr>
  </property>
  <property fmtid="{D5CDD505-2E9C-101B-9397-08002B2CF9AE}" pid="5" name="DD-Kuer">
    <vt:lpwstr>nein</vt:lpwstr>
  </property>
</Properties>
</file>