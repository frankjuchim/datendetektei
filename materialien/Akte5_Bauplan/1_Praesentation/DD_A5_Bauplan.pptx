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Akte 5 nur in eA-Kursen (im gA-Kurs entfällt sie, Niveau gA blendet sie aus). Diese Präsentation übernimmt die Inhalte der früheren Präsentation „ER-Modell“ mit den Korrekturen aus Spec §11.2: Entitätstyp/Beziehungstyp statt „Entitätsmenge“, Schlüsselattribute im ER unterstrichen, Regeln für rekursive und ternäre Beziehungen und für Beziehungsattribute bei 1:n, zusätzliches Schlüsselattribut bei mehrfach vorkommenden Paaren.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DS 9, Warm-up (0–10'): Warm-up-Karten A4 (Karten 05–08). Kurz auflösen; Brücke zur Stunde: „Daten stützen, Begründung kommt aus dem Sachzusammenhang.“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Briefing (10–20'). Foto/Skizze der vollen Pinnwand zeigen, falls vorhanden.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Begriffe des Briefings werden auf den nächsten Folien am Plan beschriftet.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Impuls aus DS_PLANUNG. Erwartung: „Ein Ermittler leitet mehrere Fälle, jeder Fall hat genau einen Leiter.“ Falls jemand die n dem Ermittler zuordnet: Leseschablone vorwegnehmen (Zahl steht beim Entitätstyp, über den man spricht).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Korrektur gegenüber der alten Präsentation „ER-Modell“: jetzt Entitätstyp statt „Entitätsmenge“, und die Schlüssel werden im ER markiert. Keine (min,max)- und keine Krähenfuß-Notation.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Mengendiagramm = einzelne Entitäten als Punkte. Bei 1:n hat E3 keine Linie – auch das ist erlaubt (die 1 sagt „höchstens/genau einer“ auf der anderen Seite, nicht „jeder Ermittler muss“). Bei n:m haben Punkte auf **beiden** Seiten mehrere Linien.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Eigenes Beispiel (Schule), nicht die Detektei. Typischer Fehler P9: die Zahl an die eigene Kante schreiben („Ein Schüler – 1“ an Schueler). Regel: Die Zahl steht beim Entitätstyp, über den der Satz eine Mengenangabe macht.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Impuls: „Wo steht der Verdachtsgrad: bei der Person, beim Fall oder dazwischen?“ Erst abstimmen lassen, dann mit dem Gegenbeispiel auflösen. Merkfrage: Ändert sich der Wert, wenn ich eine andere Person oder einen anderen Fall nehme?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SQL-Wiederholung aus Akte 3. Die Daten stützen n auf der Personen-Seite – beweisen tun sie nichts (Ausschnitt-Falle). Die Gegenrichtung (Personen in mehreren Fällen) ist Lab-Aufgabe A5-E1-08 und wird hier nicht gezeigt.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Kopiervorlage DD_A5_Unplugged_Faeden-Kardinalitaeten (20 Rollenkarten + Etiketten). Ablauf und erwartete Beobachtungen in den Lehrerhinweisen. Sicherung: Foto der Fadennetze; drei Kardinalitäten mit Leseschablone an die Tafel. Antwort auf den Impuls: Kommt der Wert einer Fremdschlüsselspalte mehrfach vor → n-Seite.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Lab-Einsatz (35–80'). Herumgehen: Kardinalität an der falschen Kante (P9), Grad an Person (P9), Erläutern ohne Sachzusammenhang (P10) sammeln.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Fallbesprechung (80–90'): Merkkasten sichern.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Abi-Ecke von AB 5.1 (4 BE): je Richtung 1 BE. Operator begründen = Sachverhalt auf Regeln und Zusammenhänge zurückführen („weil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[NUR LEHRKRAFT] Typisch: „1:n, weil an der Kante 1 und n steht“ (Ablesen statt Begründen, P10).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Abschluss DS 9. Ausblick: Architekturwettbewerb – Teams bilden, Anforderungstext vorab lesen.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DS 10, Warm-up (0–10'): Warm-up-Karten A5, Karten 01–04.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[NUR LEHRKRAFT] Nachsatz: Die Daten stützen n:m; begründet wird es mit dem Sachzusammenhang (ein Buch wird im Laufe der Zeit von vielen gelesen).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Briefing (10–20').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drei neuen Bausteine folgen auf den nächsten Folien an Mini-Beispielen.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Impuls: „Wer betreut wen? Kann eine Raute zweimal an dasselbe Rechteck?“ Herkunft: Beispiel *istPateVon* aus den EH → bei uns *betreut*. Korrektur gegenüber „ER-Modell“: rekursive Beziehungen fehlten dort.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Fehler, der hier vorkommt: eine Raute „spielt“ mit Attribut „Heim/Gast“ – dann wären Heim- und Gastteam nicht unterscheidbar bzw. es bräuchte n:m.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Impuls aus DS_PLANUNG: „Reichen drei binäre Beziehungen statt der ternären? Was geht verloren?“ Gegenbeispiel: Gesa sagt zu Fall 1 und Fall 3 aus, es wurde im Fundbüro und auf dem Festplatz ausgesagt – wo sagte sie zu welchem Fall aus? Kardinalitäten ternär: m, n, 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Eigenes Beispiel (nicht die Detektei). Gemeinsam an der Tafel markieren; Lösung auf der nächsten Folie.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Varianten würdigen: *betreut* statt *versorgt* ist gleichwertig. Die Rollen Erfahrene/Neue an die Kanten von *arbeitetEin*.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Wettbewerb (20–50'): Text auch auf AB 5.2 (Auftrag 1) und als Plakat-Vorlage im Unplugged-Set.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Kopiervorlage DD_A5_Unplugged_Architekturwettbewerb. Zeitansage nach 15': „Habt ihr schon alle Beziehungstypen?“ Textprüfer:in verhindert, dass Teams sich in Details verlieren.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Kriterium 1 Punkt. Die Kriterien sind zugleich die Kernpunkte der Referenzlösung.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Lab-Einsatz (65–85'), verkürzt wegen Wettbewerb.</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[NUR LEHRKRAFT] Fallbesprechung (85–90'): neben den Siegerentwurf legen; Abweichungen als Alternativen würdigen (K40), z. B. aufgelöste Zwischenentität statt n:m. Erst nach dem Wettbewerb zeigen.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Merkkasten DS 10 sichern.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Abi-Ecke von AB 5.2 (gekürzt). 2 BE arbeitetMitAn n:m mit Rolle, 2 BE vertritt rekursiv 1:n, 1 BE Notation.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[NUR LEHRKRAFT] Typisch: Rolle an Ermittler (P9), Entitätstyp „Vertretung“ (P9).</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Abschluss DS 10. Hausaufgabe: AB 5.2, Lab A5-E2-07/08; Teamplakate für DS 11 aufheben.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DS 11, Warm-up (0–10'): Warm-up-Karten A5, Karten 05–08.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Briefing (10–20'): fragend-entwickelnd.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Impuls aus DS_PLANUNG: „Wohin kommt der Verweis bei leitet – in Ermittler oder in Fall?“ Oben: mehrere Werte in einer Zelle (nicht atomar). Unten: ein Wert je Zeile → Fremdschlüssel auf der n-Seite. Zweiter Impuls: „Warum kann Person keinen Fremdschlüssel FallNr bekommen, wenn sie in mehreren Fällen verdächtig ist?“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Werkzeugkarte 5 im Ermittler-Handbuch. Korrekturen gegenüber „ER-Modell“: R5 (rekursiv) und R6 (ternär) fehlten dort; Beziehungsattribute bei 1:n kommen in die Relation der n-Seite.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drei Punkte waren in der alten Präsentation „ER-Modell“ falsch oder fehlten (Spec §11.2). Prüffrage für den Schlüssel: Kann dieselbe Kombination zweimal vorkommen?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A5-E3-06 und AB 5.3 Auftrag 3 (Stadtbücherei). Den Namen des Beziehungstyps erfinden die Schüler aus dem Sachzusammenhang.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Zeilen. Edda Lorenz und Ulf Witte erscheinen nicht als „Ermittler“ (MentorNr NULL). Ohne Aliase: „Name ist mehrdeutig“ (P7). Tabellenalias ohne AS (EH).</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Kopiervorlage DD_A5_Unplugged_Regelkarten (Vorderseite Regel, Rückseite Begründung, beidseitig drucken). Sicherung: Werkzeugkarte 5.</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Lab-Einsatz (35–80'). Verhör 5 im Kurs auf „auto“ oder „offen“ stellen. Typische Fehler: FK auf der 1-Seite, n:m ohne eigene Relation, rekursiver FK gleich benannt wie der PK.</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Fallbesprechung (80–90'): mit Begründungen sichern (Werkzeugkarte 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Abi-Ecke von AB 5.3: 3 BE Relationen, 2 BE Begründung.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[NUR LEHRKRAFT] Typisch: Rolle in Ermittler (P9); Begründung ohne Sachzusammenhang (P10).</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[NUR LEHRKRAFT] Fallbesprechung: die entscheidende Frage aus dem Briefing. Gruppiert wird nach dem Schlüssel (Variante gleichnamig: eine zweite Nora Falter!).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[NUR LEHRKRAFT] Bekannte an allen vier Tatorten (Fundbüro, StadtRad, Stadtfest, TuS) und Keno Bargmann aus der IT der Stadtverwaltung – eine Insiderin. Lab A5-E3-08 fragt dasselbe über den Namen.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[NUR LEHRKRAFT] Abschluss DS 11 (verrät das Lab-Ergebnis, daher nicht im Handout). Steckbrief ergänzen: einzige Verdächtige in allen vier Fällen · kennt Menschen an jedem Tatort · Insiderin · nicht gemeldet. Hinweis Verhör 5 (ER, 20') und Video 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1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a:t>
            </a:r>
          </a:p>
        </p:txBody>
      </p:sp>
      <p:sp>
        <p:nvSpPr>
          <p:cNvPr id="4" name="TextBox 3"/>
          <p:cNvSpPr txBox="1"/>
          <p:nvPr/>
        </p:nvSpPr>
        <p:spPr>
          <a:xfrm>
            <a:off x="548640" y="1828800"/>
            <a:ext cx="8229600" cy="1280160"/>
          </a:xfrm>
          <a:prstGeom prst="rect">
            <a:avLst/>
          </a:prstGeom>
          <a:noFill/>
        </p:spPr>
        <p:txBody>
          <a:bodyPr wrap="square" anchor="b" lIns="36576" rIns="36576" tIns="36576" bIns="36576">
            <a:spAutoFit/>
          </a:bodyPr>
          <a:lstStyle/>
          <a:p>
            <a:pPr>
              <a:lnSpc>
                <a:spcPct val="105000"/>
              </a:lnSpc>
            </a:pPr>
            <a:r>
              <a:rPr sz="5400" b="0" i="0" u="none">
                <a:solidFill>
                  <a:srgbClr val="E8E1D3"/>
                </a:solidFill>
                <a:latin typeface="Barlow Condensed SemiBold"/>
              </a:rPr>
              <a:t>Der Bauplan</a:t>
            </a:r>
          </a:p>
        </p:txBody>
      </p:sp>
      <p:cxnSp>
        <p:nvCxnSpPr>
          <p:cNvPr id="5" name="Roter Faden"/>
          <p:cNvCxnSpPr/>
          <p:nvPr/>
        </p:nvCxnSpPr>
        <p:spPr>
          <a:xfrm>
            <a:off x="548640" y="3291840"/>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484632" y="3227832"/>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579047" y="3227832"/>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3474720"/>
            <a:ext cx="8229600" cy="1097280"/>
          </a:xfrm>
          <a:prstGeom prst="rect">
            <a:avLst/>
          </a:prstGeom>
          <a:noFill/>
        </p:spPr>
        <p:txBody>
          <a:bodyPr wrap="square" anchor="t" lIns="36576" rIns="36576" tIns="36576" bIns="36576">
            <a:spAutoFit/>
          </a:bodyPr>
          <a:lstStyle/>
          <a:p>
            <a:pPr>
              <a:lnSpc>
                <a:spcPct val="105000"/>
              </a:lnSpc>
            </a:pPr>
            <a:r>
              <a:rPr sz="2200" b="0" i="0" u="none">
                <a:solidFill>
                  <a:srgbClr val="BDB6A9"/>
                </a:solidFill>
                <a:latin typeface="Barlow"/>
              </a:rPr>
              <a:t>Akte 5 · DS 9 „Baupläne lesen“ · DS 10 „Der Architekturwettbewerb“ · DS 11 „Vom Plan zur Datenbank“ · nur eA</a:t>
            </a:r>
          </a:p>
        </p:txBody>
      </p:sp>
      <p:pic>
        <p:nvPicPr>
          <p:cNvPr id="9" name="Picture 8" descr="stempel.png"/>
          <p:cNvPicPr>
            <a:picLocks noChangeAspect="1"/>
          </p:cNvPicPr>
          <p:nvPr/>
        </p:nvPicPr>
        <p:blipFill>
          <a:blip r:embed="rId3"/>
          <a:stretch>
            <a:fillRect/>
          </a:stretch>
        </p:blipFill>
        <p:spPr>
          <a:xfrm>
            <a:off x="9052560" y="1463040"/>
            <a:ext cx="2560320" cy="90999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Warm-up: Karten W-A4-05 … 08</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791210"/>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 Einzelarbeit, je Karte 2–3 Minuten, dann Vergleich im Team</a:t>
            </a:r>
          </a:p>
          <a:p>
            <a:pPr>
              <a:lnSpc>
                <a:spcPct val="105000"/>
              </a:lnSpc>
              <a:spcAft>
                <a:spcPts val="600"/>
              </a:spcAft>
            </a:pPr>
            <a:r>
              <a:rPr sz="1900" b="0" i="0" u="none">
                <a:solidFill>
                  <a:srgbClr val="1C2B3A"/>
                </a:solidFill>
                <a:latin typeface="Barlow"/>
              </a:rPr>
              <a:t>▸ Schlüsselkriterien · Ausschnitt-Falle · Verlustfrei? · Zusammengelegt</a:t>
            </a:r>
          </a:p>
        </p:txBody>
      </p:sp>
      <p:sp>
        <p:nvSpPr>
          <p:cNvPr id="10" name="TextBox 9"/>
          <p:cNvSpPr txBox="1"/>
          <p:nvPr/>
        </p:nvSpPr>
        <p:spPr>
          <a:xfrm>
            <a:off x="822959" y="2784602"/>
            <a:ext cx="10545775" cy="694690"/>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Wiederholung aus Akte 4 – die Ausschnitt-Falle brauchen wir heute wieder: Auch eine Kardinalität beweist man nicht mit ein paar Zeilen.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Akte 5: Der Bauplan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3</a:t>
            </a:r>
          </a:p>
        </p:txBody>
      </p:sp>
      <p:sp>
        <p:nvSpPr>
          <p:cNvPr id="8" name="Rounded Rectangle 7"/>
          <p:cNvSpPr/>
          <p:nvPr/>
        </p:nvSpPr>
        <p:spPr>
          <a:xfrm>
            <a:off x="548640" y="1691640"/>
            <a:ext cx="11094415" cy="42062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BRIEFING · EDDA LORENZ</a:t>
            </a:r>
          </a:p>
        </p:txBody>
      </p:sp>
      <p:sp>
        <p:nvSpPr>
          <p:cNvPr id="10" name="TextBox 9"/>
          <p:cNvSpPr txBox="1"/>
          <p:nvPr/>
        </p:nvSpPr>
        <p:spPr>
          <a:xfrm>
            <a:off x="822959" y="2240280"/>
            <a:ext cx="10545775" cy="3474720"/>
          </a:xfrm>
          <a:prstGeom prst="rect">
            <a:avLst/>
          </a:prstGeom>
          <a:noFill/>
        </p:spPr>
        <p:txBody>
          <a:bodyPr wrap="square" anchor="t" lIns="36576" rIns="36576" tIns="36576" bIns="36576">
            <a:spAutoFit/>
          </a:bodyPr>
          <a:lstStyle/>
          <a:p>
            <a:pPr>
              <a:lnSpc>
                <a:spcPct val="105000"/>
              </a:lnSpc>
            </a:pPr>
            <a:r>
              <a:rPr sz="2200" b="0" i="1" u="none">
                <a:solidFill>
                  <a:srgbClr val="1C2B3A"/>
                </a:solidFill>
                <a:latin typeface="Barlow"/>
              </a:rPr>
              <a:t>Unsere Pinnwand ist voll, und Juri hat die rote Wolle aufgebraucht. Bevor wir eine Datenbank bauen, brauchen wir einen Bauplan – und Baupläne für Datenbanken heißen ER-Diagramme. Ich habe euch einen alten Plan aus dem Polizeiarchiv mitgebracht.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Akte 5: Der Bauplan (Fortsetzung)</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4</a:t>
            </a:r>
          </a:p>
        </p:txBody>
      </p:sp>
      <p:sp>
        <p:nvSpPr>
          <p:cNvPr id="8" name="Rounded Rectangle 7"/>
          <p:cNvSpPr/>
          <p:nvPr/>
        </p:nvSpPr>
        <p:spPr>
          <a:xfrm>
            <a:off x="548640" y="1691640"/>
            <a:ext cx="11094415" cy="42062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BRIEFING · EDDA LORENZ</a:t>
            </a:r>
          </a:p>
        </p:txBody>
      </p:sp>
      <p:sp>
        <p:nvSpPr>
          <p:cNvPr id="10" name="TextBox 9"/>
          <p:cNvSpPr txBox="1"/>
          <p:nvPr/>
        </p:nvSpPr>
        <p:spPr>
          <a:xfrm>
            <a:off x="822959" y="2240280"/>
            <a:ext cx="10545775" cy="3474720"/>
          </a:xfrm>
          <a:prstGeom prst="rect">
            <a:avLst/>
          </a:prstGeom>
          <a:noFill/>
        </p:spPr>
        <p:txBody>
          <a:bodyPr wrap="square" anchor="t" lIns="36576" rIns="36576" tIns="36576" bIns="36576">
            <a:spAutoFit/>
          </a:bodyPr>
          <a:lstStyle/>
          <a:p>
            <a:pPr>
              <a:lnSpc>
                <a:spcPct val="105000"/>
              </a:lnSpc>
            </a:pPr>
            <a:r>
              <a:rPr sz="2200" b="0" i="1" u="none">
                <a:solidFill>
                  <a:srgbClr val="1C2B3A"/>
                </a:solidFill>
                <a:latin typeface="Barlow"/>
              </a:rPr>
              <a:t>Rechtecke sind Entitätstypen, Rauten Beziehungstypen, Ellipsen Attribute, und unterstrichen sind die Schlüsselattribute. An den Kanten steht die Kardinalität: 1, n oder m. Eine Kardinalität rät man nicht, man begründet sie. Auch Beziehungstypen können Attribute haben – etwa den Grad, wie verdächtig eine Person in einem Fall ist. Gleich verbindet ihr Rollenkarten mit Fäden und lest die Kardinalität einfach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Der alte Bauplan aus dem Polizeiarchiv</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5</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393065"/>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Was sagt die </a:t>
            </a:r>
            <a:r>
              <a:rPr sz="1900" b="1" i="0" u="none">
                <a:solidFill>
                  <a:srgbClr val="1C2B3A"/>
                </a:solidFill>
                <a:latin typeface="Barlow"/>
              </a:rPr>
              <a:t>1</a:t>
            </a:r>
            <a:r>
              <a:rPr sz="1900" b="0" i="0" u="none">
                <a:solidFill>
                  <a:srgbClr val="1C2B3A"/>
                </a:solidFill>
                <a:latin typeface="Barlow"/>
              </a:rPr>
              <a:t> an der Kante bei Ermittler – und was die </a:t>
            </a:r>
            <a:r>
              <a:rPr sz="1900" b="1" i="0" u="none">
                <a:solidFill>
                  <a:srgbClr val="1C2B3A"/>
                </a:solidFill>
                <a:latin typeface="Barlow"/>
              </a:rPr>
              <a:t>n</a:t>
            </a:r>
            <a:r>
              <a:rPr sz="1900" b="0" i="0" u="none">
                <a:solidFill>
                  <a:srgbClr val="1C2B3A"/>
                </a:solidFill>
                <a:latin typeface="Barlow"/>
              </a:rPr>
              <a:t> bei Fall?</a:t>
            </a:r>
          </a:p>
        </p:txBody>
      </p:sp>
      <p:pic>
        <p:nvPicPr>
          <p:cNvPr id="10" name="Picture 9" descr="f140340854631328.png"/>
          <p:cNvPicPr>
            <a:picLocks noChangeAspect="1"/>
          </p:cNvPicPr>
          <p:nvPr/>
        </p:nvPicPr>
        <p:blipFill>
          <a:blip r:embed="rId3"/>
          <a:stretch>
            <a:fillRect/>
          </a:stretch>
        </p:blipFill>
        <p:spPr>
          <a:xfrm>
            <a:off x="1055847" y="2386457"/>
            <a:ext cx="10080000" cy="288264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Chen-Notation nach EH §7</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6</a:t>
            </a:r>
          </a:p>
        </p:txBody>
      </p:sp>
      <p:graphicFrame>
        <p:nvGraphicFramePr>
          <p:cNvPr id="8" name="Datentabelle"/>
          <p:cNvGraphicFramePr>
            <a:graphicFrameLocks noGrp="1"/>
          </p:cNvGraphicFramePr>
          <p:nvPr/>
        </p:nvGraphicFramePr>
        <p:xfrm>
          <a:off x="548640" y="1691640"/>
          <a:ext cx="11094415" cy="2007870"/>
        </p:xfrm>
        <a:graphic>
          <a:graphicData uri="http://schemas.openxmlformats.org/drawingml/2006/table">
            <a:tbl>
              <a:tblPr firstRow="1">
                <a:tableStyleId>{5C22544A-7EE6-4342-B048-85BDC9FD1C3A}</a:tableStyleId>
              </a:tblPr>
              <a:tblGrid>
                <a:gridCol w="2520000"/>
                <a:gridCol w="8574415"/>
              </a:tblGrid>
              <a:tr h="334645">
                <a:tc>
                  <a:txBody>
                    <a:bodyPr/>
                    <a:lstStyle/>
                    <a:p>
                      <a:r>
                        <a:rPr sz="1564" b="1" i="0" u="none">
                          <a:solidFill>
                            <a:srgbClr val="1C2B3A"/>
                          </a:solidFill>
                          <a:latin typeface="IBM Plex Mono"/>
                        </a:rPr>
                        <a:t>Fachbegriff</a:t>
                      </a:r>
                    </a:p>
                  </a:txBody>
                  <a:tcPr marL="54864" marR="54864" marT="18288" marB="18288">
                    <a:solidFill>
                      <a:srgbClr val="EBE2D2"/>
                    </a:solidFill>
                  </a:tcPr>
                </a:tc>
                <a:tc>
                  <a:txBody>
                    <a:bodyPr/>
                    <a:lstStyle/>
                    <a:p>
                      <a:r>
                        <a:rPr sz="1564" b="1" i="0" u="none">
                          <a:solidFill>
                            <a:srgbClr val="1C2B3A"/>
                          </a:solidFill>
                          <a:latin typeface="IBM Plex Mono"/>
                        </a:rPr>
                        <a:t>Bedeutung</a:t>
                      </a:r>
                    </a:p>
                  </a:txBody>
                  <a:tcPr marL="54864" marR="54864" marT="18288" marB="18288">
                    <a:solidFill>
                      <a:srgbClr val="EBE2D2"/>
                    </a:solidFill>
                  </a:tcPr>
                </a:tc>
              </a:tr>
              <a:tr h="334645">
                <a:tc>
                  <a:txBody>
                    <a:bodyPr/>
                    <a:lstStyle/>
                    <a:p>
                      <a:r>
                        <a:rPr sz="1700" b="0" i="0" u="none">
                          <a:solidFill>
                            <a:srgbClr val="1C2B3A"/>
                          </a:solidFill>
                          <a:latin typeface="Barlow"/>
                        </a:rPr>
                        <a:t>Rechteck</a:t>
                      </a:r>
                    </a:p>
                  </a:txBody>
                  <a:tcPr marL="54864" marR="54864" marT="18288" marB="18288">
                    <a:solidFill>
                      <a:srgbClr val="FFFDF8"/>
                    </a:solidFill>
                  </a:tcPr>
                </a:tc>
                <a:tc>
                  <a:txBody>
                    <a:bodyPr/>
                    <a:lstStyle/>
                    <a:p>
                      <a:r>
                        <a:rPr sz="1700" b="1" i="0" u="none">
                          <a:solidFill>
                            <a:srgbClr val="1C2B3A"/>
                          </a:solidFill>
                          <a:latin typeface="Barlow"/>
                        </a:rPr>
                        <a:t>Entitätstyp</a:t>
                      </a:r>
                      <a:r>
                        <a:rPr sz="1700" b="0" i="0" u="none">
                          <a:solidFill>
                            <a:srgbClr val="1C2B3A"/>
                          </a:solidFill>
                          <a:latin typeface="Barlow"/>
                        </a:rPr>
                        <a:t> – Singular: Ermittler, Fall</a:t>
                      </a:r>
                    </a:p>
                  </a:txBody>
                  <a:tcPr marL="54864" marR="54864" marT="18288" marB="18288">
                    <a:solidFill>
                      <a:srgbClr val="FFFDF8"/>
                    </a:solidFill>
                  </a:tcPr>
                </a:tc>
              </a:tr>
              <a:tr h="334645">
                <a:tc>
                  <a:txBody>
                    <a:bodyPr/>
                    <a:lstStyle/>
                    <a:p>
                      <a:r>
                        <a:rPr sz="1700" b="0" i="0" u="none">
                          <a:solidFill>
                            <a:srgbClr val="1C2B3A"/>
                          </a:solidFill>
                          <a:latin typeface="Barlow"/>
                        </a:rPr>
                        <a:t>Raute</a:t>
                      </a:r>
                    </a:p>
                  </a:txBody>
                  <a:tcPr marL="54864" marR="54864" marT="18288" marB="18288">
                    <a:solidFill>
                      <a:srgbClr val="FFFDF8"/>
                    </a:solidFill>
                  </a:tcPr>
                </a:tc>
                <a:tc>
                  <a:txBody>
                    <a:bodyPr/>
                    <a:lstStyle/>
                    <a:p>
                      <a:r>
                        <a:rPr sz="1700" b="1" i="0" u="none">
                          <a:solidFill>
                            <a:srgbClr val="1C2B3A"/>
                          </a:solidFill>
                          <a:latin typeface="Barlow"/>
                        </a:rPr>
                        <a:t>Beziehungstyp</a:t>
                      </a:r>
                      <a:r>
                        <a:rPr sz="1700" b="0" i="0" u="none">
                          <a:solidFill>
                            <a:srgbClr val="1C2B3A"/>
                          </a:solidFill>
                          <a:latin typeface="Barlow"/>
                        </a:rPr>
                        <a:t> – Verb in lowerCamelCase: </a:t>
                      </a:r>
                      <a:r>
                        <a:rPr sz="1700" b="0" i="1" u="none">
                          <a:solidFill>
                            <a:srgbClr val="1C2B3A"/>
                          </a:solidFill>
                          <a:latin typeface="Barlow"/>
                        </a:rPr>
                        <a:t>leitet</a:t>
                      </a:r>
                    </a:p>
                  </a:txBody>
                  <a:tcPr marL="54864" marR="54864" marT="18288" marB="18288">
                    <a:solidFill>
                      <a:srgbClr val="FFFDF8"/>
                    </a:solidFill>
                  </a:tcPr>
                </a:tc>
              </a:tr>
              <a:tr h="334645">
                <a:tc>
                  <a:txBody>
                    <a:bodyPr/>
                    <a:lstStyle/>
                    <a:p>
                      <a:r>
                        <a:rPr sz="1700" b="0" i="0" u="none">
                          <a:solidFill>
                            <a:srgbClr val="1C2B3A"/>
                          </a:solidFill>
                          <a:latin typeface="Barlow"/>
                        </a:rPr>
                        <a:t>Ellipse</a:t>
                      </a:r>
                    </a:p>
                  </a:txBody>
                  <a:tcPr marL="54864" marR="54864" marT="18288" marB="18288">
                    <a:solidFill>
                      <a:srgbClr val="FFFDF8"/>
                    </a:solidFill>
                  </a:tcPr>
                </a:tc>
                <a:tc>
                  <a:txBody>
                    <a:bodyPr/>
                    <a:lstStyle/>
                    <a:p>
                      <a:r>
                        <a:rPr sz="1700" b="1" i="0" u="none">
                          <a:solidFill>
                            <a:srgbClr val="1C2B3A"/>
                          </a:solidFill>
                          <a:latin typeface="Barlow"/>
                        </a:rPr>
                        <a:t>Attribut</a:t>
                      </a:r>
                      <a:r>
                        <a:rPr sz="1700" b="0" i="0" u="none">
                          <a:solidFill>
                            <a:srgbClr val="1C2B3A"/>
                          </a:solidFill>
                          <a:latin typeface="Barlow"/>
                        </a:rPr>
                        <a:t> – Name, Titel</a:t>
                      </a:r>
                    </a:p>
                  </a:txBody>
                  <a:tcPr marL="54864" marR="54864" marT="18288" marB="18288">
                    <a:solidFill>
                      <a:srgbClr val="FFFDF8"/>
                    </a:solidFill>
                  </a:tcPr>
                </a:tc>
              </a:tr>
              <a:tr h="334645">
                <a:tc>
                  <a:txBody>
                    <a:bodyPr/>
                    <a:lstStyle/>
                    <a:p>
                      <a:r>
                        <a:rPr sz="1700" b="0" i="0" u="none">
                          <a:solidFill>
                            <a:srgbClr val="1C2B3A"/>
                          </a:solidFill>
                          <a:latin typeface="Barlow"/>
                        </a:rPr>
                        <a:t>unterstrichene Ellipse</a:t>
                      </a:r>
                    </a:p>
                  </a:txBody>
                  <a:tcPr marL="54864" marR="54864" marT="18288" marB="18288">
                    <a:solidFill>
                      <a:srgbClr val="FFFDF8"/>
                    </a:solidFill>
                  </a:tcPr>
                </a:tc>
                <a:tc>
                  <a:txBody>
                    <a:bodyPr/>
                    <a:lstStyle/>
                    <a:p>
                      <a:r>
                        <a:rPr sz="1700" b="1" i="0" u="none">
                          <a:solidFill>
                            <a:srgbClr val="1C2B3A"/>
                          </a:solidFill>
                          <a:latin typeface="Barlow"/>
                        </a:rPr>
                        <a:t>Schlüsselattribut</a:t>
                      </a:r>
                      <a:r>
                        <a:rPr sz="1700" b="0" i="0" u="none">
                          <a:solidFill>
                            <a:srgbClr val="1C2B3A"/>
                          </a:solidFill>
                          <a:latin typeface="Barlow"/>
                        </a:rPr>
                        <a:t> – </a:t>
                      </a:r>
                      <a:r>
                        <a:rPr sz="1700" b="0" i="0" u="sng">
                          <a:solidFill>
                            <a:srgbClr val="1C2B3A"/>
                          </a:solidFill>
                          <a:latin typeface="Barlow"/>
                        </a:rPr>
                        <a:t>FallNr</a:t>
                      </a:r>
                    </a:p>
                  </a:txBody>
                  <a:tcPr marL="54864" marR="54864" marT="18288" marB="18288">
                    <a:solidFill>
                      <a:srgbClr val="FFFDF8"/>
                    </a:solidFill>
                  </a:tcPr>
                </a:tc>
              </a:tr>
              <a:tr h="334645">
                <a:tc>
                  <a:txBody>
                    <a:bodyPr/>
                    <a:lstStyle/>
                    <a:p>
                      <a:r>
                        <a:rPr sz="1700" b="0" i="0" u="none">
                          <a:solidFill>
                            <a:srgbClr val="1C2B3A"/>
                          </a:solidFill>
                          <a:latin typeface="Barlow"/>
                        </a:rPr>
                        <a:t>1 · n · m an der Kante</a:t>
                      </a:r>
                    </a:p>
                  </a:txBody>
                  <a:tcPr marL="54864" marR="54864" marT="18288" marB="18288">
                    <a:solidFill>
                      <a:srgbClr val="FFFDF8"/>
                    </a:solidFill>
                  </a:tcPr>
                </a:tc>
                <a:tc>
                  <a:txBody>
                    <a:bodyPr/>
                    <a:lstStyle/>
                    <a:p>
                      <a:r>
                        <a:rPr sz="1700" b="1" i="0" u="none">
                          <a:solidFill>
                            <a:srgbClr val="1C2B3A"/>
                          </a:solidFill>
                          <a:latin typeface="Barlow"/>
                        </a:rPr>
                        <a:t>Kardinalität</a:t>
                      </a:r>
                      <a:r>
                        <a:rPr sz="1700" b="0" i="0" u="none">
                          <a:solidFill>
                            <a:srgbClr val="1C2B3A"/>
                          </a:solidFill>
                          <a:latin typeface="Barlow"/>
                        </a:rPr>
                        <a:t> (ternär zusätzlich p)</a:t>
                      </a:r>
                    </a:p>
                  </a:txBody>
                  <a:tcPr marL="54864" marR="54864" marT="18288" marB="18288">
                    <a:solidFill>
                      <a:srgbClr val="FFFDF8"/>
                    </a:solidFill>
                  </a:tcPr>
                </a:tc>
              </a:tr>
            </a:tbl>
          </a:graphicData>
        </a:graphic>
      </p:graphicFrame>
      <p:sp>
        <p:nvSpPr>
          <p:cNvPr id="9" name="TextBox 8"/>
          <p:cNvSpPr txBox="1"/>
          <p:nvPr/>
        </p:nvSpPr>
        <p:spPr>
          <a:xfrm>
            <a:off x="548640" y="3882390"/>
            <a:ext cx="11094415" cy="662940"/>
          </a:xfrm>
          <a:prstGeom prst="rect">
            <a:avLst/>
          </a:prstGeom>
          <a:noFill/>
        </p:spPr>
        <p:txBody>
          <a:bodyPr wrap="square" anchor="t" lIns="36576" rIns="36576" tIns="36576" bIns="36576">
            <a:spAutoFit/>
          </a:bodyPr>
          <a:lstStyle/>
          <a:p>
            <a:pPr>
              <a:lnSpc>
                <a:spcPct val="105000"/>
              </a:lnSpc>
              <a:spcAft>
                <a:spcPts val="600"/>
              </a:spcAft>
            </a:pPr>
            <a:r>
              <a:rPr sz="1800" b="0" i="0" u="none">
                <a:solidFill>
                  <a:srgbClr val="E8E1D3"/>
                </a:solidFill>
                <a:latin typeface="Barlow"/>
              </a:rPr>
              <a:t>Entitätstyp = alle Fälle · Entität = ein einzelner Fall. Im Abitur: Entitätstyp, nicht „Entitätsmenge“; Schlüsselattribute werden im ER-Diagramm </a:t>
            </a:r>
            <a:r>
              <a:rPr sz="1800" b="1" i="0" u="none">
                <a:solidFill>
                  <a:srgbClr val="E8E1D3"/>
                </a:solidFill>
                <a:latin typeface="Barlow"/>
              </a:rPr>
              <a:t>immer</a:t>
            </a:r>
            <a:r>
              <a:rPr sz="1800" b="0" i="0" u="none">
                <a:solidFill>
                  <a:srgbClr val="E8E1D3"/>
                </a:solidFill>
                <a:latin typeface="Barlow"/>
              </a:rPr>
              <a:t> unterstrichen.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Kardinalitäten 1:1 · 1:n · n:m</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7</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folie_mengen.png"/>
          <p:cNvPicPr>
            <a:picLocks noChangeAspect="1"/>
          </p:cNvPicPr>
          <p:nvPr/>
        </p:nvPicPr>
        <p:blipFill>
          <a:blip r:embed="rId3"/>
          <a:stretch>
            <a:fillRect/>
          </a:stretch>
        </p:blipFill>
        <p:spPr>
          <a:xfrm>
            <a:off x="822959" y="1920240"/>
            <a:ext cx="10545775" cy="3195689"/>
          </a:xfrm>
          <a:prstGeom prst="rect">
            <a:avLst/>
          </a:prstGeom>
        </p:spPr>
      </p:pic>
      <p:sp>
        <p:nvSpPr>
          <p:cNvPr id="10" name="TextBox 9"/>
          <p:cNvSpPr txBox="1"/>
          <p:nvPr/>
        </p:nvSpPr>
        <p:spPr>
          <a:xfrm>
            <a:off x="822959" y="5207369"/>
            <a:ext cx="10545775" cy="690510"/>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Leseschablone – immer in </a:t>
            </a:r>
            <a:r>
              <a:rPr sz="1900" b="1" i="0" u="none">
                <a:solidFill>
                  <a:srgbClr val="1C2B3A"/>
                </a:solidFill>
                <a:latin typeface="Barlow"/>
              </a:rPr>
              <a:t>beide</a:t>
            </a:r>
            <a:r>
              <a:rPr sz="1900" b="0" i="0" u="none">
                <a:solidFill>
                  <a:srgbClr val="1C2B3A"/>
                </a:solidFill>
                <a:latin typeface="Barlow"/>
              </a:rPr>
              <a:t> Richtungen: „Ein Ermittler leitet mehrere Fälle; jeder Fall wird von genau einem Ermittler geleitet.“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Beispiel Schritt für Schritt: Kardinalität bestimmen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8</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f140340854621584.png"/>
          <p:cNvPicPr>
            <a:picLocks noChangeAspect="1"/>
          </p:cNvPicPr>
          <p:nvPr/>
        </p:nvPicPr>
        <p:blipFill>
          <a:blip r:embed="rId3"/>
          <a:stretch>
            <a:fillRect/>
          </a:stretch>
        </p:blipFill>
        <p:spPr>
          <a:xfrm>
            <a:off x="3035847" y="1920240"/>
            <a:ext cx="6120000" cy="1583912"/>
          </a:xfrm>
          <a:prstGeom prst="rect">
            <a:avLst/>
          </a:prstGeom>
        </p:spPr>
      </p:pic>
      <p:sp>
        <p:nvSpPr>
          <p:cNvPr id="10" name="TextBox 9"/>
          <p:cNvSpPr txBox="1"/>
          <p:nvPr/>
        </p:nvSpPr>
        <p:spPr>
          <a:xfrm>
            <a:off x="822959" y="3595592"/>
            <a:ext cx="10545775" cy="1490980"/>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1. Satz von links: „Ein Schüler besucht </a:t>
            </a:r>
            <a:r>
              <a:rPr sz="1900" b="1" i="0" u="none">
                <a:solidFill>
                  <a:srgbClr val="1C2B3A"/>
                </a:solidFill>
                <a:latin typeface="Barlow"/>
              </a:rPr>
              <a:t>genau eine</a:t>
            </a:r>
            <a:r>
              <a:rPr sz="1900" b="0" i="0" u="none">
                <a:solidFill>
                  <a:srgbClr val="1C2B3A"/>
                </a:solidFill>
                <a:latin typeface="Barlow"/>
              </a:rPr>
              <a:t> Klasse.“ → 1 an die Kante zu </a:t>
            </a:r>
            <a:r>
              <a:rPr sz="1900" b="1" i="0" u="none">
                <a:solidFill>
                  <a:srgbClr val="1C2B3A"/>
                </a:solidFill>
                <a:latin typeface="Barlow"/>
              </a:rPr>
              <a:t>Klasse</a:t>
            </a:r>
          </a:p>
          <a:p>
            <a:pPr>
              <a:lnSpc>
                <a:spcPct val="105000"/>
              </a:lnSpc>
              <a:spcAft>
                <a:spcPts val="600"/>
              </a:spcAft>
            </a:pPr>
            <a:r>
              <a:rPr sz="1900" b="0" i="0" u="none">
                <a:solidFill>
                  <a:srgbClr val="1C2B3A"/>
                </a:solidFill>
                <a:latin typeface="Barlow"/>
              </a:rPr>
              <a:t>2. Satz von rechts: „Eine Klasse wird von </a:t>
            </a:r>
            <a:r>
              <a:rPr sz="1900" b="1" i="0" u="none">
                <a:solidFill>
                  <a:srgbClr val="1C2B3A"/>
                </a:solidFill>
                <a:latin typeface="Barlow"/>
              </a:rPr>
              <a:t>mehreren</a:t>
            </a:r>
            <a:r>
              <a:rPr sz="1900" b="0" i="0" u="none">
                <a:solidFill>
                  <a:srgbClr val="1C2B3A"/>
                </a:solidFill>
                <a:latin typeface="Barlow"/>
              </a:rPr>
              <a:t> Schülern besucht.“ → n an die Kante zu </a:t>
            </a:r>
            <a:r>
              <a:rPr sz="1900" b="1" i="0" u="none">
                <a:solidFill>
                  <a:srgbClr val="1C2B3A"/>
                </a:solidFill>
                <a:latin typeface="Barlow"/>
              </a:rPr>
              <a:t>Schueler</a:t>
            </a:r>
          </a:p>
          <a:p>
            <a:pPr>
              <a:lnSpc>
                <a:spcPct val="105000"/>
              </a:lnSpc>
              <a:spcAft>
                <a:spcPts val="600"/>
              </a:spcAft>
            </a:pPr>
            <a:r>
              <a:rPr sz="1900" b="0" i="0" u="none">
                <a:solidFill>
                  <a:srgbClr val="1C2B3A"/>
                </a:solidFill>
                <a:latin typeface="Barlow"/>
              </a:rPr>
              <a:t>3. Ergebnis lesen: Schueler n : 1 Klasse</a:t>
            </a:r>
          </a:p>
          <a:p>
            <a:pPr>
              <a:lnSpc>
                <a:spcPct val="105000"/>
              </a:lnSpc>
              <a:spcAft>
                <a:spcPts val="600"/>
              </a:spcAft>
            </a:pPr>
            <a:r>
              <a:rPr sz="1900" b="0" i="0" u="none">
                <a:solidFill>
                  <a:srgbClr val="1C2B3A"/>
                </a:solidFill>
                <a:latin typeface="Barlow"/>
              </a:rPr>
              <a:t>4. Gegenprobe im Sachzusammenhang: Kann ein Schüler zwei Klassen besuchen? (Nein.)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Wo steht der Verdachtsgrad?</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9</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694690"/>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Person P3 ist in Fall F2 </a:t>
            </a:r>
            <a:r>
              <a:rPr sz="1900" b="0" i="1" u="none">
                <a:solidFill>
                  <a:srgbClr val="1C2B3A"/>
                </a:solidFill>
                <a:latin typeface="Barlow"/>
              </a:rPr>
              <a:t>hoch</a:t>
            </a:r>
            <a:r>
              <a:rPr sz="1900" b="0" i="0" u="none">
                <a:solidFill>
                  <a:srgbClr val="1C2B3A"/>
                </a:solidFill>
                <a:latin typeface="Barlow"/>
              </a:rPr>
              <a:t>, in Fall F5 </a:t>
            </a:r>
            <a:r>
              <a:rPr sz="1900" b="0" i="1" u="none">
                <a:solidFill>
                  <a:srgbClr val="1C2B3A"/>
                </a:solidFill>
                <a:latin typeface="Barlow"/>
              </a:rPr>
              <a:t>gering</a:t>
            </a:r>
            <a:r>
              <a:rPr sz="1900" b="0" i="0" u="none">
                <a:solidFill>
                  <a:srgbClr val="1C2B3A"/>
                </a:solidFill>
                <a:latin typeface="Barlow"/>
              </a:rPr>
              <a:t> verdächtig → der Grad hängt vom </a:t>
            </a:r>
            <a:r>
              <a:rPr sz="1900" b="1" i="0" u="none">
                <a:solidFill>
                  <a:srgbClr val="1C2B3A"/>
                </a:solidFill>
                <a:latin typeface="Barlow"/>
              </a:rPr>
              <a:t>Paar</a:t>
            </a:r>
            <a:r>
              <a:rPr sz="1900" b="0" i="0" u="none">
                <a:solidFill>
                  <a:srgbClr val="1C2B3A"/>
                </a:solidFill>
                <a:latin typeface="Barlow"/>
              </a:rPr>
              <a:t> ab → Attribut am Beziehungstyp.</a:t>
            </a:r>
          </a:p>
        </p:txBody>
      </p:sp>
      <p:pic>
        <p:nvPicPr>
          <p:cNvPr id="10" name="Picture 9" descr="f140340854620576.png"/>
          <p:cNvPicPr>
            <a:picLocks noChangeAspect="1"/>
          </p:cNvPicPr>
          <p:nvPr/>
        </p:nvPicPr>
        <p:blipFill>
          <a:blip r:embed="rId3"/>
          <a:stretch>
            <a:fillRect/>
          </a:stretch>
        </p:blipFill>
        <p:spPr>
          <a:xfrm>
            <a:off x="2094745" y="2688082"/>
            <a:ext cx="8002204" cy="3209797"/>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Daten stützen die Kardinalität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10</a:t>
            </a:r>
          </a:p>
        </p:txBody>
      </p:sp>
      <p:sp>
        <p:nvSpPr>
          <p:cNvPr id="8" name="SQL-Hintergrund"/>
          <p:cNvSpPr/>
          <p:nvPr/>
        </p:nvSpPr>
        <p:spPr>
          <a:xfrm>
            <a:off x="548640" y="1691640"/>
            <a:ext cx="6101928" cy="14630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QL"/>
          <p:cNvSpPr txBox="1"/>
          <p:nvPr/>
        </p:nvSpPr>
        <p:spPr>
          <a:xfrm>
            <a:off x="731520" y="1828800"/>
            <a:ext cx="5736168" cy="1188720"/>
          </a:xfrm>
          <a:prstGeom prst="rect">
            <a:avLst/>
          </a:prstGeom>
          <a:noFill/>
        </p:spPr>
        <p:txBody>
          <a:bodyPr wrap="square" lIns="18288" rIns="18288" tIns="18288" bIns="18288">
            <a:spAutoFit/>
          </a:bodyPr>
          <a:lstStyle/>
          <a:p>
            <a:pPr>
              <a:lnSpc>
                <a:spcPct val="100000"/>
              </a:lnSpc>
            </a:pPr>
            <a:r>
              <a:rPr sz="1800" i="0">
                <a:solidFill>
                  <a:srgbClr val="F2A65A"/>
                </a:solidFill>
                <a:latin typeface="IBM Plex Mono"/>
              </a:rPr>
              <a:t>SELECT</a:t>
            </a:r>
            <a:r>
              <a:rPr sz="1800" i="0">
                <a:solidFill>
                  <a:srgbClr val="D8E3D0"/>
                </a:solidFill>
                <a:latin typeface="IBM Plex Mono"/>
              </a:rPr>
              <a:t> </a:t>
            </a:r>
            <a:r>
              <a:rPr sz="1800" i="0">
                <a:solidFill>
                  <a:srgbClr val="D8E3D0"/>
                </a:solidFill>
                <a:latin typeface="IBM Plex Mono"/>
              </a:rPr>
              <a:t>FallNr</a:t>
            </a:r>
            <a:r>
              <a:rPr sz="1800" i="0">
                <a:solidFill>
                  <a:srgbClr val="D8E3D0"/>
                </a:solidFill>
                <a:latin typeface="IBM Plex Mono"/>
              </a:rPr>
              <a:t>,</a:t>
            </a:r>
            <a:r>
              <a:rPr sz="1800" i="0">
                <a:solidFill>
                  <a:srgbClr val="D8E3D0"/>
                </a:solidFill>
                <a:latin typeface="IBM Plex Mono"/>
              </a:rPr>
              <a:t> </a:t>
            </a:r>
            <a:r>
              <a:rPr sz="1800" i="0">
                <a:solidFill>
                  <a:srgbClr val="E6C77A"/>
                </a:solidFill>
                <a:latin typeface="IBM Plex Mono"/>
              </a:rPr>
              <a:t>COUNT</a:t>
            </a:r>
            <a:r>
              <a:rPr sz="1800" i="0">
                <a:solidFill>
                  <a:srgbClr val="D8E3D0"/>
                </a:solidFill>
                <a:latin typeface="IBM Plex Mono"/>
              </a:rPr>
              <a:t>(</a:t>
            </a:r>
            <a:r>
              <a:rPr sz="1800" i="0">
                <a:solidFill>
                  <a:srgbClr val="D8E3D0"/>
                </a:solidFill>
                <a:latin typeface="IBM Plex Mono"/>
              </a:rPr>
              <a:t>*</a:t>
            </a:r>
            <a:r>
              <a:rPr sz="1800" i="0">
                <a:solidFill>
                  <a:srgbClr val="D8E3D0"/>
                </a:solidFill>
                <a:latin typeface="IBM Plex Mono"/>
              </a:rPr>
              <a:t>)</a:t>
            </a:r>
            <a:r>
              <a:rPr sz="1800" i="0">
                <a:solidFill>
                  <a:srgbClr val="D8E3D0"/>
                </a:solidFill>
                <a:latin typeface="IBM Plex Mono"/>
              </a:rPr>
              <a:t> </a:t>
            </a:r>
            <a:r>
              <a:rPr sz="1800" i="0">
                <a:solidFill>
                  <a:srgbClr val="F2A65A"/>
                </a:solidFill>
                <a:latin typeface="IBM Plex Mono"/>
              </a:rPr>
              <a:t>AS</a:t>
            </a:r>
            <a:r>
              <a:rPr sz="1800" i="0">
                <a:solidFill>
                  <a:srgbClr val="D8E3D0"/>
                </a:solidFill>
                <a:latin typeface="IBM Plex Mono"/>
              </a:rPr>
              <a:t> </a:t>
            </a:r>
            <a:r>
              <a:rPr sz="1800" i="0">
                <a:solidFill>
                  <a:srgbClr val="D8E3D0"/>
                </a:solidFill>
                <a:latin typeface="IBM Plex Mono"/>
              </a:rPr>
              <a:t>Verdaechtige</a:t>
            </a:r>
          </a:p>
          <a:p>
            <a:pPr>
              <a:lnSpc>
                <a:spcPct val="100000"/>
              </a:lnSpc>
            </a:pPr>
            <a:r>
              <a:rPr sz="1800" i="0">
                <a:solidFill>
                  <a:srgbClr val="F2A65A"/>
                </a:solidFill>
                <a:latin typeface="IBM Plex Mono"/>
              </a:rPr>
              <a:t>FROM</a:t>
            </a:r>
            <a:r>
              <a:rPr sz="1800" i="0">
                <a:solidFill>
                  <a:srgbClr val="D8E3D0"/>
                </a:solidFill>
                <a:latin typeface="IBM Plex Mono"/>
              </a:rPr>
              <a:t> </a:t>
            </a:r>
            <a:r>
              <a:rPr sz="1800" i="0">
                <a:solidFill>
                  <a:srgbClr val="D8E3D0"/>
                </a:solidFill>
                <a:latin typeface="IBM Plex Mono"/>
              </a:rPr>
              <a:t>verdaechtig</a:t>
            </a:r>
          </a:p>
          <a:p>
            <a:pPr>
              <a:lnSpc>
                <a:spcPct val="100000"/>
              </a:lnSpc>
            </a:pPr>
            <a:r>
              <a:rPr sz="1800" i="0">
                <a:solidFill>
                  <a:srgbClr val="F2A65A"/>
                </a:solidFill>
                <a:latin typeface="IBM Plex Mono"/>
              </a:rPr>
              <a:t>GROUP</a:t>
            </a:r>
            <a:r>
              <a:rPr sz="1800" i="0">
                <a:solidFill>
                  <a:srgbClr val="D8E3D0"/>
                </a:solidFill>
                <a:latin typeface="IBM Plex Mono"/>
              </a:rPr>
              <a:t> </a:t>
            </a:r>
            <a:r>
              <a:rPr sz="1800" i="0">
                <a:solidFill>
                  <a:srgbClr val="F2A65A"/>
                </a:solidFill>
                <a:latin typeface="IBM Plex Mono"/>
              </a:rPr>
              <a:t>BY</a:t>
            </a:r>
            <a:r>
              <a:rPr sz="1800" i="0">
                <a:solidFill>
                  <a:srgbClr val="D8E3D0"/>
                </a:solidFill>
                <a:latin typeface="IBM Plex Mono"/>
              </a:rPr>
              <a:t> </a:t>
            </a:r>
            <a:r>
              <a:rPr sz="1800" i="0">
                <a:solidFill>
                  <a:srgbClr val="D8E3D0"/>
                </a:solidFill>
                <a:latin typeface="IBM Plex Mono"/>
              </a:rPr>
              <a:t>FallNr</a:t>
            </a:r>
          </a:p>
          <a:p>
            <a:pPr>
              <a:lnSpc>
                <a:spcPct val="100000"/>
              </a:lnSpc>
            </a:pPr>
            <a:r>
              <a:rPr sz="1800" i="0">
                <a:solidFill>
                  <a:srgbClr val="F2A65A"/>
                </a:solidFill>
                <a:latin typeface="IBM Plex Mono"/>
              </a:rPr>
              <a:t>HAVING</a:t>
            </a:r>
            <a:r>
              <a:rPr sz="1800" i="0">
                <a:solidFill>
                  <a:srgbClr val="D8E3D0"/>
                </a:solidFill>
                <a:latin typeface="IBM Plex Mono"/>
              </a:rPr>
              <a:t> </a:t>
            </a:r>
            <a:r>
              <a:rPr sz="1800" i="0">
                <a:solidFill>
                  <a:srgbClr val="E6C77A"/>
                </a:solidFill>
                <a:latin typeface="IBM Plex Mono"/>
              </a:rPr>
              <a:t>COUNT</a:t>
            </a:r>
            <a:r>
              <a:rPr sz="1800" i="0">
                <a:solidFill>
                  <a:srgbClr val="D8E3D0"/>
                </a:solidFill>
                <a:latin typeface="IBM Plex Mono"/>
              </a:rPr>
              <a:t>(</a:t>
            </a:r>
            <a:r>
              <a:rPr sz="1800" i="0">
                <a:solidFill>
                  <a:srgbClr val="D8E3D0"/>
                </a:solidFill>
                <a:latin typeface="IBM Plex Mono"/>
              </a:rPr>
              <a:t>*</a:t>
            </a:r>
            <a:r>
              <a:rPr sz="1800" i="0">
                <a:solidFill>
                  <a:srgbClr val="D8E3D0"/>
                </a:solidFill>
                <a:latin typeface="IBM Plex Mono"/>
              </a:rPr>
              <a:t>)</a:t>
            </a:r>
            <a:r>
              <a:rPr sz="1800" i="0">
                <a:solidFill>
                  <a:srgbClr val="D8E3D0"/>
                </a:solidFill>
                <a:latin typeface="IBM Plex Mono"/>
              </a:rPr>
              <a:t> </a:t>
            </a:r>
            <a:r>
              <a:rPr sz="1800" i="0">
                <a:solidFill>
                  <a:srgbClr val="D8E3D0"/>
                </a:solidFill>
                <a:latin typeface="IBM Plex Mono"/>
              </a:rPr>
              <a:t>&gt;</a:t>
            </a:r>
            <a:r>
              <a:rPr sz="1800" i="0">
                <a:solidFill>
                  <a:srgbClr val="D8E3D0"/>
                </a:solidFill>
                <a:latin typeface="IBM Plex Mono"/>
              </a:rPr>
              <a:t> </a:t>
            </a:r>
            <a:r>
              <a:rPr sz="1800" i="0">
                <a:solidFill>
                  <a:srgbClr val="8CC4FF"/>
                </a:solidFill>
                <a:latin typeface="IBM Plex Mono"/>
              </a:rPr>
              <a:t>1</a:t>
            </a:r>
            <a:r>
              <a:rPr sz="1800" i="0">
                <a:solidFill>
                  <a:srgbClr val="D8E3D0"/>
                </a:solidFill>
                <a:latin typeface="IBM Plex Mono"/>
              </a:rPr>
              <a:t>;</a:t>
            </a:r>
          </a:p>
        </p:txBody>
      </p:sp>
      <p:sp>
        <p:nvSpPr>
          <p:cNvPr id="10" name="TextBox 9"/>
          <p:cNvSpPr txBox="1"/>
          <p:nvPr/>
        </p:nvSpPr>
        <p:spPr>
          <a:xfrm>
            <a:off x="548640" y="3246120"/>
            <a:ext cx="6101928" cy="274320"/>
          </a:xfrm>
          <a:prstGeom prst="rect">
            <a:avLst/>
          </a:prstGeom>
          <a:noFill/>
        </p:spPr>
        <p:txBody>
          <a:bodyPr wrap="square" anchor="t" lIns="36576" rIns="36576" tIns="36576" bIns="36576">
            <a:spAutoFit/>
          </a:bodyPr>
          <a:lstStyle/>
          <a:p>
            <a:pPr>
              <a:lnSpc>
                <a:spcPct val="105000"/>
              </a:lnSpc>
            </a:pPr>
            <a:r>
              <a:rPr sz="1000" b="1" i="0" u="none" spc="120">
                <a:solidFill>
                  <a:srgbClr val="D4B062"/>
                </a:solidFill>
                <a:latin typeface="IBM Plex Mono"/>
              </a:rPr>
              <a:t>ERGEBNIS</a:t>
            </a:r>
          </a:p>
        </p:txBody>
      </p:sp>
      <p:graphicFrame>
        <p:nvGraphicFramePr>
          <p:cNvPr id="11" name="Ergebnistabelle"/>
          <p:cNvGraphicFramePr>
            <a:graphicFrameLocks noGrp="1"/>
          </p:cNvGraphicFramePr>
          <p:nvPr/>
        </p:nvGraphicFramePr>
        <p:xfrm>
          <a:off x="548640" y="3566160"/>
          <a:ext cx="2367381" cy="1791335"/>
        </p:xfrm>
        <a:graphic>
          <a:graphicData uri="http://schemas.openxmlformats.org/drawingml/2006/table">
            <a:tbl>
              <a:tblPr firstRow="1">
                <a:tableStyleId>{5C22544A-7EE6-4342-B048-85BDC9FD1C3A}</a:tableStyleId>
              </a:tblPr>
              <a:tblGrid>
                <a:gridCol w="880567"/>
                <a:gridCol w="1486814"/>
              </a:tblGrid>
              <a:tr h="255905">
                <a:tc>
                  <a:txBody>
                    <a:bodyPr/>
                    <a:lstStyle/>
                    <a:p>
                      <a:r>
                        <a:rPr sz="1196" b="1" i="0" u="none">
                          <a:solidFill>
                            <a:srgbClr val="1C2B3A"/>
                          </a:solidFill>
                          <a:latin typeface="IBM Plex Mono"/>
                        </a:rPr>
                        <a:t>FallNr</a:t>
                      </a:r>
                    </a:p>
                  </a:txBody>
                  <a:tcPr marL="54864" marR="54864" marT="18288" marB="18288">
                    <a:solidFill>
                      <a:srgbClr val="EBE2D2"/>
                    </a:solidFill>
                  </a:tcPr>
                </a:tc>
                <a:tc>
                  <a:txBody>
                    <a:bodyPr/>
                    <a:lstStyle/>
                    <a:p>
                      <a:r>
                        <a:rPr sz="1196" b="1" i="0" u="none">
                          <a:solidFill>
                            <a:srgbClr val="1C2B3A"/>
                          </a:solidFill>
                          <a:latin typeface="IBM Plex Mono"/>
                        </a:rPr>
                        <a:t>Verdaechtige</a:t>
                      </a:r>
                    </a:p>
                  </a:txBody>
                  <a:tcPr marL="54864" marR="54864" marT="18288" marB="18288">
                    <a:solidFill>
                      <a:srgbClr val="EBE2D2"/>
                    </a:solidFill>
                  </a:tcPr>
                </a:tc>
              </a:tr>
              <a:tr h="255905">
                <a:tc>
                  <a:txBody>
                    <a:bodyPr/>
                    <a:lstStyle/>
                    <a:p>
                      <a:pPr algn="r"/>
                      <a:r>
                        <a:rPr sz="1300" b="0" i="0" u="none">
                          <a:solidFill>
                            <a:srgbClr val="1C2B3A"/>
                          </a:solidFill>
                          <a:latin typeface="Barlow"/>
                        </a:rPr>
                        <a:t>1</a:t>
                      </a:r>
                    </a:p>
                  </a:txBody>
                  <a:tcPr marL="54864" marR="54864" marT="18288" marB="18288">
                    <a:solidFill>
                      <a:srgbClr val="FFFDF8"/>
                    </a:solidFill>
                  </a:tcPr>
                </a:tc>
                <a:tc>
                  <a:txBody>
                    <a:bodyPr/>
                    <a:lstStyle/>
                    <a:p>
                      <a:pPr algn="r"/>
                      <a:r>
                        <a:rPr sz="1300" b="0" i="0" u="none">
                          <a:solidFill>
                            <a:srgbClr val="1C2B3A"/>
                          </a:solidFill>
                          <a:latin typeface="Barlow"/>
                        </a:rPr>
                        <a:t>2</a:t>
                      </a:r>
                    </a:p>
                  </a:txBody>
                  <a:tcPr marL="54864" marR="54864" marT="18288" marB="18288">
                    <a:solidFill>
                      <a:srgbClr val="FFFDF8"/>
                    </a:solidFill>
                  </a:tcPr>
                </a:tc>
              </a:tr>
              <a:tr h="255905">
                <a:tc>
                  <a:txBody>
                    <a:bodyPr/>
                    <a:lstStyle/>
                    <a:p>
                      <a:pPr algn="r"/>
                      <a:r>
                        <a:rPr sz="1300" b="0" i="0" u="none">
                          <a:solidFill>
                            <a:srgbClr val="1C2B3A"/>
                          </a:solidFill>
                          <a:latin typeface="Barlow"/>
                        </a:rPr>
                        <a:t>2</a:t>
                      </a:r>
                    </a:p>
                  </a:txBody>
                  <a:tcPr marL="54864" marR="54864" marT="18288" marB="18288">
                    <a:solidFill>
                      <a:srgbClr val="FFFDF8"/>
                    </a:solidFill>
                  </a:tcPr>
                </a:tc>
                <a:tc>
                  <a:txBody>
                    <a:bodyPr/>
                    <a:lstStyle/>
                    <a:p>
                      <a:pPr algn="r"/>
                      <a:r>
                        <a:rPr sz="1300" b="0" i="0" u="none">
                          <a:solidFill>
                            <a:srgbClr val="1C2B3A"/>
                          </a:solidFill>
                          <a:latin typeface="Barlow"/>
                        </a:rPr>
                        <a:t>2</a:t>
                      </a:r>
                    </a:p>
                  </a:txBody>
                  <a:tcPr marL="54864" marR="54864" marT="18288" marB="18288">
                    <a:solidFill>
                      <a:srgbClr val="FFFDF8"/>
                    </a:solidFill>
                  </a:tcPr>
                </a:tc>
              </a:tr>
              <a:tr h="255905">
                <a:tc>
                  <a:txBody>
                    <a:bodyPr/>
                    <a:lstStyle/>
                    <a:p>
                      <a:pPr algn="r"/>
                      <a:r>
                        <a:rPr sz="1300" b="0" i="0" u="none">
                          <a:solidFill>
                            <a:srgbClr val="1C2B3A"/>
                          </a:solidFill>
                          <a:latin typeface="Barlow"/>
                        </a:rPr>
                        <a:t>3</a:t>
                      </a:r>
                    </a:p>
                  </a:txBody>
                  <a:tcPr marL="54864" marR="54864" marT="18288" marB="18288">
                    <a:solidFill>
                      <a:srgbClr val="FFFDF8"/>
                    </a:solidFill>
                  </a:tcPr>
                </a:tc>
                <a:tc>
                  <a:txBody>
                    <a:bodyPr/>
                    <a:lstStyle/>
                    <a:p>
                      <a:pPr algn="r"/>
                      <a:r>
                        <a:rPr sz="1300" b="0" i="0" u="none">
                          <a:solidFill>
                            <a:srgbClr val="1C2B3A"/>
                          </a:solidFill>
                          <a:latin typeface="Barlow"/>
                        </a:rPr>
                        <a:t>2</a:t>
                      </a:r>
                    </a:p>
                  </a:txBody>
                  <a:tcPr marL="54864" marR="54864" marT="18288" marB="18288">
                    <a:solidFill>
                      <a:srgbClr val="FFFDF8"/>
                    </a:solidFill>
                  </a:tcPr>
                </a:tc>
              </a:tr>
              <a:tr h="255905">
                <a:tc>
                  <a:txBody>
                    <a:bodyPr/>
                    <a:lstStyle/>
                    <a:p>
                      <a:pPr algn="r"/>
                      <a:r>
                        <a:rPr sz="1300" b="0" i="0" u="none">
                          <a:solidFill>
                            <a:srgbClr val="1C2B3A"/>
                          </a:solidFill>
                          <a:latin typeface="Barlow"/>
                        </a:rPr>
                        <a:t>4</a:t>
                      </a:r>
                    </a:p>
                  </a:txBody>
                  <a:tcPr marL="54864" marR="54864" marT="18288" marB="18288">
                    <a:solidFill>
                      <a:srgbClr val="FFFDF8"/>
                    </a:solidFill>
                  </a:tcPr>
                </a:tc>
                <a:tc>
                  <a:txBody>
                    <a:bodyPr/>
                    <a:lstStyle/>
                    <a:p>
                      <a:pPr algn="r"/>
                      <a:r>
                        <a:rPr sz="1300" b="0" i="0" u="none">
                          <a:solidFill>
                            <a:srgbClr val="1C2B3A"/>
                          </a:solidFill>
                          <a:latin typeface="Barlow"/>
                        </a:rPr>
                        <a:t>2</a:t>
                      </a:r>
                    </a:p>
                  </a:txBody>
                  <a:tcPr marL="54864" marR="54864" marT="18288" marB="18288">
                    <a:solidFill>
                      <a:srgbClr val="FFFDF8"/>
                    </a:solidFill>
                  </a:tcPr>
                </a:tc>
              </a:tr>
              <a:tr h="255905">
                <a:tc>
                  <a:txBody>
                    <a:bodyPr/>
                    <a:lstStyle/>
                    <a:p>
                      <a:pPr algn="r"/>
                      <a:r>
                        <a:rPr sz="1300" b="0" i="0" u="none">
                          <a:solidFill>
                            <a:srgbClr val="1C2B3A"/>
                          </a:solidFill>
                          <a:latin typeface="Barlow"/>
                        </a:rPr>
                        <a:t>5</a:t>
                      </a:r>
                    </a:p>
                  </a:txBody>
                  <a:tcPr marL="54864" marR="54864" marT="18288" marB="18288">
                    <a:solidFill>
                      <a:srgbClr val="FFFDF8"/>
                    </a:solidFill>
                  </a:tcPr>
                </a:tc>
                <a:tc>
                  <a:txBody>
                    <a:bodyPr/>
                    <a:lstStyle/>
                    <a:p>
                      <a:pPr algn="r"/>
                      <a:r>
                        <a:rPr sz="1300" b="0" i="0" u="none">
                          <a:solidFill>
                            <a:srgbClr val="1C2B3A"/>
                          </a:solidFill>
                          <a:latin typeface="Barlow"/>
                        </a:rPr>
                        <a:t>2</a:t>
                      </a:r>
                    </a:p>
                  </a:txBody>
                  <a:tcPr marL="54864" marR="54864" marT="18288" marB="18288">
                    <a:solidFill>
                      <a:srgbClr val="FFFDF8"/>
                    </a:solidFill>
                  </a:tcPr>
                </a:tc>
              </a:tr>
              <a:tr h="255905">
                <a:tc>
                  <a:txBody>
                    <a:bodyPr/>
                    <a:lstStyle/>
                    <a:p>
                      <a:r>
                        <a:rPr sz="1300" b="0" i="0" u="none">
                          <a:solidFill>
                            <a:srgbClr val="1C2B3A"/>
                          </a:solidFill>
                          <a:latin typeface="Barlow"/>
                        </a:rPr>
                        <a:t>…</a:t>
                      </a:r>
                    </a:p>
                  </a:txBody>
                  <a:tcPr marL="54864" marR="54864" marT="18288" marB="18288">
                    <a:solidFill>
                      <a:srgbClr val="FFFDF8"/>
                    </a:solidFill>
                  </a:tcPr>
                </a:tc>
                <a:tc>
                  <a:txBody>
                    <a:bodyPr/>
                    <a:lstStyle/>
                    <a:p>
                      <a:r>
                        <a:rPr sz="1300" b="0" i="0" u="none">
                          <a:solidFill>
                            <a:srgbClr val="1C2B3A"/>
                          </a:solidFill>
                          <a:latin typeface="Barlow"/>
                        </a:rPr>
                        <a:t>…</a:t>
                      </a:r>
                    </a:p>
                  </a:txBody>
                  <a:tcPr marL="54864" marR="54864" marT="18288" marB="18288">
                    <a:solidFill>
                      <a:srgbClr val="FFFDF8"/>
                    </a:solidFill>
                  </a:tcPr>
                </a:tc>
              </a:tr>
            </a:tbl>
          </a:graphicData>
        </a:graphic>
      </p:graphicFrame>
      <p:sp>
        <p:nvSpPr>
          <p:cNvPr id="12" name="Rounded Rectangle 11"/>
          <p:cNvSpPr/>
          <p:nvPr/>
        </p:nvSpPr>
        <p:spPr>
          <a:xfrm>
            <a:off x="6924888" y="169164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924888" y="169164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062048" y="176479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1</a:t>
            </a:r>
          </a:p>
        </p:txBody>
      </p:sp>
      <p:sp>
        <p:nvSpPr>
          <p:cNvPr id="15" name="TextBox 14"/>
          <p:cNvSpPr txBox="1"/>
          <p:nvPr/>
        </p:nvSpPr>
        <p:spPr>
          <a:xfrm>
            <a:off x="7519248" y="1764792"/>
            <a:ext cx="3986646" cy="64719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FROM</a:t>
            </a:r>
            <a:r>
              <a:rPr sz="1600" b="0" i="0" u="none">
                <a:solidFill>
                  <a:srgbClr val="1C2B3A"/>
                </a:solidFill>
                <a:latin typeface="Barlow"/>
              </a:rPr>
              <a:t> – die Beziehungstabelle verdaechtig(PersonNr, FallNr, Grad)</a:t>
            </a:r>
          </a:p>
        </p:txBody>
      </p:sp>
      <p:sp>
        <p:nvSpPr>
          <p:cNvPr id="16" name="Rounded Rectangle 15"/>
          <p:cNvSpPr/>
          <p:nvPr/>
        </p:nvSpPr>
        <p:spPr>
          <a:xfrm>
            <a:off x="6924888" y="2585720"/>
            <a:ext cx="4718166" cy="6858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924888" y="2585720"/>
            <a:ext cx="73152" cy="68580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62048" y="265887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2</a:t>
            </a:r>
          </a:p>
        </p:txBody>
      </p:sp>
      <p:sp>
        <p:nvSpPr>
          <p:cNvPr id="19" name="TextBox 18"/>
          <p:cNvSpPr txBox="1"/>
          <p:nvPr/>
        </p:nvSpPr>
        <p:spPr>
          <a:xfrm>
            <a:off x="7519248" y="2658872"/>
            <a:ext cx="3986646" cy="57607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GROUP BY</a:t>
            </a:r>
            <a:r>
              <a:rPr sz="1600" b="0" i="0" u="none">
                <a:solidFill>
                  <a:srgbClr val="1C2B3A"/>
                </a:solidFill>
                <a:latin typeface="Barlow"/>
              </a:rPr>
              <a:t> – eine Gruppe je Fall</a:t>
            </a:r>
          </a:p>
        </p:txBody>
      </p:sp>
      <p:sp>
        <p:nvSpPr>
          <p:cNvPr id="20" name="Rounded Rectangle 19"/>
          <p:cNvSpPr/>
          <p:nvPr/>
        </p:nvSpPr>
        <p:spPr>
          <a:xfrm>
            <a:off x="6924888" y="340868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924888" y="340868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062048" y="348183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3</a:t>
            </a:r>
          </a:p>
        </p:txBody>
      </p:sp>
      <p:sp>
        <p:nvSpPr>
          <p:cNvPr id="23" name="TextBox 22"/>
          <p:cNvSpPr txBox="1"/>
          <p:nvPr/>
        </p:nvSpPr>
        <p:spPr>
          <a:xfrm>
            <a:off x="7519248" y="3481832"/>
            <a:ext cx="3986646" cy="64719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HAVING</a:t>
            </a:r>
            <a:r>
              <a:rPr sz="1600" b="0" i="0" u="none">
                <a:solidFill>
                  <a:srgbClr val="1C2B3A"/>
                </a:solidFill>
                <a:latin typeface="Barlow"/>
              </a:rPr>
              <a:t> – nur Fälle mit mehr als einer verdächtigen Person</a:t>
            </a:r>
          </a:p>
        </p:txBody>
      </p:sp>
      <p:sp>
        <p:nvSpPr>
          <p:cNvPr id="24" name="Rounded Rectangle 23"/>
          <p:cNvSpPr/>
          <p:nvPr/>
        </p:nvSpPr>
        <p:spPr>
          <a:xfrm>
            <a:off x="6924888" y="4302760"/>
            <a:ext cx="4718166" cy="102108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924888" y="4302760"/>
            <a:ext cx="73152" cy="102108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62048" y="437591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4</a:t>
            </a:r>
          </a:p>
        </p:txBody>
      </p:sp>
      <p:sp>
        <p:nvSpPr>
          <p:cNvPr id="27" name="TextBox 26"/>
          <p:cNvSpPr txBox="1"/>
          <p:nvPr/>
        </p:nvSpPr>
        <p:spPr>
          <a:xfrm>
            <a:off x="7519248" y="4375912"/>
            <a:ext cx="3986646" cy="911352"/>
          </a:xfrm>
          <a:prstGeom prst="rect">
            <a:avLst/>
          </a:prstGeom>
          <a:noFill/>
        </p:spPr>
        <p:txBody>
          <a:bodyPr wrap="square" anchor="ctr" lIns="36576" rIns="36576" tIns="36576" bIns="36576">
            <a:spAutoFit/>
          </a:bodyPr>
          <a:lstStyle/>
          <a:p>
            <a:pPr>
              <a:lnSpc>
                <a:spcPct val="105000"/>
              </a:lnSpc>
            </a:pPr>
            <a:r>
              <a:rPr sz="1600" b="0" i="0" u="none">
                <a:solidFill>
                  <a:srgbClr val="1C2B3A"/>
                </a:solidFill>
                <a:latin typeface="Barlow"/>
              </a:rPr>
              <a:t>Ergebnis: Ein Fall – mehrere Personen. Die andere Richtung prüft ihr im Lab (A5-E1-08).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Fäden-Kardinalitäten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11</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F6B4F"/>
                </a:solidFill>
                <a:latin typeface="IBM Plex Mono"/>
              </a:rPr>
              <a:t>UNPLUGGED · 15 MIN · MATERIAL: ROLLENKARTEN, WOLLFÄDEN, ETIKETTEN</a:t>
            </a:r>
          </a:p>
        </p:txBody>
      </p:sp>
      <p:sp>
        <p:nvSpPr>
          <p:cNvPr id="10" name="TextBox 9"/>
          <p:cNvSpPr txBox="1"/>
          <p:nvPr/>
        </p:nvSpPr>
        <p:spPr>
          <a:xfrm>
            <a:off x="822959" y="2194560"/>
            <a:ext cx="10545775" cy="1840864"/>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1. </a:t>
            </a:r>
            <a:r>
              <a:rPr sz="1900" b="1" i="0" u="none">
                <a:solidFill>
                  <a:srgbClr val="1C2B3A"/>
                </a:solidFill>
                <a:latin typeface="Barlow"/>
              </a:rPr>
              <a:t>1:n</a:t>
            </a:r>
            <a:r>
              <a:rPr sz="1900" b="0" i="0" u="none">
                <a:solidFill>
                  <a:srgbClr val="1C2B3A"/>
                </a:solidFill>
                <a:latin typeface="Barlow"/>
              </a:rPr>
              <a:t> – Jede Fall-Karte nimmt einen Faden zu der Ermittlerin, die auf ihrer Karte steht. Wer hält wie viele Fäden?</a:t>
            </a:r>
          </a:p>
          <a:p>
            <a:pPr>
              <a:lnSpc>
                <a:spcPct val="105000"/>
              </a:lnSpc>
              <a:spcAft>
                <a:spcPts val="600"/>
              </a:spcAft>
            </a:pPr>
            <a:r>
              <a:rPr sz="1900" b="0" i="0" u="none">
                <a:solidFill>
                  <a:srgbClr val="1C2B3A"/>
                </a:solidFill>
                <a:latin typeface="Barlow"/>
              </a:rPr>
              <a:t>2. </a:t>
            </a:r>
            <a:r>
              <a:rPr sz="1900" b="1" i="0" u="none">
                <a:solidFill>
                  <a:srgbClr val="1C2B3A"/>
                </a:solidFill>
                <a:latin typeface="Barlow"/>
              </a:rPr>
              <a:t>n:m</a:t>
            </a:r>
            <a:r>
              <a:rPr sz="1900" b="0" i="0" u="none">
                <a:solidFill>
                  <a:srgbClr val="1C2B3A"/>
                </a:solidFill>
                <a:latin typeface="Barlow"/>
              </a:rPr>
              <a:t> – Personen spannen Fäden zu allen Fällen, in denen sie verdächtig sind.</a:t>
            </a:r>
          </a:p>
          <a:p>
            <a:pPr>
              <a:lnSpc>
                <a:spcPct val="105000"/>
              </a:lnSpc>
              <a:spcAft>
                <a:spcPts val="600"/>
              </a:spcAft>
            </a:pPr>
            <a:r>
              <a:rPr sz="1900" b="0" i="0" u="none">
                <a:solidFill>
                  <a:srgbClr val="1C2B3A"/>
                </a:solidFill>
                <a:latin typeface="Barlow"/>
              </a:rPr>
              <a:t>3. </a:t>
            </a:r>
            <a:r>
              <a:rPr sz="1900" b="1" i="0" u="none">
                <a:solidFill>
                  <a:srgbClr val="1C2B3A"/>
                </a:solidFill>
                <a:latin typeface="Barlow"/>
              </a:rPr>
              <a:t>1:1</a:t>
            </a:r>
            <a:r>
              <a:rPr sz="1900" b="0" i="0" u="none">
                <a:solidFill>
                  <a:srgbClr val="1C2B3A"/>
                </a:solidFill>
                <a:latin typeface="Barlow"/>
              </a:rPr>
              <a:t> – Jeder Ermittler zu seinem Dienstausweis.</a:t>
            </a:r>
          </a:p>
          <a:p>
            <a:pPr>
              <a:lnSpc>
                <a:spcPct val="105000"/>
              </a:lnSpc>
              <a:spcAft>
                <a:spcPts val="600"/>
              </a:spcAft>
            </a:pPr>
            <a:r>
              <a:rPr sz="1900" b="0" i="0" u="none">
                <a:solidFill>
                  <a:srgbClr val="1C2B3A"/>
                </a:solidFill>
                <a:latin typeface="Barlow"/>
              </a:rPr>
              <a:t>4. </a:t>
            </a:r>
            <a:r>
              <a:rPr sz="1900" b="1" i="0" u="none">
                <a:solidFill>
                  <a:srgbClr val="1C2B3A"/>
                </a:solidFill>
                <a:latin typeface="Barlow"/>
              </a:rPr>
              <a:t>Beziehungsattribut</a:t>
            </a:r>
            <a:r>
              <a:rPr sz="1900" b="0" i="0" u="none">
                <a:solidFill>
                  <a:srgbClr val="1C2B3A"/>
                </a:solidFill>
                <a:latin typeface="Barlow"/>
              </a:rPr>
              <a:t> – Wohin kommt das Etikett „Grad: hoch“ für Person 3 und Fall 2?</a:t>
            </a:r>
          </a:p>
          <a:p>
            <a:pPr>
              <a:lnSpc>
                <a:spcPct val="105000"/>
              </a:lnSpc>
              <a:spcAft>
                <a:spcPts val="600"/>
              </a:spcAft>
            </a:pPr>
            <a:r>
              <a:rPr sz="1900" b="0" i="0" u="none">
                <a:solidFill>
                  <a:srgbClr val="1C2B3A"/>
                </a:solidFill>
                <a:latin typeface="Barlow"/>
              </a:rPr>
              <a:t>5. Impuls: Woran erkennt ihr in einer Tabelle, welche Kardinalität vorliegt?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Ab ins Lab: Ermittlung 5.1</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12</a:t>
            </a:r>
          </a:p>
        </p:txBody>
      </p:sp>
      <p:sp>
        <p:nvSpPr>
          <p:cNvPr id="8" name="Rounded Rectangle 7"/>
          <p:cNvSpPr/>
          <p:nvPr/>
        </p:nvSpPr>
        <p:spPr>
          <a:xfrm>
            <a:off x="548640" y="1691640"/>
            <a:ext cx="11094415" cy="292608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C5A85"/>
                </a:solidFill>
                <a:latin typeface="IBM Plex Mono"/>
              </a:rPr>
              <a:t>SPUR IM LAB</a:t>
            </a:r>
          </a:p>
        </p:txBody>
      </p:sp>
      <p:sp>
        <p:nvSpPr>
          <p:cNvPr id="10" name="TextBox 9"/>
          <p:cNvSpPr txBox="1"/>
          <p:nvPr/>
        </p:nvSpPr>
        <p:spPr>
          <a:xfrm>
            <a:off x="822959" y="2194560"/>
            <a:ext cx="10545775" cy="2194560"/>
          </a:xfrm>
          <a:prstGeom prst="rect">
            <a:avLst/>
          </a:prstGeom>
          <a:noFill/>
        </p:spPr>
        <p:txBody>
          <a:bodyPr wrap="square" anchor="t" lIns="36576" rIns="36576" tIns="36576" bIns="36576">
            <a:spAutoFit/>
          </a:bodyPr>
          <a:lstStyle/>
          <a:p>
            <a:pPr>
              <a:lnSpc>
                <a:spcPct val="105000"/>
              </a:lnSpc>
              <a:spcAft>
                <a:spcPts val="600"/>
              </a:spcAft>
            </a:pPr>
            <a:r>
              <a:rPr sz="2600" b="0" i="0" u="none">
                <a:solidFill>
                  <a:srgbClr val="1C2B3A"/>
                </a:solidFill>
                <a:latin typeface="Barlow Condensed SemiBold"/>
              </a:rPr>
              <a:t>„Baupläne lesen“</a:t>
            </a:r>
          </a:p>
          <a:p>
            <a:pPr>
              <a:lnSpc>
                <a:spcPct val="105000"/>
              </a:lnSpc>
              <a:spcAft>
                <a:spcPts val="400"/>
              </a:spcAft>
            </a:pPr>
            <a:r>
              <a:rPr sz="1900" b="1" i="0" u="none">
                <a:solidFill>
                  <a:srgbClr val="1C2B3A"/>
                </a:solidFill>
                <a:latin typeface="Barlow"/>
              </a:rPr>
              <a:t>Aufgaben:</a:t>
            </a:r>
            <a:r>
              <a:rPr sz="1900" b="0" i="0" u="none">
                <a:solidFill>
                  <a:srgbClr val="1C2B3A"/>
                </a:solidFill>
                <a:latin typeface="Barlow"/>
              </a:rPr>
              <a:t> A5-E1-01 … 08 (</a:t>
            </a:r>
            <a:r>
              <a:rPr sz="1900" b="0" i="0" u="none">
                <a:solidFill>
                  <a:srgbClr val="D4B062"/>
                </a:solidFill>
                <a:latin typeface="Segoe UI Symbol"/>
              </a:rPr>
              <a:t>★</a:t>
            </a:r>
            <a:r>
              <a:rPr sz="1900" b="0" i="0" u="none">
                <a:solidFill>
                  <a:srgbClr val="1C2B3A"/>
                </a:solidFill>
                <a:latin typeface="Barlow"/>
              </a:rPr>
              <a:t> → </a:t>
            </a:r>
            <a:r>
              <a:rPr sz="1900" b="0" i="0" u="none">
                <a:solidFill>
                  <a:srgbClr val="D4B062"/>
                </a:solidFill>
                <a:latin typeface="Segoe UI Symbol"/>
              </a:rPr>
              <a:t>★★</a:t>
            </a:r>
            <a:r>
              <a:rPr sz="1900" b="0" i="0" u="none">
                <a:solidFill>
                  <a:srgbClr val="1C2B3A"/>
                </a:solidFill>
                <a:latin typeface="Barlow"/>
              </a:rPr>
              <a:t> → </a:t>
            </a:r>
            <a:r>
              <a:rPr sz="1900" b="0" i="0" u="none">
                <a:solidFill>
                  <a:srgbClr val="D4B062"/>
                </a:solidFill>
                <a:latin typeface="Segoe UI Symbol"/>
              </a:rPr>
              <a:t>★★★</a:t>
            </a:r>
            <a:r>
              <a:rPr sz="1900" b="0" i="0" u="none">
                <a:solidFill>
                  <a:srgbClr val="1C2B3A"/>
                </a:solidFill>
                <a:latin typeface="Barlow"/>
              </a:rPr>
              <a:t>)</a:t>
            </a:r>
          </a:p>
          <a:p>
            <a:pPr>
              <a:lnSpc>
                <a:spcPct val="105000"/>
              </a:lnSpc>
              <a:spcAft>
                <a:spcPts val="400"/>
              </a:spcAft>
            </a:pPr>
            <a:r>
              <a:rPr sz="1900" b="1" i="0" u="none">
                <a:solidFill>
                  <a:srgbClr val="1C2B3A"/>
                </a:solidFill>
                <a:latin typeface="Barlow"/>
              </a:rPr>
              <a:t>Werkzeug:</a:t>
            </a:r>
            <a:r>
              <a:rPr sz="1900" b="0" i="0" u="none">
                <a:solidFill>
                  <a:srgbClr val="1C2B3A"/>
                </a:solidFill>
                <a:latin typeface="Barlow"/>
              </a:rPr>
              <a:t> Bauplan-Tisch (Modi lesen und ergänzen)</a:t>
            </a:r>
          </a:p>
        </p:txBody>
      </p:sp>
      <p:sp>
        <p:nvSpPr>
          <p:cNvPr id="11" name="TextBox 10"/>
          <p:cNvSpPr txBox="1"/>
          <p:nvPr/>
        </p:nvSpPr>
        <p:spPr>
          <a:xfrm>
            <a:off x="548640" y="4800600"/>
            <a:ext cx="11094415" cy="1030605"/>
          </a:xfrm>
          <a:prstGeom prst="rect">
            <a:avLst/>
          </a:prstGeom>
          <a:noFill/>
        </p:spPr>
        <p:txBody>
          <a:bodyPr wrap="square" anchor="t" lIns="36576" rIns="36576" tIns="36576" bIns="36576">
            <a:spAutoFit/>
          </a:bodyPr>
          <a:lstStyle/>
          <a:p>
            <a:pPr>
              <a:lnSpc>
                <a:spcPct val="105000"/>
              </a:lnSpc>
              <a:spcAft>
                <a:spcPts val="600"/>
              </a:spcAft>
            </a:pPr>
            <a:r>
              <a:rPr sz="1700" b="0" i="0" u="none">
                <a:solidFill>
                  <a:srgbClr val="E8E1D3"/>
                </a:solidFill>
                <a:latin typeface="Barlow"/>
              </a:rPr>
              <a:t>▸ Auf dem iPad: Listenmodus statt Zeichnen</a:t>
            </a:r>
          </a:p>
          <a:p>
            <a:pPr>
              <a:lnSpc>
                <a:spcPct val="105000"/>
              </a:lnSpc>
              <a:spcAft>
                <a:spcPts val="600"/>
              </a:spcAft>
            </a:pPr>
            <a:r>
              <a:rPr sz="1700" b="0" i="0" u="none">
                <a:solidFill>
                  <a:srgbClr val="E8E1D3"/>
                </a:solidFill>
                <a:latin typeface="Barlow"/>
              </a:rPr>
              <a:t>▸ Parallel: AB 5.1, Aufträge 1–4 auf Papier</a:t>
            </a:r>
          </a:p>
          <a:p>
            <a:pPr>
              <a:lnSpc>
                <a:spcPct val="105000"/>
              </a:lnSpc>
              <a:spcAft>
                <a:spcPts val="600"/>
              </a:spcAft>
            </a:pPr>
            <a:r>
              <a:rPr sz="1700" b="0" i="0" u="none">
                <a:solidFill>
                  <a:srgbClr val="E8E1D3"/>
                </a:solidFill>
                <a:latin typeface="Barlow"/>
              </a:rPr>
              <a:t>▸ Schnelle: Cold Case A5-E1-CC und AB-Cold-Case „Dienstwagen“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Ermittler-Notiz</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13</a:t>
            </a:r>
          </a:p>
        </p:txBody>
      </p:sp>
      <p:sp>
        <p:nvSpPr>
          <p:cNvPr id="8" name="Rounded Rectangle 7"/>
          <p:cNvSpPr/>
          <p:nvPr/>
        </p:nvSpPr>
        <p:spPr>
          <a:xfrm>
            <a:off x="548640" y="1691640"/>
            <a:ext cx="11094415" cy="434340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C5A85"/>
                </a:solidFill>
                <a:latin typeface="IBM Plex Mono"/>
              </a:rPr>
              <a:t>ERMITTLER-NOTIZ</a:t>
            </a:r>
          </a:p>
        </p:txBody>
      </p:sp>
      <p:sp>
        <p:nvSpPr>
          <p:cNvPr id="10" name="TextBox 9"/>
          <p:cNvSpPr txBox="1"/>
          <p:nvPr/>
        </p:nvSpPr>
        <p:spPr>
          <a:xfrm>
            <a:off x="822959" y="2194560"/>
            <a:ext cx="10545775" cy="1932940"/>
          </a:xfrm>
          <a:prstGeom prst="rect">
            <a:avLst/>
          </a:prstGeom>
          <a:noFill/>
        </p:spPr>
        <p:txBody>
          <a:bodyPr wrap="square" anchor="t" lIns="36576" rIns="36576" tIns="36576" bIns="36576">
            <a:spAutoFit/>
          </a:bodyPr>
          <a:lstStyle/>
          <a:p>
            <a:pPr>
              <a:lnSpc>
                <a:spcPct val="105000"/>
              </a:lnSpc>
              <a:spcAft>
                <a:spcPts val="600"/>
              </a:spcAft>
            </a:pPr>
            <a:r>
              <a:rPr sz="2000" b="0" i="0" u="none">
                <a:solidFill>
                  <a:srgbClr val="1C2B3A"/>
                </a:solidFill>
                <a:latin typeface="Barlow"/>
              </a:rPr>
              <a:t>▸ Rechteck = Entitätstyp · Raute = Beziehungstyp · Ellipse = Attribut · unterstrichen = Schlüsselattribut · 1/n/m = Kardinalität.</a:t>
            </a:r>
          </a:p>
          <a:p>
            <a:pPr>
              <a:lnSpc>
                <a:spcPct val="105000"/>
              </a:lnSpc>
              <a:spcAft>
                <a:spcPts val="600"/>
              </a:spcAft>
            </a:pPr>
            <a:r>
              <a:rPr sz="2000" b="0" i="0" u="none">
                <a:solidFill>
                  <a:srgbClr val="1C2B3A"/>
                </a:solidFill>
                <a:latin typeface="Barlow"/>
              </a:rPr>
              <a:t>▸ Leseschablone in </a:t>
            </a:r>
            <a:r>
              <a:rPr sz="2000" b="1" i="0" u="none">
                <a:solidFill>
                  <a:srgbClr val="1C2B3A"/>
                </a:solidFill>
                <a:latin typeface="Barlow"/>
              </a:rPr>
              <a:t>beide</a:t>
            </a:r>
            <a:r>
              <a:rPr sz="2000" b="0" i="0" u="none">
                <a:solidFill>
                  <a:srgbClr val="1C2B3A"/>
                </a:solidFill>
                <a:latin typeface="Barlow"/>
              </a:rPr>
              <a:t> Richtungen; die Zahl steht beim Entitätstyp, über den du sprichst.</a:t>
            </a:r>
          </a:p>
          <a:p>
            <a:pPr>
              <a:lnSpc>
                <a:spcPct val="105000"/>
              </a:lnSpc>
              <a:spcAft>
                <a:spcPts val="600"/>
              </a:spcAft>
            </a:pPr>
            <a:r>
              <a:rPr sz="2000" b="0" i="0" u="none">
                <a:solidFill>
                  <a:srgbClr val="1C2B3A"/>
                </a:solidFill>
                <a:latin typeface="Barlow"/>
              </a:rPr>
              <a:t>▸ Hängt ein Attribut vom Paar ab → an die Raute.</a:t>
            </a:r>
          </a:p>
          <a:p>
            <a:pPr>
              <a:lnSpc>
                <a:spcPct val="105000"/>
              </a:lnSpc>
              <a:spcAft>
                <a:spcPts val="600"/>
              </a:spcAft>
            </a:pPr>
            <a:r>
              <a:rPr sz="2000" b="0" i="0" u="none">
                <a:solidFill>
                  <a:srgbClr val="1C2B3A"/>
                </a:solidFill>
                <a:latin typeface="Barlow"/>
              </a:rPr>
              <a:t>▸ Daten stützen eine Kardinalität nur – begründet wird im Sachzusammenhang.</a:t>
            </a:r>
          </a:p>
          <a:p>
            <a:pPr>
              <a:lnSpc>
                <a:spcPct val="105000"/>
              </a:lnSpc>
              <a:spcAft>
                <a:spcPts val="600"/>
              </a:spcAft>
            </a:pPr>
            <a:r>
              <a:rPr sz="2000" b="0" i="0" u="none">
                <a:solidFill>
                  <a:srgbClr val="1C2B3A"/>
                </a:solidFill>
                <a:latin typeface="Barlow"/>
              </a:rPr>
              <a:t>▸ Fachbegriffe: Entitätstyp, Beziehungstyp – nie „Entitätsmenge“.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Abi-Format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14</a:t>
            </a:r>
          </a:p>
        </p:txBody>
      </p:sp>
      <p:sp>
        <p:nvSpPr>
          <p:cNvPr id="8" name="Rounded Rectangle 7"/>
          <p:cNvSpPr/>
          <p:nvPr/>
        </p:nvSpPr>
        <p:spPr>
          <a:xfrm>
            <a:off x="548640" y="1691640"/>
            <a:ext cx="11094415" cy="4343400"/>
          </a:xfrm>
          <a:prstGeom prst="roundRect">
            <a:avLst>
              <a:gd name="adj" fmla="val 4000"/>
            </a:avLst>
          </a:prstGeom>
          <a:solidFill>
            <a:srgbClr val="F4EDE1"/>
          </a:solidFill>
          <a:ln w="2540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ABI-ECKE · OPERATOR BEGRÜNDEN</a:t>
            </a:r>
          </a:p>
        </p:txBody>
      </p:sp>
      <p:sp>
        <p:nvSpPr>
          <p:cNvPr id="10" name="TextBox 9"/>
          <p:cNvSpPr txBox="1"/>
          <p:nvPr/>
        </p:nvSpPr>
        <p:spPr>
          <a:xfrm>
            <a:off x="822959" y="2194560"/>
            <a:ext cx="10545775" cy="1043940"/>
          </a:xfrm>
          <a:prstGeom prst="rect">
            <a:avLst/>
          </a:prstGeom>
          <a:noFill/>
        </p:spPr>
        <p:txBody>
          <a:bodyPr wrap="square" anchor="t" lIns="36576" rIns="36576" tIns="36576" bIns="36576">
            <a:spAutoFit/>
          </a:bodyPr>
          <a:lstStyle/>
          <a:p>
            <a:pPr>
              <a:lnSpc>
                <a:spcPct val="105000"/>
              </a:lnSpc>
              <a:spcAft>
                <a:spcPts val="600"/>
              </a:spcAft>
            </a:pPr>
            <a:r>
              <a:rPr sz="2000" b="0" i="0" u="none">
                <a:solidFill>
                  <a:srgbClr val="1C2B3A"/>
                </a:solidFill>
                <a:latin typeface="Barlow"/>
              </a:rPr>
              <a:t>Gegeben ist ein ER-Diagramm zur Fallverwaltung einer Detektei. </a:t>
            </a:r>
            <a:r>
              <a:rPr sz="2000" b="1" i="0" u="none">
                <a:solidFill>
                  <a:srgbClr val="1C2B3A"/>
                </a:solidFill>
                <a:latin typeface="Barlow"/>
              </a:rPr>
              <a:t>Begründen</a:t>
            </a:r>
            <a:r>
              <a:rPr sz="2000" b="0" i="0" u="none">
                <a:solidFill>
                  <a:srgbClr val="1C2B3A"/>
                </a:solidFill>
                <a:latin typeface="Barlow"/>
              </a:rPr>
              <a:t> Sie die Kardinalitäten der Beziehungstypen </a:t>
            </a:r>
            <a:r>
              <a:rPr sz="2000" b="0" i="1" u="none">
                <a:solidFill>
                  <a:srgbClr val="1C2B3A"/>
                </a:solidFill>
                <a:latin typeface="Barlow"/>
              </a:rPr>
              <a:t>leitet</a:t>
            </a:r>
            <a:r>
              <a:rPr sz="2000" b="0" i="0" u="none">
                <a:solidFill>
                  <a:srgbClr val="1C2B3A"/>
                </a:solidFill>
                <a:latin typeface="Barlow"/>
              </a:rPr>
              <a:t> und </a:t>
            </a:r>
            <a:r>
              <a:rPr sz="2000" b="0" i="1" u="none">
                <a:solidFill>
                  <a:srgbClr val="1C2B3A"/>
                </a:solidFill>
                <a:latin typeface="Barlow"/>
              </a:rPr>
              <a:t>verdaechtig</a:t>
            </a:r>
            <a:r>
              <a:rPr sz="2000" b="0" i="0" u="none">
                <a:solidFill>
                  <a:srgbClr val="1C2B3A"/>
                </a:solidFill>
                <a:latin typeface="Barlow"/>
              </a:rPr>
              <a:t> im Sachzusammenhang. [4 BE]</a:t>
            </a:r>
          </a:p>
        </p:txBody>
      </p:sp>
      <p:pic>
        <p:nvPicPr>
          <p:cNvPr id="11" name="Picture 10" descr="er_140340854635472.png"/>
          <p:cNvPicPr>
            <a:picLocks noChangeAspect="1"/>
          </p:cNvPicPr>
          <p:nvPr/>
        </p:nvPicPr>
        <p:blipFill>
          <a:blip r:embed="rId3"/>
          <a:stretch>
            <a:fillRect/>
          </a:stretch>
        </p:blipFill>
        <p:spPr>
          <a:xfrm>
            <a:off x="822959" y="3311652"/>
            <a:ext cx="10545775" cy="247962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935705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Lösung Abi-Format (DS 9)</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Marker Lehrkraft"/>
          <p:cNvSpPr/>
          <p:nvPr/>
        </p:nvSpPr>
        <p:spPr>
          <a:xfrm>
            <a:off x="10042855" y="310896"/>
            <a:ext cx="1600200" cy="310896"/>
          </a:xfrm>
          <a:prstGeom prst="roundRect">
            <a:avLst>
              <a:gd name="adj" fmla="val 4000"/>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42855" y="310896"/>
            <a:ext cx="1600200" cy="310896"/>
          </a:xfrm>
          <a:prstGeom prst="rect">
            <a:avLst/>
          </a:prstGeom>
          <a:noFill/>
        </p:spPr>
        <p:txBody>
          <a:bodyPr wrap="square" anchor="ctr" lIns="36576" rIns="36576" tIns="36576" bIns="36576">
            <a:spAutoFit/>
          </a:bodyPr>
          <a:lstStyle/>
          <a:p>
            <a:pPr algn="ctr">
              <a:lnSpc>
                <a:spcPct val="105000"/>
              </a:lnSpc>
            </a:pPr>
            <a:r>
              <a:rPr sz="1000" b="1" i="0" u="none">
                <a:solidFill>
                  <a:srgbClr val="141B22"/>
                </a:solidFill>
                <a:latin typeface="IBM Plex Mono"/>
              </a:rPr>
              <a:t>NUR LEHRKRAFT</a:t>
            </a:r>
          </a:p>
        </p:txBody>
      </p:sp>
      <p:sp>
        <p:nvSpPr>
          <p:cNvPr id="9" name="TextBox 8"/>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15</a:t>
            </a:r>
          </a:p>
        </p:txBody>
      </p:sp>
      <p:sp>
        <p:nvSpPr>
          <p:cNvPr id="10" name="Rounded Rectangle 9"/>
          <p:cNvSpPr/>
          <p:nvPr/>
        </p:nvSpPr>
        <p:spPr>
          <a:xfrm>
            <a:off x="548640" y="1691640"/>
            <a:ext cx="11094415" cy="4343400"/>
          </a:xfrm>
          <a:prstGeom prst="roundRect">
            <a:avLst>
              <a:gd name="adj" fmla="val 4000"/>
            </a:avLst>
          </a:prstGeom>
          <a:solidFill>
            <a:srgbClr val="F4EDE1"/>
          </a:solidFill>
          <a:ln w="25400">
            <a:solidFill>
              <a:srgbClr val="5FAF8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F6B4F"/>
                </a:solidFill>
                <a:latin typeface="IBM Plex Mono"/>
              </a:rPr>
              <a:t>LÖSUNG</a:t>
            </a:r>
          </a:p>
        </p:txBody>
      </p:sp>
      <p:sp>
        <p:nvSpPr>
          <p:cNvPr id="12" name="TextBox 11"/>
          <p:cNvSpPr txBox="1"/>
          <p:nvPr/>
        </p:nvSpPr>
        <p:spPr>
          <a:xfrm>
            <a:off x="822959" y="2194560"/>
            <a:ext cx="10545775" cy="1325880"/>
          </a:xfrm>
          <a:prstGeom prst="rect">
            <a:avLst/>
          </a:prstGeom>
          <a:noFill/>
        </p:spPr>
        <p:txBody>
          <a:bodyPr wrap="square" anchor="t" lIns="36576" rIns="36576" tIns="36576" bIns="36576">
            <a:spAutoFit/>
          </a:bodyPr>
          <a:lstStyle/>
          <a:p>
            <a:pPr>
              <a:lnSpc>
                <a:spcPct val="105000"/>
              </a:lnSpc>
              <a:spcAft>
                <a:spcPts val="600"/>
              </a:spcAft>
            </a:pPr>
            <a:r>
              <a:rPr sz="1800" b="0" i="1" u="none">
                <a:solidFill>
                  <a:srgbClr val="1C2B3A"/>
                </a:solidFill>
                <a:latin typeface="Barlow"/>
              </a:rPr>
              <a:t>leitet</a:t>
            </a:r>
            <a:r>
              <a:rPr sz="1800" b="0" i="0" u="none">
                <a:solidFill>
                  <a:srgbClr val="1C2B3A"/>
                </a:solidFill>
                <a:latin typeface="Barlow"/>
              </a:rPr>
              <a:t>: Jeder Fall wird von </a:t>
            </a:r>
            <a:r>
              <a:rPr sz="1800" b="1" i="0" u="none">
                <a:solidFill>
                  <a:srgbClr val="1C2B3A"/>
                </a:solidFill>
                <a:latin typeface="Barlow"/>
              </a:rPr>
              <a:t>genau einer</a:t>
            </a:r>
            <a:r>
              <a:rPr sz="1800" b="0" i="0" u="none">
                <a:solidFill>
                  <a:srgbClr val="1C2B3A"/>
                </a:solidFill>
                <a:latin typeface="Barlow"/>
              </a:rPr>
              <a:t> Person verantwortlich geleitet (1); eine Ermittlerin kann </a:t>
            </a:r>
            <a:r>
              <a:rPr sz="1800" b="1" i="0" u="none">
                <a:solidFill>
                  <a:srgbClr val="1C2B3A"/>
                </a:solidFill>
                <a:latin typeface="Barlow"/>
              </a:rPr>
              <a:t>mehrere</a:t>
            </a:r>
            <a:r>
              <a:rPr sz="1800" b="0" i="0" u="none">
                <a:solidFill>
                  <a:srgbClr val="1C2B3A"/>
                </a:solidFill>
                <a:latin typeface="Barlow"/>
              </a:rPr>
              <a:t> Fälle gleichzeitig leiten (n).</a:t>
            </a:r>
          </a:p>
          <a:p>
            <a:pPr>
              <a:lnSpc>
                <a:spcPct val="105000"/>
              </a:lnSpc>
              <a:spcAft>
                <a:spcPts val="600"/>
              </a:spcAft>
            </a:pPr>
            <a:r>
              <a:rPr sz="1800" b="0" i="1" u="none">
                <a:solidFill>
                  <a:srgbClr val="1C2B3A"/>
                </a:solidFill>
                <a:latin typeface="Barlow"/>
              </a:rPr>
              <a:t>verdaechtig</a:t>
            </a:r>
            <a:r>
              <a:rPr sz="1800" b="0" i="0" u="none">
                <a:solidFill>
                  <a:srgbClr val="1C2B3A"/>
                </a:solidFill>
                <a:latin typeface="Barlow"/>
              </a:rPr>
              <a:t>: Eine Person kann in </a:t>
            </a:r>
            <a:r>
              <a:rPr sz="1800" b="1" i="0" u="none">
                <a:solidFill>
                  <a:srgbClr val="1C2B3A"/>
                </a:solidFill>
                <a:latin typeface="Barlow"/>
              </a:rPr>
              <a:t>mehreren</a:t>
            </a:r>
            <a:r>
              <a:rPr sz="1800" b="0" i="0" u="none">
                <a:solidFill>
                  <a:srgbClr val="1C2B3A"/>
                </a:solidFill>
                <a:latin typeface="Barlow"/>
              </a:rPr>
              <a:t> Fällen verdächtig sein (Serie); in einem Fall können </a:t>
            </a:r>
            <a:r>
              <a:rPr sz="1800" b="1" i="0" u="none">
                <a:solidFill>
                  <a:srgbClr val="1C2B3A"/>
                </a:solidFill>
                <a:latin typeface="Barlow"/>
              </a:rPr>
              <a:t>mehrere</a:t>
            </a:r>
            <a:r>
              <a:rPr sz="1800" b="0" i="0" u="none">
                <a:solidFill>
                  <a:srgbClr val="1C2B3A"/>
                </a:solidFill>
                <a:latin typeface="Barlow"/>
              </a:rPr>
              <a:t> Personen verdächtig sein (n:m). Der Grad hängt vom Paar ab.</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Cliffhanger</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16</a:t>
            </a:r>
          </a:p>
        </p:txBody>
      </p:sp>
      <p:sp>
        <p:nvSpPr>
          <p:cNvPr id="8" name="Rounded Rectangle 7"/>
          <p:cNvSpPr/>
          <p:nvPr/>
        </p:nvSpPr>
        <p:spPr>
          <a:xfrm>
            <a:off x="548640" y="1691640"/>
            <a:ext cx="11094415" cy="42062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BRIEFING · EDDA LORENZ</a:t>
            </a:r>
          </a:p>
        </p:txBody>
      </p:sp>
      <p:sp>
        <p:nvSpPr>
          <p:cNvPr id="10" name="TextBox 9"/>
          <p:cNvSpPr txBox="1"/>
          <p:nvPr/>
        </p:nvSpPr>
        <p:spPr>
          <a:xfrm>
            <a:off x="822959" y="2240280"/>
            <a:ext cx="10545775" cy="3474720"/>
          </a:xfrm>
          <a:prstGeom prst="rect">
            <a:avLst/>
          </a:prstGeom>
          <a:noFill/>
        </p:spPr>
        <p:txBody>
          <a:bodyPr wrap="square" anchor="t" lIns="36576" rIns="36576" tIns="36576" bIns="36576">
            <a:spAutoFit/>
          </a:bodyPr>
          <a:lstStyle/>
          <a:p>
            <a:pPr>
              <a:lnSpc>
                <a:spcPct val="105000"/>
              </a:lnSpc>
            </a:pPr>
            <a:r>
              <a:rPr sz="2200" b="0" i="1" u="none">
                <a:solidFill>
                  <a:srgbClr val="1C2B3A"/>
                </a:solidFill>
                <a:latin typeface="Barlow"/>
              </a:rPr>
              <a:t>Juri hat schon mal angefangen, den Bauplan der Detektei zu zeichnen – mit vierzehn Entitätstypen und keiner einzigen Kardinalität.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Warm-up: Karten W-A5-01 … 04</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17</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791210"/>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 Notation benennen · Mengenbild · Aus den Daten · Wohin mit der Note?</a:t>
            </a:r>
          </a:p>
          <a:p>
            <a:pPr>
              <a:lnSpc>
                <a:spcPct val="105000"/>
              </a:lnSpc>
              <a:spcAft>
                <a:spcPts val="600"/>
              </a:spcAft>
            </a:pPr>
            <a:r>
              <a:rPr sz="1900" b="0" i="0" u="none">
                <a:solidFill>
                  <a:srgbClr val="1C2B3A"/>
                </a:solidFill>
                <a:latin typeface="Barlow"/>
              </a:rPr>
              <a:t>▸ Einzelarbeit, dann Vergleich im Team; Karte 03 lösen wir gemeinsam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935705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Lösung Warm-up W-A5-03: Aus den Daten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Marker Lehrkraft"/>
          <p:cNvSpPr/>
          <p:nvPr/>
        </p:nvSpPr>
        <p:spPr>
          <a:xfrm>
            <a:off x="10042855" y="310896"/>
            <a:ext cx="1600200" cy="310896"/>
          </a:xfrm>
          <a:prstGeom prst="roundRect">
            <a:avLst>
              <a:gd name="adj" fmla="val 4000"/>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42855" y="310896"/>
            <a:ext cx="1600200" cy="310896"/>
          </a:xfrm>
          <a:prstGeom prst="rect">
            <a:avLst/>
          </a:prstGeom>
          <a:noFill/>
        </p:spPr>
        <p:txBody>
          <a:bodyPr wrap="square" anchor="ctr" lIns="36576" rIns="36576" tIns="36576" bIns="36576">
            <a:spAutoFit/>
          </a:bodyPr>
          <a:lstStyle/>
          <a:p>
            <a:pPr algn="ctr">
              <a:lnSpc>
                <a:spcPct val="105000"/>
              </a:lnSpc>
            </a:pPr>
            <a:r>
              <a:rPr sz="1000" b="1" i="0" u="none">
                <a:solidFill>
                  <a:srgbClr val="141B22"/>
                </a:solidFill>
                <a:latin typeface="IBM Plex Mono"/>
              </a:rPr>
              <a:t>NUR LEHRKRAFT</a:t>
            </a:r>
          </a:p>
        </p:txBody>
      </p:sp>
      <p:sp>
        <p:nvSpPr>
          <p:cNvPr id="9" name="TextBox 8"/>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18</a:t>
            </a:r>
          </a:p>
        </p:txBody>
      </p:sp>
      <p:sp>
        <p:nvSpPr>
          <p:cNvPr id="10" name="Rounded Rectangle 9"/>
          <p:cNvSpPr/>
          <p:nvPr/>
        </p:nvSpPr>
        <p:spPr>
          <a:xfrm>
            <a:off x="548640" y="1691640"/>
            <a:ext cx="11094415" cy="4343400"/>
          </a:xfrm>
          <a:prstGeom prst="roundRect">
            <a:avLst>
              <a:gd name="adj" fmla="val 4000"/>
            </a:avLst>
          </a:prstGeom>
          <a:solidFill>
            <a:srgbClr val="F4EDE1"/>
          </a:solidFill>
          <a:ln w="25400">
            <a:solidFill>
              <a:srgbClr val="5FAF8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F6B4F"/>
                </a:solidFill>
                <a:latin typeface="IBM Plex Mono"/>
              </a:rPr>
              <a:t>LÖSUNG</a:t>
            </a:r>
          </a:p>
        </p:txBody>
      </p:sp>
      <p:graphicFrame>
        <p:nvGraphicFramePr>
          <p:cNvPr id="12" name="Datentabelle"/>
          <p:cNvGraphicFramePr>
            <a:graphicFrameLocks noGrp="1"/>
          </p:cNvGraphicFramePr>
          <p:nvPr/>
        </p:nvGraphicFramePr>
        <p:xfrm>
          <a:off x="822959" y="2194560"/>
          <a:ext cx="2165298" cy="1574800"/>
        </p:xfrm>
        <a:graphic>
          <a:graphicData uri="http://schemas.openxmlformats.org/drawingml/2006/table">
            <a:tbl>
              <a:tblPr firstRow="1">
                <a:tableStyleId>{5C22544A-7EE6-4342-B048-85BDC9FD1C3A}</a:tableStyleId>
              </a:tblPr>
              <a:tblGrid>
                <a:gridCol w="1144828"/>
                <a:gridCol w="1020470"/>
              </a:tblGrid>
              <a:tr h="314960">
                <a:tc>
                  <a:txBody>
                    <a:bodyPr/>
                    <a:lstStyle/>
                    <a:p>
                      <a:r>
                        <a:rPr sz="1472" b="1" i="0" u="none">
                          <a:solidFill>
                            <a:srgbClr val="1C2B3A"/>
                          </a:solidFill>
                          <a:latin typeface="IBM Plex Mono"/>
                        </a:rPr>
                        <a:t>LeserNr</a:t>
                      </a:r>
                    </a:p>
                  </a:txBody>
                  <a:tcPr marL="54864" marR="54864" marT="18288" marB="18288">
                    <a:solidFill>
                      <a:srgbClr val="EBE2D2"/>
                    </a:solidFill>
                  </a:tcPr>
                </a:tc>
                <a:tc>
                  <a:txBody>
                    <a:bodyPr/>
                    <a:lstStyle/>
                    <a:p>
                      <a:r>
                        <a:rPr sz="1472" b="1" i="0" u="none">
                          <a:solidFill>
                            <a:srgbClr val="1C2B3A"/>
                          </a:solidFill>
                          <a:latin typeface="IBM Plex Mono"/>
                        </a:rPr>
                        <a:t>BuchNr</a:t>
                      </a:r>
                    </a:p>
                  </a:txBody>
                  <a:tcPr marL="54864" marR="54864" marT="18288" marB="18288">
                    <a:solidFill>
                      <a:srgbClr val="EBE2D2"/>
                    </a:solidFill>
                  </a:tcPr>
                </a:tc>
              </a:tr>
              <a:tr h="314960">
                <a:tc>
                  <a:txBody>
                    <a:bodyPr/>
                    <a:lstStyle/>
                    <a:p>
                      <a:pPr algn="r"/>
                      <a:r>
                        <a:rPr sz="1600" b="0" i="0" u="none">
                          <a:solidFill>
                            <a:srgbClr val="1C2B3A"/>
                          </a:solidFill>
                          <a:latin typeface="Barlow"/>
                        </a:rPr>
                        <a:t>1</a:t>
                      </a:r>
                    </a:p>
                  </a:txBody>
                  <a:tcPr marL="54864" marR="54864" marT="18288" marB="18288">
                    <a:solidFill>
                      <a:srgbClr val="FFFDF8"/>
                    </a:solidFill>
                  </a:tcPr>
                </a:tc>
                <a:tc>
                  <a:txBody>
                    <a:bodyPr/>
                    <a:lstStyle/>
                    <a:p>
                      <a:pPr algn="r"/>
                      <a:r>
                        <a:rPr sz="1600" b="0" i="0" u="none">
                          <a:solidFill>
                            <a:srgbClr val="1C2B3A"/>
                          </a:solidFill>
                          <a:latin typeface="Barlow"/>
                        </a:rPr>
                        <a:t>10</a:t>
                      </a:r>
                    </a:p>
                  </a:txBody>
                  <a:tcPr marL="54864" marR="54864" marT="18288" marB="18288">
                    <a:solidFill>
                      <a:srgbClr val="FFFDF8"/>
                    </a:solidFill>
                  </a:tcPr>
                </a:tc>
              </a:tr>
              <a:tr h="314960">
                <a:tc>
                  <a:txBody>
                    <a:bodyPr/>
                    <a:lstStyle/>
                    <a:p>
                      <a:pPr algn="r"/>
                      <a:r>
                        <a:rPr sz="1600" b="0" i="0" u="none">
                          <a:solidFill>
                            <a:srgbClr val="1C2B3A"/>
                          </a:solidFill>
                          <a:latin typeface="Barlow"/>
                        </a:rPr>
                        <a:t>1</a:t>
                      </a:r>
                    </a:p>
                  </a:txBody>
                  <a:tcPr marL="54864" marR="54864" marT="18288" marB="18288">
                    <a:solidFill>
                      <a:srgbClr val="FFFDF8"/>
                    </a:solidFill>
                  </a:tcPr>
                </a:tc>
                <a:tc>
                  <a:txBody>
                    <a:bodyPr/>
                    <a:lstStyle/>
                    <a:p>
                      <a:pPr algn="r"/>
                      <a:r>
                        <a:rPr sz="1600" b="0" i="0" u="none">
                          <a:solidFill>
                            <a:srgbClr val="1C2B3A"/>
                          </a:solidFill>
                          <a:latin typeface="Barlow"/>
                        </a:rPr>
                        <a:t>11</a:t>
                      </a:r>
                    </a:p>
                  </a:txBody>
                  <a:tcPr marL="54864" marR="54864" marT="18288" marB="18288">
                    <a:solidFill>
                      <a:srgbClr val="FFFDF8"/>
                    </a:solidFill>
                  </a:tcPr>
                </a:tc>
              </a:tr>
              <a:tr h="314960">
                <a:tc>
                  <a:txBody>
                    <a:bodyPr/>
                    <a:lstStyle/>
                    <a:p>
                      <a:pPr algn="r"/>
                      <a:r>
                        <a:rPr sz="1600" b="0" i="0" u="none">
                          <a:solidFill>
                            <a:srgbClr val="1C2B3A"/>
                          </a:solidFill>
                          <a:latin typeface="Barlow"/>
                        </a:rPr>
                        <a:t>2</a:t>
                      </a:r>
                    </a:p>
                  </a:txBody>
                  <a:tcPr marL="54864" marR="54864" marT="18288" marB="18288">
                    <a:solidFill>
                      <a:srgbClr val="FFFDF8"/>
                    </a:solidFill>
                  </a:tcPr>
                </a:tc>
                <a:tc>
                  <a:txBody>
                    <a:bodyPr/>
                    <a:lstStyle/>
                    <a:p>
                      <a:pPr algn="r"/>
                      <a:r>
                        <a:rPr sz="1600" b="0" i="0" u="none">
                          <a:solidFill>
                            <a:srgbClr val="1C2B3A"/>
                          </a:solidFill>
                          <a:latin typeface="Barlow"/>
                        </a:rPr>
                        <a:t>10</a:t>
                      </a:r>
                    </a:p>
                  </a:txBody>
                  <a:tcPr marL="54864" marR="54864" marT="18288" marB="18288">
                    <a:solidFill>
                      <a:srgbClr val="FFFDF8"/>
                    </a:solidFill>
                  </a:tcPr>
                </a:tc>
              </a:tr>
              <a:tr h="314960">
                <a:tc>
                  <a:txBody>
                    <a:bodyPr/>
                    <a:lstStyle/>
                    <a:p>
                      <a:pPr algn="r"/>
                      <a:r>
                        <a:rPr sz="1600" b="0" i="0" u="none">
                          <a:solidFill>
                            <a:srgbClr val="1C2B3A"/>
                          </a:solidFill>
                          <a:latin typeface="Barlow"/>
                        </a:rPr>
                        <a:t>3</a:t>
                      </a:r>
                    </a:p>
                  </a:txBody>
                  <a:tcPr marL="54864" marR="54864" marT="18288" marB="18288">
                    <a:solidFill>
                      <a:srgbClr val="FFFDF8"/>
                    </a:solidFill>
                  </a:tcPr>
                </a:tc>
                <a:tc>
                  <a:txBody>
                    <a:bodyPr/>
                    <a:lstStyle/>
                    <a:p>
                      <a:pPr algn="r"/>
                      <a:r>
                        <a:rPr sz="1600" b="0" i="0" u="none">
                          <a:solidFill>
                            <a:srgbClr val="1C2B3A"/>
                          </a:solidFill>
                          <a:latin typeface="Barlow"/>
                        </a:rPr>
                        <a:t>12</a:t>
                      </a:r>
                    </a:p>
                  </a:txBody>
                  <a:tcPr marL="54864" marR="54864" marT="18288" marB="18288">
                    <a:solidFill>
                      <a:srgbClr val="FFFDF8"/>
                    </a:solidFill>
                  </a:tcPr>
                </a:tc>
              </a:tr>
            </a:tbl>
          </a:graphicData>
        </a:graphic>
      </p:graphicFrame>
      <p:sp>
        <p:nvSpPr>
          <p:cNvPr id="13" name="TextBox 12"/>
          <p:cNvSpPr txBox="1"/>
          <p:nvPr/>
        </p:nvSpPr>
        <p:spPr>
          <a:xfrm>
            <a:off x="822959" y="3879087"/>
            <a:ext cx="10545775" cy="662940"/>
          </a:xfrm>
          <a:prstGeom prst="rect">
            <a:avLst/>
          </a:prstGeom>
          <a:noFill/>
        </p:spPr>
        <p:txBody>
          <a:bodyPr wrap="square" anchor="t" lIns="36576" rIns="36576" tIns="36576" bIns="36576">
            <a:spAutoFit/>
          </a:bodyPr>
          <a:lstStyle/>
          <a:p>
            <a:pPr>
              <a:lnSpc>
                <a:spcPct val="105000"/>
              </a:lnSpc>
              <a:spcAft>
                <a:spcPts val="600"/>
              </a:spcAft>
            </a:pPr>
            <a:r>
              <a:rPr sz="1800" b="0" i="0" u="none">
                <a:solidFill>
                  <a:srgbClr val="1C2B3A"/>
                </a:solidFill>
                <a:latin typeface="Barlow"/>
              </a:rPr>
              <a:t>Leser 1 leiht zwei Bücher </a:t>
            </a:r>
            <a:r>
              <a:rPr sz="1800" b="1" i="0" u="none">
                <a:solidFill>
                  <a:srgbClr val="1C2B3A"/>
                </a:solidFill>
                <a:latin typeface="Barlow"/>
              </a:rPr>
              <a:t>und</a:t>
            </a:r>
            <a:r>
              <a:rPr sz="1800" b="0" i="0" u="none">
                <a:solidFill>
                  <a:srgbClr val="1C2B3A"/>
                </a:solidFill>
                <a:latin typeface="Barlow"/>
              </a:rPr>
              <a:t> Buch 10 wird von zwei Lesern geliehen → </a:t>
            </a:r>
            <a:r>
              <a:rPr sz="1800" b="1" i="0" u="none">
                <a:solidFill>
                  <a:srgbClr val="1C2B3A"/>
                </a:solidFill>
                <a:latin typeface="Barlow"/>
              </a:rPr>
              <a:t>n:m</a:t>
            </a:r>
            <a:r>
              <a:rPr sz="1800" b="0" i="0" u="none">
                <a:solidFill>
                  <a:srgbClr val="1C2B3A"/>
                </a:solidFill>
                <a:latin typeface="Barlow"/>
              </a:rPr>
              <a:t>. Wer nur eine Richtung prüft, kommt auf 1:n.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Der Architekturwettbewerb</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19</a:t>
            </a:r>
          </a:p>
        </p:txBody>
      </p:sp>
      <p:sp>
        <p:nvSpPr>
          <p:cNvPr id="8" name="Rounded Rectangle 7"/>
          <p:cNvSpPr/>
          <p:nvPr/>
        </p:nvSpPr>
        <p:spPr>
          <a:xfrm>
            <a:off x="548640" y="1691640"/>
            <a:ext cx="11094415" cy="42062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BRIEFING · EDDA LORENZ</a:t>
            </a:r>
          </a:p>
        </p:txBody>
      </p:sp>
      <p:sp>
        <p:nvSpPr>
          <p:cNvPr id="10" name="TextBox 9"/>
          <p:cNvSpPr txBox="1"/>
          <p:nvPr/>
        </p:nvSpPr>
        <p:spPr>
          <a:xfrm>
            <a:off x="822959" y="2240280"/>
            <a:ext cx="10545775" cy="3474720"/>
          </a:xfrm>
          <a:prstGeom prst="rect">
            <a:avLst/>
          </a:prstGeom>
          <a:noFill/>
        </p:spPr>
        <p:txBody>
          <a:bodyPr wrap="square" anchor="t" lIns="36576" rIns="36576" tIns="36576" bIns="36576">
            <a:spAutoFit/>
          </a:bodyPr>
          <a:lstStyle/>
          <a:p>
            <a:pPr>
              <a:lnSpc>
                <a:spcPct val="105000"/>
              </a:lnSpc>
            </a:pPr>
            <a:r>
              <a:rPr sz="2200" b="0" i="1" u="none">
                <a:solidFill>
                  <a:srgbClr val="1C2B3A"/>
                </a:solidFill>
                <a:latin typeface="Barlow"/>
              </a:rPr>
              <a:t>Heute ist Architekturwettbewerb: Jedes Team entwirft den Bauplan für die Fall-Datenbank der Detektei. Ermittler leiten Fälle, erfahrene Ermittler betreuen neue, Personen sind in Fällen verdächtig, Personen kennen andere Personen, und eine Aussage macht eine Person in einem Fall an einem Ort.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Der Architekturwettbewerb (Fortsetzung)</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20</a:t>
            </a:r>
          </a:p>
        </p:txBody>
      </p:sp>
      <p:sp>
        <p:nvSpPr>
          <p:cNvPr id="8" name="Rounded Rectangle 7"/>
          <p:cNvSpPr/>
          <p:nvPr/>
        </p:nvSpPr>
        <p:spPr>
          <a:xfrm>
            <a:off x="548640" y="1691640"/>
            <a:ext cx="11094415" cy="42062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BRIEFING · EDDA LORENZ</a:t>
            </a:r>
          </a:p>
        </p:txBody>
      </p:sp>
      <p:sp>
        <p:nvSpPr>
          <p:cNvPr id="10" name="TextBox 9"/>
          <p:cNvSpPr txBox="1"/>
          <p:nvPr/>
        </p:nvSpPr>
        <p:spPr>
          <a:xfrm>
            <a:off x="822959" y="2240280"/>
            <a:ext cx="10545775" cy="3474720"/>
          </a:xfrm>
          <a:prstGeom prst="rect">
            <a:avLst/>
          </a:prstGeom>
          <a:noFill/>
        </p:spPr>
        <p:txBody>
          <a:bodyPr wrap="square" anchor="t" lIns="36576" rIns="36576" tIns="36576" bIns="36576">
            <a:spAutoFit/>
          </a:bodyPr>
          <a:lstStyle/>
          <a:p>
            <a:pPr>
              <a:lnSpc>
                <a:spcPct val="105000"/>
              </a:lnSpc>
            </a:pPr>
            <a:r>
              <a:rPr sz="2200" b="0" i="1" u="none">
                <a:solidFill>
                  <a:srgbClr val="1C2B3A"/>
                </a:solidFill>
                <a:latin typeface="Barlow"/>
              </a:rPr>
              <a:t>Da stecken Fallstricke drin: Eine Beziehung kann einen Entitätstyp mit sich selbst verbinden. Zwischen denselben Entitätstypen kann es mehrere Beziehungen geben, und manche verbinden sogar drei. Nicht alles lässt sich mit 1, n und m ausdrücken. Am Ende geht ihr auf Galerie-Rundgang – der Siegerentwurf bekommt einen Ehrenplatz an der Pinnwand.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Rekursive Beziehungen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21</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694690"/>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Zwei Kanten zum </a:t>
            </a:r>
            <a:r>
              <a:rPr sz="1900" b="1" i="0" u="none">
                <a:solidFill>
                  <a:srgbClr val="1C2B3A"/>
                </a:solidFill>
                <a:latin typeface="Barlow"/>
              </a:rPr>
              <a:t>selben</a:t>
            </a:r>
            <a:r>
              <a:rPr sz="1900" b="0" i="0" u="none">
                <a:solidFill>
                  <a:srgbClr val="1C2B3A"/>
                </a:solidFill>
                <a:latin typeface="Barlow"/>
              </a:rPr>
              <a:t> Entitätstyp, Rollen an den Kanten – kein Entitätstyp „Mentor“.</a:t>
            </a:r>
          </a:p>
        </p:txBody>
      </p:sp>
      <p:pic>
        <p:nvPicPr>
          <p:cNvPr id="10" name="Picture 9" descr="f_rekursiv.png"/>
          <p:cNvPicPr>
            <a:picLocks noChangeAspect="1"/>
          </p:cNvPicPr>
          <p:nvPr/>
        </p:nvPicPr>
        <p:blipFill>
          <a:blip r:embed="rId3"/>
          <a:stretch>
            <a:fillRect/>
          </a:stretch>
        </p:blipFill>
        <p:spPr>
          <a:xfrm>
            <a:off x="3239444" y="2688082"/>
            <a:ext cx="5712806" cy="3209797"/>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Zwei Beziehungstypen zwischen denselben Entitätstypen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22</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694690"/>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Zwei Rollen (Heim/Gast) = zwei Beziehungstypen. In der Detektei: Person </a:t>
            </a:r>
            <a:r>
              <a:rPr sz="1900" b="0" i="1" u="none">
                <a:solidFill>
                  <a:srgbClr val="1C2B3A"/>
                </a:solidFill>
                <a:latin typeface="Barlow"/>
              </a:rPr>
              <a:t>meldet</a:t>
            </a:r>
            <a:r>
              <a:rPr sz="1900" b="0" i="0" u="none">
                <a:solidFill>
                  <a:srgbClr val="1C2B3A"/>
                </a:solidFill>
                <a:latin typeface="Barlow"/>
              </a:rPr>
              <a:t> Fall und Person ist </a:t>
            </a:r>
            <a:r>
              <a:rPr sz="1900" b="0" i="1" u="none">
                <a:solidFill>
                  <a:srgbClr val="1C2B3A"/>
                </a:solidFill>
                <a:latin typeface="Barlow"/>
              </a:rPr>
              <a:t>verdaechtig</a:t>
            </a:r>
            <a:r>
              <a:rPr sz="1900" b="0" i="0" u="none">
                <a:solidFill>
                  <a:srgbClr val="1C2B3A"/>
                </a:solidFill>
                <a:latin typeface="Barlow"/>
              </a:rPr>
              <a:t> in Fall.</a:t>
            </a:r>
          </a:p>
        </p:txBody>
      </p:sp>
      <p:pic>
        <p:nvPicPr>
          <p:cNvPr id="10" name="Picture 9" descr="f140340854629648.png"/>
          <p:cNvPicPr>
            <a:picLocks noChangeAspect="1"/>
          </p:cNvPicPr>
          <p:nvPr/>
        </p:nvPicPr>
        <p:blipFill>
          <a:blip r:embed="rId3"/>
          <a:stretch>
            <a:fillRect/>
          </a:stretch>
        </p:blipFill>
        <p:spPr>
          <a:xfrm>
            <a:off x="2495847" y="2688082"/>
            <a:ext cx="7200000" cy="3067753"/>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Ternär: eine Raute, drei Kanten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23</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694690"/>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Reichen drei binäre Beziehungen? Nein – „wer, in welchem Fall, wo“ ist nur zu dritt eindeutig.</a:t>
            </a:r>
          </a:p>
        </p:txBody>
      </p:sp>
      <p:pic>
        <p:nvPicPr>
          <p:cNvPr id="10" name="Picture 9" descr="f140340854632336.png"/>
          <p:cNvPicPr>
            <a:picLocks noChangeAspect="1"/>
          </p:cNvPicPr>
          <p:nvPr/>
        </p:nvPicPr>
        <p:blipFill>
          <a:blip r:embed="rId3"/>
          <a:stretch>
            <a:fillRect/>
          </a:stretch>
        </p:blipFill>
        <p:spPr>
          <a:xfrm>
            <a:off x="3791007" y="2688082"/>
            <a:ext cx="4609679" cy="3209797"/>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Beispiel Schritt für Schritt: vom Text zum Modell</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24</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1297940"/>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„Im Tierheim wird jedes </a:t>
            </a:r>
            <a:r>
              <a:rPr sz="1900" b="1" i="0" u="none">
                <a:solidFill>
                  <a:srgbClr val="1C2B3A"/>
                </a:solidFill>
                <a:latin typeface="Barlow"/>
              </a:rPr>
              <a:t>Tier</a:t>
            </a:r>
            <a:r>
              <a:rPr sz="1900" b="0" i="0" u="none">
                <a:solidFill>
                  <a:srgbClr val="1C2B3A"/>
                </a:solidFill>
                <a:latin typeface="Barlow"/>
              </a:rPr>
              <a:t> (Nummer, Name, Art) von genau einer </a:t>
            </a:r>
            <a:r>
              <a:rPr sz="1900" b="1" i="0" u="none">
                <a:solidFill>
                  <a:srgbClr val="1C2B3A"/>
                </a:solidFill>
                <a:latin typeface="Barlow"/>
              </a:rPr>
              <a:t>Pflegekraft</a:t>
            </a:r>
            <a:r>
              <a:rPr sz="1900" b="0" i="0" u="none">
                <a:solidFill>
                  <a:srgbClr val="1C2B3A"/>
                </a:solidFill>
                <a:latin typeface="Barlow"/>
              </a:rPr>
              <a:t> (Nummer, Name) versorgt. Erfahrene Pflegekräfte arbeiten neue ein. </a:t>
            </a:r>
            <a:r>
              <a:rPr sz="1900" b="1" i="0" u="none">
                <a:solidFill>
                  <a:srgbClr val="1C2B3A"/>
                </a:solidFill>
                <a:latin typeface="Barlow"/>
              </a:rPr>
              <a:t>Helfer</a:t>
            </a:r>
            <a:r>
              <a:rPr sz="1900" b="0" i="0" u="none">
                <a:solidFill>
                  <a:srgbClr val="1C2B3A"/>
                </a:solidFill>
                <a:latin typeface="Barlow"/>
              </a:rPr>
              <a:t> (Ausweisnummer, Name) führen mehrere Tiere aus, ein Tier wird von mehreren Helfern ausgeführt.“</a:t>
            </a:r>
          </a:p>
        </p:txBody>
      </p:sp>
      <p:sp>
        <p:nvSpPr>
          <p:cNvPr id="10" name="TextBox 9"/>
          <p:cNvSpPr txBox="1"/>
          <p:nvPr/>
        </p:nvSpPr>
        <p:spPr>
          <a:xfrm>
            <a:off x="822959" y="3291332"/>
            <a:ext cx="10545775" cy="1490980"/>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1. Substantive → Entitätstypen mit Schlüsselattribut</a:t>
            </a:r>
          </a:p>
          <a:p>
            <a:pPr>
              <a:lnSpc>
                <a:spcPct val="105000"/>
              </a:lnSpc>
              <a:spcAft>
                <a:spcPts val="600"/>
              </a:spcAft>
            </a:pPr>
            <a:r>
              <a:rPr sz="1900" b="0" i="0" u="none">
                <a:solidFill>
                  <a:srgbClr val="1C2B3A"/>
                </a:solidFill>
                <a:latin typeface="Barlow"/>
              </a:rPr>
              <a:t>2. Verben → Beziehungstypen</a:t>
            </a:r>
          </a:p>
          <a:p>
            <a:pPr>
              <a:lnSpc>
                <a:spcPct val="105000"/>
              </a:lnSpc>
              <a:spcAft>
                <a:spcPts val="600"/>
              </a:spcAft>
            </a:pPr>
            <a:r>
              <a:rPr sz="1900" b="0" i="0" u="none">
                <a:solidFill>
                  <a:srgbClr val="1C2B3A"/>
                </a:solidFill>
                <a:latin typeface="Barlow"/>
              </a:rPr>
              <a:t>3. Mengenangaben → Kardinalitäten in beide Richtungen</a:t>
            </a:r>
          </a:p>
          <a:p>
            <a:pPr>
              <a:lnSpc>
                <a:spcPct val="105000"/>
              </a:lnSpc>
              <a:spcAft>
                <a:spcPts val="600"/>
              </a:spcAft>
            </a:pPr>
            <a:r>
              <a:rPr sz="1900" b="0" i="0" u="none">
                <a:solidFill>
                  <a:srgbClr val="1C2B3A"/>
                </a:solidFill>
                <a:latin typeface="Barlow"/>
              </a:rPr>
              <a:t>4. Rollen → rekursiver Beziehungstyp</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Das Modell zum Tierheim</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25</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393065"/>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Kontrolle: Jede Information des Textes ist im Modell abgehakt.</a:t>
            </a:r>
          </a:p>
        </p:txBody>
      </p:sp>
      <p:pic>
        <p:nvPicPr>
          <p:cNvPr id="10" name="Picture 9" descr="f140340854629760.png"/>
          <p:cNvPicPr>
            <a:picLocks noChangeAspect="1"/>
          </p:cNvPicPr>
          <p:nvPr/>
        </p:nvPicPr>
        <p:blipFill>
          <a:blip r:embed="rId3"/>
          <a:stretch>
            <a:fillRect/>
          </a:stretch>
        </p:blipFill>
        <p:spPr>
          <a:xfrm>
            <a:off x="822959" y="2386457"/>
            <a:ext cx="10545775" cy="3275657"/>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Der Anforderungstext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26</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2806065"/>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„Die Detektei verwaltet ihre </a:t>
            </a:r>
            <a:r>
              <a:rPr sz="1900" b="1" i="0" u="none">
                <a:solidFill>
                  <a:srgbClr val="1C2B3A"/>
                </a:solidFill>
                <a:latin typeface="Barlow"/>
              </a:rPr>
              <a:t>Ermittler</a:t>
            </a:r>
            <a:r>
              <a:rPr sz="1900" b="0" i="0" u="none">
                <a:solidFill>
                  <a:srgbClr val="1C2B3A"/>
                </a:solidFill>
                <a:latin typeface="Barlow"/>
              </a:rPr>
              <a:t> (Nummer, Name, Dienstgrad). Erfahrene Ermittler </a:t>
            </a:r>
            <a:r>
              <a:rPr sz="1900" b="1" i="0" u="none">
                <a:solidFill>
                  <a:srgbClr val="1C2B3A"/>
                </a:solidFill>
                <a:latin typeface="Barlow"/>
              </a:rPr>
              <a:t>betreuen</a:t>
            </a:r>
            <a:r>
              <a:rPr sz="1900" b="0" i="0" u="none">
                <a:solidFill>
                  <a:srgbClr val="1C2B3A"/>
                </a:solidFill>
                <a:latin typeface="Barlow"/>
              </a:rPr>
              <a:t> als Mentor mehrere Neulinge; jeder Neuling hat höchstens einen Mentor. Jeder </a:t>
            </a:r>
            <a:r>
              <a:rPr sz="1900" b="1" i="0" u="none">
                <a:solidFill>
                  <a:srgbClr val="1C2B3A"/>
                </a:solidFill>
                <a:latin typeface="Barlow"/>
              </a:rPr>
              <a:t>Fall</a:t>
            </a:r>
            <a:r>
              <a:rPr sz="1900" b="0" i="0" u="none">
                <a:solidFill>
                  <a:srgbClr val="1C2B3A"/>
                </a:solidFill>
                <a:latin typeface="Barlow"/>
              </a:rPr>
              <a:t> (Nummer, Titel, Eröffnungsdatum, Status) wird von genau einem Ermittler </a:t>
            </a:r>
            <a:r>
              <a:rPr sz="1900" b="1" i="0" u="none">
                <a:solidFill>
                  <a:srgbClr val="1C2B3A"/>
                </a:solidFill>
                <a:latin typeface="Barlow"/>
              </a:rPr>
              <a:t>geleitet</a:t>
            </a:r>
            <a:r>
              <a:rPr sz="1900" b="0" i="0" u="none">
                <a:solidFill>
                  <a:srgbClr val="1C2B3A"/>
                </a:solidFill>
                <a:latin typeface="Barlow"/>
              </a:rPr>
              <a:t>. </a:t>
            </a:r>
            <a:r>
              <a:rPr sz="1900" b="1" i="0" u="none">
                <a:solidFill>
                  <a:srgbClr val="1C2B3A"/>
                </a:solidFill>
                <a:latin typeface="Barlow"/>
              </a:rPr>
              <a:t>Personen</a:t>
            </a:r>
            <a:r>
              <a:rPr sz="1900" b="0" i="0" u="none">
                <a:solidFill>
                  <a:srgbClr val="1C2B3A"/>
                </a:solidFill>
                <a:latin typeface="Barlow"/>
              </a:rPr>
              <a:t> (Nummer, Vorname, Nachname, Jahrgang, Stadtteil) können in mehreren Fällen </a:t>
            </a:r>
            <a:r>
              <a:rPr sz="1900" b="1" i="0" u="none">
                <a:solidFill>
                  <a:srgbClr val="1C2B3A"/>
                </a:solidFill>
                <a:latin typeface="Barlow"/>
              </a:rPr>
              <a:t>verdächtig</a:t>
            </a:r>
            <a:r>
              <a:rPr sz="1900" b="0" i="0" u="none">
                <a:solidFill>
                  <a:srgbClr val="1C2B3A"/>
                </a:solidFill>
                <a:latin typeface="Barlow"/>
              </a:rPr>
              <a:t> sein, jeweils mit einem Verdachtsgrad. Personen </a:t>
            </a:r>
            <a:r>
              <a:rPr sz="1900" b="1" i="0" u="none">
                <a:solidFill>
                  <a:srgbClr val="1C2B3A"/>
                </a:solidFill>
                <a:latin typeface="Barlow"/>
              </a:rPr>
              <a:t>kennen</a:t>
            </a:r>
            <a:r>
              <a:rPr sz="1900" b="0" i="0" u="none">
                <a:solidFill>
                  <a:srgbClr val="1C2B3A"/>
                </a:solidFill>
                <a:latin typeface="Barlow"/>
              </a:rPr>
              <a:t> einander seit einem bestimmten Datum. Personen </a:t>
            </a:r>
            <a:r>
              <a:rPr sz="1900" b="1" i="0" u="none">
                <a:solidFill>
                  <a:srgbClr val="1C2B3A"/>
                </a:solidFill>
                <a:latin typeface="Barlow"/>
              </a:rPr>
              <a:t>sagen</a:t>
            </a:r>
            <a:r>
              <a:rPr sz="1900" b="0" i="0" u="none">
                <a:solidFill>
                  <a:srgbClr val="1C2B3A"/>
                </a:solidFill>
                <a:latin typeface="Barlow"/>
              </a:rPr>
              <a:t> zu einem Fall an einem </a:t>
            </a:r>
            <a:r>
              <a:rPr sz="1900" b="1" i="0" u="none">
                <a:solidFill>
                  <a:srgbClr val="1C2B3A"/>
                </a:solidFill>
                <a:latin typeface="Barlow"/>
              </a:rPr>
              <a:t>Ort</a:t>
            </a:r>
            <a:r>
              <a:rPr sz="1900" b="0" i="0" u="none">
                <a:solidFill>
                  <a:srgbClr val="1C2B3A"/>
                </a:solidFill>
                <a:latin typeface="Barlow"/>
              </a:rPr>
              <a:t> (Nummer, Bezeichnung, Stadtteil) zu einem Zeitpunkt </a:t>
            </a:r>
            <a:r>
              <a:rPr sz="1900" b="1" i="0" u="none">
                <a:solidFill>
                  <a:srgbClr val="1C2B3A"/>
                </a:solidFill>
                <a:latin typeface="Barlow"/>
              </a:rPr>
              <a:t>aus</a:t>
            </a:r>
            <a:r>
              <a:rPr sz="1900" b="0" i="0" u="none">
                <a:solidFill>
                  <a:srgbClr val="1C2B3A"/>
                </a:solidFill>
                <a:latin typeface="Barlow"/>
              </a:rPr>
              <a:t>; der Inhalt wird festgehalten. </a:t>
            </a:r>
            <a:r>
              <a:rPr sz="1900" b="1" i="0" u="none">
                <a:solidFill>
                  <a:srgbClr val="1C2B3A"/>
                </a:solidFill>
                <a:latin typeface="Barlow"/>
              </a:rPr>
              <a:t>Beweisstücke</a:t>
            </a:r>
            <a:r>
              <a:rPr sz="1900" b="0" i="0" u="none">
                <a:solidFill>
                  <a:srgbClr val="1C2B3A"/>
                </a:solidFill>
                <a:latin typeface="Barlow"/>
              </a:rPr>
              <a:t> (Nummer, Bezeichnung) gehören zu genau einem Fall und wurden an genau einem Ort gefunden.“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Architekturwettbewerb</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27</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F6B4F"/>
                </a:solidFill>
                <a:latin typeface="IBM Plex Mono"/>
              </a:rPr>
              <a:t>UNPLUGGED · 45 MIN · MATERIAL: PLAKATE, STIFTE, BEWERTUNGSBÖGEN, KLEBEPUNKTE</a:t>
            </a:r>
          </a:p>
        </p:txBody>
      </p:sp>
      <p:sp>
        <p:nvSpPr>
          <p:cNvPr id="10" name="TextBox 9"/>
          <p:cNvSpPr txBox="1"/>
          <p:nvPr/>
        </p:nvSpPr>
        <p:spPr>
          <a:xfrm>
            <a:off x="822959" y="2194560"/>
            <a:ext cx="10545775" cy="1840864"/>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1. </a:t>
            </a:r>
            <a:r>
              <a:rPr sz="1900" b="1" i="0" u="none">
                <a:solidFill>
                  <a:srgbClr val="1C2B3A"/>
                </a:solidFill>
                <a:latin typeface="Barlow"/>
              </a:rPr>
              <a:t>Rollen</a:t>
            </a:r>
            <a:r>
              <a:rPr sz="1900" b="0" i="0" u="none">
                <a:solidFill>
                  <a:srgbClr val="1C2B3A"/>
                </a:solidFill>
                <a:latin typeface="Barlow"/>
              </a:rPr>
              <a:t> im Team: Moderation · Zeichner:in · Textprüfer:in (hakt jede Information ab) · Notationsprüfer:in (EH §7)</a:t>
            </a:r>
          </a:p>
          <a:p>
            <a:pPr>
              <a:lnSpc>
                <a:spcPct val="105000"/>
              </a:lnSpc>
              <a:spcAft>
                <a:spcPts val="600"/>
              </a:spcAft>
            </a:pPr>
            <a:r>
              <a:rPr sz="1900" b="0" i="0" u="none">
                <a:solidFill>
                  <a:srgbClr val="1C2B3A"/>
                </a:solidFill>
                <a:latin typeface="Barlow"/>
              </a:rPr>
              <a:t>2. </a:t>
            </a:r>
            <a:r>
              <a:rPr sz="1900" b="1" i="0" u="none">
                <a:solidFill>
                  <a:srgbClr val="1C2B3A"/>
                </a:solidFill>
                <a:latin typeface="Barlow"/>
              </a:rPr>
              <a:t>Modellieren</a:t>
            </a:r>
            <a:r>
              <a:rPr sz="1900" b="0" i="0" u="none">
                <a:solidFill>
                  <a:srgbClr val="1C2B3A"/>
                </a:solidFill>
                <a:latin typeface="Barlow"/>
              </a:rPr>
              <a:t> (30') auf Plakat A2 oder im Bauplan-Tisch (Modus entwickeln, Export als Bild)</a:t>
            </a:r>
          </a:p>
          <a:p>
            <a:pPr>
              <a:lnSpc>
                <a:spcPct val="105000"/>
              </a:lnSpc>
              <a:spcAft>
                <a:spcPts val="600"/>
              </a:spcAft>
            </a:pPr>
            <a:r>
              <a:rPr sz="1900" b="0" i="0" u="none">
                <a:solidFill>
                  <a:srgbClr val="1C2B3A"/>
                </a:solidFill>
                <a:latin typeface="Barlow"/>
              </a:rPr>
              <a:t>3. </a:t>
            </a:r>
            <a:r>
              <a:rPr sz="1900" b="1" i="0" u="none">
                <a:solidFill>
                  <a:srgbClr val="1C2B3A"/>
                </a:solidFill>
                <a:latin typeface="Barlow"/>
              </a:rPr>
              <a:t>Galerie</a:t>
            </a:r>
            <a:r>
              <a:rPr sz="1900" b="0" i="0" u="none">
                <a:solidFill>
                  <a:srgbClr val="1C2B3A"/>
                </a:solidFill>
                <a:latin typeface="Barlow"/>
              </a:rPr>
              <a:t> (15'): Jedes Team bewertet zwei fremde Entwürfe mit dem Bewertungsbogen</a:t>
            </a:r>
          </a:p>
          <a:p>
            <a:pPr>
              <a:lnSpc>
                <a:spcPct val="105000"/>
              </a:lnSpc>
              <a:spcAft>
                <a:spcPts val="600"/>
              </a:spcAft>
            </a:pPr>
            <a:r>
              <a:rPr sz="1900" b="0" i="0" u="none">
                <a:solidFill>
                  <a:srgbClr val="1C2B3A"/>
                </a:solidFill>
                <a:latin typeface="Barlow"/>
              </a:rPr>
              <a:t>4. Pflichtkommentar: „Das würden wir übernehmen: …“</a:t>
            </a:r>
          </a:p>
          <a:p>
            <a:pPr>
              <a:lnSpc>
                <a:spcPct val="105000"/>
              </a:lnSpc>
              <a:spcAft>
                <a:spcPts val="600"/>
              </a:spcAft>
            </a:pPr>
            <a:r>
              <a:rPr sz="1900" b="0" i="0" u="none">
                <a:solidFill>
                  <a:srgbClr val="1C2B3A"/>
                </a:solidFill>
                <a:latin typeface="Barlow"/>
              </a:rPr>
              <a:t>5. </a:t>
            </a:r>
            <a:r>
              <a:rPr sz="1900" b="1" i="0" u="none">
                <a:solidFill>
                  <a:srgbClr val="1C2B3A"/>
                </a:solidFill>
                <a:latin typeface="Barlow"/>
              </a:rPr>
              <a:t>Siegerehrung</a:t>
            </a:r>
            <a:r>
              <a:rPr sz="1900" b="0" i="0" u="none">
                <a:solidFill>
                  <a:srgbClr val="1C2B3A"/>
                </a:solidFill>
                <a:latin typeface="Barlow"/>
              </a:rPr>
              <a:t>: Punktekleber – das Siegerteam erhält den Stempel ARCHITEKTUR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Der Bewertungsbogen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28</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3590290"/>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1. alle 5 Entitätstypen (Ermittler, Fall, Person, Ort, Beweisstück) mit Attributen</a:t>
            </a:r>
          </a:p>
          <a:p>
            <a:pPr>
              <a:lnSpc>
                <a:spcPct val="105000"/>
              </a:lnSpc>
              <a:spcAft>
                <a:spcPts val="600"/>
              </a:spcAft>
            </a:pPr>
            <a:r>
              <a:rPr sz="1900" b="0" i="0" u="none">
                <a:solidFill>
                  <a:srgbClr val="1C2B3A"/>
                </a:solidFill>
                <a:latin typeface="Barlow"/>
              </a:rPr>
              <a:t>2. Schlüsselattribute markiert (unterstrichen)</a:t>
            </a:r>
          </a:p>
          <a:p>
            <a:pPr>
              <a:lnSpc>
                <a:spcPct val="105000"/>
              </a:lnSpc>
              <a:spcAft>
                <a:spcPts val="600"/>
              </a:spcAft>
            </a:pPr>
            <a:r>
              <a:rPr sz="1900" b="0" i="0" u="none">
                <a:solidFill>
                  <a:srgbClr val="1C2B3A"/>
                </a:solidFill>
                <a:latin typeface="Barlow"/>
              </a:rPr>
              <a:t>3. </a:t>
            </a:r>
            <a:r>
              <a:rPr sz="1900" b="0" i="1" u="none">
                <a:solidFill>
                  <a:srgbClr val="1C2B3A"/>
                </a:solidFill>
                <a:latin typeface="Barlow"/>
              </a:rPr>
              <a:t>leitet</a:t>
            </a:r>
            <a:r>
              <a:rPr sz="1900" b="0" i="0" u="none">
                <a:solidFill>
                  <a:srgbClr val="1C2B3A"/>
                </a:solidFill>
                <a:latin typeface="Barlow"/>
              </a:rPr>
              <a:t> 1:n richtig (n an der Kante zu Fall)</a:t>
            </a:r>
          </a:p>
          <a:p>
            <a:pPr>
              <a:lnSpc>
                <a:spcPct val="105000"/>
              </a:lnSpc>
              <a:spcAft>
                <a:spcPts val="600"/>
              </a:spcAft>
            </a:pPr>
            <a:r>
              <a:rPr sz="1900" b="0" i="0" u="none">
                <a:solidFill>
                  <a:srgbClr val="1C2B3A"/>
                </a:solidFill>
                <a:latin typeface="Barlow"/>
              </a:rPr>
              <a:t>4. </a:t>
            </a:r>
            <a:r>
              <a:rPr sz="1900" b="0" i="1" u="none">
                <a:solidFill>
                  <a:srgbClr val="1C2B3A"/>
                </a:solidFill>
                <a:latin typeface="Barlow"/>
              </a:rPr>
              <a:t>betreut</a:t>
            </a:r>
            <a:r>
              <a:rPr sz="1900" b="0" i="0" u="none">
                <a:solidFill>
                  <a:srgbClr val="1C2B3A"/>
                </a:solidFill>
                <a:latin typeface="Barlow"/>
              </a:rPr>
              <a:t> rekursiv 1:n mit Rollen Mentor/Neuling</a:t>
            </a:r>
          </a:p>
          <a:p>
            <a:pPr>
              <a:lnSpc>
                <a:spcPct val="105000"/>
              </a:lnSpc>
              <a:spcAft>
                <a:spcPts val="600"/>
              </a:spcAft>
            </a:pPr>
            <a:r>
              <a:rPr sz="1900" b="0" i="0" u="none">
                <a:solidFill>
                  <a:srgbClr val="1C2B3A"/>
                </a:solidFill>
                <a:latin typeface="Barlow"/>
              </a:rPr>
              <a:t>5. </a:t>
            </a:r>
            <a:r>
              <a:rPr sz="1900" b="0" i="1" u="none">
                <a:solidFill>
                  <a:srgbClr val="1C2B3A"/>
                </a:solidFill>
                <a:latin typeface="Barlow"/>
              </a:rPr>
              <a:t>kennt</a:t>
            </a:r>
            <a:r>
              <a:rPr sz="1900" b="0" i="0" u="none">
                <a:solidFill>
                  <a:srgbClr val="1C2B3A"/>
                </a:solidFill>
                <a:latin typeface="Barlow"/>
              </a:rPr>
              <a:t> rekursiv n:m mit Attribut Seit</a:t>
            </a:r>
          </a:p>
          <a:p>
            <a:pPr>
              <a:lnSpc>
                <a:spcPct val="105000"/>
              </a:lnSpc>
              <a:spcAft>
                <a:spcPts val="600"/>
              </a:spcAft>
            </a:pPr>
            <a:r>
              <a:rPr sz="1900" b="0" i="0" u="none">
                <a:solidFill>
                  <a:srgbClr val="1C2B3A"/>
                </a:solidFill>
                <a:latin typeface="Barlow"/>
              </a:rPr>
              <a:t>6. </a:t>
            </a:r>
            <a:r>
              <a:rPr sz="1900" b="0" i="1" u="none">
                <a:solidFill>
                  <a:srgbClr val="1C2B3A"/>
                </a:solidFill>
                <a:latin typeface="Barlow"/>
              </a:rPr>
              <a:t>verdaechtig</a:t>
            </a:r>
            <a:r>
              <a:rPr sz="1900" b="0" i="0" u="none">
                <a:solidFill>
                  <a:srgbClr val="1C2B3A"/>
                </a:solidFill>
                <a:latin typeface="Barlow"/>
              </a:rPr>
              <a:t> n:m mit Attribut Grad an der Raute</a:t>
            </a:r>
          </a:p>
          <a:p>
            <a:pPr>
              <a:lnSpc>
                <a:spcPct val="105000"/>
              </a:lnSpc>
              <a:spcAft>
                <a:spcPts val="600"/>
              </a:spcAft>
            </a:pPr>
            <a:r>
              <a:rPr sz="1900" b="0" i="0" u="none">
                <a:solidFill>
                  <a:srgbClr val="1C2B3A"/>
                </a:solidFill>
                <a:latin typeface="Barlow"/>
              </a:rPr>
              <a:t>7. </a:t>
            </a:r>
            <a:r>
              <a:rPr sz="1900" b="0" i="1" u="none">
                <a:solidFill>
                  <a:srgbClr val="1C2B3A"/>
                </a:solidFill>
                <a:latin typeface="Barlow"/>
              </a:rPr>
              <a:t>sagtAus</a:t>
            </a:r>
            <a:r>
              <a:rPr sz="1900" b="0" i="0" u="none">
                <a:solidFill>
                  <a:srgbClr val="1C2B3A"/>
                </a:solidFill>
                <a:latin typeface="Barlow"/>
              </a:rPr>
              <a:t> ternär (Person, Fall, Ort) mit Zeitpunkt und Inhalt</a:t>
            </a:r>
          </a:p>
          <a:p>
            <a:pPr>
              <a:lnSpc>
                <a:spcPct val="105000"/>
              </a:lnSpc>
              <a:spcAft>
                <a:spcPts val="600"/>
              </a:spcAft>
            </a:pPr>
            <a:r>
              <a:rPr sz="1900" b="0" i="0" u="none">
                <a:solidFill>
                  <a:srgbClr val="1C2B3A"/>
                </a:solidFill>
                <a:latin typeface="Barlow"/>
              </a:rPr>
              <a:t>8. Beweisstück 1:n zu Fall und 1:n zu Ort</a:t>
            </a:r>
          </a:p>
          <a:p>
            <a:pPr>
              <a:lnSpc>
                <a:spcPct val="105000"/>
              </a:lnSpc>
              <a:spcAft>
                <a:spcPts val="600"/>
              </a:spcAft>
            </a:pPr>
            <a:r>
              <a:rPr sz="1900" b="0" i="0" u="none">
                <a:solidFill>
                  <a:srgbClr val="1C2B3A"/>
                </a:solidFill>
                <a:latin typeface="Barlow"/>
              </a:rPr>
              <a:t>9. Fachsprache und Notation nach EH §7 (Verben, 1/n/m, Singular)</a:t>
            </a:r>
          </a:p>
          <a:p>
            <a:pPr>
              <a:lnSpc>
                <a:spcPct val="105000"/>
              </a:lnSpc>
              <a:spcAft>
                <a:spcPts val="600"/>
              </a:spcAft>
            </a:pPr>
            <a:r>
              <a:rPr sz="1900" b="0" i="0" u="none">
                <a:solidFill>
                  <a:srgbClr val="1C2B3A"/>
                </a:solidFill>
                <a:latin typeface="Barlow"/>
              </a:rPr>
              <a:t>10. Lesbarkeit (wenige Kreuzungen, klare Beschriftung)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Ab ins Lab: Ermittlung 5.2</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29</a:t>
            </a:r>
          </a:p>
        </p:txBody>
      </p:sp>
      <p:sp>
        <p:nvSpPr>
          <p:cNvPr id="8" name="Rounded Rectangle 7"/>
          <p:cNvSpPr/>
          <p:nvPr/>
        </p:nvSpPr>
        <p:spPr>
          <a:xfrm>
            <a:off x="548640" y="1691640"/>
            <a:ext cx="11094415" cy="292608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C5A85"/>
                </a:solidFill>
                <a:latin typeface="IBM Plex Mono"/>
              </a:rPr>
              <a:t>SPUR IM LAB</a:t>
            </a:r>
          </a:p>
        </p:txBody>
      </p:sp>
      <p:sp>
        <p:nvSpPr>
          <p:cNvPr id="10" name="TextBox 9"/>
          <p:cNvSpPr txBox="1"/>
          <p:nvPr/>
        </p:nvSpPr>
        <p:spPr>
          <a:xfrm>
            <a:off x="822959" y="2194560"/>
            <a:ext cx="10545775" cy="2194560"/>
          </a:xfrm>
          <a:prstGeom prst="rect">
            <a:avLst/>
          </a:prstGeom>
          <a:noFill/>
        </p:spPr>
        <p:txBody>
          <a:bodyPr wrap="square" anchor="t" lIns="36576" rIns="36576" tIns="36576" bIns="36576">
            <a:spAutoFit/>
          </a:bodyPr>
          <a:lstStyle/>
          <a:p>
            <a:pPr>
              <a:lnSpc>
                <a:spcPct val="105000"/>
              </a:lnSpc>
              <a:spcAft>
                <a:spcPts val="600"/>
              </a:spcAft>
            </a:pPr>
            <a:r>
              <a:rPr sz="2600" b="0" i="0" u="none">
                <a:solidFill>
                  <a:srgbClr val="1C2B3A"/>
                </a:solidFill>
                <a:latin typeface="Barlow Condensed SemiBold"/>
              </a:rPr>
              <a:t>„Der Architekturwettbewerb“</a:t>
            </a:r>
          </a:p>
          <a:p>
            <a:pPr>
              <a:lnSpc>
                <a:spcPct val="105000"/>
              </a:lnSpc>
              <a:spcAft>
                <a:spcPts val="400"/>
              </a:spcAft>
            </a:pPr>
            <a:r>
              <a:rPr sz="1900" b="1" i="0" u="none">
                <a:solidFill>
                  <a:srgbClr val="1C2B3A"/>
                </a:solidFill>
                <a:latin typeface="Barlow"/>
              </a:rPr>
              <a:t>Aufgaben:</a:t>
            </a:r>
            <a:r>
              <a:rPr sz="1900" b="0" i="0" u="none">
                <a:solidFill>
                  <a:srgbClr val="1C2B3A"/>
                </a:solidFill>
                <a:latin typeface="Barlow"/>
              </a:rPr>
              <a:t> A5-E2-01 … 06 in der Stunde, 07/08 als Hausaufgabe</a:t>
            </a:r>
          </a:p>
          <a:p>
            <a:pPr>
              <a:lnSpc>
                <a:spcPct val="105000"/>
              </a:lnSpc>
              <a:spcAft>
                <a:spcPts val="400"/>
              </a:spcAft>
            </a:pPr>
            <a:r>
              <a:rPr sz="1900" b="1" i="0" u="none">
                <a:solidFill>
                  <a:srgbClr val="1C2B3A"/>
                </a:solidFill>
                <a:latin typeface="Barlow"/>
              </a:rPr>
              <a:t>Werkzeug:</a:t>
            </a:r>
            <a:r>
              <a:rPr sz="1900" b="0" i="0" u="none">
                <a:solidFill>
                  <a:srgbClr val="1C2B3A"/>
                </a:solidFill>
                <a:latin typeface="Barlow"/>
              </a:rPr>
              <a:t> Bauplan-Tisch (Modi ergänzen und entwickeln)</a:t>
            </a:r>
          </a:p>
        </p:txBody>
      </p:sp>
      <p:sp>
        <p:nvSpPr>
          <p:cNvPr id="11" name="TextBox 10"/>
          <p:cNvSpPr txBox="1"/>
          <p:nvPr/>
        </p:nvSpPr>
        <p:spPr>
          <a:xfrm>
            <a:off x="548640" y="4800600"/>
            <a:ext cx="11094415" cy="717550"/>
          </a:xfrm>
          <a:prstGeom prst="rect">
            <a:avLst/>
          </a:prstGeom>
          <a:noFill/>
        </p:spPr>
        <p:txBody>
          <a:bodyPr wrap="square" anchor="t" lIns="36576" rIns="36576" tIns="36576" bIns="36576">
            <a:spAutoFit/>
          </a:bodyPr>
          <a:lstStyle/>
          <a:p>
            <a:pPr>
              <a:lnSpc>
                <a:spcPct val="105000"/>
              </a:lnSpc>
              <a:spcAft>
                <a:spcPts val="600"/>
              </a:spcAft>
            </a:pPr>
            <a:r>
              <a:rPr sz="1700" b="0" i="0" u="none">
                <a:solidFill>
                  <a:srgbClr val="E8E1D3"/>
                </a:solidFill>
                <a:latin typeface="Barlow"/>
              </a:rPr>
              <a:t>▸ Die Referenzlösung erscheint im Lab erst nach A5-E2-07</a:t>
            </a:r>
          </a:p>
          <a:p>
            <a:pPr>
              <a:lnSpc>
                <a:spcPct val="105000"/>
              </a:lnSpc>
              <a:spcAft>
                <a:spcPts val="600"/>
              </a:spcAft>
            </a:pPr>
            <a:r>
              <a:rPr sz="1700" b="0" i="0" u="none">
                <a:solidFill>
                  <a:srgbClr val="E8E1D3"/>
                </a:solidFill>
                <a:latin typeface="Barlow"/>
              </a:rPr>
              <a:t>▸ Parallel bzw. zu Hause: AB 5.2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935705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Referenzlösung = Fall-Datenbank der Detektei</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Marker Lehrkraft"/>
          <p:cNvSpPr/>
          <p:nvPr/>
        </p:nvSpPr>
        <p:spPr>
          <a:xfrm>
            <a:off x="10042855" y="310896"/>
            <a:ext cx="1600200" cy="310896"/>
          </a:xfrm>
          <a:prstGeom prst="roundRect">
            <a:avLst>
              <a:gd name="adj" fmla="val 4000"/>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42855" y="310896"/>
            <a:ext cx="1600200" cy="310896"/>
          </a:xfrm>
          <a:prstGeom prst="rect">
            <a:avLst/>
          </a:prstGeom>
          <a:noFill/>
        </p:spPr>
        <p:txBody>
          <a:bodyPr wrap="square" anchor="ctr" lIns="36576" rIns="36576" tIns="36576" bIns="36576">
            <a:spAutoFit/>
          </a:bodyPr>
          <a:lstStyle/>
          <a:p>
            <a:pPr algn="ctr">
              <a:lnSpc>
                <a:spcPct val="105000"/>
              </a:lnSpc>
            </a:pPr>
            <a:r>
              <a:rPr sz="1000" b="1" i="0" u="none">
                <a:solidFill>
                  <a:srgbClr val="141B22"/>
                </a:solidFill>
                <a:latin typeface="IBM Plex Mono"/>
              </a:rPr>
              <a:t>NUR LEHRKRAFT</a:t>
            </a:r>
          </a:p>
        </p:txBody>
      </p:sp>
      <p:sp>
        <p:nvSpPr>
          <p:cNvPr id="9" name="TextBox 8"/>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30</a:t>
            </a:r>
          </a:p>
        </p:txBody>
      </p:sp>
      <p:sp>
        <p:nvSpPr>
          <p:cNvPr id="10" name="Rounded Rectangle 9"/>
          <p:cNvSpPr/>
          <p:nvPr/>
        </p:nvSpPr>
        <p:spPr>
          <a:xfrm>
            <a:off x="548640" y="1691640"/>
            <a:ext cx="11094415" cy="4343400"/>
          </a:xfrm>
          <a:prstGeom prst="roundRect">
            <a:avLst>
              <a:gd name="adj" fmla="val 4000"/>
            </a:avLst>
          </a:prstGeom>
          <a:solidFill>
            <a:srgbClr val="F4EDE1"/>
          </a:solidFill>
          <a:ln w="25400">
            <a:solidFill>
              <a:srgbClr val="5FAF8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F6B4F"/>
                </a:solidFill>
                <a:latin typeface="IBM Plex Mono"/>
              </a:rPr>
              <a:t>LÖSUNG</a:t>
            </a:r>
          </a:p>
        </p:txBody>
      </p:sp>
      <p:pic>
        <p:nvPicPr>
          <p:cNvPr id="12" name="Picture 11" descr="f140340855161808.png"/>
          <p:cNvPicPr>
            <a:picLocks noChangeAspect="1"/>
          </p:cNvPicPr>
          <p:nvPr/>
        </p:nvPicPr>
        <p:blipFill>
          <a:blip r:embed="rId3"/>
          <a:stretch>
            <a:fillRect/>
          </a:stretch>
        </p:blipFill>
        <p:spPr>
          <a:xfrm>
            <a:off x="3236575" y="2194560"/>
            <a:ext cx="5718544" cy="379476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Ermittler-Notiz</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31</a:t>
            </a:r>
          </a:p>
        </p:txBody>
      </p:sp>
      <p:sp>
        <p:nvSpPr>
          <p:cNvPr id="8" name="Rounded Rectangle 7"/>
          <p:cNvSpPr/>
          <p:nvPr/>
        </p:nvSpPr>
        <p:spPr>
          <a:xfrm>
            <a:off x="548640" y="1691640"/>
            <a:ext cx="11094415" cy="434340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C5A85"/>
                </a:solidFill>
                <a:latin typeface="IBM Plex Mono"/>
              </a:rPr>
              <a:t>ERMITTLER-NOTIZ</a:t>
            </a:r>
          </a:p>
        </p:txBody>
      </p:sp>
      <p:sp>
        <p:nvSpPr>
          <p:cNvPr id="10" name="TextBox 9"/>
          <p:cNvSpPr txBox="1"/>
          <p:nvPr/>
        </p:nvSpPr>
        <p:spPr>
          <a:xfrm>
            <a:off x="822959" y="2194560"/>
            <a:ext cx="10545775" cy="1932940"/>
          </a:xfrm>
          <a:prstGeom prst="rect">
            <a:avLst/>
          </a:prstGeom>
          <a:noFill/>
        </p:spPr>
        <p:txBody>
          <a:bodyPr wrap="square" anchor="t" lIns="36576" rIns="36576" tIns="36576" bIns="36576">
            <a:spAutoFit/>
          </a:bodyPr>
          <a:lstStyle/>
          <a:p>
            <a:pPr>
              <a:lnSpc>
                <a:spcPct val="105000"/>
              </a:lnSpc>
              <a:spcAft>
                <a:spcPts val="600"/>
              </a:spcAft>
            </a:pPr>
            <a:r>
              <a:rPr sz="2000" b="0" i="0" u="none">
                <a:solidFill>
                  <a:srgbClr val="1C2B3A"/>
                </a:solidFill>
                <a:latin typeface="Barlow"/>
              </a:rPr>
              <a:t>▸ Rekursiv: Beziehungstyp mit zwei Kanten zum selben Entitätstyp, Rollen an die Kanten.</a:t>
            </a:r>
          </a:p>
          <a:p>
            <a:pPr>
              <a:lnSpc>
                <a:spcPct val="105000"/>
              </a:lnSpc>
              <a:spcAft>
                <a:spcPts val="600"/>
              </a:spcAft>
            </a:pPr>
            <a:r>
              <a:rPr sz="2000" b="0" i="0" u="none">
                <a:solidFill>
                  <a:srgbClr val="1C2B3A"/>
                </a:solidFill>
                <a:latin typeface="Barlow"/>
              </a:rPr>
              <a:t>▸ Zwei Rollen (Heim/Gast, Leitung/Verdacht) = zwei Beziehungstypen.</a:t>
            </a:r>
          </a:p>
          <a:p>
            <a:pPr>
              <a:lnSpc>
                <a:spcPct val="105000"/>
              </a:lnSpc>
              <a:spcAft>
                <a:spcPts val="600"/>
              </a:spcAft>
            </a:pPr>
            <a:r>
              <a:rPr sz="2000" b="0" i="0" u="none">
                <a:solidFill>
                  <a:srgbClr val="1C2B3A"/>
                </a:solidFill>
                <a:latin typeface="Barlow"/>
              </a:rPr>
              <a:t>▸ Ternär: eine Raute, drei Kanten (m:n:p) – nur zu dritt eindeutig.</a:t>
            </a:r>
          </a:p>
          <a:p>
            <a:pPr>
              <a:lnSpc>
                <a:spcPct val="105000"/>
              </a:lnSpc>
              <a:spcAft>
                <a:spcPts val="600"/>
              </a:spcAft>
            </a:pPr>
            <a:r>
              <a:rPr sz="2000" b="0" i="0" u="none">
                <a:solidFill>
                  <a:srgbClr val="1C2B3A"/>
                </a:solidFill>
                <a:latin typeface="Barlow"/>
              </a:rPr>
              <a:t>▸ Grenzen: „genau drei“, „höchstens 12“, „höherer Dienstgrad“ → Anmerkung zum Modell.</a:t>
            </a:r>
          </a:p>
          <a:p>
            <a:pPr>
              <a:lnSpc>
                <a:spcPct val="105000"/>
              </a:lnSpc>
              <a:spcAft>
                <a:spcPts val="600"/>
              </a:spcAft>
            </a:pPr>
            <a:r>
              <a:rPr sz="2000" b="0" i="0" u="none">
                <a:solidFill>
                  <a:srgbClr val="1C2B3A"/>
                </a:solidFill>
                <a:latin typeface="Barlow"/>
              </a:rPr>
              <a:t>▸ Beurteilen: Alternativen benennen, Folgen abwägen, Urteil begründen.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Abi-Format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32</a:t>
            </a:r>
          </a:p>
        </p:txBody>
      </p:sp>
      <p:sp>
        <p:nvSpPr>
          <p:cNvPr id="8" name="Rounded Rectangle 7"/>
          <p:cNvSpPr/>
          <p:nvPr/>
        </p:nvSpPr>
        <p:spPr>
          <a:xfrm>
            <a:off x="548640" y="1691640"/>
            <a:ext cx="11094415" cy="4343400"/>
          </a:xfrm>
          <a:prstGeom prst="roundRect">
            <a:avLst>
              <a:gd name="adj" fmla="val 4000"/>
            </a:avLst>
          </a:prstGeom>
          <a:solidFill>
            <a:srgbClr val="F4EDE1"/>
          </a:solidFill>
          <a:ln w="2540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ABI-ECKE · OPERATOR ERWEITERN</a:t>
            </a:r>
          </a:p>
        </p:txBody>
      </p:sp>
      <p:sp>
        <p:nvSpPr>
          <p:cNvPr id="10" name="TextBox 9"/>
          <p:cNvSpPr txBox="1"/>
          <p:nvPr/>
        </p:nvSpPr>
        <p:spPr>
          <a:xfrm>
            <a:off x="822959" y="2194560"/>
            <a:ext cx="10545775" cy="1678940"/>
          </a:xfrm>
          <a:prstGeom prst="rect">
            <a:avLst/>
          </a:prstGeom>
          <a:noFill/>
        </p:spPr>
        <p:txBody>
          <a:bodyPr wrap="square" anchor="t" lIns="36576" rIns="36576" tIns="36576" bIns="36576">
            <a:spAutoFit/>
          </a:bodyPr>
          <a:lstStyle/>
          <a:p>
            <a:pPr>
              <a:lnSpc>
                <a:spcPct val="105000"/>
              </a:lnSpc>
              <a:spcAft>
                <a:spcPts val="600"/>
              </a:spcAft>
            </a:pPr>
            <a:r>
              <a:rPr sz="2000" b="0" i="0" u="none">
                <a:solidFill>
                  <a:srgbClr val="1C2B3A"/>
                </a:solidFill>
                <a:latin typeface="Barlow"/>
              </a:rPr>
              <a:t>Gegeben ist das ER-Modell der Detektei (Ermittler </a:t>
            </a:r>
            <a:r>
              <a:rPr sz="2000" b="0" i="1" u="none">
                <a:solidFill>
                  <a:srgbClr val="1C2B3A"/>
                </a:solidFill>
                <a:latin typeface="Barlow"/>
              </a:rPr>
              <a:t>leitet</a:t>
            </a:r>
            <a:r>
              <a:rPr sz="2000" b="0" i="0" u="none">
                <a:solidFill>
                  <a:srgbClr val="1C2B3A"/>
                </a:solidFill>
                <a:latin typeface="Barlow"/>
              </a:rPr>
              <a:t> Fall). Die Detektei möchte zusätzlich erfassen, welche Ermittler mit welcher Rolle an einem Fall mitarbeiten und welcher Ermittler welchen anderen vertritt (höchstens eine feste Vertretung je Ermittler). </a:t>
            </a:r>
            <a:r>
              <a:rPr sz="2000" b="1" i="0" u="none">
                <a:solidFill>
                  <a:srgbClr val="1C2B3A"/>
                </a:solidFill>
                <a:latin typeface="Barlow"/>
              </a:rPr>
              <a:t>Erweitern</a:t>
            </a:r>
            <a:r>
              <a:rPr sz="2000" b="0" i="0" u="none">
                <a:solidFill>
                  <a:srgbClr val="1C2B3A"/>
                </a:solidFill>
                <a:latin typeface="Barlow"/>
              </a:rPr>
              <a:t> Sie das ER-Modell entsprechend. [5 BE]</a:t>
            </a:r>
          </a:p>
        </p:txBody>
      </p:sp>
      <p:pic>
        <p:nvPicPr>
          <p:cNvPr id="11" name="Picture 10" descr="f140340854631328.png"/>
          <p:cNvPicPr>
            <a:picLocks noChangeAspect="1"/>
          </p:cNvPicPr>
          <p:nvPr/>
        </p:nvPicPr>
        <p:blipFill>
          <a:blip r:embed="rId3"/>
          <a:stretch>
            <a:fillRect/>
          </a:stretch>
        </p:blipFill>
        <p:spPr>
          <a:xfrm>
            <a:off x="2684337" y="3946651"/>
            <a:ext cx="6823019" cy="1951228"/>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935705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Lösung Abi-Format (DS 10)</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Marker Lehrkraft"/>
          <p:cNvSpPr/>
          <p:nvPr/>
        </p:nvSpPr>
        <p:spPr>
          <a:xfrm>
            <a:off x="10042855" y="310896"/>
            <a:ext cx="1600200" cy="310896"/>
          </a:xfrm>
          <a:prstGeom prst="roundRect">
            <a:avLst>
              <a:gd name="adj" fmla="val 4000"/>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42855" y="310896"/>
            <a:ext cx="1600200" cy="310896"/>
          </a:xfrm>
          <a:prstGeom prst="rect">
            <a:avLst/>
          </a:prstGeom>
          <a:noFill/>
        </p:spPr>
        <p:txBody>
          <a:bodyPr wrap="square" anchor="ctr" lIns="36576" rIns="36576" tIns="36576" bIns="36576">
            <a:spAutoFit/>
          </a:bodyPr>
          <a:lstStyle/>
          <a:p>
            <a:pPr algn="ctr">
              <a:lnSpc>
                <a:spcPct val="105000"/>
              </a:lnSpc>
            </a:pPr>
            <a:r>
              <a:rPr sz="1000" b="1" i="0" u="none">
                <a:solidFill>
                  <a:srgbClr val="141B22"/>
                </a:solidFill>
                <a:latin typeface="IBM Plex Mono"/>
              </a:rPr>
              <a:t>NUR LEHRKRAFT</a:t>
            </a:r>
          </a:p>
        </p:txBody>
      </p:sp>
      <p:sp>
        <p:nvSpPr>
          <p:cNvPr id="9" name="TextBox 8"/>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33</a:t>
            </a:r>
          </a:p>
        </p:txBody>
      </p:sp>
      <p:sp>
        <p:nvSpPr>
          <p:cNvPr id="10" name="Rounded Rectangle 9"/>
          <p:cNvSpPr/>
          <p:nvPr/>
        </p:nvSpPr>
        <p:spPr>
          <a:xfrm>
            <a:off x="548640" y="1691640"/>
            <a:ext cx="11094415" cy="4343400"/>
          </a:xfrm>
          <a:prstGeom prst="roundRect">
            <a:avLst>
              <a:gd name="adj" fmla="val 4000"/>
            </a:avLst>
          </a:prstGeom>
          <a:solidFill>
            <a:srgbClr val="F4EDE1"/>
          </a:solidFill>
          <a:ln w="25400">
            <a:solidFill>
              <a:srgbClr val="5FAF8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F6B4F"/>
                </a:solidFill>
                <a:latin typeface="IBM Plex Mono"/>
              </a:rPr>
              <a:t>LÖSUNG</a:t>
            </a:r>
          </a:p>
        </p:txBody>
      </p:sp>
      <p:pic>
        <p:nvPicPr>
          <p:cNvPr id="12" name="Picture 11" descr="f140340855167296.png"/>
          <p:cNvPicPr>
            <a:picLocks noChangeAspect="1"/>
          </p:cNvPicPr>
          <p:nvPr/>
        </p:nvPicPr>
        <p:blipFill>
          <a:blip r:embed="rId3"/>
          <a:stretch>
            <a:fillRect/>
          </a:stretch>
        </p:blipFill>
        <p:spPr>
          <a:xfrm>
            <a:off x="2148131" y="2194560"/>
            <a:ext cx="7895431" cy="379476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Cliffhanger</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34</a:t>
            </a:r>
          </a:p>
        </p:txBody>
      </p:sp>
      <p:sp>
        <p:nvSpPr>
          <p:cNvPr id="8" name="Rounded Rectangle 7"/>
          <p:cNvSpPr/>
          <p:nvPr/>
        </p:nvSpPr>
        <p:spPr>
          <a:xfrm>
            <a:off x="548640" y="1691640"/>
            <a:ext cx="11094415" cy="42062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BRIEFING · EDDA LORENZ</a:t>
            </a:r>
          </a:p>
        </p:txBody>
      </p:sp>
      <p:sp>
        <p:nvSpPr>
          <p:cNvPr id="10" name="TextBox 9"/>
          <p:cNvSpPr txBox="1"/>
          <p:nvPr/>
        </p:nvSpPr>
        <p:spPr>
          <a:xfrm>
            <a:off x="822959" y="2240280"/>
            <a:ext cx="10545775" cy="3474720"/>
          </a:xfrm>
          <a:prstGeom prst="rect">
            <a:avLst/>
          </a:prstGeom>
          <a:noFill/>
        </p:spPr>
        <p:txBody>
          <a:bodyPr wrap="square" anchor="t" lIns="36576" rIns="36576" tIns="36576" bIns="36576">
            <a:spAutoFit/>
          </a:bodyPr>
          <a:lstStyle/>
          <a:p>
            <a:pPr>
              <a:lnSpc>
                <a:spcPct val="105000"/>
              </a:lnSpc>
            </a:pPr>
            <a:r>
              <a:rPr sz="2200" b="0" i="1" u="none">
                <a:solidFill>
                  <a:srgbClr val="1C2B3A"/>
                </a:solidFill>
                <a:latin typeface="Barlow"/>
              </a:rPr>
              <a:t>Der Siegerentwurf kommt auf den Bauplan-Tisch, und Edda sagt nur: „Schön – nächste Stunde wird daraus eine echte Datenbank, und dann fragen wir sie, wer Nora Falter kennt.“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Warm-up: Karten W-A5-05 … 08</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35</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441325"/>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 Rekursiv lesen · Ternär lesen · Text → Mini-ER · Grenzen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Vom Plan zur Datenbank</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36</a:t>
            </a:r>
          </a:p>
        </p:txBody>
      </p:sp>
      <p:sp>
        <p:nvSpPr>
          <p:cNvPr id="8" name="Rounded Rectangle 7"/>
          <p:cNvSpPr/>
          <p:nvPr/>
        </p:nvSpPr>
        <p:spPr>
          <a:xfrm>
            <a:off x="548640" y="1691640"/>
            <a:ext cx="11094415" cy="42062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BRIEFING · EDDA LORENZ</a:t>
            </a:r>
          </a:p>
        </p:txBody>
      </p:sp>
      <p:sp>
        <p:nvSpPr>
          <p:cNvPr id="10" name="TextBox 9"/>
          <p:cNvSpPr txBox="1"/>
          <p:nvPr/>
        </p:nvSpPr>
        <p:spPr>
          <a:xfrm>
            <a:off x="822959" y="2240280"/>
            <a:ext cx="10545775" cy="3474720"/>
          </a:xfrm>
          <a:prstGeom prst="rect">
            <a:avLst/>
          </a:prstGeom>
          <a:noFill/>
        </p:spPr>
        <p:txBody>
          <a:bodyPr wrap="square" anchor="t" lIns="36576" rIns="36576" tIns="36576" bIns="36576">
            <a:spAutoFit/>
          </a:bodyPr>
          <a:lstStyle/>
          <a:p>
            <a:pPr>
              <a:lnSpc>
                <a:spcPct val="105000"/>
              </a:lnSpc>
            </a:pPr>
            <a:r>
              <a:rPr sz="2200" b="0" i="1" u="none">
                <a:solidFill>
                  <a:srgbClr val="1C2B3A"/>
                </a:solidFill>
                <a:latin typeface="Barlow"/>
              </a:rPr>
              <a:t>Ein Bauplan ist schön, aber ermitteln können wir nur mit Tabellen. Für die Überführung gibt es klare Regeln: Jeder Entitätstyp wird eine Tabelle, bei 1:n wandert der Fremdschlüssel auf die n-Seite, und eine n:m-Beziehung bekommt eine eigene Tabelle mit zusammengesetztem Schlüssel.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Vom Plan zur Datenbank (Fortsetzung)</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37</a:t>
            </a:r>
          </a:p>
        </p:txBody>
      </p:sp>
      <p:sp>
        <p:nvSpPr>
          <p:cNvPr id="8" name="Rounded Rectangle 7"/>
          <p:cNvSpPr/>
          <p:nvPr/>
        </p:nvSpPr>
        <p:spPr>
          <a:xfrm>
            <a:off x="548640" y="1691640"/>
            <a:ext cx="11094415" cy="42062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BRIEFING · EDDA LORENZ</a:t>
            </a:r>
          </a:p>
        </p:txBody>
      </p:sp>
      <p:sp>
        <p:nvSpPr>
          <p:cNvPr id="10" name="TextBox 9"/>
          <p:cNvSpPr txBox="1"/>
          <p:nvPr/>
        </p:nvSpPr>
        <p:spPr>
          <a:xfrm>
            <a:off x="822959" y="2240280"/>
            <a:ext cx="10545775" cy="3474720"/>
          </a:xfrm>
          <a:prstGeom prst="rect">
            <a:avLst/>
          </a:prstGeom>
          <a:noFill/>
        </p:spPr>
        <p:txBody>
          <a:bodyPr wrap="square" anchor="t" lIns="36576" rIns="36576" tIns="36576" bIns="36576">
            <a:spAutoFit/>
          </a:bodyPr>
          <a:lstStyle/>
          <a:p>
            <a:pPr>
              <a:lnSpc>
                <a:spcPct val="105000"/>
              </a:lnSpc>
            </a:pPr>
            <a:r>
              <a:rPr sz="2200" b="0" i="1" u="none">
                <a:solidFill>
                  <a:srgbClr val="1C2B3A"/>
                </a:solidFill>
                <a:latin typeface="Barlow"/>
              </a:rPr>
              <a:t>Im Abitur reicht die Umsetzung nicht, ihr müsst sie begründen. Manchmal geht es auch rückwärts: aus dem Schema das ER-Diagramm. Wenn das Schema steht, füllt Juri die Datenbank mit allem, was wir wissen – und dann fragen wir sie: Wer ist in allen vier Fällen verdächtig, und wen kennt diese Person?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Wohin kommt der Verweis?</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38</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393065"/>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Ermittler </a:t>
            </a:r>
            <a:r>
              <a:rPr sz="1900" b="1" i="0" u="none">
                <a:solidFill>
                  <a:srgbClr val="1C2B3A"/>
                </a:solidFill>
                <a:latin typeface="Barlow"/>
              </a:rPr>
              <a:t>1</a:t>
            </a:r>
            <a:r>
              <a:rPr sz="1900" b="0" i="0" u="none">
                <a:solidFill>
                  <a:srgbClr val="1C2B3A"/>
                </a:solidFill>
                <a:latin typeface="Barlow"/>
              </a:rPr>
              <a:t> – </a:t>
            </a:r>
            <a:r>
              <a:rPr sz="1900" b="0" i="1" u="none">
                <a:solidFill>
                  <a:srgbClr val="1C2B3A"/>
                </a:solidFill>
                <a:latin typeface="Barlow"/>
              </a:rPr>
              <a:t>leitet</a:t>
            </a:r>
            <a:r>
              <a:rPr sz="1900" b="0" i="0" u="none">
                <a:solidFill>
                  <a:srgbClr val="1C2B3A"/>
                </a:solidFill>
                <a:latin typeface="Barlow"/>
              </a:rPr>
              <a:t> – </a:t>
            </a:r>
            <a:r>
              <a:rPr sz="1900" b="1" i="0" u="none">
                <a:solidFill>
                  <a:srgbClr val="1C2B3A"/>
                </a:solidFill>
                <a:latin typeface="Barlow"/>
              </a:rPr>
              <a:t>n</a:t>
            </a:r>
            <a:r>
              <a:rPr sz="1900" b="0" i="0" u="none">
                <a:solidFill>
                  <a:srgbClr val="1C2B3A"/>
                </a:solidFill>
                <a:latin typeface="Barlow"/>
              </a:rPr>
              <a:t> Fall. Probiert beides mit Daten aus:</a:t>
            </a:r>
          </a:p>
        </p:txBody>
      </p:sp>
      <p:graphicFrame>
        <p:nvGraphicFramePr>
          <p:cNvPr id="10" name="Datentabelle"/>
          <p:cNvGraphicFramePr>
            <a:graphicFrameLocks noGrp="1"/>
          </p:cNvGraphicFramePr>
          <p:nvPr/>
        </p:nvGraphicFramePr>
        <p:xfrm>
          <a:off x="822959" y="2386457"/>
          <a:ext cx="4678069" cy="944880"/>
        </p:xfrm>
        <a:graphic>
          <a:graphicData uri="http://schemas.openxmlformats.org/drawingml/2006/table">
            <a:tbl>
              <a:tblPr firstRow="1">
                <a:tableStyleId>{5C22544A-7EE6-4342-B048-85BDC9FD1C3A}</a:tableStyleId>
              </a:tblPr>
              <a:tblGrid>
                <a:gridCol w="1642262"/>
                <a:gridCol w="1766620"/>
                <a:gridCol w="1269187"/>
              </a:tblGrid>
              <a:tr h="314960">
                <a:tc>
                  <a:txBody>
                    <a:bodyPr/>
                    <a:lstStyle/>
                    <a:p>
                      <a:r>
                        <a:rPr sz="1472" b="1" i="0" u="none">
                          <a:solidFill>
                            <a:srgbClr val="1C2B3A"/>
                          </a:solidFill>
                          <a:latin typeface="IBM Plex Mono"/>
                        </a:rPr>
                        <a:t>ErmittlerNr</a:t>
                      </a:r>
                    </a:p>
                  </a:txBody>
                  <a:tcPr marL="54864" marR="54864" marT="18288" marB="18288">
                    <a:solidFill>
                      <a:srgbClr val="EBE2D2"/>
                    </a:solidFill>
                  </a:tcPr>
                </a:tc>
                <a:tc>
                  <a:txBody>
                    <a:bodyPr/>
                    <a:lstStyle/>
                    <a:p>
                      <a:r>
                        <a:rPr sz="1472" b="1" i="0" u="none">
                          <a:solidFill>
                            <a:srgbClr val="1C2B3A"/>
                          </a:solidFill>
                          <a:latin typeface="IBM Plex Mono"/>
                        </a:rPr>
                        <a:t>Name</a:t>
                      </a:r>
                    </a:p>
                  </a:txBody>
                  <a:tcPr marL="54864" marR="54864" marT="18288" marB="18288">
                    <a:solidFill>
                      <a:srgbClr val="EBE2D2"/>
                    </a:solidFill>
                  </a:tcPr>
                </a:tc>
                <a:tc>
                  <a:txBody>
                    <a:bodyPr/>
                    <a:lstStyle/>
                    <a:p>
                      <a:r>
                        <a:rPr sz="1472" b="1" i="0" u="none">
                          <a:solidFill>
                            <a:srgbClr val="1C2B3A"/>
                          </a:solidFill>
                          <a:latin typeface="IBM Plex Mono"/>
                        </a:rPr>
                        <a:t>FallNr ?</a:t>
                      </a:r>
                    </a:p>
                  </a:txBody>
                  <a:tcPr marL="54864" marR="54864" marT="18288" marB="18288">
                    <a:solidFill>
                      <a:srgbClr val="EBE2D2"/>
                    </a:solidFill>
                  </a:tcPr>
                </a:tc>
              </a:tr>
              <a:tr h="314960">
                <a:tc>
                  <a:txBody>
                    <a:bodyPr/>
                    <a:lstStyle/>
                    <a:p>
                      <a:pPr algn="r"/>
                      <a:r>
                        <a:rPr sz="1600" b="0" i="0" u="none">
                          <a:solidFill>
                            <a:srgbClr val="1C2B3A"/>
                          </a:solidFill>
                          <a:latin typeface="Barlow"/>
                        </a:rPr>
                        <a:t>5</a:t>
                      </a:r>
                    </a:p>
                  </a:txBody>
                  <a:tcPr marL="54864" marR="54864" marT="18288" marB="18288">
                    <a:solidFill>
                      <a:srgbClr val="FFFDF8"/>
                    </a:solidFill>
                  </a:tcPr>
                </a:tc>
                <a:tc>
                  <a:txBody>
                    <a:bodyPr/>
                    <a:lstStyle/>
                    <a:p>
                      <a:r>
                        <a:rPr sz="1600" b="0" i="0" u="none">
                          <a:solidFill>
                            <a:srgbClr val="1C2B3A"/>
                          </a:solidFill>
                          <a:latin typeface="Barlow"/>
                        </a:rPr>
                        <a:t>Imke Tiemann</a:t>
                      </a:r>
                    </a:p>
                  </a:txBody>
                  <a:tcPr marL="54864" marR="54864" marT="18288" marB="18288">
                    <a:solidFill>
                      <a:srgbClr val="FFFDF8"/>
                    </a:solidFill>
                  </a:tcPr>
                </a:tc>
                <a:tc>
                  <a:txBody>
                    <a:bodyPr/>
                    <a:lstStyle/>
                    <a:p>
                      <a:r>
                        <a:rPr sz="1600" b="0" i="0" u="none">
                          <a:solidFill>
                            <a:srgbClr val="1C2B3A"/>
                          </a:solidFill>
                          <a:latin typeface="Barlow"/>
                        </a:rPr>
                        <a:t>7, 8, 11</a:t>
                      </a:r>
                    </a:p>
                  </a:txBody>
                  <a:tcPr marL="54864" marR="54864" marT="18288" marB="18288">
                    <a:solidFill>
                      <a:srgbClr val="FFFDF8"/>
                    </a:solidFill>
                  </a:tcPr>
                </a:tc>
              </a:tr>
              <a:tr h="314960">
                <a:tc>
                  <a:txBody>
                    <a:bodyPr/>
                    <a:lstStyle/>
                    <a:p>
                      <a:pPr algn="r"/>
                      <a:r>
                        <a:rPr sz="1600" b="0" i="0" u="none">
                          <a:solidFill>
                            <a:srgbClr val="1C2B3A"/>
                          </a:solidFill>
                          <a:latin typeface="Barlow"/>
                        </a:rPr>
                        <a:t>8</a:t>
                      </a:r>
                    </a:p>
                  </a:txBody>
                  <a:tcPr marL="54864" marR="54864" marT="18288" marB="18288">
                    <a:solidFill>
                      <a:srgbClr val="FFFDF8"/>
                    </a:solidFill>
                  </a:tcPr>
                </a:tc>
                <a:tc>
                  <a:txBody>
                    <a:bodyPr/>
                    <a:lstStyle/>
                    <a:p>
                      <a:r>
                        <a:rPr sz="1600" b="0" i="0" u="none">
                          <a:solidFill>
                            <a:srgbClr val="1C2B3A"/>
                          </a:solidFill>
                          <a:latin typeface="Barlow"/>
                        </a:rPr>
                        <a:t>Deniz Akgül</a:t>
                      </a:r>
                    </a:p>
                  </a:txBody>
                  <a:tcPr marL="54864" marR="54864" marT="18288" marB="18288">
                    <a:solidFill>
                      <a:srgbClr val="FFFDF8"/>
                    </a:solidFill>
                  </a:tcPr>
                </a:tc>
                <a:tc>
                  <a:txBody>
                    <a:bodyPr/>
                    <a:lstStyle/>
                    <a:p>
                      <a:pPr algn="r"/>
                      <a:r>
                        <a:rPr sz="1600" b="0" i="0" u="none">
                          <a:solidFill>
                            <a:srgbClr val="1C2B3A"/>
                          </a:solidFill>
                          <a:latin typeface="Barlow"/>
                        </a:rPr>
                        <a:t>12</a:t>
                      </a:r>
                    </a:p>
                  </a:txBody>
                  <a:tcPr marL="54864" marR="54864" marT="18288" marB="18288">
                    <a:solidFill>
                      <a:srgbClr val="FFFDF8"/>
                    </a:solidFill>
                  </a:tcPr>
                </a:tc>
              </a:tr>
            </a:tbl>
          </a:graphicData>
        </a:graphic>
      </p:graphicFrame>
      <p:graphicFrame>
        <p:nvGraphicFramePr>
          <p:cNvPr id="11" name="Datentabelle"/>
          <p:cNvGraphicFramePr>
            <a:graphicFrameLocks noGrp="1"/>
          </p:cNvGraphicFramePr>
          <p:nvPr/>
        </p:nvGraphicFramePr>
        <p:xfrm>
          <a:off x="822959" y="3441065"/>
          <a:ext cx="6046012" cy="944880"/>
        </p:xfrm>
        <a:graphic>
          <a:graphicData uri="http://schemas.openxmlformats.org/drawingml/2006/table">
            <a:tbl>
              <a:tblPr firstRow="1">
                <a:tableStyleId>{5C22544A-7EE6-4342-B048-85BDC9FD1C3A}</a:tableStyleId>
              </a:tblPr>
              <a:tblGrid>
                <a:gridCol w="1020470"/>
                <a:gridCol w="3756355"/>
                <a:gridCol w="1269187"/>
              </a:tblGrid>
              <a:tr h="314960">
                <a:tc>
                  <a:txBody>
                    <a:bodyPr/>
                    <a:lstStyle/>
                    <a:p>
                      <a:r>
                        <a:rPr sz="1472" b="1" i="0" u="none">
                          <a:solidFill>
                            <a:srgbClr val="1C2B3A"/>
                          </a:solidFill>
                          <a:latin typeface="IBM Plex Mono"/>
                        </a:rPr>
                        <a:t>FallNr</a:t>
                      </a:r>
                    </a:p>
                  </a:txBody>
                  <a:tcPr marL="54864" marR="54864" marT="18288" marB="18288">
                    <a:solidFill>
                      <a:srgbClr val="EBE2D2"/>
                    </a:solidFill>
                  </a:tcPr>
                </a:tc>
                <a:tc>
                  <a:txBody>
                    <a:bodyPr/>
                    <a:lstStyle/>
                    <a:p>
                      <a:r>
                        <a:rPr sz="1472" b="1" i="0" u="none">
                          <a:solidFill>
                            <a:srgbClr val="1C2B3A"/>
                          </a:solidFill>
                          <a:latin typeface="IBM Plex Mono"/>
                        </a:rPr>
                        <a:t>Titel</a:t>
                      </a:r>
                    </a:p>
                  </a:txBody>
                  <a:tcPr marL="54864" marR="54864" marT="18288" marB="18288">
                    <a:solidFill>
                      <a:srgbClr val="EBE2D2"/>
                    </a:solidFill>
                  </a:tcPr>
                </a:tc>
                <a:tc>
                  <a:txBody>
                    <a:bodyPr/>
                    <a:lstStyle/>
                    <a:p>
                      <a:r>
                        <a:rPr sz="1472" b="1" i="0" u="none">
                          <a:solidFill>
                            <a:srgbClr val="1C2B3A"/>
                          </a:solidFill>
                          <a:latin typeface="IBM Plex Mono"/>
                        </a:rPr>
                        <a:t>LeiterNr</a:t>
                      </a:r>
                    </a:p>
                  </a:txBody>
                  <a:tcPr marL="54864" marR="54864" marT="18288" marB="18288">
                    <a:solidFill>
                      <a:srgbClr val="EBE2D2"/>
                    </a:solidFill>
                  </a:tcPr>
                </a:tc>
              </a:tr>
              <a:tr h="314960">
                <a:tc>
                  <a:txBody>
                    <a:bodyPr/>
                    <a:lstStyle/>
                    <a:p>
                      <a:pPr algn="r"/>
                      <a:r>
                        <a:rPr sz="1600" b="0" i="0" u="none">
                          <a:solidFill>
                            <a:srgbClr val="1C2B3A"/>
                          </a:solidFill>
                          <a:latin typeface="Barlow"/>
                        </a:rPr>
                        <a:t>7</a:t>
                      </a:r>
                    </a:p>
                  </a:txBody>
                  <a:tcPr marL="54864" marR="54864" marT="18288" marB="18288">
                    <a:solidFill>
                      <a:srgbClr val="FFFDF8"/>
                    </a:solidFill>
                  </a:tcPr>
                </a:tc>
                <a:tc>
                  <a:txBody>
                    <a:bodyPr/>
                    <a:lstStyle/>
                    <a:p>
                      <a:r>
                        <a:rPr sz="1600" b="0" i="0" u="none">
                          <a:solidFill>
                            <a:srgbClr val="1C2B3A"/>
                          </a:solidFill>
                          <a:latin typeface="Barlow"/>
                        </a:rPr>
                        <a:t>Der doppelte Bauantrag</a:t>
                      </a:r>
                    </a:p>
                  </a:txBody>
                  <a:tcPr marL="54864" marR="54864" marT="18288" marB="18288">
                    <a:solidFill>
                      <a:srgbClr val="FFFDF8"/>
                    </a:solidFill>
                  </a:tcPr>
                </a:tc>
                <a:tc>
                  <a:txBody>
                    <a:bodyPr/>
                    <a:lstStyle/>
                    <a:p>
                      <a:pPr algn="r"/>
                      <a:r>
                        <a:rPr sz="1600" b="0" i="0" u="none">
                          <a:solidFill>
                            <a:srgbClr val="1C2B3A"/>
                          </a:solidFill>
                          <a:latin typeface="Barlow"/>
                        </a:rPr>
                        <a:t>5</a:t>
                      </a:r>
                    </a:p>
                  </a:txBody>
                  <a:tcPr marL="54864" marR="54864" marT="18288" marB="18288">
                    <a:solidFill>
                      <a:srgbClr val="FFFDF8"/>
                    </a:solidFill>
                  </a:tcPr>
                </a:tc>
              </a:tr>
              <a:tr h="314960">
                <a:tc>
                  <a:txBody>
                    <a:bodyPr/>
                    <a:lstStyle/>
                    <a:p>
                      <a:pPr algn="r"/>
                      <a:r>
                        <a:rPr sz="1600" b="0" i="0" u="none">
                          <a:solidFill>
                            <a:srgbClr val="1C2B3A"/>
                          </a:solidFill>
                          <a:latin typeface="Barlow"/>
                        </a:rPr>
                        <a:t>8</a:t>
                      </a:r>
                    </a:p>
                  </a:txBody>
                  <a:tcPr marL="54864" marR="54864" marT="18288" marB="18288">
                    <a:solidFill>
                      <a:srgbClr val="FFFDF8"/>
                    </a:solidFill>
                  </a:tcPr>
                </a:tc>
                <a:tc>
                  <a:txBody>
                    <a:bodyPr/>
                    <a:lstStyle/>
                    <a:p>
                      <a:r>
                        <a:rPr sz="1600" b="0" i="0" u="none">
                          <a:solidFill>
                            <a:srgbClr val="1C2B3A"/>
                          </a:solidFill>
                          <a:latin typeface="Barlow"/>
                        </a:rPr>
                        <a:t>Die verschwundene Gästeliste</a:t>
                      </a:r>
                    </a:p>
                  </a:txBody>
                  <a:tcPr marL="54864" marR="54864" marT="18288" marB="18288">
                    <a:solidFill>
                      <a:srgbClr val="FFFDF8"/>
                    </a:solidFill>
                  </a:tcPr>
                </a:tc>
                <a:tc>
                  <a:txBody>
                    <a:bodyPr/>
                    <a:lstStyle/>
                    <a:p>
                      <a:pPr algn="r"/>
                      <a:r>
                        <a:rPr sz="1600" b="0" i="0" u="none">
                          <a:solidFill>
                            <a:srgbClr val="1C2B3A"/>
                          </a:solidFill>
                          <a:latin typeface="Barlow"/>
                        </a:rPr>
                        <a:t>5</a:t>
                      </a:r>
                    </a:p>
                  </a:txBody>
                  <a:tcPr marL="54864" marR="54864" marT="18288" marB="18288">
                    <a:solidFill>
                      <a:srgbClr val="FFFDF8"/>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Überführungsregeln R1–R6 (Beispiel Schule)</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39</a:t>
            </a:r>
          </a:p>
        </p:txBody>
      </p:sp>
      <p:graphicFrame>
        <p:nvGraphicFramePr>
          <p:cNvPr id="8" name="Datentabelle"/>
          <p:cNvGraphicFramePr>
            <a:graphicFrameLocks noGrp="1"/>
          </p:cNvGraphicFramePr>
          <p:nvPr/>
        </p:nvGraphicFramePr>
        <p:xfrm>
          <a:off x="548640" y="1691640"/>
          <a:ext cx="10799999" cy="2204720"/>
        </p:xfrm>
        <a:graphic>
          <a:graphicData uri="http://schemas.openxmlformats.org/drawingml/2006/table">
            <a:tbl>
              <a:tblPr firstRow="1">
                <a:tableStyleId>{5C22544A-7EE6-4342-B048-85BDC9FD1C3A}</a:tableStyleId>
              </a:tblPr>
              <a:tblGrid>
                <a:gridCol w="1439999"/>
                <a:gridCol w="9360000"/>
              </a:tblGrid>
              <a:tr h="314960">
                <a:tc>
                  <a:txBody>
                    <a:bodyPr/>
                    <a:lstStyle/>
                    <a:p>
                      <a:r>
                        <a:rPr sz="1472" b="1" i="0" u="none">
                          <a:solidFill>
                            <a:srgbClr val="1C2B3A"/>
                          </a:solidFill>
                          <a:latin typeface="IBM Plex Mono"/>
                        </a:rPr>
                        <a:t>Regel</a:t>
                      </a:r>
                    </a:p>
                  </a:txBody>
                  <a:tcPr marL="54864" marR="54864" marT="18288" marB="18288">
                    <a:solidFill>
                      <a:srgbClr val="EBE2D2"/>
                    </a:solidFill>
                  </a:tcPr>
                </a:tc>
                <a:tc>
                  <a:txBody>
                    <a:bodyPr/>
                    <a:lstStyle/>
                    <a:p>
                      <a:r>
                        <a:rPr sz="1472" b="1" i="0" u="none">
                          <a:solidFill>
                            <a:srgbClr val="1C2B3A"/>
                          </a:solidFill>
                          <a:latin typeface="IBM Plex Mono"/>
                        </a:rPr>
                        <a:t>Umsetzung im Relationenschema</a:t>
                      </a:r>
                    </a:p>
                  </a:txBody>
                  <a:tcPr marL="54864" marR="54864" marT="18288" marB="18288">
                    <a:solidFill>
                      <a:srgbClr val="EBE2D2"/>
                    </a:solidFill>
                  </a:tcPr>
                </a:tc>
              </a:tr>
              <a:tr h="314960">
                <a:tc>
                  <a:txBody>
                    <a:bodyPr/>
                    <a:lstStyle/>
                    <a:p>
                      <a:r>
                        <a:rPr sz="1600" b="1" i="0" u="none">
                          <a:solidFill>
                            <a:srgbClr val="1C2B3A"/>
                          </a:solidFill>
                          <a:latin typeface="Barlow"/>
                        </a:rPr>
                        <a:t>R1</a:t>
                      </a:r>
                      <a:r>
                        <a:rPr sz="1600" b="0" i="0" u="none">
                          <a:solidFill>
                            <a:srgbClr val="1C2B3A"/>
                          </a:solidFill>
                          <a:latin typeface="Barlow"/>
                        </a:rPr>
                        <a:t> Entitätstyp</a:t>
                      </a:r>
                    </a:p>
                  </a:txBody>
                  <a:tcPr marL="54864" marR="54864" marT="18288" marB="18288">
                    <a:solidFill>
                      <a:srgbClr val="FFFDF8"/>
                    </a:solidFill>
                  </a:tcPr>
                </a:tc>
                <a:tc>
                  <a:txBody>
                    <a:bodyPr/>
                    <a:lstStyle/>
                    <a:p>
                      <a:r>
                        <a:rPr sz="1600" b="0" i="0" u="none">
                          <a:solidFill>
                            <a:srgbClr val="1C2B3A"/>
                          </a:solidFill>
                          <a:latin typeface="Barlow"/>
                        </a:rPr>
                        <a:t>Kurs(</a:t>
                      </a:r>
                      <a:r>
                        <a:rPr sz="1600" b="0" i="0" u="sng">
                          <a:solidFill>
                            <a:srgbClr val="1C2B3A"/>
                          </a:solidFill>
                          <a:latin typeface="Barlow"/>
                        </a:rPr>
                        <a:t>KursNr</a:t>
                      </a:r>
                      <a:r>
                        <a:rPr sz="1600" b="0" i="0" u="none">
                          <a:solidFill>
                            <a:srgbClr val="1C2B3A"/>
                          </a:solidFill>
                          <a:latin typeface="Barlow"/>
                        </a:rPr>
                        <a:t>, Titel) – Schlüsselattribut → Primärschlüssel</a:t>
                      </a:r>
                    </a:p>
                  </a:txBody>
                  <a:tcPr marL="54864" marR="54864" marT="18288" marB="18288">
                    <a:solidFill>
                      <a:srgbClr val="FFFDF8"/>
                    </a:solidFill>
                  </a:tcPr>
                </a:tc>
              </a:tr>
              <a:tr h="314960">
                <a:tc>
                  <a:txBody>
                    <a:bodyPr/>
                    <a:lstStyle/>
                    <a:p>
                      <a:r>
                        <a:rPr sz="1600" b="1" i="0" u="none">
                          <a:solidFill>
                            <a:srgbClr val="1C2B3A"/>
                          </a:solidFill>
                          <a:latin typeface="Barlow"/>
                        </a:rPr>
                        <a:t>R2</a:t>
                      </a:r>
                      <a:r>
                        <a:rPr sz="1600" b="0" i="0" u="none">
                          <a:solidFill>
                            <a:srgbClr val="1C2B3A"/>
                          </a:solidFill>
                          <a:latin typeface="Barlow"/>
                        </a:rPr>
                        <a:t> 1:n</a:t>
                      </a:r>
                    </a:p>
                  </a:txBody>
                  <a:tcPr marL="54864" marR="54864" marT="18288" marB="18288">
                    <a:solidFill>
                      <a:srgbClr val="FFFDF8"/>
                    </a:solidFill>
                  </a:tcPr>
                </a:tc>
                <a:tc>
                  <a:txBody>
                    <a:bodyPr/>
                    <a:lstStyle/>
                    <a:p>
                      <a:r>
                        <a:rPr sz="1600" b="0" i="0" u="none">
                          <a:solidFill>
                            <a:srgbClr val="1C2B3A"/>
                          </a:solidFill>
                          <a:latin typeface="Barlow"/>
                        </a:rPr>
                        <a:t>Kurs(</a:t>
                      </a:r>
                      <a:r>
                        <a:rPr sz="1600" b="0" i="0" u="sng">
                          <a:solidFill>
                            <a:srgbClr val="1C2B3A"/>
                          </a:solidFill>
                          <a:latin typeface="Barlow"/>
                        </a:rPr>
                        <a:t>KursNr</a:t>
                      </a:r>
                      <a:r>
                        <a:rPr sz="1600" b="0" i="0" u="none">
                          <a:solidFill>
                            <a:srgbClr val="1C2B3A"/>
                          </a:solidFill>
                          <a:latin typeface="Barlow"/>
                        </a:rPr>
                        <a:t>, Titel, </a:t>
                      </a:r>
                      <a:r>
                        <a:rPr sz="1600" b="0" i="0" u="none">
                          <a:solidFill>
                            <a:srgbClr val="B3261E"/>
                          </a:solidFill>
                          <a:latin typeface="IBM Plex Mono"/>
                        </a:rPr>
                        <a:t>↑</a:t>
                      </a:r>
                      <a:r>
                        <a:rPr sz="1600" b="0" i="0" u="none">
                          <a:solidFill>
                            <a:srgbClr val="1C2B3A"/>
                          </a:solidFill>
                          <a:latin typeface="Barlow"/>
                        </a:rPr>
                        <a:t>LehrkraftNr) – Fremdschlüssel auf der </a:t>
                      </a:r>
                      <a:r>
                        <a:rPr sz="1600" b="1" i="0" u="none">
                          <a:solidFill>
                            <a:srgbClr val="1C2B3A"/>
                          </a:solidFill>
                          <a:latin typeface="Barlow"/>
                        </a:rPr>
                        <a:t>n-Seite</a:t>
                      </a:r>
                      <a:r>
                        <a:rPr sz="1600" b="0" i="0" u="none">
                          <a:solidFill>
                            <a:srgbClr val="1C2B3A"/>
                          </a:solidFill>
                          <a:latin typeface="Barlow"/>
                        </a:rPr>
                        <a:t>; Attribute des Beziehungstyps ebenfalls dorthin</a:t>
                      </a:r>
                    </a:p>
                  </a:txBody>
                  <a:tcPr marL="54864" marR="54864" marT="18288" marB="18288">
                    <a:solidFill>
                      <a:srgbClr val="FFFDF8"/>
                    </a:solidFill>
                  </a:tcPr>
                </a:tc>
              </a:tr>
              <a:tr h="314960">
                <a:tc>
                  <a:txBody>
                    <a:bodyPr/>
                    <a:lstStyle/>
                    <a:p>
                      <a:r>
                        <a:rPr sz="1600" b="1" i="0" u="none">
                          <a:solidFill>
                            <a:srgbClr val="1C2B3A"/>
                          </a:solidFill>
                          <a:latin typeface="Barlow"/>
                        </a:rPr>
                        <a:t>R3</a:t>
                      </a:r>
                      <a:r>
                        <a:rPr sz="1600" b="0" i="0" u="none">
                          <a:solidFill>
                            <a:srgbClr val="1C2B3A"/>
                          </a:solidFill>
                          <a:latin typeface="Barlow"/>
                        </a:rPr>
                        <a:t> n:m</a:t>
                      </a:r>
                    </a:p>
                  </a:txBody>
                  <a:tcPr marL="54864" marR="54864" marT="18288" marB="18288">
                    <a:solidFill>
                      <a:srgbClr val="FFFDF8"/>
                    </a:solidFill>
                  </a:tcPr>
                </a:tc>
                <a:tc>
                  <a:txBody>
                    <a:bodyPr/>
                    <a:lstStyle/>
                    <a:p>
                      <a:r>
                        <a:rPr sz="1600" b="0" i="0" u="none">
                          <a:solidFill>
                            <a:srgbClr val="1C2B3A"/>
                          </a:solidFill>
                          <a:latin typeface="Barlow"/>
                        </a:rPr>
                        <a:t>belegt(</a:t>
                      </a:r>
                      <a:r>
                        <a:rPr sz="1600" b="0" i="0" u="sng">
                          <a:solidFill>
                            <a:srgbClr val="B3261E"/>
                          </a:solidFill>
                          <a:latin typeface="IBM Plex Mono"/>
                        </a:rPr>
                        <a:t>↑</a:t>
                      </a:r>
                      <a:r>
                        <a:rPr sz="1600" b="0" i="0" u="sng">
                          <a:solidFill>
                            <a:srgbClr val="1C2B3A"/>
                          </a:solidFill>
                          <a:latin typeface="Barlow"/>
                        </a:rPr>
                        <a:t>SchuelerNr</a:t>
                      </a:r>
                      <a:r>
                        <a:rPr sz="1600" b="0" i="0" u="none">
                          <a:solidFill>
                            <a:srgbClr val="1C2B3A"/>
                          </a:solidFill>
                          <a:latin typeface="Barlow"/>
                        </a:rPr>
                        <a:t>, </a:t>
                      </a:r>
                      <a:r>
                        <a:rPr sz="1600" b="0" i="0" u="sng">
                          <a:solidFill>
                            <a:srgbClr val="B3261E"/>
                          </a:solidFill>
                          <a:latin typeface="IBM Plex Mono"/>
                        </a:rPr>
                        <a:t>↑</a:t>
                      </a:r>
                      <a:r>
                        <a:rPr sz="1600" b="0" i="0" u="sng">
                          <a:solidFill>
                            <a:srgbClr val="1C2B3A"/>
                          </a:solidFill>
                          <a:latin typeface="Barlow"/>
                        </a:rPr>
                        <a:t>KursNr</a:t>
                      </a:r>
                      <a:r>
                        <a:rPr sz="1600" b="0" i="0" u="none">
                          <a:solidFill>
                            <a:srgbClr val="1C2B3A"/>
                          </a:solidFill>
                          <a:latin typeface="Barlow"/>
                        </a:rPr>
                        <a:t>, Note) – eigene Relation, Primärschlüssel aus beiden Fremdschlüsseln</a:t>
                      </a:r>
                    </a:p>
                  </a:txBody>
                  <a:tcPr marL="54864" marR="54864" marT="18288" marB="18288">
                    <a:solidFill>
                      <a:srgbClr val="FFFDF8"/>
                    </a:solidFill>
                  </a:tcPr>
                </a:tc>
              </a:tr>
              <a:tr h="314960">
                <a:tc>
                  <a:txBody>
                    <a:bodyPr/>
                    <a:lstStyle/>
                    <a:p>
                      <a:r>
                        <a:rPr sz="1600" b="1" i="0" u="none">
                          <a:solidFill>
                            <a:srgbClr val="1C2B3A"/>
                          </a:solidFill>
                          <a:latin typeface="Barlow"/>
                        </a:rPr>
                        <a:t>R4</a:t>
                      </a:r>
                      <a:r>
                        <a:rPr sz="1600" b="0" i="0" u="none">
                          <a:solidFill>
                            <a:srgbClr val="1C2B3A"/>
                          </a:solidFill>
                          <a:latin typeface="Barlow"/>
                        </a:rPr>
                        <a:t> 1:1</a:t>
                      </a:r>
                    </a:p>
                  </a:txBody>
                  <a:tcPr marL="54864" marR="54864" marT="18288" marB="18288">
                    <a:solidFill>
                      <a:srgbClr val="FFFDF8"/>
                    </a:solidFill>
                  </a:tcPr>
                </a:tc>
                <a:tc>
                  <a:txBody>
                    <a:bodyPr/>
                    <a:lstStyle/>
                    <a:p>
                      <a:r>
                        <a:rPr sz="1600" b="0" i="0" u="none">
                          <a:solidFill>
                            <a:srgbClr val="1C2B3A"/>
                          </a:solidFill>
                          <a:latin typeface="Barlow"/>
                        </a:rPr>
                        <a:t>Schliessfach(</a:t>
                      </a:r>
                      <a:r>
                        <a:rPr sz="1600" b="0" i="0" u="sng">
                          <a:solidFill>
                            <a:srgbClr val="1C2B3A"/>
                          </a:solidFill>
                          <a:latin typeface="Barlow"/>
                        </a:rPr>
                        <a:t>FachNr</a:t>
                      </a:r>
                      <a:r>
                        <a:rPr sz="1600" b="0" i="0" u="none">
                          <a:solidFill>
                            <a:srgbClr val="1C2B3A"/>
                          </a:solidFill>
                          <a:latin typeface="Barlow"/>
                        </a:rPr>
                        <a:t>, Etage, </a:t>
                      </a:r>
                      <a:r>
                        <a:rPr sz="1600" b="0" i="0" u="none">
                          <a:solidFill>
                            <a:srgbClr val="B3261E"/>
                          </a:solidFill>
                          <a:latin typeface="IBM Plex Mono"/>
                        </a:rPr>
                        <a:t>↑</a:t>
                      </a:r>
                      <a:r>
                        <a:rPr sz="1600" b="0" i="0" u="none">
                          <a:solidFill>
                            <a:srgbClr val="1C2B3A"/>
                          </a:solidFill>
                          <a:latin typeface="Barlow"/>
                        </a:rPr>
                        <a:t>LehrkraftNr) – Fremdschlüssel auf </a:t>
                      </a:r>
                      <a:r>
                        <a:rPr sz="1600" b="1" i="0" u="none">
                          <a:solidFill>
                            <a:srgbClr val="1C2B3A"/>
                          </a:solidFill>
                          <a:latin typeface="Barlow"/>
                        </a:rPr>
                        <a:t>einer</a:t>
                      </a:r>
                      <a:r>
                        <a:rPr sz="1600" b="0" i="0" u="none">
                          <a:solidFill>
                            <a:srgbClr val="1C2B3A"/>
                          </a:solidFill>
                          <a:latin typeface="Barlow"/>
                        </a:rPr>
                        <a:t> Seite (oder beide Relationen zusammenlegen)</a:t>
                      </a:r>
                    </a:p>
                  </a:txBody>
                  <a:tcPr marL="54864" marR="54864" marT="18288" marB="18288">
                    <a:solidFill>
                      <a:srgbClr val="FFFDF8"/>
                    </a:solidFill>
                  </a:tcPr>
                </a:tc>
              </a:tr>
              <a:tr h="314960">
                <a:tc>
                  <a:txBody>
                    <a:bodyPr/>
                    <a:lstStyle/>
                    <a:p>
                      <a:r>
                        <a:rPr sz="1600" b="1" i="0" u="none">
                          <a:solidFill>
                            <a:srgbClr val="1C2B3A"/>
                          </a:solidFill>
                          <a:latin typeface="Barlow"/>
                        </a:rPr>
                        <a:t>R5</a:t>
                      </a:r>
                      <a:r>
                        <a:rPr sz="1600" b="0" i="0" u="none">
                          <a:solidFill>
                            <a:srgbClr val="1C2B3A"/>
                          </a:solidFill>
                          <a:latin typeface="Barlow"/>
                        </a:rPr>
                        <a:t> rekursiv</a:t>
                      </a:r>
                    </a:p>
                  </a:txBody>
                  <a:tcPr marL="54864" marR="54864" marT="18288" marB="18288">
                    <a:solidFill>
                      <a:srgbClr val="FFFDF8"/>
                    </a:solidFill>
                  </a:tcPr>
                </a:tc>
                <a:tc>
                  <a:txBody>
                    <a:bodyPr/>
                    <a:lstStyle/>
                    <a:p>
                      <a:r>
                        <a:rPr sz="1600" b="0" i="0" u="none">
                          <a:solidFill>
                            <a:srgbClr val="1C2B3A"/>
                          </a:solidFill>
                          <a:latin typeface="Barlow"/>
                        </a:rPr>
                        <a:t>Schueler(</a:t>
                      </a:r>
                      <a:r>
                        <a:rPr sz="1600" b="0" i="0" u="sng">
                          <a:solidFill>
                            <a:srgbClr val="1C2B3A"/>
                          </a:solidFill>
                          <a:latin typeface="Barlow"/>
                        </a:rPr>
                        <a:t>SchuelerNr</a:t>
                      </a:r>
                      <a:r>
                        <a:rPr sz="1600" b="0" i="0" u="none">
                          <a:solidFill>
                            <a:srgbClr val="1C2B3A"/>
                          </a:solidFill>
                          <a:latin typeface="Barlow"/>
                        </a:rPr>
                        <a:t>, Name, </a:t>
                      </a:r>
                      <a:r>
                        <a:rPr sz="1600" b="0" i="0" u="none">
                          <a:solidFill>
                            <a:srgbClr val="B3261E"/>
                          </a:solidFill>
                          <a:latin typeface="IBM Plex Mono"/>
                        </a:rPr>
                        <a:t>↑</a:t>
                      </a:r>
                      <a:r>
                        <a:rPr sz="1600" b="0" i="0" u="none">
                          <a:solidFill>
                            <a:srgbClr val="1C2B3A"/>
                          </a:solidFill>
                          <a:latin typeface="Barlow"/>
                        </a:rPr>
                        <a:t>PateNr) – Fremdschlüssel auf die eigene Relation, benannt nach der Rolle; rekursiv n:m → eigene Relation mit zwei Fremdschlüsseln auf dieselbe Relation</a:t>
                      </a:r>
                    </a:p>
                  </a:txBody>
                  <a:tcPr marL="54864" marR="54864" marT="18288" marB="18288">
                    <a:solidFill>
                      <a:srgbClr val="FFFDF8"/>
                    </a:solidFill>
                  </a:tcPr>
                </a:tc>
              </a:tr>
              <a:tr h="314960">
                <a:tc>
                  <a:txBody>
                    <a:bodyPr/>
                    <a:lstStyle/>
                    <a:p>
                      <a:r>
                        <a:rPr sz="1600" b="1" i="0" u="none">
                          <a:solidFill>
                            <a:srgbClr val="1C2B3A"/>
                          </a:solidFill>
                          <a:latin typeface="Barlow"/>
                        </a:rPr>
                        <a:t>R6</a:t>
                      </a:r>
                      <a:r>
                        <a:rPr sz="1600" b="0" i="0" u="none">
                          <a:solidFill>
                            <a:srgbClr val="1C2B3A"/>
                          </a:solidFill>
                          <a:latin typeface="Barlow"/>
                        </a:rPr>
                        <a:t> ternär</a:t>
                      </a:r>
                    </a:p>
                  </a:txBody>
                  <a:tcPr marL="54864" marR="54864" marT="18288" marB="18288">
                    <a:solidFill>
                      <a:srgbClr val="FFFDF8"/>
                    </a:solidFill>
                  </a:tcPr>
                </a:tc>
                <a:tc>
                  <a:txBody>
                    <a:bodyPr/>
                    <a:lstStyle/>
                    <a:p>
                      <a:r>
                        <a:rPr sz="1600" b="0" i="0" u="none">
                          <a:solidFill>
                            <a:srgbClr val="1C2B3A"/>
                          </a:solidFill>
                          <a:latin typeface="Barlow"/>
                        </a:rPr>
                        <a:t>praesentiert(</a:t>
                      </a:r>
                      <a:r>
                        <a:rPr sz="1600" b="0" i="0" u="sng">
                          <a:solidFill>
                            <a:srgbClr val="B3261E"/>
                          </a:solidFill>
                          <a:latin typeface="IBM Plex Mono"/>
                        </a:rPr>
                        <a:t>↑</a:t>
                      </a:r>
                      <a:r>
                        <a:rPr sz="1600" b="0" i="0" u="sng">
                          <a:solidFill>
                            <a:srgbClr val="1C2B3A"/>
                          </a:solidFill>
                          <a:latin typeface="Barlow"/>
                        </a:rPr>
                        <a:t>SchuelerNr</a:t>
                      </a:r>
                      <a:r>
                        <a:rPr sz="1600" b="0" i="0" u="none">
                          <a:solidFill>
                            <a:srgbClr val="1C2B3A"/>
                          </a:solidFill>
                          <a:latin typeface="Barlow"/>
                        </a:rPr>
                        <a:t>, </a:t>
                      </a:r>
                      <a:r>
                        <a:rPr sz="1600" b="0" i="0" u="sng">
                          <a:solidFill>
                            <a:srgbClr val="B3261E"/>
                          </a:solidFill>
                          <a:latin typeface="IBM Plex Mono"/>
                        </a:rPr>
                        <a:t>↑</a:t>
                      </a:r>
                      <a:r>
                        <a:rPr sz="1600" b="0" i="0" u="sng">
                          <a:solidFill>
                            <a:srgbClr val="1C2B3A"/>
                          </a:solidFill>
                          <a:latin typeface="Barlow"/>
                        </a:rPr>
                        <a:t>KursNr</a:t>
                      </a:r>
                      <a:r>
                        <a:rPr sz="1600" b="0" i="0" u="none">
                          <a:solidFill>
                            <a:srgbClr val="1C2B3A"/>
                          </a:solidFill>
                          <a:latin typeface="Barlow"/>
                        </a:rPr>
                        <a:t>, </a:t>
                      </a:r>
                      <a:r>
                        <a:rPr sz="1600" b="0" i="0" u="sng">
                          <a:solidFill>
                            <a:srgbClr val="B3261E"/>
                          </a:solidFill>
                          <a:latin typeface="IBM Plex Mono"/>
                        </a:rPr>
                        <a:t>↑</a:t>
                      </a:r>
                      <a:r>
                        <a:rPr sz="1600" b="0" i="0" u="sng">
                          <a:solidFill>
                            <a:srgbClr val="1C2B3A"/>
                          </a:solidFill>
                          <a:latin typeface="Barlow"/>
                        </a:rPr>
                        <a:t>RaumNr</a:t>
                      </a:r>
                      <a:r>
                        <a:rPr sz="1600" b="0" i="0" u="none">
                          <a:solidFill>
                            <a:srgbClr val="1C2B3A"/>
                          </a:solidFill>
                          <a:latin typeface="Barlow"/>
                        </a:rPr>
                        <a:t>, Thema) – eigene Relation mit drei Fremdschlüsseln im Primärschlüssel</a:t>
                      </a:r>
                    </a:p>
                  </a:txBody>
                  <a:tcPr marL="54864" marR="54864" marT="18288" marB="18288">
                    <a:solidFill>
                      <a:srgbClr val="FFFDF8"/>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Zwei Feinheiten, die im Abitur zählen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40</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2084070"/>
          </a:xfrm>
          <a:prstGeom prst="rect">
            <a:avLst/>
          </a:prstGeom>
          <a:noFill/>
        </p:spPr>
        <p:txBody>
          <a:bodyPr wrap="square" anchor="t" lIns="36576" rIns="36576" tIns="36576" bIns="36576">
            <a:spAutoFit/>
          </a:bodyPr>
          <a:lstStyle/>
          <a:p>
            <a:pPr>
              <a:lnSpc>
                <a:spcPct val="105000"/>
              </a:lnSpc>
              <a:spcAft>
                <a:spcPts val="600"/>
              </a:spcAft>
            </a:pPr>
            <a:r>
              <a:rPr sz="1900" b="1" i="0" u="none">
                <a:solidFill>
                  <a:srgbClr val="1C2B3A"/>
                </a:solidFill>
                <a:latin typeface="Barlow"/>
              </a:rPr>
              <a:t>Attribut am 1:n-Beziehungstyp</a:t>
            </a:r>
            <a:r>
              <a:rPr sz="1900" b="0" i="0" u="none">
                <a:solidFill>
                  <a:srgbClr val="1C2B3A"/>
                </a:solidFill>
                <a:latin typeface="Barlow"/>
              </a:rPr>
              <a:t> → in die Relation der </a:t>
            </a:r>
            <a:r>
              <a:rPr sz="1900" b="1" i="0" u="none">
                <a:solidFill>
                  <a:srgbClr val="1C2B3A"/>
                </a:solidFill>
                <a:latin typeface="Barlow"/>
              </a:rPr>
              <a:t>n-Seite</a:t>
            </a:r>
            <a:r>
              <a:rPr sz="1900" b="0" i="0" u="none">
                <a:solidFill>
                  <a:srgbClr val="1C2B3A"/>
                </a:solidFill>
                <a:latin typeface="Barlow"/>
              </a:rPr>
              <a:t>: Lehrkraft 1 – </a:t>
            </a:r>
            <a:r>
              <a:rPr sz="1900" b="0" i="1" u="none">
                <a:solidFill>
                  <a:srgbClr val="1C2B3A"/>
                </a:solidFill>
                <a:latin typeface="Barlow"/>
              </a:rPr>
              <a:t>leitet</a:t>
            </a:r>
            <a:r>
              <a:rPr sz="1900" b="0" i="0" u="none">
                <a:solidFill>
                  <a:srgbClr val="1C2B3A"/>
                </a:solidFill>
                <a:latin typeface="Barlow"/>
              </a:rPr>
              <a:t> (seit) – n Kurs ergibt Kurs(</a:t>
            </a:r>
            <a:r>
              <a:rPr sz="1900" b="0" i="0" u="sng">
                <a:solidFill>
                  <a:srgbClr val="1C2B3A"/>
                </a:solidFill>
                <a:latin typeface="Barlow"/>
              </a:rPr>
              <a:t>KursNr</a:t>
            </a:r>
            <a:r>
              <a:rPr sz="1900" b="0" i="0" u="none">
                <a:solidFill>
                  <a:srgbClr val="1C2B3A"/>
                </a:solidFill>
                <a:latin typeface="Barlow"/>
              </a:rPr>
              <a:t>, Titel, </a:t>
            </a:r>
            <a:r>
              <a:rPr sz="1900" b="0" i="0" u="none">
                <a:solidFill>
                  <a:srgbClr val="B3261E"/>
                </a:solidFill>
                <a:latin typeface="IBM Plex Mono"/>
              </a:rPr>
              <a:t>↑</a:t>
            </a:r>
            <a:r>
              <a:rPr sz="1900" b="0" i="0" u="none">
                <a:solidFill>
                  <a:srgbClr val="1C2B3A"/>
                </a:solidFill>
                <a:latin typeface="Barlow"/>
              </a:rPr>
              <a:t>LehrkraftNr, LeitetSeit).</a:t>
            </a:r>
          </a:p>
          <a:p>
            <a:pPr>
              <a:lnSpc>
                <a:spcPct val="105000"/>
              </a:lnSpc>
              <a:spcAft>
                <a:spcPts val="600"/>
              </a:spcAft>
            </a:pPr>
            <a:r>
              <a:rPr sz="1900" b="1" i="0" u="none">
                <a:solidFill>
                  <a:srgbClr val="1C2B3A"/>
                </a:solidFill>
                <a:latin typeface="Barlow"/>
              </a:rPr>
              <a:t>Paar kommt mehrfach vor</a:t>
            </a:r>
            <a:r>
              <a:rPr sz="1900" b="0" i="0" u="none">
                <a:solidFill>
                  <a:srgbClr val="1C2B3A"/>
                </a:solidFill>
                <a:latin typeface="Barlow"/>
              </a:rPr>
              <a:t> → zusätzliches Schlüsselattribut: Spieler bucht Platz jede Woche → bucht(</a:t>
            </a:r>
            <a:r>
              <a:rPr sz="1900" b="0" i="0" u="sng">
                <a:solidFill>
                  <a:srgbClr val="B3261E"/>
                </a:solidFill>
                <a:latin typeface="IBM Plex Mono"/>
              </a:rPr>
              <a:t>↑</a:t>
            </a:r>
            <a:r>
              <a:rPr sz="1900" b="0" i="0" u="sng">
                <a:solidFill>
                  <a:srgbClr val="1C2B3A"/>
                </a:solidFill>
                <a:latin typeface="Barlow"/>
              </a:rPr>
              <a:t>SpielerNr</a:t>
            </a:r>
            <a:r>
              <a:rPr sz="1900" b="0" i="0" u="none">
                <a:solidFill>
                  <a:srgbClr val="1C2B3A"/>
                </a:solidFill>
                <a:latin typeface="Barlow"/>
              </a:rPr>
              <a:t>, </a:t>
            </a:r>
            <a:r>
              <a:rPr sz="1900" b="0" i="0" u="sng">
                <a:solidFill>
                  <a:srgbClr val="B3261E"/>
                </a:solidFill>
                <a:latin typeface="IBM Plex Mono"/>
              </a:rPr>
              <a:t>↑</a:t>
            </a:r>
            <a:r>
              <a:rPr sz="1900" b="0" i="0" u="sng">
                <a:solidFill>
                  <a:srgbClr val="1C2B3A"/>
                </a:solidFill>
                <a:latin typeface="Barlow"/>
              </a:rPr>
              <a:t>PlatzNr</a:t>
            </a:r>
            <a:r>
              <a:rPr sz="1900" b="0" i="0" u="none">
                <a:solidFill>
                  <a:srgbClr val="1C2B3A"/>
                </a:solidFill>
                <a:latin typeface="Barlow"/>
              </a:rPr>
              <a:t>, </a:t>
            </a:r>
            <a:r>
              <a:rPr sz="1900" b="0" i="0" u="sng">
                <a:solidFill>
                  <a:srgbClr val="1C2B3A"/>
                </a:solidFill>
                <a:latin typeface="Barlow"/>
              </a:rPr>
              <a:t>Beginn</a:t>
            </a:r>
            <a:r>
              <a:rPr sz="1900" b="0" i="0" u="none">
                <a:solidFill>
                  <a:srgbClr val="1C2B3A"/>
                </a:solidFill>
                <a:latin typeface="Barlow"/>
              </a:rPr>
              <a:t>) oder eigene BuchungNr.</a:t>
            </a:r>
          </a:p>
          <a:p>
            <a:pPr>
              <a:lnSpc>
                <a:spcPct val="105000"/>
              </a:lnSpc>
              <a:spcAft>
                <a:spcPts val="600"/>
              </a:spcAft>
            </a:pPr>
            <a:r>
              <a:rPr sz="1900" b="1" i="0" u="none">
                <a:solidFill>
                  <a:srgbClr val="1C2B3A"/>
                </a:solidFill>
                <a:latin typeface="Barlow"/>
              </a:rPr>
              <a:t>Rekursiver Fremdschlüssel</a:t>
            </a:r>
            <a:r>
              <a:rPr sz="1900" b="0" i="0" u="none">
                <a:solidFill>
                  <a:srgbClr val="1C2B3A"/>
                </a:solidFill>
                <a:latin typeface="Barlow"/>
              </a:rPr>
              <a:t> heißt nach der Rolle: Schueler(</a:t>
            </a:r>
            <a:r>
              <a:rPr sz="1900" b="0" i="0" u="sng">
                <a:solidFill>
                  <a:srgbClr val="1C2B3A"/>
                </a:solidFill>
                <a:latin typeface="Barlow"/>
              </a:rPr>
              <a:t>SchuelerNr</a:t>
            </a:r>
            <a:r>
              <a:rPr sz="1900" b="0" i="0" u="none">
                <a:solidFill>
                  <a:srgbClr val="1C2B3A"/>
                </a:solidFill>
                <a:latin typeface="Barlow"/>
              </a:rPr>
              <a:t>, Name, </a:t>
            </a:r>
            <a:r>
              <a:rPr sz="1900" b="0" i="0" u="none">
                <a:solidFill>
                  <a:srgbClr val="B3261E"/>
                </a:solidFill>
                <a:latin typeface="IBM Plex Mono"/>
              </a:rPr>
              <a:t>↑</a:t>
            </a:r>
            <a:r>
              <a:rPr sz="1900" b="0" i="0" u="none">
                <a:solidFill>
                  <a:srgbClr val="1C2B3A"/>
                </a:solidFill>
                <a:latin typeface="Barlow"/>
              </a:rPr>
              <a:t>PateNr).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Rückrichtung: Schema → ER</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41</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1490980"/>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 Relation mit eigenem Schlüssel → Entitätstyp</a:t>
            </a:r>
          </a:p>
          <a:p>
            <a:pPr>
              <a:lnSpc>
                <a:spcPct val="105000"/>
              </a:lnSpc>
              <a:spcAft>
                <a:spcPts val="600"/>
              </a:spcAft>
            </a:pPr>
            <a:r>
              <a:rPr sz="1900" b="0" i="0" u="none">
                <a:solidFill>
                  <a:srgbClr val="1C2B3A"/>
                </a:solidFill>
                <a:latin typeface="Barlow"/>
              </a:rPr>
              <a:t>▸ Fremdschlüssel in einer Entitätsrelation → 1:n (Fremdschlüssel auf der n-Seite)</a:t>
            </a:r>
          </a:p>
          <a:p>
            <a:pPr>
              <a:lnSpc>
                <a:spcPct val="105000"/>
              </a:lnSpc>
              <a:spcAft>
                <a:spcPts val="600"/>
              </a:spcAft>
            </a:pPr>
            <a:r>
              <a:rPr sz="1900" b="0" i="0" u="none">
                <a:solidFill>
                  <a:srgbClr val="1C2B3A"/>
                </a:solidFill>
                <a:latin typeface="Barlow"/>
              </a:rPr>
              <a:t>▸ Schlüssel aus zwei (drei) Fremdschlüsseln → n:m (ternär); übrige Attribute an die Raute</a:t>
            </a:r>
          </a:p>
          <a:p>
            <a:pPr>
              <a:lnSpc>
                <a:spcPct val="105000"/>
              </a:lnSpc>
              <a:spcAft>
                <a:spcPts val="600"/>
              </a:spcAft>
            </a:pPr>
            <a:r>
              <a:rPr sz="1900" b="0" i="0" u="none">
                <a:solidFill>
                  <a:srgbClr val="1C2B3A"/>
                </a:solidFill>
                <a:latin typeface="Barlow"/>
              </a:rPr>
              <a:t>▸ Fremdschlüssel werden </a:t>
            </a:r>
            <a:r>
              <a:rPr sz="1900" b="1" i="0" u="none">
                <a:solidFill>
                  <a:srgbClr val="1C2B3A"/>
                </a:solidFill>
                <a:latin typeface="Barlow"/>
              </a:rPr>
              <a:t>keine</a:t>
            </a:r>
            <a:r>
              <a:rPr sz="1900" b="0" i="0" u="none">
                <a:solidFill>
                  <a:srgbClr val="1C2B3A"/>
                </a:solidFill>
                <a:latin typeface="Barlow"/>
              </a:rPr>
              <a:t> Attribute im ER-Diagramm</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Self-Join Schritt für Schritt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42</a:t>
            </a:r>
          </a:p>
        </p:txBody>
      </p:sp>
      <p:sp>
        <p:nvSpPr>
          <p:cNvPr id="8" name="SQL-Hintergrund"/>
          <p:cNvSpPr/>
          <p:nvPr/>
        </p:nvSpPr>
        <p:spPr>
          <a:xfrm>
            <a:off x="548640" y="1691640"/>
            <a:ext cx="6101928" cy="13360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QL"/>
          <p:cNvSpPr txBox="1"/>
          <p:nvPr/>
        </p:nvSpPr>
        <p:spPr>
          <a:xfrm>
            <a:off x="731520" y="1828800"/>
            <a:ext cx="5736168" cy="1061720"/>
          </a:xfrm>
          <a:prstGeom prst="rect">
            <a:avLst/>
          </a:prstGeom>
          <a:noFill/>
        </p:spPr>
        <p:txBody>
          <a:bodyPr wrap="square" lIns="18288" rIns="18288" tIns="18288" bIns="18288">
            <a:spAutoFit/>
          </a:bodyPr>
          <a:lstStyle/>
          <a:p>
            <a:pPr>
              <a:lnSpc>
                <a:spcPct val="100000"/>
              </a:lnSpc>
            </a:pPr>
            <a:r>
              <a:rPr sz="1600" i="0">
                <a:solidFill>
                  <a:srgbClr val="F2A65A"/>
                </a:solidFill>
                <a:latin typeface="IBM Plex Mono"/>
              </a:rPr>
              <a:t>SELECT</a:t>
            </a:r>
            <a:r>
              <a:rPr sz="1600" i="0">
                <a:solidFill>
                  <a:srgbClr val="D8E3D0"/>
                </a:solidFill>
                <a:latin typeface="IBM Plex Mono"/>
              </a:rPr>
              <a:t> </a:t>
            </a:r>
            <a:r>
              <a:rPr sz="1600" i="0">
                <a:solidFill>
                  <a:srgbClr val="D8E3D0"/>
                </a:solidFill>
                <a:latin typeface="IBM Plex Mono"/>
              </a:rPr>
              <a:t>e</a:t>
            </a:r>
            <a:r>
              <a:rPr sz="1600" i="0">
                <a:solidFill>
                  <a:srgbClr val="D8E3D0"/>
                </a:solidFill>
                <a:latin typeface="IBM Plex Mono"/>
              </a:rPr>
              <a:t>.</a:t>
            </a:r>
            <a:r>
              <a:rPr sz="1600" i="0">
                <a:solidFill>
                  <a:srgbClr val="D8E3D0"/>
                </a:solidFill>
                <a:latin typeface="IBM Plex Mono"/>
              </a:rPr>
              <a:t>Name</a:t>
            </a:r>
            <a:r>
              <a:rPr sz="1600" i="0">
                <a:solidFill>
                  <a:srgbClr val="D8E3D0"/>
                </a:solidFill>
                <a:latin typeface="IBM Plex Mono"/>
              </a:rPr>
              <a:t> </a:t>
            </a:r>
            <a:r>
              <a:rPr sz="1600" i="0">
                <a:solidFill>
                  <a:srgbClr val="F2A65A"/>
                </a:solidFill>
                <a:latin typeface="IBM Plex Mono"/>
              </a:rPr>
              <a:t>AS</a:t>
            </a:r>
            <a:r>
              <a:rPr sz="1600" i="0">
                <a:solidFill>
                  <a:srgbClr val="D8E3D0"/>
                </a:solidFill>
                <a:latin typeface="IBM Plex Mono"/>
              </a:rPr>
              <a:t> </a:t>
            </a:r>
            <a:r>
              <a:rPr sz="1600" i="0">
                <a:solidFill>
                  <a:srgbClr val="D8E3D0"/>
                </a:solidFill>
                <a:latin typeface="IBM Plex Mono"/>
              </a:rPr>
              <a:t>Ermittler</a:t>
            </a:r>
            <a:r>
              <a:rPr sz="1600" i="0">
                <a:solidFill>
                  <a:srgbClr val="D8E3D0"/>
                </a:solidFill>
                <a:latin typeface="IBM Plex Mono"/>
              </a:rPr>
              <a:t>,</a:t>
            </a:r>
            <a:r>
              <a:rPr sz="1600" i="0">
                <a:solidFill>
                  <a:srgbClr val="D8E3D0"/>
                </a:solidFill>
                <a:latin typeface="IBM Plex Mono"/>
              </a:rPr>
              <a:t> </a:t>
            </a:r>
            <a:r>
              <a:rPr sz="1600" i="0">
                <a:solidFill>
                  <a:srgbClr val="D8E3D0"/>
                </a:solidFill>
                <a:latin typeface="IBM Plex Mono"/>
              </a:rPr>
              <a:t>m</a:t>
            </a:r>
            <a:r>
              <a:rPr sz="1600" i="0">
                <a:solidFill>
                  <a:srgbClr val="D8E3D0"/>
                </a:solidFill>
                <a:latin typeface="IBM Plex Mono"/>
              </a:rPr>
              <a:t>.</a:t>
            </a:r>
            <a:r>
              <a:rPr sz="1600" i="0">
                <a:solidFill>
                  <a:srgbClr val="D8E3D0"/>
                </a:solidFill>
                <a:latin typeface="IBM Plex Mono"/>
              </a:rPr>
              <a:t>Name</a:t>
            </a:r>
            <a:r>
              <a:rPr sz="1600" i="0">
                <a:solidFill>
                  <a:srgbClr val="D8E3D0"/>
                </a:solidFill>
                <a:latin typeface="IBM Plex Mono"/>
              </a:rPr>
              <a:t> </a:t>
            </a:r>
            <a:r>
              <a:rPr sz="1600" i="0">
                <a:solidFill>
                  <a:srgbClr val="F2A65A"/>
                </a:solidFill>
                <a:latin typeface="IBM Plex Mono"/>
              </a:rPr>
              <a:t>AS</a:t>
            </a:r>
            <a:r>
              <a:rPr sz="1600" i="0">
                <a:solidFill>
                  <a:srgbClr val="D8E3D0"/>
                </a:solidFill>
                <a:latin typeface="IBM Plex Mono"/>
              </a:rPr>
              <a:t> </a:t>
            </a:r>
            <a:r>
              <a:rPr sz="1600" i="0">
                <a:solidFill>
                  <a:srgbClr val="D8E3D0"/>
                </a:solidFill>
                <a:latin typeface="IBM Plex Mono"/>
              </a:rPr>
              <a:t>Mentor</a:t>
            </a:r>
          </a:p>
          <a:p>
            <a:pPr>
              <a:lnSpc>
                <a:spcPct val="100000"/>
              </a:lnSpc>
            </a:pPr>
            <a:r>
              <a:rPr sz="1600" i="0">
                <a:solidFill>
                  <a:srgbClr val="F2A65A"/>
                </a:solidFill>
                <a:latin typeface="IBM Plex Mono"/>
              </a:rPr>
              <a:t>FROM</a:t>
            </a:r>
            <a:r>
              <a:rPr sz="1600" i="0">
                <a:solidFill>
                  <a:srgbClr val="D8E3D0"/>
                </a:solidFill>
                <a:latin typeface="IBM Plex Mono"/>
              </a:rPr>
              <a:t> </a:t>
            </a:r>
            <a:r>
              <a:rPr sz="1600" i="0">
                <a:solidFill>
                  <a:srgbClr val="D8E3D0"/>
                </a:solidFill>
                <a:latin typeface="IBM Plex Mono"/>
              </a:rPr>
              <a:t>Ermittler</a:t>
            </a:r>
            <a:r>
              <a:rPr sz="1600" i="0">
                <a:solidFill>
                  <a:srgbClr val="D8E3D0"/>
                </a:solidFill>
                <a:latin typeface="IBM Plex Mono"/>
              </a:rPr>
              <a:t> </a:t>
            </a:r>
            <a:r>
              <a:rPr sz="1600" i="0">
                <a:solidFill>
                  <a:srgbClr val="D8E3D0"/>
                </a:solidFill>
                <a:latin typeface="IBM Plex Mono"/>
              </a:rPr>
              <a:t>e</a:t>
            </a:r>
            <a:r>
              <a:rPr sz="1600" i="0">
                <a:solidFill>
                  <a:srgbClr val="D8E3D0"/>
                </a:solidFill>
                <a:latin typeface="IBM Plex Mono"/>
              </a:rPr>
              <a:t>,</a:t>
            </a:r>
            <a:r>
              <a:rPr sz="1600" i="0">
                <a:solidFill>
                  <a:srgbClr val="D8E3D0"/>
                </a:solidFill>
                <a:latin typeface="IBM Plex Mono"/>
              </a:rPr>
              <a:t> </a:t>
            </a:r>
            <a:r>
              <a:rPr sz="1600" i="0">
                <a:solidFill>
                  <a:srgbClr val="D8E3D0"/>
                </a:solidFill>
                <a:latin typeface="IBM Plex Mono"/>
              </a:rPr>
              <a:t>Ermittler</a:t>
            </a:r>
            <a:r>
              <a:rPr sz="1600" i="0">
                <a:solidFill>
                  <a:srgbClr val="D8E3D0"/>
                </a:solidFill>
                <a:latin typeface="IBM Plex Mono"/>
              </a:rPr>
              <a:t> </a:t>
            </a:r>
            <a:r>
              <a:rPr sz="1600" i="0">
                <a:solidFill>
                  <a:srgbClr val="D8E3D0"/>
                </a:solidFill>
                <a:latin typeface="IBM Plex Mono"/>
              </a:rPr>
              <a:t>m</a:t>
            </a:r>
          </a:p>
          <a:p>
            <a:pPr>
              <a:lnSpc>
                <a:spcPct val="100000"/>
              </a:lnSpc>
            </a:pPr>
            <a:r>
              <a:rPr sz="1600" i="0">
                <a:solidFill>
                  <a:srgbClr val="F2A65A"/>
                </a:solidFill>
                <a:latin typeface="IBM Plex Mono"/>
              </a:rPr>
              <a:t>WHERE</a:t>
            </a:r>
            <a:r>
              <a:rPr sz="1600" i="0">
                <a:solidFill>
                  <a:srgbClr val="D8E3D0"/>
                </a:solidFill>
                <a:latin typeface="IBM Plex Mono"/>
              </a:rPr>
              <a:t> </a:t>
            </a:r>
            <a:r>
              <a:rPr sz="1600" i="0">
                <a:solidFill>
                  <a:srgbClr val="D8E3D0"/>
                </a:solidFill>
                <a:latin typeface="IBM Plex Mono"/>
              </a:rPr>
              <a:t>e</a:t>
            </a:r>
            <a:r>
              <a:rPr sz="1600" i="0">
                <a:solidFill>
                  <a:srgbClr val="D8E3D0"/>
                </a:solidFill>
                <a:latin typeface="IBM Plex Mono"/>
              </a:rPr>
              <a:t>.</a:t>
            </a:r>
            <a:r>
              <a:rPr sz="1600" i="0">
                <a:solidFill>
                  <a:srgbClr val="D8E3D0"/>
                </a:solidFill>
                <a:latin typeface="IBM Plex Mono"/>
              </a:rPr>
              <a:t>MentorNr</a:t>
            </a:r>
            <a:r>
              <a:rPr sz="1600" i="0">
                <a:solidFill>
                  <a:srgbClr val="D8E3D0"/>
                </a:solidFill>
                <a:latin typeface="IBM Plex Mono"/>
              </a:rPr>
              <a:t> </a:t>
            </a:r>
            <a:r>
              <a:rPr sz="1600" i="0">
                <a:solidFill>
                  <a:srgbClr val="D8E3D0"/>
                </a:solidFill>
                <a:latin typeface="IBM Plex Mono"/>
              </a:rPr>
              <a:t>=</a:t>
            </a:r>
            <a:r>
              <a:rPr sz="1600" i="0">
                <a:solidFill>
                  <a:srgbClr val="D8E3D0"/>
                </a:solidFill>
                <a:latin typeface="IBM Plex Mono"/>
              </a:rPr>
              <a:t> </a:t>
            </a:r>
            <a:r>
              <a:rPr sz="1600" i="0">
                <a:solidFill>
                  <a:srgbClr val="D8E3D0"/>
                </a:solidFill>
                <a:latin typeface="IBM Plex Mono"/>
              </a:rPr>
              <a:t>m</a:t>
            </a:r>
            <a:r>
              <a:rPr sz="1600" i="0">
                <a:solidFill>
                  <a:srgbClr val="D8E3D0"/>
                </a:solidFill>
                <a:latin typeface="IBM Plex Mono"/>
              </a:rPr>
              <a:t>.</a:t>
            </a:r>
            <a:r>
              <a:rPr sz="1600" i="0">
                <a:solidFill>
                  <a:srgbClr val="D8E3D0"/>
                </a:solidFill>
                <a:latin typeface="IBM Plex Mono"/>
              </a:rPr>
              <a:t>ErmittlerNr</a:t>
            </a:r>
          </a:p>
          <a:p>
            <a:pPr>
              <a:lnSpc>
                <a:spcPct val="100000"/>
              </a:lnSpc>
            </a:pPr>
            <a:r>
              <a:rPr sz="1600" i="0">
                <a:solidFill>
                  <a:srgbClr val="F2A65A"/>
                </a:solidFill>
                <a:latin typeface="IBM Plex Mono"/>
              </a:rPr>
              <a:t>ORDER</a:t>
            </a:r>
            <a:r>
              <a:rPr sz="1600" i="0">
                <a:solidFill>
                  <a:srgbClr val="D8E3D0"/>
                </a:solidFill>
                <a:latin typeface="IBM Plex Mono"/>
              </a:rPr>
              <a:t> </a:t>
            </a:r>
            <a:r>
              <a:rPr sz="1600" i="0">
                <a:solidFill>
                  <a:srgbClr val="F2A65A"/>
                </a:solidFill>
                <a:latin typeface="IBM Plex Mono"/>
              </a:rPr>
              <a:t>BY</a:t>
            </a:r>
            <a:r>
              <a:rPr sz="1600" i="0">
                <a:solidFill>
                  <a:srgbClr val="D8E3D0"/>
                </a:solidFill>
                <a:latin typeface="IBM Plex Mono"/>
              </a:rPr>
              <a:t> </a:t>
            </a:r>
            <a:r>
              <a:rPr sz="1600" i="0">
                <a:solidFill>
                  <a:srgbClr val="D8E3D0"/>
                </a:solidFill>
                <a:latin typeface="IBM Plex Mono"/>
              </a:rPr>
              <a:t>m</a:t>
            </a:r>
            <a:r>
              <a:rPr sz="1600" i="0">
                <a:solidFill>
                  <a:srgbClr val="D8E3D0"/>
                </a:solidFill>
                <a:latin typeface="IBM Plex Mono"/>
              </a:rPr>
              <a:t>.</a:t>
            </a:r>
            <a:r>
              <a:rPr sz="1600" i="0">
                <a:solidFill>
                  <a:srgbClr val="D8E3D0"/>
                </a:solidFill>
                <a:latin typeface="IBM Plex Mono"/>
              </a:rPr>
              <a:t>Name</a:t>
            </a:r>
            <a:r>
              <a:rPr sz="1600" i="0">
                <a:solidFill>
                  <a:srgbClr val="D8E3D0"/>
                </a:solidFill>
                <a:latin typeface="IBM Plex Mono"/>
              </a:rPr>
              <a:t>,</a:t>
            </a:r>
            <a:r>
              <a:rPr sz="1600" i="0">
                <a:solidFill>
                  <a:srgbClr val="D8E3D0"/>
                </a:solidFill>
                <a:latin typeface="IBM Plex Mono"/>
              </a:rPr>
              <a:t> </a:t>
            </a:r>
            <a:r>
              <a:rPr sz="1600" i="0">
                <a:solidFill>
                  <a:srgbClr val="D8E3D0"/>
                </a:solidFill>
                <a:latin typeface="IBM Plex Mono"/>
              </a:rPr>
              <a:t>e</a:t>
            </a:r>
            <a:r>
              <a:rPr sz="1600" i="0">
                <a:solidFill>
                  <a:srgbClr val="D8E3D0"/>
                </a:solidFill>
                <a:latin typeface="IBM Plex Mono"/>
              </a:rPr>
              <a:t>.</a:t>
            </a:r>
            <a:r>
              <a:rPr sz="1600" i="0">
                <a:solidFill>
                  <a:srgbClr val="D8E3D0"/>
                </a:solidFill>
                <a:latin typeface="IBM Plex Mono"/>
              </a:rPr>
              <a:t>Name</a:t>
            </a:r>
            <a:r>
              <a:rPr sz="1600" i="0">
                <a:solidFill>
                  <a:srgbClr val="D8E3D0"/>
                </a:solidFill>
                <a:latin typeface="IBM Plex Mono"/>
              </a:rPr>
              <a:t>;</a:t>
            </a:r>
          </a:p>
        </p:txBody>
      </p:sp>
      <p:sp>
        <p:nvSpPr>
          <p:cNvPr id="10" name="TextBox 9"/>
          <p:cNvSpPr txBox="1"/>
          <p:nvPr/>
        </p:nvSpPr>
        <p:spPr>
          <a:xfrm>
            <a:off x="548640" y="3119120"/>
            <a:ext cx="6101928" cy="274320"/>
          </a:xfrm>
          <a:prstGeom prst="rect">
            <a:avLst/>
          </a:prstGeom>
          <a:noFill/>
        </p:spPr>
        <p:txBody>
          <a:bodyPr wrap="square" anchor="t" lIns="36576" rIns="36576" tIns="36576" bIns="36576">
            <a:spAutoFit/>
          </a:bodyPr>
          <a:lstStyle/>
          <a:p>
            <a:pPr>
              <a:lnSpc>
                <a:spcPct val="105000"/>
              </a:lnSpc>
            </a:pPr>
            <a:r>
              <a:rPr sz="1000" b="1" i="0" u="none" spc="120">
                <a:solidFill>
                  <a:srgbClr val="D4B062"/>
                </a:solidFill>
                <a:latin typeface="IBM Plex Mono"/>
              </a:rPr>
              <a:t>ERGEBNIS</a:t>
            </a:r>
          </a:p>
        </p:txBody>
      </p:sp>
      <p:graphicFrame>
        <p:nvGraphicFramePr>
          <p:cNvPr id="11" name="Ergebnistabelle"/>
          <p:cNvGraphicFramePr>
            <a:graphicFrameLocks noGrp="1"/>
          </p:cNvGraphicFramePr>
          <p:nvPr/>
        </p:nvGraphicFramePr>
        <p:xfrm>
          <a:off x="548640" y="3439160"/>
          <a:ext cx="3377792" cy="1791335"/>
        </p:xfrm>
        <a:graphic>
          <a:graphicData uri="http://schemas.openxmlformats.org/drawingml/2006/table">
            <a:tbl>
              <a:tblPr firstRow="1">
                <a:tableStyleId>{5C22544A-7EE6-4342-B048-85BDC9FD1C3A}</a:tableStyleId>
              </a:tblPr>
              <a:tblGrid>
                <a:gridCol w="1688896"/>
                <a:gridCol w="1688896"/>
              </a:tblGrid>
              <a:tr h="255905">
                <a:tc>
                  <a:txBody>
                    <a:bodyPr/>
                    <a:lstStyle/>
                    <a:p>
                      <a:r>
                        <a:rPr sz="1196" b="1" i="0" u="none">
                          <a:solidFill>
                            <a:srgbClr val="1C2B3A"/>
                          </a:solidFill>
                          <a:latin typeface="IBM Plex Mono"/>
                        </a:rPr>
                        <a:t>Ermittler</a:t>
                      </a:r>
                    </a:p>
                  </a:txBody>
                  <a:tcPr marL="54864" marR="54864" marT="18288" marB="18288">
                    <a:solidFill>
                      <a:srgbClr val="EBE2D2"/>
                    </a:solidFill>
                  </a:tcPr>
                </a:tc>
                <a:tc>
                  <a:txBody>
                    <a:bodyPr/>
                    <a:lstStyle/>
                    <a:p>
                      <a:r>
                        <a:rPr sz="1196" b="1" i="0" u="none">
                          <a:solidFill>
                            <a:srgbClr val="1C2B3A"/>
                          </a:solidFill>
                          <a:latin typeface="IBM Plex Mono"/>
                        </a:rPr>
                        <a:t>Mentor</a:t>
                      </a:r>
                    </a:p>
                  </a:txBody>
                  <a:tcPr marL="54864" marR="54864" marT="18288" marB="18288">
                    <a:solidFill>
                      <a:srgbClr val="EBE2D2"/>
                    </a:solidFill>
                  </a:tcPr>
                </a:tc>
              </a:tr>
              <a:tr h="255905">
                <a:tc>
                  <a:txBody>
                    <a:bodyPr/>
                    <a:lstStyle/>
                    <a:p>
                      <a:r>
                        <a:rPr sz="1300" b="0" i="0" u="none">
                          <a:solidFill>
                            <a:srgbClr val="1C2B3A"/>
                          </a:solidFill>
                          <a:latin typeface="Barlow"/>
                        </a:rPr>
                        <a:t>Helge Saathoff</a:t>
                      </a:r>
                    </a:p>
                  </a:txBody>
                  <a:tcPr marL="54864" marR="54864" marT="18288" marB="18288">
                    <a:solidFill>
                      <a:srgbClr val="FFFDF8"/>
                    </a:solidFill>
                  </a:tcPr>
                </a:tc>
                <a:tc>
                  <a:txBody>
                    <a:bodyPr/>
                    <a:lstStyle/>
                    <a:p>
                      <a:r>
                        <a:rPr sz="1300" b="0" i="0" u="none">
                          <a:solidFill>
                            <a:srgbClr val="1C2B3A"/>
                          </a:solidFill>
                          <a:latin typeface="Barlow"/>
                        </a:rPr>
                        <a:t>Edda Lorenz</a:t>
                      </a:r>
                    </a:p>
                  </a:txBody>
                  <a:tcPr marL="54864" marR="54864" marT="18288" marB="18288">
                    <a:solidFill>
                      <a:srgbClr val="FFFDF8"/>
                    </a:solidFill>
                  </a:tcPr>
                </a:tc>
              </a:tr>
              <a:tr h="255905">
                <a:tc>
                  <a:txBody>
                    <a:bodyPr/>
                    <a:lstStyle/>
                    <a:p>
                      <a:r>
                        <a:rPr sz="1300" b="0" i="0" u="none">
                          <a:solidFill>
                            <a:srgbClr val="1C2B3A"/>
                          </a:solidFill>
                          <a:latin typeface="Barlow"/>
                        </a:rPr>
                        <a:t>Juri Brandes</a:t>
                      </a:r>
                    </a:p>
                  </a:txBody>
                  <a:tcPr marL="54864" marR="54864" marT="18288" marB="18288">
                    <a:solidFill>
                      <a:srgbClr val="FFFDF8"/>
                    </a:solidFill>
                  </a:tcPr>
                </a:tc>
                <a:tc>
                  <a:txBody>
                    <a:bodyPr/>
                    <a:lstStyle/>
                    <a:p>
                      <a:r>
                        <a:rPr sz="1300" b="0" i="0" u="none">
                          <a:solidFill>
                            <a:srgbClr val="1C2B3A"/>
                          </a:solidFill>
                          <a:latin typeface="Barlow"/>
                        </a:rPr>
                        <a:t>Edda Lorenz</a:t>
                      </a:r>
                    </a:p>
                  </a:txBody>
                  <a:tcPr marL="54864" marR="54864" marT="18288" marB="18288">
                    <a:solidFill>
                      <a:srgbClr val="FFFDF8"/>
                    </a:solidFill>
                  </a:tcPr>
                </a:tc>
              </a:tr>
              <a:tr h="255905">
                <a:tc>
                  <a:txBody>
                    <a:bodyPr/>
                    <a:lstStyle/>
                    <a:p>
                      <a:r>
                        <a:rPr sz="1300" b="0" i="0" u="none">
                          <a:solidFill>
                            <a:srgbClr val="1C2B3A"/>
                          </a:solidFill>
                          <a:latin typeface="Barlow"/>
                        </a:rPr>
                        <a:t>Maren Kolthoff</a:t>
                      </a:r>
                    </a:p>
                  </a:txBody>
                  <a:tcPr marL="54864" marR="54864" marT="18288" marB="18288">
                    <a:solidFill>
                      <a:srgbClr val="FFFDF8"/>
                    </a:solidFill>
                  </a:tcPr>
                </a:tc>
                <a:tc>
                  <a:txBody>
                    <a:bodyPr/>
                    <a:lstStyle/>
                    <a:p>
                      <a:r>
                        <a:rPr sz="1300" b="0" i="0" u="none">
                          <a:solidFill>
                            <a:srgbClr val="1C2B3A"/>
                          </a:solidFill>
                          <a:latin typeface="Barlow"/>
                        </a:rPr>
                        <a:t>Edda Lorenz</a:t>
                      </a:r>
                    </a:p>
                  </a:txBody>
                  <a:tcPr marL="54864" marR="54864" marT="18288" marB="18288">
                    <a:solidFill>
                      <a:srgbClr val="FFFDF8"/>
                    </a:solidFill>
                  </a:tcPr>
                </a:tc>
              </a:tr>
              <a:tr h="255905">
                <a:tc>
                  <a:txBody>
                    <a:bodyPr/>
                    <a:lstStyle/>
                    <a:p>
                      <a:r>
                        <a:rPr sz="1300" b="0" i="0" u="none">
                          <a:solidFill>
                            <a:srgbClr val="1C2B3A"/>
                          </a:solidFill>
                          <a:latin typeface="Barlow"/>
                        </a:rPr>
                        <a:t>Deniz Akgül</a:t>
                      </a:r>
                    </a:p>
                  </a:txBody>
                  <a:tcPr marL="54864" marR="54864" marT="18288" marB="18288">
                    <a:solidFill>
                      <a:srgbClr val="FFFDF8"/>
                    </a:solidFill>
                  </a:tcPr>
                </a:tc>
                <a:tc>
                  <a:txBody>
                    <a:bodyPr/>
                    <a:lstStyle/>
                    <a:p>
                      <a:r>
                        <a:rPr sz="1300" b="0" i="0" u="none">
                          <a:solidFill>
                            <a:srgbClr val="1C2B3A"/>
                          </a:solidFill>
                          <a:latin typeface="Barlow"/>
                        </a:rPr>
                        <a:t>Helge Saathoff</a:t>
                      </a:r>
                    </a:p>
                  </a:txBody>
                  <a:tcPr marL="54864" marR="54864" marT="18288" marB="18288">
                    <a:solidFill>
                      <a:srgbClr val="FFFDF8"/>
                    </a:solidFill>
                  </a:tcPr>
                </a:tc>
              </a:tr>
              <a:tr h="255905">
                <a:tc>
                  <a:txBody>
                    <a:bodyPr/>
                    <a:lstStyle/>
                    <a:p>
                      <a:r>
                        <a:rPr sz="1300" b="0" i="0" u="none">
                          <a:solidFill>
                            <a:srgbClr val="1C2B3A"/>
                          </a:solidFill>
                          <a:latin typeface="Barlow"/>
                        </a:rPr>
                        <a:t>Svea Hinners</a:t>
                      </a:r>
                    </a:p>
                  </a:txBody>
                  <a:tcPr marL="54864" marR="54864" marT="18288" marB="18288">
                    <a:solidFill>
                      <a:srgbClr val="FFFDF8"/>
                    </a:solidFill>
                  </a:tcPr>
                </a:tc>
                <a:tc>
                  <a:txBody>
                    <a:bodyPr/>
                    <a:lstStyle/>
                    <a:p>
                      <a:r>
                        <a:rPr sz="1300" b="0" i="0" u="none">
                          <a:solidFill>
                            <a:srgbClr val="1C2B3A"/>
                          </a:solidFill>
                          <a:latin typeface="Barlow"/>
                        </a:rPr>
                        <a:t>Helge Saathoff</a:t>
                      </a:r>
                    </a:p>
                  </a:txBody>
                  <a:tcPr marL="54864" marR="54864" marT="18288" marB="18288">
                    <a:solidFill>
                      <a:srgbClr val="FFFDF8"/>
                    </a:solidFill>
                  </a:tcPr>
                </a:tc>
              </a:tr>
              <a:tr h="255905">
                <a:tc>
                  <a:txBody>
                    <a:bodyPr/>
                    <a:lstStyle/>
                    <a:p>
                      <a:r>
                        <a:rPr sz="1300" b="0" i="0" u="none">
                          <a:solidFill>
                            <a:srgbClr val="1C2B3A"/>
                          </a:solidFill>
                          <a:latin typeface="Barlow"/>
                        </a:rPr>
                        <a:t>…</a:t>
                      </a:r>
                    </a:p>
                  </a:txBody>
                  <a:tcPr marL="54864" marR="54864" marT="18288" marB="18288">
                    <a:solidFill>
                      <a:srgbClr val="FFFDF8"/>
                    </a:solidFill>
                  </a:tcPr>
                </a:tc>
                <a:tc>
                  <a:txBody>
                    <a:bodyPr/>
                    <a:lstStyle/>
                    <a:p>
                      <a:r>
                        <a:rPr sz="1300" b="0" i="0" u="none">
                          <a:solidFill>
                            <a:srgbClr val="1C2B3A"/>
                          </a:solidFill>
                          <a:latin typeface="Barlow"/>
                        </a:rPr>
                        <a:t>…</a:t>
                      </a:r>
                    </a:p>
                  </a:txBody>
                  <a:tcPr marL="54864" marR="54864" marT="18288" marB="18288">
                    <a:solidFill>
                      <a:srgbClr val="FFFDF8"/>
                    </a:solidFill>
                  </a:tcPr>
                </a:tc>
              </a:tr>
            </a:tbl>
          </a:graphicData>
        </a:graphic>
      </p:graphicFrame>
      <p:sp>
        <p:nvSpPr>
          <p:cNvPr id="12" name="Rounded Rectangle 11"/>
          <p:cNvSpPr/>
          <p:nvPr/>
        </p:nvSpPr>
        <p:spPr>
          <a:xfrm>
            <a:off x="6924888" y="169164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924888" y="169164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062048" y="176479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1</a:t>
            </a:r>
          </a:p>
        </p:txBody>
      </p:sp>
      <p:sp>
        <p:nvSpPr>
          <p:cNvPr id="15" name="TextBox 14"/>
          <p:cNvSpPr txBox="1"/>
          <p:nvPr/>
        </p:nvSpPr>
        <p:spPr>
          <a:xfrm>
            <a:off x="7519248" y="1764792"/>
            <a:ext cx="3986646" cy="64719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FROM</a:t>
            </a:r>
            <a:r>
              <a:rPr sz="1600" b="0" i="0" u="none">
                <a:solidFill>
                  <a:srgbClr val="1C2B3A"/>
                </a:solidFill>
                <a:latin typeface="Barlow"/>
              </a:rPr>
              <a:t> – Ermittler zweimal: </a:t>
            </a:r>
            <a:r>
              <a:rPr sz="1440" b="0" i="0" u="none">
                <a:solidFill>
                  <a:srgbClr val="1C2B3A"/>
                </a:solidFill>
                <a:latin typeface="IBM Plex Mono"/>
              </a:rPr>
              <a:t>e</a:t>
            </a:r>
            <a:r>
              <a:rPr sz="1600" b="0" i="0" u="none">
                <a:solidFill>
                  <a:srgbClr val="1C2B3A"/>
                </a:solidFill>
                <a:latin typeface="Barlow"/>
              </a:rPr>
              <a:t> (betreut) und </a:t>
            </a:r>
            <a:r>
              <a:rPr sz="1440" b="0" i="0" u="none">
                <a:solidFill>
                  <a:srgbClr val="1C2B3A"/>
                </a:solidFill>
                <a:latin typeface="IBM Plex Mono"/>
              </a:rPr>
              <a:t>m</a:t>
            </a:r>
            <a:r>
              <a:rPr sz="1600" b="0" i="0" u="none">
                <a:solidFill>
                  <a:srgbClr val="1C2B3A"/>
                </a:solidFill>
                <a:latin typeface="Barlow"/>
              </a:rPr>
              <a:t> (Mentor)</a:t>
            </a:r>
          </a:p>
        </p:txBody>
      </p:sp>
      <p:sp>
        <p:nvSpPr>
          <p:cNvPr id="16" name="Rounded Rectangle 15"/>
          <p:cNvSpPr/>
          <p:nvPr/>
        </p:nvSpPr>
        <p:spPr>
          <a:xfrm>
            <a:off x="6924888" y="258572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924888" y="258572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62048" y="265887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2</a:t>
            </a:r>
          </a:p>
        </p:txBody>
      </p:sp>
      <p:sp>
        <p:nvSpPr>
          <p:cNvPr id="19" name="TextBox 18"/>
          <p:cNvSpPr txBox="1"/>
          <p:nvPr/>
        </p:nvSpPr>
        <p:spPr>
          <a:xfrm>
            <a:off x="7519248" y="2658872"/>
            <a:ext cx="3986646" cy="64719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WHERE</a:t>
            </a:r>
            <a:r>
              <a:rPr sz="1600" b="0" i="0" u="none">
                <a:solidFill>
                  <a:srgbClr val="1C2B3A"/>
                </a:solidFill>
                <a:latin typeface="Barlow"/>
              </a:rPr>
              <a:t> – Verbund über den rekursiven Fremdschlüssel MentorNr</a:t>
            </a:r>
          </a:p>
        </p:txBody>
      </p:sp>
      <p:sp>
        <p:nvSpPr>
          <p:cNvPr id="20" name="Rounded Rectangle 19"/>
          <p:cNvSpPr/>
          <p:nvPr/>
        </p:nvSpPr>
        <p:spPr>
          <a:xfrm>
            <a:off x="6924888" y="347980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924888" y="347980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062048" y="355295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3</a:t>
            </a:r>
          </a:p>
        </p:txBody>
      </p:sp>
      <p:sp>
        <p:nvSpPr>
          <p:cNvPr id="23" name="TextBox 22"/>
          <p:cNvSpPr txBox="1"/>
          <p:nvPr/>
        </p:nvSpPr>
        <p:spPr>
          <a:xfrm>
            <a:off x="7519248" y="3552952"/>
            <a:ext cx="3986646" cy="64719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ORDER BY</a:t>
            </a:r>
            <a:r>
              <a:rPr sz="1600" b="0" i="0" u="none">
                <a:solidFill>
                  <a:srgbClr val="1C2B3A"/>
                </a:solidFill>
                <a:latin typeface="Barlow"/>
              </a:rPr>
              <a:t> – nach Mentor, dann nach Name</a:t>
            </a:r>
          </a:p>
        </p:txBody>
      </p:sp>
      <p:sp>
        <p:nvSpPr>
          <p:cNvPr id="24" name="Rounded Rectangle 23"/>
          <p:cNvSpPr/>
          <p:nvPr/>
        </p:nvSpPr>
        <p:spPr>
          <a:xfrm>
            <a:off x="6924888" y="437388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924888" y="437388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62048" y="444703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4</a:t>
            </a:r>
          </a:p>
        </p:txBody>
      </p:sp>
      <p:sp>
        <p:nvSpPr>
          <p:cNvPr id="27" name="TextBox 26"/>
          <p:cNvSpPr txBox="1"/>
          <p:nvPr/>
        </p:nvSpPr>
        <p:spPr>
          <a:xfrm>
            <a:off x="7519248" y="4447032"/>
            <a:ext cx="3986646" cy="64719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SELECT</a:t>
            </a:r>
            <a:r>
              <a:rPr sz="1600" b="0" i="0" u="none">
                <a:solidFill>
                  <a:srgbClr val="1C2B3A"/>
                </a:solidFill>
                <a:latin typeface="Barlow"/>
              </a:rPr>
              <a:t> – Spaltenaliase machen die Rollen lesbar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Regelkarten-Umzug</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43</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F6B4F"/>
                </a:solidFill>
                <a:latin typeface="IBM Plex Mono"/>
              </a:rPr>
              <a:t>UNPLUGGED · 15 MIN · MATERIAL: REGELKARTEN R1–R6, RELATIONENKARTEN, TEAMPLAKAT</a:t>
            </a:r>
          </a:p>
        </p:txBody>
      </p:sp>
      <p:sp>
        <p:nvSpPr>
          <p:cNvPr id="10" name="TextBox 9"/>
          <p:cNvSpPr txBox="1"/>
          <p:nvPr/>
        </p:nvSpPr>
        <p:spPr>
          <a:xfrm>
            <a:off x="822959" y="2194560"/>
            <a:ext cx="10545775" cy="1490980"/>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1. Für jedes Rechteck eures Wettbewerbsplakats entsteht eine Relationenkarte (R1), Schlüssel unterstrichen.</a:t>
            </a:r>
          </a:p>
          <a:p>
            <a:pPr>
              <a:lnSpc>
                <a:spcPct val="105000"/>
              </a:lnSpc>
              <a:spcAft>
                <a:spcPts val="600"/>
              </a:spcAft>
            </a:pPr>
            <a:r>
              <a:rPr sz="1900" b="0" i="0" u="none">
                <a:solidFill>
                  <a:srgbClr val="1C2B3A"/>
                </a:solidFill>
                <a:latin typeface="Barlow"/>
              </a:rPr>
              <a:t>2. Für jede Raute die passende Regelkarte ziehen und „umziehen“: Fremdschlüssel rot mit </a:t>
            </a:r>
            <a:r>
              <a:rPr sz="1900" b="0" i="0" u="none">
                <a:solidFill>
                  <a:srgbClr val="B3261E"/>
                </a:solidFill>
                <a:latin typeface="IBM Plex Mono"/>
              </a:rPr>
              <a:t>↑</a:t>
            </a:r>
            <a:r>
              <a:rPr sz="1900" b="0" i="0" u="none">
                <a:solidFill>
                  <a:srgbClr val="1C2B3A"/>
                </a:solidFill>
                <a:latin typeface="Barlow"/>
              </a:rPr>
              <a:t>, ggf. neue Karte.</a:t>
            </a:r>
          </a:p>
          <a:p>
            <a:pPr>
              <a:lnSpc>
                <a:spcPct val="105000"/>
              </a:lnSpc>
              <a:spcAft>
                <a:spcPts val="600"/>
              </a:spcAft>
            </a:pPr>
            <a:r>
              <a:rPr sz="1900" b="0" i="0" u="none">
                <a:solidFill>
                  <a:srgbClr val="1C2B3A"/>
                </a:solidFill>
                <a:latin typeface="Barlow"/>
              </a:rPr>
              <a:t>3. Probe: drei Beispielzeilen für </a:t>
            </a:r>
            <a:r>
              <a:rPr sz="1900" b="0" i="1" u="none">
                <a:solidFill>
                  <a:srgbClr val="1C2B3A"/>
                </a:solidFill>
                <a:latin typeface="Barlow"/>
              </a:rPr>
              <a:t>verdaechtig</a:t>
            </a:r>
            <a:r>
              <a:rPr sz="1900" b="0" i="0" u="none">
                <a:solidFill>
                  <a:srgbClr val="1C2B3A"/>
                </a:solidFill>
                <a:latin typeface="Barlow"/>
              </a:rPr>
              <a:t> – ohne Mehrfachwerte, ohne wiederholte Personendaten?</a:t>
            </a:r>
          </a:p>
          <a:p>
            <a:pPr>
              <a:lnSpc>
                <a:spcPct val="105000"/>
              </a:lnSpc>
              <a:spcAft>
                <a:spcPts val="600"/>
              </a:spcAft>
            </a:pPr>
            <a:r>
              <a:rPr sz="1900" b="0" i="0" u="none">
                <a:solidFill>
                  <a:srgbClr val="1C2B3A"/>
                </a:solidFill>
                <a:latin typeface="Barlow"/>
              </a:rPr>
              <a:t>4. Austausch: „Welche Regel habt ihr hier angewendet – und warum nicht eine andere?“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Ab ins Lab: Ermittlung 5.3</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44</a:t>
            </a:r>
          </a:p>
        </p:txBody>
      </p:sp>
      <p:sp>
        <p:nvSpPr>
          <p:cNvPr id="8" name="Rounded Rectangle 7"/>
          <p:cNvSpPr/>
          <p:nvPr/>
        </p:nvSpPr>
        <p:spPr>
          <a:xfrm>
            <a:off x="548640" y="1691640"/>
            <a:ext cx="11094415" cy="292608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C5A85"/>
                </a:solidFill>
                <a:latin typeface="IBM Plex Mono"/>
              </a:rPr>
              <a:t>SPUR IM LAB</a:t>
            </a:r>
          </a:p>
        </p:txBody>
      </p:sp>
      <p:sp>
        <p:nvSpPr>
          <p:cNvPr id="10" name="TextBox 9"/>
          <p:cNvSpPr txBox="1"/>
          <p:nvPr/>
        </p:nvSpPr>
        <p:spPr>
          <a:xfrm>
            <a:off x="822959" y="2194560"/>
            <a:ext cx="10545775" cy="2194560"/>
          </a:xfrm>
          <a:prstGeom prst="rect">
            <a:avLst/>
          </a:prstGeom>
          <a:noFill/>
        </p:spPr>
        <p:txBody>
          <a:bodyPr wrap="square" anchor="t" lIns="36576" rIns="36576" tIns="36576" bIns="36576">
            <a:spAutoFit/>
          </a:bodyPr>
          <a:lstStyle/>
          <a:p>
            <a:pPr>
              <a:lnSpc>
                <a:spcPct val="105000"/>
              </a:lnSpc>
              <a:spcAft>
                <a:spcPts val="600"/>
              </a:spcAft>
            </a:pPr>
            <a:r>
              <a:rPr sz="2600" b="0" i="0" u="none">
                <a:solidFill>
                  <a:srgbClr val="1C2B3A"/>
                </a:solidFill>
                <a:latin typeface="Barlow Condensed SemiBold"/>
              </a:rPr>
              <a:t>„Vom Plan zur Datenbank“</a:t>
            </a:r>
          </a:p>
          <a:p>
            <a:pPr>
              <a:lnSpc>
                <a:spcPct val="105000"/>
              </a:lnSpc>
              <a:spcAft>
                <a:spcPts val="400"/>
              </a:spcAft>
            </a:pPr>
            <a:r>
              <a:rPr sz="1900" b="1" i="0" u="none">
                <a:solidFill>
                  <a:srgbClr val="1C2B3A"/>
                </a:solidFill>
                <a:latin typeface="Barlow"/>
              </a:rPr>
              <a:t>Aufgaben:</a:t>
            </a:r>
            <a:r>
              <a:rPr sz="1900" b="0" i="0" u="none">
                <a:solidFill>
                  <a:srgbClr val="1C2B3A"/>
                </a:solidFill>
                <a:latin typeface="Barlow"/>
              </a:rPr>
              <a:t> A5-E3-01 … 08</a:t>
            </a:r>
          </a:p>
          <a:p>
            <a:pPr>
              <a:lnSpc>
                <a:spcPct val="105000"/>
              </a:lnSpc>
              <a:spcAft>
                <a:spcPts val="400"/>
              </a:spcAft>
            </a:pPr>
            <a:r>
              <a:rPr sz="1900" b="1" i="0" u="none">
                <a:solidFill>
                  <a:srgbClr val="1C2B3A"/>
                </a:solidFill>
                <a:latin typeface="Barlow"/>
              </a:rPr>
              <a:t>Werkzeug:</a:t>
            </a:r>
            <a:r>
              <a:rPr sz="1900" b="0" i="0" u="none">
                <a:solidFill>
                  <a:srgbClr val="1C2B3A"/>
                </a:solidFill>
                <a:latin typeface="Barlow"/>
              </a:rPr>
              <a:t> Schema-Werkbank, Bauplan-Tisch (Rückrichtung), Konsole (Fall-Datenbank)</a:t>
            </a:r>
          </a:p>
        </p:txBody>
      </p:sp>
      <p:sp>
        <p:nvSpPr>
          <p:cNvPr id="11" name="TextBox 10"/>
          <p:cNvSpPr txBox="1"/>
          <p:nvPr/>
        </p:nvSpPr>
        <p:spPr>
          <a:xfrm>
            <a:off x="548640" y="4800600"/>
            <a:ext cx="11094415" cy="717550"/>
          </a:xfrm>
          <a:prstGeom prst="rect">
            <a:avLst/>
          </a:prstGeom>
          <a:noFill/>
        </p:spPr>
        <p:txBody>
          <a:bodyPr wrap="square" anchor="t" lIns="36576" rIns="36576" tIns="36576" bIns="36576">
            <a:spAutoFit/>
          </a:bodyPr>
          <a:lstStyle/>
          <a:p>
            <a:pPr>
              <a:lnSpc>
                <a:spcPct val="105000"/>
              </a:lnSpc>
              <a:spcAft>
                <a:spcPts val="600"/>
              </a:spcAft>
            </a:pPr>
            <a:r>
              <a:rPr sz="1700" b="0" i="0" u="none">
                <a:solidFill>
                  <a:srgbClr val="E8E1D3"/>
                </a:solidFill>
                <a:latin typeface="Barlow"/>
              </a:rPr>
              <a:t>▸ Danach: Verhör 5 · Kletterhalle (20 Minuten, ohne Tipps)</a:t>
            </a:r>
          </a:p>
          <a:p>
            <a:pPr>
              <a:lnSpc>
                <a:spcPct val="105000"/>
              </a:lnSpc>
              <a:spcAft>
                <a:spcPts val="600"/>
              </a:spcAft>
            </a:pPr>
            <a:r>
              <a:rPr sz="1700" b="0" i="0" u="none">
                <a:solidFill>
                  <a:srgbClr val="E8E1D3"/>
                </a:solidFill>
                <a:latin typeface="Barlow"/>
              </a:rPr>
              <a:t>▸ Parallel: AB 5.3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Ermittler-Notiz</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45</a:t>
            </a:r>
          </a:p>
        </p:txBody>
      </p:sp>
      <p:sp>
        <p:nvSpPr>
          <p:cNvPr id="8" name="Rounded Rectangle 7"/>
          <p:cNvSpPr/>
          <p:nvPr/>
        </p:nvSpPr>
        <p:spPr>
          <a:xfrm>
            <a:off x="548640" y="1691640"/>
            <a:ext cx="11094415" cy="434340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C5A85"/>
                </a:solidFill>
                <a:latin typeface="IBM Plex Mono"/>
              </a:rPr>
              <a:t>ERMITTLER-NOTIZ</a:t>
            </a:r>
          </a:p>
        </p:txBody>
      </p:sp>
      <p:sp>
        <p:nvSpPr>
          <p:cNvPr id="10" name="TextBox 9"/>
          <p:cNvSpPr txBox="1"/>
          <p:nvPr/>
        </p:nvSpPr>
        <p:spPr>
          <a:xfrm>
            <a:off x="822959" y="2194560"/>
            <a:ext cx="10545775" cy="1932940"/>
          </a:xfrm>
          <a:prstGeom prst="rect">
            <a:avLst/>
          </a:prstGeom>
          <a:noFill/>
        </p:spPr>
        <p:txBody>
          <a:bodyPr wrap="square" anchor="t" lIns="36576" rIns="36576" tIns="36576" bIns="36576">
            <a:spAutoFit/>
          </a:bodyPr>
          <a:lstStyle/>
          <a:p>
            <a:pPr>
              <a:lnSpc>
                <a:spcPct val="105000"/>
              </a:lnSpc>
              <a:spcAft>
                <a:spcPts val="600"/>
              </a:spcAft>
            </a:pPr>
            <a:r>
              <a:rPr sz="2000" b="0" i="0" u="none">
                <a:solidFill>
                  <a:srgbClr val="1C2B3A"/>
                </a:solidFill>
                <a:latin typeface="Barlow"/>
              </a:rPr>
              <a:t>▸ R1 Entitätstyp → Relation · R2 1:n → Fremdschlüssel auf die n-Seite</a:t>
            </a:r>
          </a:p>
          <a:p>
            <a:pPr>
              <a:lnSpc>
                <a:spcPct val="105000"/>
              </a:lnSpc>
              <a:spcAft>
                <a:spcPts val="600"/>
              </a:spcAft>
            </a:pPr>
            <a:r>
              <a:rPr sz="2000" b="0" i="0" u="none">
                <a:solidFill>
                  <a:srgbClr val="1C2B3A"/>
                </a:solidFill>
                <a:latin typeface="Barlow"/>
              </a:rPr>
              <a:t>▸ R3 n:m → eigene Relation, Schlüssel aus beiden Fremdschlüsseln</a:t>
            </a:r>
          </a:p>
          <a:p>
            <a:pPr>
              <a:lnSpc>
                <a:spcPct val="105000"/>
              </a:lnSpc>
              <a:spcAft>
                <a:spcPts val="600"/>
              </a:spcAft>
            </a:pPr>
            <a:r>
              <a:rPr sz="2000" b="0" i="0" u="none">
                <a:solidFill>
                  <a:srgbClr val="1C2B3A"/>
                </a:solidFill>
                <a:latin typeface="Barlow"/>
              </a:rPr>
              <a:t>▸ R4 1:1 → Fremdschlüssel auf einer Seite · R5 rekursiv → Fremdschlüssel nach Rolle</a:t>
            </a:r>
          </a:p>
          <a:p>
            <a:pPr>
              <a:lnSpc>
                <a:spcPct val="105000"/>
              </a:lnSpc>
              <a:spcAft>
                <a:spcPts val="600"/>
              </a:spcAft>
            </a:pPr>
            <a:r>
              <a:rPr sz="2000" b="0" i="0" u="none">
                <a:solidFill>
                  <a:srgbClr val="1C2B3A"/>
                </a:solidFill>
                <a:latin typeface="Barlow"/>
              </a:rPr>
              <a:t>▸ R6 ternär → eigene Relation mit drei Fremdschlüsseln; Paar/Trio mehrfach → zusätzliches Schlüsselattribut</a:t>
            </a:r>
          </a:p>
          <a:p>
            <a:pPr>
              <a:lnSpc>
                <a:spcPct val="105000"/>
              </a:lnSpc>
              <a:spcAft>
                <a:spcPts val="600"/>
              </a:spcAft>
            </a:pPr>
            <a:r>
              <a:rPr sz="2000" b="0" i="0" u="none">
                <a:solidFill>
                  <a:srgbClr val="1C2B3A"/>
                </a:solidFill>
                <a:latin typeface="Barlow"/>
              </a:rPr>
              <a:t>▸ Self-Join: dieselbe Tabelle zweimal mit verschiedenen Aliasen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Abi-Format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46</a:t>
            </a:r>
          </a:p>
        </p:txBody>
      </p:sp>
      <p:sp>
        <p:nvSpPr>
          <p:cNvPr id="8" name="Rounded Rectangle 7"/>
          <p:cNvSpPr/>
          <p:nvPr/>
        </p:nvSpPr>
        <p:spPr>
          <a:xfrm>
            <a:off x="548640" y="1691640"/>
            <a:ext cx="11094415" cy="4343400"/>
          </a:xfrm>
          <a:prstGeom prst="roundRect">
            <a:avLst>
              <a:gd name="adj" fmla="val 4000"/>
            </a:avLst>
          </a:prstGeom>
          <a:solidFill>
            <a:srgbClr val="F4EDE1"/>
          </a:solidFill>
          <a:ln w="2540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ABI-ECKE · OPERATOR ÜBERFÜHREN / BEGRÜNDEN</a:t>
            </a:r>
          </a:p>
        </p:txBody>
      </p:sp>
      <p:sp>
        <p:nvSpPr>
          <p:cNvPr id="10" name="TextBox 9"/>
          <p:cNvSpPr txBox="1"/>
          <p:nvPr/>
        </p:nvSpPr>
        <p:spPr>
          <a:xfrm>
            <a:off x="822959" y="2194560"/>
            <a:ext cx="10545775" cy="1043940"/>
          </a:xfrm>
          <a:prstGeom prst="rect">
            <a:avLst/>
          </a:prstGeom>
          <a:noFill/>
        </p:spPr>
        <p:txBody>
          <a:bodyPr wrap="square" anchor="t" lIns="36576" rIns="36576" tIns="36576" bIns="36576">
            <a:spAutoFit/>
          </a:bodyPr>
          <a:lstStyle/>
          <a:p>
            <a:pPr>
              <a:lnSpc>
                <a:spcPct val="105000"/>
              </a:lnSpc>
              <a:spcAft>
                <a:spcPts val="600"/>
              </a:spcAft>
            </a:pPr>
            <a:r>
              <a:rPr sz="2000" b="0" i="0" u="none">
                <a:solidFill>
                  <a:srgbClr val="1C2B3A"/>
                </a:solidFill>
                <a:latin typeface="Barlow"/>
              </a:rPr>
              <a:t>Gegeben ist das ER-Modell einer Erweiterung der Fall-Datenbank. </a:t>
            </a:r>
            <a:r>
              <a:rPr sz="2000" b="1" i="0" u="none">
                <a:solidFill>
                  <a:srgbClr val="1C2B3A"/>
                </a:solidFill>
                <a:latin typeface="Barlow"/>
              </a:rPr>
              <a:t>Überführen</a:t>
            </a:r>
            <a:r>
              <a:rPr sz="2000" b="0" i="0" u="none">
                <a:solidFill>
                  <a:srgbClr val="1C2B3A"/>
                </a:solidFill>
                <a:latin typeface="Barlow"/>
              </a:rPr>
              <a:t> Sie das Modell in ein Relationenschema in Kurzschreibweise und </a:t>
            </a:r>
            <a:r>
              <a:rPr sz="2000" b="1" i="0" u="none">
                <a:solidFill>
                  <a:srgbClr val="1C2B3A"/>
                </a:solidFill>
                <a:latin typeface="Barlow"/>
              </a:rPr>
              <a:t>begründen</a:t>
            </a:r>
            <a:r>
              <a:rPr sz="2000" b="0" i="0" u="none">
                <a:solidFill>
                  <a:srgbClr val="1C2B3A"/>
                </a:solidFill>
                <a:latin typeface="Barlow"/>
              </a:rPr>
              <a:t> Sie die Umsetzung des Beziehungstyps </a:t>
            </a:r>
            <a:r>
              <a:rPr sz="2000" b="0" i="1" u="none">
                <a:solidFill>
                  <a:srgbClr val="1C2B3A"/>
                </a:solidFill>
                <a:latin typeface="Barlow"/>
              </a:rPr>
              <a:t>arbeitetMitAn</a:t>
            </a:r>
            <a:r>
              <a:rPr sz="2000" b="0" i="0" u="none">
                <a:solidFill>
                  <a:srgbClr val="1C2B3A"/>
                </a:solidFill>
                <a:latin typeface="Barlow"/>
              </a:rPr>
              <a:t>. [5 BE]</a:t>
            </a:r>
          </a:p>
        </p:txBody>
      </p:sp>
      <p:pic>
        <p:nvPicPr>
          <p:cNvPr id="11" name="Picture 10" descr="f140340855167296.png"/>
          <p:cNvPicPr>
            <a:picLocks noChangeAspect="1"/>
          </p:cNvPicPr>
          <p:nvPr/>
        </p:nvPicPr>
        <p:blipFill>
          <a:blip r:embed="rId3"/>
          <a:stretch>
            <a:fillRect/>
          </a:stretch>
        </p:blipFill>
        <p:spPr>
          <a:xfrm>
            <a:off x="3405376" y="3311652"/>
            <a:ext cx="5380942" cy="2586227"/>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935705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Lösung Abi-Format (DS 11)</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Marker Lehrkraft"/>
          <p:cNvSpPr/>
          <p:nvPr/>
        </p:nvSpPr>
        <p:spPr>
          <a:xfrm>
            <a:off x="10042855" y="310896"/>
            <a:ext cx="1600200" cy="310896"/>
          </a:xfrm>
          <a:prstGeom prst="roundRect">
            <a:avLst>
              <a:gd name="adj" fmla="val 4000"/>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42855" y="310896"/>
            <a:ext cx="1600200" cy="310896"/>
          </a:xfrm>
          <a:prstGeom prst="rect">
            <a:avLst/>
          </a:prstGeom>
          <a:noFill/>
        </p:spPr>
        <p:txBody>
          <a:bodyPr wrap="square" anchor="ctr" lIns="36576" rIns="36576" tIns="36576" bIns="36576">
            <a:spAutoFit/>
          </a:bodyPr>
          <a:lstStyle/>
          <a:p>
            <a:pPr algn="ctr">
              <a:lnSpc>
                <a:spcPct val="105000"/>
              </a:lnSpc>
            </a:pPr>
            <a:r>
              <a:rPr sz="1000" b="1" i="0" u="none">
                <a:solidFill>
                  <a:srgbClr val="141B22"/>
                </a:solidFill>
                <a:latin typeface="IBM Plex Mono"/>
              </a:rPr>
              <a:t>NUR LEHRKRAFT</a:t>
            </a:r>
          </a:p>
        </p:txBody>
      </p:sp>
      <p:sp>
        <p:nvSpPr>
          <p:cNvPr id="9" name="TextBox 8"/>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47</a:t>
            </a:r>
          </a:p>
        </p:txBody>
      </p:sp>
      <p:sp>
        <p:nvSpPr>
          <p:cNvPr id="10" name="Rounded Rectangle 9"/>
          <p:cNvSpPr/>
          <p:nvPr/>
        </p:nvSpPr>
        <p:spPr>
          <a:xfrm>
            <a:off x="548640" y="1691640"/>
            <a:ext cx="11094415" cy="4343400"/>
          </a:xfrm>
          <a:prstGeom prst="roundRect">
            <a:avLst>
              <a:gd name="adj" fmla="val 4000"/>
            </a:avLst>
          </a:prstGeom>
          <a:solidFill>
            <a:srgbClr val="F4EDE1"/>
          </a:solidFill>
          <a:ln w="25400">
            <a:solidFill>
              <a:srgbClr val="5FAF8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F6B4F"/>
                </a:solidFill>
                <a:latin typeface="IBM Plex Mono"/>
              </a:rPr>
              <a:t>LÖSUNG</a:t>
            </a:r>
          </a:p>
        </p:txBody>
      </p:sp>
      <p:sp>
        <p:nvSpPr>
          <p:cNvPr id="12" name="TextBox 11"/>
          <p:cNvSpPr txBox="1"/>
          <p:nvPr/>
        </p:nvSpPr>
        <p:spPr>
          <a:xfrm>
            <a:off x="822959" y="2194560"/>
            <a:ext cx="10545775" cy="457200"/>
          </a:xfrm>
          <a:prstGeom prst="rect">
            <a:avLst/>
          </a:prstGeom>
          <a:noFill/>
        </p:spPr>
        <p:txBody>
          <a:bodyPr wrap="square" anchor="t" lIns="36576" rIns="36576" tIns="36576" bIns="36576">
            <a:spAutoFit/>
          </a:bodyPr>
          <a:lstStyle/>
          <a:p>
            <a:pPr>
              <a:lnSpc>
                <a:spcPct val="105000"/>
              </a:lnSpc>
            </a:pPr>
            <a:r>
              <a:rPr sz="1620" b="0" i="0" u="none">
                <a:solidFill>
                  <a:srgbClr val="1C2B3A"/>
                </a:solidFill>
                <a:latin typeface="IBM Plex Mono"/>
              </a:rPr>
              <a:t>Ermittler(</a:t>
            </a:r>
            <a:r>
              <a:rPr sz="1620" b="0" i="0" u="sng">
                <a:solidFill>
                  <a:srgbClr val="1C2B3A"/>
                </a:solidFill>
                <a:latin typeface="IBM Plex Mono"/>
              </a:rPr>
              <a:t>ErmittlerNr</a:t>
            </a:r>
            <a:r>
              <a:rPr sz="1620" b="0" i="0" u="none">
                <a:solidFill>
                  <a:srgbClr val="1C2B3A"/>
                </a:solidFill>
                <a:latin typeface="IBM Plex Mono"/>
              </a:rPr>
              <a:t>, Name, Dienstgrad, </a:t>
            </a:r>
            <a:r>
              <a:rPr sz="1620" b="0" i="0" u="none">
                <a:solidFill>
                  <a:srgbClr val="B3261E"/>
                </a:solidFill>
                <a:latin typeface="IBM Plex Mono"/>
              </a:rPr>
              <a:t>↑</a:t>
            </a:r>
            <a:r>
              <a:rPr sz="1620" b="0" i="0" u="none">
                <a:solidFill>
                  <a:srgbClr val="1C2B3A"/>
                </a:solidFill>
                <a:latin typeface="IBM Plex Mono"/>
              </a:rPr>
              <a:t>VertretungNr)</a:t>
            </a:r>
          </a:p>
        </p:txBody>
      </p:sp>
      <p:sp>
        <p:nvSpPr>
          <p:cNvPr id="13" name="TextBox 12"/>
          <p:cNvSpPr txBox="1"/>
          <p:nvPr/>
        </p:nvSpPr>
        <p:spPr>
          <a:xfrm>
            <a:off x="822959" y="2724912"/>
            <a:ext cx="10545775" cy="457200"/>
          </a:xfrm>
          <a:prstGeom prst="rect">
            <a:avLst/>
          </a:prstGeom>
          <a:noFill/>
        </p:spPr>
        <p:txBody>
          <a:bodyPr wrap="square" anchor="t" lIns="36576" rIns="36576" tIns="36576" bIns="36576">
            <a:spAutoFit/>
          </a:bodyPr>
          <a:lstStyle/>
          <a:p>
            <a:pPr>
              <a:lnSpc>
                <a:spcPct val="105000"/>
              </a:lnSpc>
            </a:pPr>
            <a:r>
              <a:rPr sz="1620" b="0" i="0" u="none">
                <a:solidFill>
                  <a:srgbClr val="1C2B3A"/>
                </a:solidFill>
                <a:latin typeface="IBM Plex Mono"/>
              </a:rPr>
              <a:t>Fall(</a:t>
            </a:r>
            <a:r>
              <a:rPr sz="1620" b="0" i="0" u="sng">
                <a:solidFill>
                  <a:srgbClr val="1C2B3A"/>
                </a:solidFill>
                <a:latin typeface="IBM Plex Mono"/>
              </a:rPr>
              <a:t>FallNr</a:t>
            </a:r>
            <a:r>
              <a:rPr sz="1620" b="0" i="0" u="none">
                <a:solidFill>
                  <a:srgbClr val="1C2B3A"/>
                </a:solidFill>
                <a:latin typeface="IBM Plex Mono"/>
              </a:rPr>
              <a:t>, Titel, Eroeffnet, </a:t>
            </a:r>
            <a:r>
              <a:rPr sz="1620" b="0" i="0" u="none">
                <a:solidFill>
                  <a:srgbClr val="B3261E"/>
                </a:solidFill>
                <a:latin typeface="IBM Plex Mono"/>
              </a:rPr>
              <a:t>↑</a:t>
            </a:r>
            <a:r>
              <a:rPr sz="1620" b="0" i="0" u="none">
                <a:solidFill>
                  <a:srgbClr val="1C2B3A"/>
                </a:solidFill>
                <a:latin typeface="IBM Plex Mono"/>
              </a:rPr>
              <a:t>LeiterNr)</a:t>
            </a:r>
          </a:p>
        </p:txBody>
      </p:sp>
      <p:sp>
        <p:nvSpPr>
          <p:cNvPr id="14" name="TextBox 13"/>
          <p:cNvSpPr txBox="1"/>
          <p:nvPr/>
        </p:nvSpPr>
        <p:spPr>
          <a:xfrm>
            <a:off x="822959" y="3255264"/>
            <a:ext cx="10545775" cy="457200"/>
          </a:xfrm>
          <a:prstGeom prst="rect">
            <a:avLst/>
          </a:prstGeom>
          <a:noFill/>
        </p:spPr>
        <p:txBody>
          <a:bodyPr wrap="square" anchor="t" lIns="36576" rIns="36576" tIns="36576" bIns="36576">
            <a:spAutoFit/>
          </a:bodyPr>
          <a:lstStyle/>
          <a:p>
            <a:pPr>
              <a:lnSpc>
                <a:spcPct val="105000"/>
              </a:lnSpc>
            </a:pPr>
            <a:r>
              <a:rPr sz="1620" b="0" i="0" u="none">
                <a:solidFill>
                  <a:srgbClr val="1C2B3A"/>
                </a:solidFill>
                <a:latin typeface="IBM Plex Mono"/>
              </a:rPr>
              <a:t>arbeitetMitAn(</a:t>
            </a:r>
            <a:r>
              <a:rPr sz="1620" b="0" i="0" u="sng">
                <a:solidFill>
                  <a:srgbClr val="B3261E"/>
                </a:solidFill>
                <a:latin typeface="IBM Plex Mono"/>
              </a:rPr>
              <a:t>↑</a:t>
            </a:r>
            <a:r>
              <a:rPr sz="1620" b="0" i="0" u="sng">
                <a:solidFill>
                  <a:srgbClr val="1C2B3A"/>
                </a:solidFill>
                <a:latin typeface="IBM Plex Mono"/>
              </a:rPr>
              <a:t>ErmittlerNr</a:t>
            </a:r>
            <a:r>
              <a:rPr sz="1620" b="0" i="0" u="none">
                <a:solidFill>
                  <a:srgbClr val="1C2B3A"/>
                </a:solidFill>
                <a:latin typeface="IBM Plex Mono"/>
              </a:rPr>
              <a:t>, </a:t>
            </a:r>
            <a:r>
              <a:rPr sz="1620" b="0" i="0" u="sng">
                <a:solidFill>
                  <a:srgbClr val="B3261E"/>
                </a:solidFill>
                <a:latin typeface="IBM Plex Mono"/>
              </a:rPr>
              <a:t>↑</a:t>
            </a:r>
            <a:r>
              <a:rPr sz="1620" b="0" i="0" u="sng">
                <a:solidFill>
                  <a:srgbClr val="1C2B3A"/>
                </a:solidFill>
                <a:latin typeface="IBM Plex Mono"/>
              </a:rPr>
              <a:t>FallNr</a:t>
            </a:r>
            <a:r>
              <a:rPr sz="1620" b="0" i="0" u="none">
                <a:solidFill>
                  <a:srgbClr val="1C2B3A"/>
                </a:solidFill>
                <a:latin typeface="IBM Plex Mono"/>
              </a:rPr>
              <a:t>, Rolle)</a:t>
            </a:r>
          </a:p>
        </p:txBody>
      </p:sp>
      <p:sp>
        <p:nvSpPr>
          <p:cNvPr id="15" name="TextBox 14"/>
          <p:cNvSpPr txBox="1"/>
          <p:nvPr/>
        </p:nvSpPr>
        <p:spPr>
          <a:xfrm>
            <a:off x="822959" y="3785615"/>
            <a:ext cx="10545775" cy="662940"/>
          </a:xfrm>
          <a:prstGeom prst="rect">
            <a:avLst/>
          </a:prstGeom>
          <a:noFill/>
        </p:spPr>
        <p:txBody>
          <a:bodyPr wrap="square" anchor="t" lIns="36576" rIns="36576" tIns="36576" bIns="36576">
            <a:spAutoFit/>
          </a:bodyPr>
          <a:lstStyle/>
          <a:p>
            <a:pPr>
              <a:lnSpc>
                <a:spcPct val="105000"/>
              </a:lnSpc>
              <a:spcAft>
                <a:spcPts val="600"/>
              </a:spcAft>
            </a:pPr>
            <a:r>
              <a:rPr sz="1800" b="0" i="0" u="none">
                <a:solidFill>
                  <a:srgbClr val="1C2B3A"/>
                </a:solidFill>
                <a:latin typeface="Barlow"/>
              </a:rPr>
              <a:t>n:m → in keiner der beiden Relationen passt ein einzelner Wert; das Paar ist Schlüssel, die Rolle hängt vom Paar ab.</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935705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Beweisstück: Ermittlungsnetz (1/2)</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Marker Lehrkraft"/>
          <p:cNvSpPr/>
          <p:nvPr/>
        </p:nvSpPr>
        <p:spPr>
          <a:xfrm>
            <a:off x="10042855" y="310896"/>
            <a:ext cx="1600200" cy="310896"/>
          </a:xfrm>
          <a:prstGeom prst="roundRect">
            <a:avLst>
              <a:gd name="adj" fmla="val 4000"/>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42855" y="310896"/>
            <a:ext cx="1600200" cy="310896"/>
          </a:xfrm>
          <a:prstGeom prst="rect">
            <a:avLst/>
          </a:prstGeom>
          <a:noFill/>
        </p:spPr>
        <p:txBody>
          <a:bodyPr wrap="square" anchor="ctr" lIns="36576" rIns="36576" tIns="36576" bIns="36576">
            <a:spAutoFit/>
          </a:bodyPr>
          <a:lstStyle/>
          <a:p>
            <a:pPr algn="ctr">
              <a:lnSpc>
                <a:spcPct val="105000"/>
              </a:lnSpc>
            </a:pPr>
            <a:r>
              <a:rPr sz="1000" b="1" i="0" u="none">
                <a:solidFill>
                  <a:srgbClr val="141B22"/>
                </a:solidFill>
                <a:latin typeface="IBM Plex Mono"/>
              </a:rPr>
              <a:t>NUR LEHRKRAFT</a:t>
            </a:r>
          </a:p>
        </p:txBody>
      </p:sp>
      <p:sp>
        <p:nvSpPr>
          <p:cNvPr id="9" name="TextBox 8"/>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48</a:t>
            </a:r>
          </a:p>
        </p:txBody>
      </p:sp>
      <p:sp>
        <p:nvSpPr>
          <p:cNvPr id="10" name="Rounded Rectangle 9"/>
          <p:cNvSpPr/>
          <p:nvPr/>
        </p:nvSpPr>
        <p:spPr>
          <a:xfrm>
            <a:off x="548640" y="1691640"/>
            <a:ext cx="11094415" cy="4343400"/>
          </a:xfrm>
          <a:prstGeom prst="roundRect">
            <a:avLst>
              <a:gd name="adj" fmla="val 4000"/>
            </a:avLst>
          </a:prstGeom>
          <a:solidFill>
            <a:srgbClr val="F4EDE1"/>
          </a:solidFill>
          <a:ln w="25400">
            <a:solidFill>
              <a:srgbClr val="5FAF8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F6B4F"/>
                </a:solidFill>
                <a:latin typeface="IBM Plex Mono"/>
              </a:rPr>
              <a:t>LÖSUNG</a:t>
            </a:r>
          </a:p>
        </p:txBody>
      </p:sp>
      <p:sp>
        <p:nvSpPr>
          <p:cNvPr id="12" name="SQL-Hintergrund"/>
          <p:cNvSpPr/>
          <p:nvPr/>
        </p:nvSpPr>
        <p:spPr>
          <a:xfrm>
            <a:off x="822959" y="2194560"/>
            <a:ext cx="10545775" cy="22250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QL"/>
          <p:cNvSpPr txBox="1"/>
          <p:nvPr/>
        </p:nvSpPr>
        <p:spPr>
          <a:xfrm>
            <a:off x="1005839" y="2331720"/>
            <a:ext cx="10180015" cy="1950720"/>
          </a:xfrm>
          <a:prstGeom prst="rect">
            <a:avLst/>
          </a:prstGeom>
          <a:noFill/>
        </p:spPr>
        <p:txBody>
          <a:bodyPr wrap="square" lIns="18288" rIns="18288" tIns="18288" bIns="18288">
            <a:spAutoFit/>
          </a:bodyPr>
          <a:lstStyle/>
          <a:p>
            <a:pPr>
              <a:lnSpc>
                <a:spcPct val="100000"/>
              </a:lnSpc>
            </a:pPr>
            <a:r>
              <a:rPr sz="2000" i="0">
                <a:solidFill>
                  <a:srgbClr val="F2A65A"/>
                </a:solidFill>
                <a:latin typeface="IBM Plex Mono"/>
              </a:rPr>
              <a:t>SELECT</a:t>
            </a:r>
            <a:r>
              <a:rPr sz="2000" i="0">
                <a:solidFill>
                  <a:srgbClr val="D8E3D0"/>
                </a:solidFill>
                <a:latin typeface="IBM Plex Mono"/>
              </a:rPr>
              <a:t> </a:t>
            </a:r>
            <a:r>
              <a:rPr sz="2000" i="0">
                <a:solidFill>
                  <a:srgbClr val="D8E3D0"/>
                </a:solidFill>
                <a:latin typeface="IBM Plex Mono"/>
              </a:rPr>
              <a:t>Person</a:t>
            </a:r>
            <a:r>
              <a:rPr sz="2000" i="0">
                <a:solidFill>
                  <a:srgbClr val="D8E3D0"/>
                </a:solidFill>
                <a:latin typeface="IBM Plex Mono"/>
              </a:rPr>
              <a:t>.</a:t>
            </a:r>
            <a:r>
              <a:rPr sz="2000" i="0">
                <a:solidFill>
                  <a:srgbClr val="D8E3D0"/>
                </a:solidFill>
                <a:latin typeface="IBM Plex Mono"/>
              </a:rPr>
              <a:t>PersonNr</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Person</a:t>
            </a:r>
            <a:r>
              <a:rPr sz="2000" i="0">
                <a:solidFill>
                  <a:srgbClr val="D8E3D0"/>
                </a:solidFill>
                <a:latin typeface="IBM Plex Mono"/>
              </a:rPr>
              <a:t>.</a:t>
            </a:r>
            <a:r>
              <a:rPr sz="2000" i="0">
                <a:solidFill>
                  <a:srgbClr val="D8E3D0"/>
                </a:solidFill>
                <a:latin typeface="IBM Plex Mono"/>
              </a:rPr>
              <a:t>Vorname</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Person</a:t>
            </a:r>
            <a:r>
              <a:rPr sz="2000" i="0">
                <a:solidFill>
                  <a:srgbClr val="D8E3D0"/>
                </a:solidFill>
                <a:latin typeface="IBM Plex Mono"/>
              </a:rPr>
              <a:t>.</a:t>
            </a:r>
            <a:r>
              <a:rPr sz="2000" i="0">
                <a:solidFill>
                  <a:srgbClr val="D8E3D0"/>
                </a:solidFill>
                <a:latin typeface="IBM Plex Mono"/>
              </a:rPr>
              <a:t>Nachname</a:t>
            </a:r>
          </a:p>
          <a:p>
            <a:pPr>
              <a:lnSpc>
                <a:spcPct val="100000"/>
              </a:lnSpc>
            </a:pPr>
            <a:r>
              <a:rPr sz="2000" i="0">
                <a:solidFill>
                  <a:srgbClr val="F2A65A"/>
                </a:solidFill>
                <a:latin typeface="IBM Plex Mono"/>
              </a:rPr>
              <a:t>FROM</a:t>
            </a:r>
            <a:r>
              <a:rPr sz="2000" i="0">
                <a:solidFill>
                  <a:srgbClr val="D8E3D0"/>
                </a:solidFill>
                <a:latin typeface="IBM Plex Mono"/>
              </a:rPr>
              <a:t> </a:t>
            </a:r>
            <a:r>
              <a:rPr sz="2000" i="0">
                <a:solidFill>
                  <a:srgbClr val="D8E3D0"/>
                </a:solidFill>
                <a:latin typeface="IBM Plex Mono"/>
              </a:rPr>
              <a:t>Person</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verdaechtig</a:t>
            </a:r>
          </a:p>
          <a:p>
            <a:pPr>
              <a:lnSpc>
                <a:spcPct val="100000"/>
              </a:lnSpc>
            </a:pPr>
            <a:r>
              <a:rPr sz="2000" i="0">
                <a:solidFill>
                  <a:srgbClr val="F2A65A"/>
                </a:solidFill>
                <a:latin typeface="IBM Plex Mono"/>
              </a:rPr>
              <a:t>WHERE</a:t>
            </a:r>
            <a:r>
              <a:rPr sz="2000" i="0">
                <a:solidFill>
                  <a:srgbClr val="D8E3D0"/>
                </a:solidFill>
                <a:latin typeface="IBM Plex Mono"/>
              </a:rPr>
              <a:t> </a:t>
            </a:r>
            <a:r>
              <a:rPr sz="2000" i="0">
                <a:solidFill>
                  <a:srgbClr val="D8E3D0"/>
                </a:solidFill>
                <a:latin typeface="IBM Plex Mono"/>
              </a:rPr>
              <a:t>Person</a:t>
            </a:r>
            <a:r>
              <a:rPr sz="2000" i="0">
                <a:solidFill>
                  <a:srgbClr val="D8E3D0"/>
                </a:solidFill>
                <a:latin typeface="IBM Plex Mono"/>
              </a:rPr>
              <a:t>.</a:t>
            </a:r>
            <a:r>
              <a:rPr sz="2000" i="0">
                <a:solidFill>
                  <a:srgbClr val="D8E3D0"/>
                </a:solidFill>
                <a:latin typeface="IBM Plex Mono"/>
              </a:rPr>
              <a:t>PersonNr</a:t>
            </a:r>
            <a:r>
              <a:rPr sz="2000" i="0">
                <a:solidFill>
                  <a:srgbClr val="D8E3D0"/>
                </a:solidFill>
                <a:latin typeface="IBM Plex Mono"/>
              </a:rPr>
              <a:t> </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verdaechtig</a:t>
            </a:r>
            <a:r>
              <a:rPr sz="2000" i="0">
                <a:solidFill>
                  <a:srgbClr val="D8E3D0"/>
                </a:solidFill>
                <a:latin typeface="IBM Plex Mono"/>
              </a:rPr>
              <a:t>.</a:t>
            </a:r>
            <a:r>
              <a:rPr sz="2000" i="0">
                <a:solidFill>
                  <a:srgbClr val="D8E3D0"/>
                </a:solidFill>
                <a:latin typeface="IBM Plex Mono"/>
              </a:rPr>
              <a:t>PersonNr</a:t>
            </a:r>
          </a:p>
          <a:p>
            <a:pPr>
              <a:lnSpc>
                <a:spcPct val="100000"/>
              </a:lnSpc>
            </a:pPr>
            <a:r>
              <a:rPr sz="2000" i="0">
                <a:solidFill>
                  <a:srgbClr val="D8E3D0"/>
                </a:solidFill>
                <a:latin typeface="IBM Plex Mono"/>
              </a:rPr>
              <a:t>  </a:t>
            </a:r>
            <a:r>
              <a:rPr sz="2000" i="0">
                <a:solidFill>
                  <a:srgbClr val="F2A65A"/>
                </a:solidFill>
                <a:latin typeface="IBM Plex Mono"/>
              </a:rPr>
              <a:t>AND</a:t>
            </a:r>
            <a:r>
              <a:rPr sz="2000" i="0">
                <a:solidFill>
                  <a:srgbClr val="D8E3D0"/>
                </a:solidFill>
                <a:latin typeface="IBM Plex Mono"/>
              </a:rPr>
              <a:t> </a:t>
            </a:r>
            <a:r>
              <a:rPr sz="2000" i="0">
                <a:solidFill>
                  <a:srgbClr val="D8E3D0"/>
                </a:solidFill>
                <a:latin typeface="IBM Plex Mono"/>
              </a:rPr>
              <a:t>verdaechtig</a:t>
            </a:r>
            <a:r>
              <a:rPr sz="2000" i="0">
                <a:solidFill>
                  <a:srgbClr val="D8E3D0"/>
                </a:solidFill>
                <a:latin typeface="IBM Plex Mono"/>
              </a:rPr>
              <a:t>.</a:t>
            </a:r>
            <a:r>
              <a:rPr sz="2000" i="0">
                <a:solidFill>
                  <a:srgbClr val="D8E3D0"/>
                </a:solidFill>
                <a:latin typeface="IBM Plex Mono"/>
              </a:rPr>
              <a:t>FallNr</a:t>
            </a:r>
            <a:r>
              <a:rPr sz="2000" i="0">
                <a:solidFill>
                  <a:srgbClr val="D8E3D0"/>
                </a:solidFill>
                <a:latin typeface="IBM Plex Mono"/>
              </a:rPr>
              <a:t> </a:t>
            </a:r>
            <a:r>
              <a:rPr sz="2000" i="0">
                <a:solidFill>
                  <a:srgbClr val="F2A65A"/>
                </a:solidFill>
                <a:latin typeface="IBM Plex Mono"/>
              </a:rPr>
              <a:t>IN</a:t>
            </a:r>
            <a:r>
              <a:rPr sz="2000" i="0">
                <a:solidFill>
                  <a:srgbClr val="D8E3D0"/>
                </a:solidFill>
                <a:latin typeface="IBM Plex Mono"/>
              </a:rPr>
              <a:t> </a:t>
            </a:r>
            <a:r>
              <a:rPr sz="2000" i="0">
                <a:solidFill>
                  <a:srgbClr val="D8E3D0"/>
                </a:solidFill>
                <a:latin typeface="IBM Plex Mono"/>
              </a:rPr>
              <a:t>(</a:t>
            </a:r>
            <a:r>
              <a:rPr sz="2000" i="0">
                <a:solidFill>
                  <a:srgbClr val="8CC4FF"/>
                </a:solidFill>
                <a:latin typeface="IBM Plex Mono"/>
              </a:rPr>
              <a:t>1</a:t>
            </a:r>
            <a:r>
              <a:rPr sz="2000" i="0">
                <a:solidFill>
                  <a:srgbClr val="D8E3D0"/>
                </a:solidFill>
                <a:latin typeface="IBM Plex Mono"/>
              </a:rPr>
              <a:t>,</a:t>
            </a:r>
            <a:r>
              <a:rPr sz="2000" i="0">
                <a:solidFill>
                  <a:srgbClr val="D8E3D0"/>
                </a:solidFill>
                <a:latin typeface="IBM Plex Mono"/>
              </a:rPr>
              <a:t> </a:t>
            </a:r>
            <a:r>
              <a:rPr sz="2000" i="0">
                <a:solidFill>
                  <a:srgbClr val="8CC4FF"/>
                </a:solidFill>
                <a:latin typeface="IBM Plex Mono"/>
              </a:rPr>
              <a:t>2</a:t>
            </a:r>
            <a:r>
              <a:rPr sz="2000" i="0">
                <a:solidFill>
                  <a:srgbClr val="D8E3D0"/>
                </a:solidFill>
                <a:latin typeface="IBM Plex Mono"/>
              </a:rPr>
              <a:t>,</a:t>
            </a:r>
            <a:r>
              <a:rPr sz="2000" i="0">
                <a:solidFill>
                  <a:srgbClr val="D8E3D0"/>
                </a:solidFill>
                <a:latin typeface="IBM Plex Mono"/>
              </a:rPr>
              <a:t> </a:t>
            </a:r>
            <a:r>
              <a:rPr sz="2000" i="0">
                <a:solidFill>
                  <a:srgbClr val="8CC4FF"/>
                </a:solidFill>
                <a:latin typeface="IBM Plex Mono"/>
              </a:rPr>
              <a:t>3</a:t>
            </a:r>
            <a:r>
              <a:rPr sz="2000" i="0">
                <a:solidFill>
                  <a:srgbClr val="D8E3D0"/>
                </a:solidFill>
                <a:latin typeface="IBM Plex Mono"/>
              </a:rPr>
              <a:t>,</a:t>
            </a:r>
            <a:r>
              <a:rPr sz="2000" i="0">
                <a:solidFill>
                  <a:srgbClr val="D8E3D0"/>
                </a:solidFill>
                <a:latin typeface="IBM Plex Mono"/>
              </a:rPr>
              <a:t> </a:t>
            </a:r>
            <a:r>
              <a:rPr sz="2000" i="0">
                <a:solidFill>
                  <a:srgbClr val="8CC4FF"/>
                </a:solidFill>
                <a:latin typeface="IBM Plex Mono"/>
              </a:rPr>
              <a:t>4</a:t>
            </a:r>
            <a:r>
              <a:rPr sz="2000" i="0">
                <a:solidFill>
                  <a:srgbClr val="D8E3D0"/>
                </a:solidFill>
                <a:latin typeface="IBM Plex Mono"/>
              </a:rPr>
              <a:t>)</a:t>
            </a:r>
          </a:p>
          <a:p>
            <a:pPr>
              <a:lnSpc>
                <a:spcPct val="100000"/>
              </a:lnSpc>
            </a:pPr>
            <a:r>
              <a:rPr sz="2000" i="0">
                <a:solidFill>
                  <a:srgbClr val="F2A65A"/>
                </a:solidFill>
                <a:latin typeface="IBM Plex Mono"/>
              </a:rPr>
              <a:t>GROUP</a:t>
            </a:r>
            <a:r>
              <a:rPr sz="2000" i="0">
                <a:solidFill>
                  <a:srgbClr val="D8E3D0"/>
                </a:solidFill>
                <a:latin typeface="IBM Plex Mono"/>
              </a:rPr>
              <a:t> </a:t>
            </a:r>
            <a:r>
              <a:rPr sz="2000" i="0">
                <a:solidFill>
                  <a:srgbClr val="F2A65A"/>
                </a:solidFill>
                <a:latin typeface="IBM Plex Mono"/>
              </a:rPr>
              <a:t>BY</a:t>
            </a:r>
            <a:r>
              <a:rPr sz="2000" i="0">
                <a:solidFill>
                  <a:srgbClr val="D8E3D0"/>
                </a:solidFill>
                <a:latin typeface="IBM Plex Mono"/>
              </a:rPr>
              <a:t> </a:t>
            </a:r>
            <a:r>
              <a:rPr sz="2000" i="0">
                <a:solidFill>
                  <a:srgbClr val="D8E3D0"/>
                </a:solidFill>
                <a:latin typeface="IBM Plex Mono"/>
              </a:rPr>
              <a:t>Person</a:t>
            </a:r>
            <a:r>
              <a:rPr sz="2000" i="0">
                <a:solidFill>
                  <a:srgbClr val="D8E3D0"/>
                </a:solidFill>
                <a:latin typeface="IBM Plex Mono"/>
              </a:rPr>
              <a:t>.</a:t>
            </a:r>
            <a:r>
              <a:rPr sz="2000" i="0">
                <a:solidFill>
                  <a:srgbClr val="D8E3D0"/>
                </a:solidFill>
                <a:latin typeface="IBM Plex Mono"/>
              </a:rPr>
              <a:t>PersonNr</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Person</a:t>
            </a:r>
            <a:r>
              <a:rPr sz="2000" i="0">
                <a:solidFill>
                  <a:srgbClr val="D8E3D0"/>
                </a:solidFill>
                <a:latin typeface="IBM Plex Mono"/>
              </a:rPr>
              <a:t>.</a:t>
            </a:r>
            <a:r>
              <a:rPr sz="2000" i="0">
                <a:solidFill>
                  <a:srgbClr val="D8E3D0"/>
                </a:solidFill>
                <a:latin typeface="IBM Plex Mono"/>
              </a:rPr>
              <a:t>Vorname</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Person</a:t>
            </a:r>
            <a:r>
              <a:rPr sz="2000" i="0">
                <a:solidFill>
                  <a:srgbClr val="D8E3D0"/>
                </a:solidFill>
                <a:latin typeface="IBM Plex Mono"/>
              </a:rPr>
              <a:t>.</a:t>
            </a:r>
            <a:r>
              <a:rPr sz="2000" i="0">
                <a:solidFill>
                  <a:srgbClr val="D8E3D0"/>
                </a:solidFill>
                <a:latin typeface="IBM Plex Mono"/>
              </a:rPr>
              <a:t>Nachname</a:t>
            </a:r>
          </a:p>
          <a:p>
            <a:pPr>
              <a:lnSpc>
                <a:spcPct val="100000"/>
              </a:lnSpc>
            </a:pPr>
            <a:r>
              <a:rPr sz="2000" i="0">
                <a:solidFill>
                  <a:srgbClr val="F2A65A"/>
                </a:solidFill>
                <a:latin typeface="IBM Plex Mono"/>
              </a:rPr>
              <a:t>HAVING</a:t>
            </a:r>
            <a:r>
              <a:rPr sz="2000" i="0">
                <a:solidFill>
                  <a:srgbClr val="D8E3D0"/>
                </a:solidFill>
                <a:latin typeface="IBM Plex Mono"/>
              </a:rPr>
              <a:t> </a:t>
            </a:r>
            <a:r>
              <a:rPr sz="2000" i="0">
                <a:solidFill>
                  <a:srgbClr val="E6C77A"/>
                </a:solidFill>
                <a:latin typeface="IBM Plex Mono"/>
              </a:rPr>
              <a:t>COUNT</a:t>
            </a:r>
            <a:r>
              <a:rPr sz="2000" i="0">
                <a:solidFill>
                  <a:srgbClr val="D8E3D0"/>
                </a:solidFill>
                <a:latin typeface="IBM Plex Mono"/>
              </a:rPr>
              <a:t>(</a:t>
            </a:r>
            <a:r>
              <a:rPr sz="2000" i="0">
                <a:solidFill>
                  <a:srgbClr val="D8E3D0"/>
                </a:solidFill>
                <a:latin typeface="IBM Plex Mono"/>
              </a:rPr>
              <a:t>*</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a:t>
            </a:r>
            <a:r>
              <a:rPr sz="2000" i="0">
                <a:solidFill>
                  <a:srgbClr val="D8E3D0"/>
                </a:solidFill>
                <a:latin typeface="IBM Plex Mono"/>
              </a:rPr>
              <a:t> </a:t>
            </a:r>
            <a:r>
              <a:rPr sz="2000" i="0">
                <a:solidFill>
                  <a:srgbClr val="8CC4FF"/>
                </a:solidFill>
                <a:latin typeface="IBM Plex Mono"/>
              </a:rPr>
              <a:t>4</a:t>
            </a:r>
            <a:r>
              <a:rPr sz="2000" i="0">
                <a:solidFill>
                  <a:srgbClr val="D8E3D0"/>
                </a:solidFill>
                <a:latin typeface="IBM Plex Mono"/>
              </a:rPr>
              <a:t>;</a:t>
            </a:r>
          </a:p>
        </p:txBody>
      </p:sp>
      <p:graphicFrame>
        <p:nvGraphicFramePr>
          <p:cNvPr id="14" name="Ergebnistabelle"/>
          <p:cNvGraphicFramePr>
            <a:graphicFrameLocks noGrp="1"/>
          </p:cNvGraphicFramePr>
          <p:nvPr/>
        </p:nvGraphicFramePr>
        <p:xfrm>
          <a:off x="822959" y="4529328"/>
          <a:ext cx="3683202" cy="629920"/>
        </p:xfrm>
        <a:graphic>
          <a:graphicData uri="http://schemas.openxmlformats.org/drawingml/2006/table">
            <a:tbl>
              <a:tblPr firstRow="1">
                <a:tableStyleId>{5C22544A-7EE6-4342-B048-85BDC9FD1C3A}</a:tableStyleId>
              </a:tblPr>
              <a:tblGrid>
                <a:gridCol w="1269187"/>
                <a:gridCol w="1144828"/>
                <a:gridCol w="1269187"/>
              </a:tblGrid>
              <a:tr h="314960">
                <a:tc>
                  <a:txBody>
                    <a:bodyPr/>
                    <a:lstStyle/>
                    <a:p>
                      <a:r>
                        <a:rPr sz="1472" b="1" i="0" u="none">
                          <a:solidFill>
                            <a:srgbClr val="1C2B3A"/>
                          </a:solidFill>
                          <a:latin typeface="IBM Plex Mono"/>
                        </a:rPr>
                        <a:t>PersonNr</a:t>
                      </a:r>
                    </a:p>
                  </a:txBody>
                  <a:tcPr marL="54864" marR="54864" marT="18288" marB="18288">
                    <a:solidFill>
                      <a:srgbClr val="EBE2D2"/>
                    </a:solidFill>
                  </a:tcPr>
                </a:tc>
                <a:tc>
                  <a:txBody>
                    <a:bodyPr/>
                    <a:lstStyle/>
                    <a:p>
                      <a:r>
                        <a:rPr sz="1472" b="1" i="0" u="none">
                          <a:solidFill>
                            <a:srgbClr val="1C2B3A"/>
                          </a:solidFill>
                          <a:latin typeface="IBM Plex Mono"/>
                        </a:rPr>
                        <a:t>Vorname</a:t>
                      </a:r>
                    </a:p>
                  </a:txBody>
                  <a:tcPr marL="54864" marR="54864" marT="18288" marB="18288">
                    <a:solidFill>
                      <a:srgbClr val="EBE2D2"/>
                    </a:solidFill>
                  </a:tcPr>
                </a:tc>
                <a:tc>
                  <a:txBody>
                    <a:bodyPr/>
                    <a:lstStyle/>
                    <a:p>
                      <a:r>
                        <a:rPr sz="1472" b="1" i="0" u="none">
                          <a:solidFill>
                            <a:srgbClr val="1C2B3A"/>
                          </a:solidFill>
                          <a:latin typeface="IBM Plex Mono"/>
                        </a:rPr>
                        <a:t>Nachname</a:t>
                      </a:r>
                    </a:p>
                  </a:txBody>
                  <a:tcPr marL="54864" marR="54864" marT="18288" marB="18288">
                    <a:solidFill>
                      <a:srgbClr val="EBE2D2"/>
                    </a:solidFill>
                  </a:tcPr>
                </a:tc>
              </a:tr>
              <a:tr h="314960">
                <a:tc>
                  <a:txBody>
                    <a:bodyPr/>
                    <a:lstStyle/>
                    <a:p>
                      <a:pPr algn="r"/>
                      <a:r>
                        <a:rPr sz="1600" b="0" i="0" u="none">
                          <a:solidFill>
                            <a:srgbClr val="1C2B3A"/>
                          </a:solidFill>
                          <a:latin typeface="Barlow"/>
                        </a:rPr>
                        <a:t>13</a:t>
                      </a:r>
                    </a:p>
                  </a:txBody>
                  <a:tcPr marL="54864" marR="54864" marT="18288" marB="18288">
                    <a:solidFill>
                      <a:srgbClr val="FFFDF8"/>
                    </a:solidFill>
                  </a:tcPr>
                </a:tc>
                <a:tc>
                  <a:txBody>
                    <a:bodyPr/>
                    <a:lstStyle/>
                    <a:p>
                      <a:r>
                        <a:rPr sz="1600" b="0" i="0" u="none">
                          <a:solidFill>
                            <a:srgbClr val="1C2B3A"/>
                          </a:solidFill>
                          <a:latin typeface="Barlow"/>
                        </a:rPr>
                        <a:t>Nora</a:t>
                      </a:r>
                    </a:p>
                  </a:txBody>
                  <a:tcPr marL="54864" marR="54864" marT="18288" marB="18288">
                    <a:solidFill>
                      <a:srgbClr val="FFFDF8"/>
                    </a:solidFill>
                  </a:tcPr>
                </a:tc>
                <a:tc>
                  <a:txBody>
                    <a:bodyPr/>
                    <a:lstStyle/>
                    <a:p>
                      <a:r>
                        <a:rPr sz="1600" b="0" i="0" u="none">
                          <a:solidFill>
                            <a:srgbClr val="1C2B3A"/>
                          </a:solidFill>
                          <a:latin typeface="Barlow"/>
                        </a:rPr>
                        <a:t>Falter</a:t>
                      </a:r>
                    </a:p>
                  </a:txBody>
                  <a:tcPr marL="54864" marR="54864" marT="18288" marB="18288">
                    <a:solidFill>
                      <a:srgbClr val="FFFDF8"/>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935705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Beweisstück: Ermittlungsnetz (2/2)</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Marker Lehrkraft"/>
          <p:cNvSpPr/>
          <p:nvPr/>
        </p:nvSpPr>
        <p:spPr>
          <a:xfrm>
            <a:off x="10042855" y="310896"/>
            <a:ext cx="1600200" cy="310896"/>
          </a:xfrm>
          <a:prstGeom prst="roundRect">
            <a:avLst>
              <a:gd name="adj" fmla="val 4000"/>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42855" y="310896"/>
            <a:ext cx="1600200" cy="310896"/>
          </a:xfrm>
          <a:prstGeom prst="rect">
            <a:avLst/>
          </a:prstGeom>
          <a:noFill/>
        </p:spPr>
        <p:txBody>
          <a:bodyPr wrap="square" anchor="ctr" lIns="36576" rIns="36576" tIns="36576" bIns="36576">
            <a:spAutoFit/>
          </a:bodyPr>
          <a:lstStyle/>
          <a:p>
            <a:pPr algn="ctr">
              <a:lnSpc>
                <a:spcPct val="105000"/>
              </a:lnSpc>
            </a:pPr>
            <a:r>
              <a:rPr sz="1000" b="1" i="0" u="none">
                <a:solidFill>
                  <a:srgbClr val="141B22"/>
                </a:solidFill>
                <a:latin typeface="IBM Plex Mono"/>
              </a:rPr>
              <a:t>NUR LEHRKRAFT</a:t>
            </a:r>
          </a:p>
        </p:txBody>
      </p:sp>
      <p:sp>
        <p:nvSpPr>
          <p:cNvPr id="9" name="TextBox 8"/>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49</a:t>
            </a:r>
          </a:p>
        </p:txBody>
      </p:sp>
      <p:sp>
        <p:nvSpPr>
          <p:cNvPr id="10" name="Rounded Rectangle 9"/>
          <p:cNvSpPr/>
          <p:nvPr/>
        </p:nvSpPr>
        <p:spPr>
          <a:xfrm>
            <a:off x="548640" y="1691640"/>
            <a:ext cx="11094415" cy="4343400"/>
          </a:xfrm>
          <a:prstGeom prst="roundRect">
            <a:avLst>
              <a:gd name="adj" fmla="val 4000"/>
            </a:avLst>
          </a:prstGeom>
          <a:solidFill>
            <a:srgbClr val="F4EDE1"/>
          </a:solidFill>
          <a:ln w="25400">
            <a:solidFill>
              <a:srgbClr val="5FAF8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F6B4F"/>
                </a:solidFill>
                <a:latin typeface="IBM Plex Mono"/>
              </a:rPr>
              <a:t>LÖSUNG</a:t>
            </a:r>
          </a:p>
        </p:txBody>
      </p:sp>
      <p:sp>
        <p:nvSpPr>
          <p:cNvPr id="12" name="SQL-Hintergrund"/>
          <p:cNvSpPr/>
          <p:nvPr/>
        </p:nvSpPr>
        <p:spPr>
          <a:xfrm>
            <a:off x="822959" y="2194560"/>
            <a:ext cx="10545775" cy="19075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QL"/>
          <p:cNvSpPr txBox="1"/>
          <p:nvPr/>
        </p:nvSpPr>
        <p:spPr>
          <a:xfrm>
            <a:off x="1005839" y="2331720"/>
            <a:ext cx="10180015" cy="1633220"/>
          </a:xfrm>
          <a:prstGeom prst="rect">
            <a:avLst/>
          </a:prstGeom>
          <a:noFill/>
        </p:spPr>
        <p:txBody>
          <a:bodyPr wrap="square" lIns="18288" rIns="18288" tIns="18288" bIns="18288">
            <a:spAutoFit/>
          </a:bodyPr>
          <a:lstStyle/>
          <a:p>
            <a:pPr>
              <a:lnSpc>
                <a:spcPct val="100000"/>
              </a:lnSpc>
            </a:pPr>
            <a:r>
              <a:rPr sz="2000" i="0">
                <a:solidFill>
                  <a:srgbClr val="F2A65A"/>
                </a:solidFill>
                <a:latin typeface="IBM Plex Mono"/>
              </a:rPr>
              <a:t>SELECT</a:t>
            </a:r>
            <a:r>
              <a:rPr sz="2000" i="0">
                <a:solidFill>
                  <a:srgbClr val="D8E3D0"/>
                </a:solidFill>
                <a:latin typeface="IBM Plex Mono"/>
              </a:rPr>
              <a:t> </a:t>
            </a:r>
            <a:r>
              <a:rPr sz="2000" i="0">
                <a:solidFill>
                  <a:srgbClr val="D8E3D0"/>
                </a:solidFill>
                <a:latin typeface="IBM Plex Mono"/>
              </a:rPr>
              <a:t>b</a:t>
            </a:r>
            <a:r>
              <a:rPr sz="2000" i="0">
                <a:solidFill>
                  <a:srgbClr val="D8E3D0"/>
                </a:solidFill>
                <a:latin typeface="IBM Plex Mono"/>
              </a:rPr>
              <a:t>.</a:t>
            </a:r>
            <a:r>
              <a:rPr sz="2000" i="0">
                <a:solidFill>
                  <a:srgbClr val="D8E3D0"/>
                </a:solidFill>
                <a:latin typeface="IBM Plex Mono"/>
              </a:rPr>
              <a:t>Vorname</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b</a:t>
            </a:r>
            <a:r>
              <a:rPr sz="2000" i="0">
                <a:solidFill>
                  <a:srgbClr val="D8E3D0"/>
                </a:solidFill>
                <a:latin typeface="IBM Plex Mono"/>
              </a:rPr>
              <a:t>.</a:t>
            </a:r>
            <a:r>
              <a:rPr sz="2000" i="0">
                <a:solidFill>
                  <a:srgbClr val="D8E3D0"/>
                </a:solidFill>
                <a:latin typeface="IBM Plex Mono"/>
              </a:rPr>
              <a:t>Nachname</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b</a:t>
            </a:r>
            <a:r>
              <a:rPr sz="2000" i="0">
                <a:solidFill>
                  <a:srgbClr val="D8E3D0"/>
                </a:solidFill>
                <a:latin typeface="IBM Plex Mono"/>
              </a:rPr>
              <a:t>.</a:t>
            </a:r>
            <a:r>
              <a:rPr sz="2000" i="0">
                <a:solidFill>
                  <a:srgbClr val="D8E3D0"/>
                </a:solidFill>
                <a:latin typeface="IBM Plex Mono"/>
              </a:rPr>
              <a:t>Stadtteil</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k</a:t>
            </a:r>
            <a:r>
              <a:rPr sz="2000" i="0">
                <a:solidFill>
                  <a:srgbClr val="D8E3D0"/>
                </a:solidFill>
                <a:latin typeface="IBM Plex Mono"/>
              </a:rPr>
              <a:t>.</a:t>
            </a:r>
            <a:r>
              <a:rPr sz="2000" i="0">
                <a:solidFill>
                  <a:srgbClr val="D8E3D0"/>
                </a:solidFill>
                <a:latin typeface="IBM Plex Mono"/>
              </a:rPr>
              <a:t>Seit</a:t>
            </a:r>
          </a:p>
          <a:p>
            <a:pPr>
              <a:lnSpc>
                <a:spcPct val="100000"/>
              </a:lnSpc>
            </a:pPr>
            <a:r>
              <a:rPr sz="2000" i="0">
                <a:solidFill>
                  <a:srgbClr val="F2A65A"/>
                </a:solidFill>
                <a:latin typeface="IBM Plex Mono"/>
              </a:rPr>
              <a:t>FROM</a:t>
            </a:r>
            <a:r>
              <a:rPr sz="2000" i="0">
                <a:solidFill>
                  <a:srgbClr val="D8E3D0"/>
                </a:solidFill>
                <a:latin typeface="IBM Plex Mono"/>
              </a:rPr>
              <a:t> </a:t>
            </a:r>
            <a:r>
              <a:rPr sz="2000" i="0">
                <a:solidFill>
                  <a:srgbClr val="D8E3D0"/>
                </a:solidFill>
                <a:latin typeface="IBM Plex Mono"/>
              </a:rPr>
              <a:t>Person</a:t>
            </a:r>
            <a:r>
              <a:rPr sz="2000" i="0">
                <a:solidFill>
                  <a:srgbClr val="D8E3D0"/>
                </a:solidFill>
                <a:latin typeface="IBM Plex Mono"/>
              </a:rPr>
              <a:t> </a:t>
            </a:r>
            <a:r>
              <a:rPr sz="2000" i="0">
                <a:solidFill>
                  <a:srgbClr val="D8E3D0"/>
                </a:solidFill>
                <a:latin typeface="IBM Plex Mono"/>
              </a:rPr>
              <a:t>p</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kennt</a:t>
            </a:r>
            <a:r>
              <a:rPr sz="2000" i="0">
                <a:solidFill>
                  <a:srgbClr val="D8E3D0"/>
                </a:solidFill>
                <a:latin typeface="IBM Plex Mono"/>
              </a:rPr>
              <a:t> </a:t>
            </a:r>
            <a:r>
              <a:rPr sz="2000" i="0">
                <a:solidFill>
                  <a:srgbClr val="D8E3D0"/>
                </a:solidFill>
                <a:latin typeface="IBM Plex Mono"/>
              </a:rPr>
              <a:t>k</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Person</a:t>
            </a:r>
            <a:r>
              <a:rPr sz="2000" i="0">
                <a:solidFill>
                  <a:srgbClr val="D8E3D0"/>
                </a:solidFill>
                <a:latin typeface="IBM Plex Mono"/>
              </a:rPr>
              <a:t> </a:t>
            </a:r>
            <a:r>
              <a:rPr sz="2000" i="0">
                <a:solidFill>
                  <a:srgbClr val="D8E3D0"/>
                </a:solidFill>
                <a:latin typeface="IBM Plex Mono"/>
              </a:rPr>
              <a:t>b</a:t>
            </a:r>
          </a:p>
          <a:p>
            <a:pPr>
              <a:lnSpc>
                <a:spcPct val="100000"/>
              </a:lnSpc>
            </a:pPr>
            <a:r>
              <a:rPr sz="2000" i="0">
                <a:solidFill>
                  <a:srgbClr val="F2A65A"/>
                </a:solidFill>
                <a:latin typeface="IBM Plex Mono"/>
              </a:rPr>
              <a:t>WHERE</a:t>
            </a:r>
            <a:r>
              <a:rPr sz="2000" i="0">
                <a:solidFill>
                  <a:srgbClr val="D8E3D0"/>
                </a:solidFill>
                <a:latin typeface="IBM Plex Mono"/>
              </a:rPr>
              <a:t> </a:t>
            </a:r>
            <a:r>
              <a:rPr sz="2000" i="0">
                <a:solidFill>
                  <a:srgbClr val="D8E3D0"/>
                </a:solidFill>
                <a:latin typeface="IBM Plex Mono"/>
              </a:rPr>
              <a:t>p</a:t>
            </a:r>
            <a:r>
              <a:rPr sz="2000" i="0">
                <a:solidFill>
                  <a:srgbClr val="D8E3D0"/>
                </a:solidFill>
                <a:latin typeface="IBM Plex Mono"/>
              </a:rPr>
              <a:t>.</a:t>
            </a:r>
            <a:r>
              <a:rPr sz="2000" i="0">
                <a:solidFill>
                  <a:srgbClr val="D8E3D0"/>
                </a:solidFill>
                <a:latin typeface="IBM Plex Mono"/>
              </a:rPr>
              <a:t>PersonNr</a:t>
            </a:r>
            <a:r>
              <a:rPr sz="2000" i="0">
                <a:solidFill>
                  <a:srgbClr val="D8E3D0"/>
                </a:solidFill>
                <a:latin typeface="IBM Plex Mono"/>
              </a:rPr>
              <a:t> </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k</a:t>
            </a:r>
            <a:r>
              <a:rPr sz="2000" i="0">
                <a:solidFill>
                  <a:srgbClr val="D8E3D0"/>
                </a:solidFill>
                <a:latin typeface="IBM Plex Mono"/>
              </a:rPr>
              <a:t>.</a:t>
            </a:r>
            <a:r>
              <a:rPr sz="2000" i="0">
                <a:solidFill>
                  <a:srgbClr val="D8E3D0"/>
                </a:solidFill>
                <a:latin typeface="IBM Plex Mono"/>
              </a:rPr>
              <a:t>PersonNr</a:t>
            </a:r>
          </a:p>
          <a:p>
            <a:pPr>
              <a:lnSpc>
                <a:spcPct val="100000"/>
              </a:lnSpc>
            </a:pPr>
            <a:r>
              <a:rPr sz="2000" i="0">
                <a:solidFill>
                  <a:srgbClr val="D8E3D0"/>
                </a:solidFill>
                <a:latin typeface="IBM Plex Mono"/>
              </a:rPr>
              <a:t>  </a:t>
            </a:r>
            <a:r>
              <a:rPr sz="2000" i="0">
                <a:solidFill>
                  <a:srgbClr val="F2A65A"/>
                </a:solidFill>
                <a:latin typeface="IBM Plex Mono"/>
              </a:rPr>
              <a:t>AND</a:t>
            </a:r>
            <a:r>
              <a:rPr sz="2000" i="0">
                <a:solidFill>
                  <a:srgbClr val="D8E3D0"/>
                </a:solidFill>
                <a:latin typeface="IBM Plex Mono"/>
              </a:rPr>
              <a:t> </a:t>
            </a:r>
            <a:r>
              <a:rPr sz="2000" i="0">
                <a:solidFill>
                  <a:srgbClr val="D8E3D0"/>
                </a:solidFill>
                <a:latin typeface="IBM Plex Mono"/>
              </a:rPr>
              <a:t>k</a:t>
            </a:r>
            <a:r>
              <a:rPr sz="2000" i="0">
                <a:solidFill>
                  <a:srgbClr val="D8E3D0"/>
                </a:solidFill>
                <a:latin typeface="IBM Plex Mono"/>
              </a:rPr>
              <a:t>.</a:t>
            </a:r>
            <a:r>
              <a:rPr sz="2000" i="0">
                <a:solidFill>
                  <a:srgbClr val="D8E3D0"/>
                </a:solidFill>
                <a:latin typeface="IBM Plex Mono"/>
              </a:rPr>
              <a:t>BekannterNr</a:t>
            </a:r>
            <a:r>
              <a:rPr sz="2000" i="0">
                <a:solidFill>
                  <a:srgbClr val="D8E3D0"/>
                </a:solidFill>
                <a:latin typeface="IBM Plex Mono"/>
              </a:rPr>
              <a:t> </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b</a:t>
            </a:r>
            <a:r>
              <a:rPr sz="2000" i="0">
                <a:solidFill>
                  <a:srgbClr val="D8E3D0"/>
                </a:solidFill>
                <a:latin typeface="IBM Plex Mono"/>
              </a:rPr>
              <a:t>.</a:t>
            </a:r>
            <a:r>
              <a:rPr sz="2000" i="0">
                <a:solidFill>
                  <a:srgbClr val="D8E3D0"/>
                </a:solidFill>
                <a:latin typeface="IBM Plex Mono"/>
              </a:rPr>
              <a:t>PersonNr</a:t>
            </a:r>
          </a:p>
          <a:p>
            <a:pPr>
              <a:lnSpc>
                <a:spcPct val="100000"/>
              </a:lnSpc>
            </a:pPr>
            <a:r>
              <a:rPr sz="2000" i="0">
                <a:solidFill>
                  <a:srgbClr val="D8E3D0"/>
                </a:solidFill>
                <a:latin typeface="IBM Plex Mono"/>
              </a:rPr>
              <a:t>  </a:t>
            </a:r>
            <a:r>
              <a:rPr sz="2000" i="0">
                <a:solidFill>
                  <a:srgbClr val="F2A65A"/>
                </a:solidFill>
                <a:latin typeface="IBM Plex Mono"/>
              </a:rPr>
              <a:t>AND</a:t>
            </a:r>
            <a:r>
              <a:rPr sz="2000" i="0">
                <a:solidFill>
                  <a:srgbClr val="D8E3D0"/>
                </a:solidFill>
                <a:latin typeface="IBM Plex Mono"/>
              </a:rPr>
              <a:t> </a:t>
            </a:r>
            <a:r>
              <a:rPr sz="2000" i="0">
                <a:solidFill>
                  <a:srgbClr val="D8E3D0"/>
                </a:solidFill>
                <a:latin typeface="IBM Plex Mono"/>
              </a:rPr>
              <a:t>p</a:t>
            </a:r>
            <a:r>
              <a:rPr sz="2000" i="0">
                <a:solidFill>
                  <a:srgbClr val="D8E3D0"/>
                </a:solidFill>
                <a:latin typeface="IBM Plex Mono"/>
              </a:rPr>
              <a:t>.</a:t>
            </a:r>
            <a:r>
              <a:rPr sz="2000" i="0">
                <a:solidFill>
                  <a:srgbClr val="D8E3D0"/>
                </a:solidFill>
                <a:latin typeface="IBM Plex Mono"/>
              </a:rPr>
              <a:t>PersonNr</a:t>
            </a:r>
            <a:r>
              <a:rPr sz="2000" i="0">
                <a:solidFill>
                  <a:srgbClr val="D8E3D0"/>
                </a:solidFill>
                <a:latin typeface="IBM Plex Mono"/>
              </a:rPr>
              <a:t> </a:t>
            </a:r>
            <a:r>
              <a:rPr sz="2000" i="0">
                <a:solidFill>
                  <a:srgbClr val="D8E3D0"/>
                </a:solidFill>
                <a:latin typeface="IBM Plex Mono"/>
              </a:rPr>
              <a:t>=</a:t>
            </a:r>
            <a:r>
              <a:rPr sz="2000" i="0">
                <a:solidFill>
                  <a:srgbClr val="D8E3D0"/>
                </a:solidFill>
                <a:latin typeface="IBM Plex Mono"/>
              </a:rPr>
              <a:t> </a:t>
            </a:r>
            <a:r>
              <a:rPr sz="2000" i="0">
                <a:solidFill>
                  <a:srgbClr val="8CC4FF"/>
                </a:solidFill>
                <a:latin typeface="IBM Plex Mono"/>
              </a:rPr>
              <a:t>13</a:t>
            </a:r>
            <a:r>
              <a:rPr sz="2000" i="0">
                <a:solidFill>
                  <a:srgbClr val="D8E3D0"/>
                </a:solidFill>
                <a:latin typeface="IBM Plex Mono"/>
              </a:rPr>
              <a:t>;</a:t>
            </a:r>
          </a:p>
        </p:txBody>
      </p:sp>
      <p:graphicFrame>
        <p:nvGraphicFramePr>
          <p:cNvPr id="14" name="Ergebnistabelle"/>
          <p:cNvGraphicFramePr>
            <a:graphicFrameLocks noGrp="1"/>
          </p:cNvGraphicFramePr>
          <p:nvPr/>
        </p:nvGraphicFramePr>
        <p:xfrm>
          <a:off x="822959" y="4211828"/>
          <a:ext cx="4952389" cy="1889760"/>
        </p:xfrm>
        <a:graphic>
          <a:graphicData uri="http://schemas.openxmlformats.org/drawingml/2006/table">
            <a:tbl>
              <a:tblPr firstRow="1">
                <a:tableStyleId>{5C22544A-7EE6-4342-B048-85BDC9FD1C3A}</a:tableStyleId>
              </a:tblPr>
              <a:tblGrid>
                <a:gridCol w="1144828"/>
                <a:gridCol w="1517904"/>
                <a:gridCol w="1517904"/>
                <a:gridCol w="771753"/>
              </a:tblGrid>
              <a:tr h="314960">
                <a:tc>
                  <a:txBody>
                    <a:bodyPr/>
                    <a:lstStyle/>
                    <a:p>
                      <a:r>
                        <a:rPr sz="1472" b="1" i="0" u="none">
                          <a:solidFill>
                            <a:srgbClr val="1C2B3A"/>
                          </a:solidFill>
                          <a:latin typeface="IBM Plex Mono"/>
                        </a:rPr>
                        <a:t>Vorname</a:t>
                      </a:r>
                    </a:p>
                  </a:txBody>
                  <a:tcPr marL="54864" marR="54864" marT="18288" marB="18288">
                    <a:solidFill>
                      <a:srgbClr val="EBE2D2"/>
                    </a:solidFill>
                  </a:tcPr>
                </a:tc>
                <a:tc>
                  <a:txBody>
                    <a:bodyPr/>
                    <a:lstStyle/>
                    <a:p>
                      <a:r>
                        <a:rPr sz="1472" b="1" i="0" u="none">
                          <a:solidFill>
                            <a:srgbClr val="1C2B3A"/>
                          </a:solidFill>
                          <a:latin typeface="IBM Plex Mono"/>
                        </a:rPr>
                        <a:t>Nachname</a:t>
                      </a:r>
                    </a:p>
                  </a:txBody>
                  <a:tcPr marL="54864" marR="54864" marT="18288" marB="18288">
                    <a:solidFill>
                      <a:srgbClr val="EBE2D2"/>
                    </a:solidFill>
                  </a:tcPr>
                </a:tc>
                <a:tc>
                  <a:txBody>
                    <a:bodyPr/>
                    <a:lstStyle/>
                    <a:p>
                      <a:r>
                        <a:rPr sz="1472" b="1" i="0" u="none">
                          <a:solidFill>
                            <a:srgbClr val="1C2B3A"/>
                          </a:solidFill>
                          <a:latin typeface="IBM Plex Mono"/>
                        </a:rPr>
                        <a:t>Stadtteil</a:t>
                      </a:r>
                    </a:p>
                  </a:txBody>
                  <a:tcPr marL="54864" marR="54864" marT="18288" marB="18288">
                    <a:solidFill>
                      <a:srgbClr val="EBE2D2"/>
                    </a:solidFill>
                  </a:tcPr>
                </a:tc>
                <a:tc>
                  <a:txBody>
                    <a:bodyPr/>
                    <a:lstStyle/>
                    <a:p>
                      <a:r>
                        <a:rPr sz="1472" b="1" i="0" u="none">
                          <a:solidFill>
                            <a:srgbClr val="1C2B3A"/>
                          </a:solidFill>
                          <a:latin typeface="IBM Plex Mono"/>
                        </a:rPr>
                        <a:t>Seit</a:t>
                      </a:r>
                    </a:p>
                  </a:txBody>
                  <a:tcPr marL="54864" marR="54864" marT="18288" marB="18288">
                    <a:solidFill>
                      <a:srgbClr val="EBE2D2"/>
                    </a:solidFill>
                  </a:tcPr>
                </a:tc>
              </a:tr>
              <a:tr h="314960">
                <a:tc>
                  <a:txBody>
                    <a:bodyPr/>
                    <a:lstStyle/>
                    <a:p>
                      <a:r>
                        <a:rPr sz="1600" b="0" i="0" u="none">
                          <a:solidFill>
                            <a:srgbClr val="1C2B3A"/>
                          </a:solidFill>
                          <a:latin typeface="Barlow"/>
                        </a:rPr>
                        <a:t>Gesa</a:t>
                      </a:r>
                    </a:p>
                  </a:txBody>
                  <a:tcPr marL="54864" marR="54864" marT="18288" marB="18288">
                    <a:solidFill>
                      <a:srgbClr val="FFFDF8"/>
                    </a:solidFill>
                  </a:tcPr>
                </a:tc>
                <a:tc>
                  <a:txBody>
                    <a:bodyPr/>
                    <a:lstStyle/>
                    <a:p>
                      <a:r>
                        <a:rPr sz="1600" b="0" i="0" u="none">
                          <a:solidFill>
                            <a:srgbClr val="1C2B3A"/>
                          </a:solidFill>
                          <a:latin typeface="Barlow"/>
                        </a:rPr>
                        <a:t>Ohlendiek</a:t>
                      </a:r>
                    </a:p>
                  </a:txBody>
                  <a:tcPr marL="54864" marR="54864" marT="18288" marB="18288">
                    <a:solidFill>
                      <a:srgbClr val="FFFDF8"/>
                    </a:solidFill>
                  </a:tcPr>
                </a:tc>
                <a:tc>
                  <a:txBody>
                    <a:bodyPr/>
                    <a:lstStyle/>
                    <a:p>
                      <a:r>
                        <a:rPr sz="1600" b="0" i="0" u="none">
                          <a:solidFill>
                            <a:srgbClr val="1C2B3A"/>
                          </a:solidFill>
                          <a:latin typeface="Barlow"/>
                        </a:rPr>
                        <a:t>Altstadt</a:t>
                      </a:r>
                    </a:p>
                  </a:txBody>
                  <a:tcPr marL="54864" marR="54864" marT="18288" marB="18288">
                    <a:solidFill>
                      <a:srgbClr val="FFFDF8"/>
                    </a:solidFill>
                  </a:tcPr>
                </a:tc>
                <a:tc>
                  <a:txBody>
                    <a:bodyPr/>
                    <a:lstStyle/>
                    <a:p>
                      <a:pPr algn="r"/>
                      <a:r>
                        <a:rPr sz="1600" b="0" i="0" u="none">
                          <a:solidFill>
                            <a:srgbClr val="1C2B3A"/>
                          </a:solidFill>
                          <a:latin typeface="Barlow"/>
                        </a:rPr>
                        <a:t>2026</a:t>
                      </a:r>
                    </a:p>
                  </a:txBody>
                  <a:tcPr marL="54864" marR="54864" marT="18288" marB="18288">
                    <a:solidFill>
                      <a:srgbClr val="FFFDF8"/>
                    </a:solidFill>
                  </a:tcPr>
                </a:tc>
              </a:tr>
              <a:tr h="314960">
                <a:tc>
                  <a:txBody>
                    <a:bodyPr/>
                    <a:lstStyle/>
                    <a:p>
                      <a:r>
                        <a:rPr sz="1600" b="0" i="0" u="none">
                          <a:solidFill>
                            <a:srgbClr val="1C2B3A"/>
                          </a:solidFill>
                          <a:latin typeface="Barlow"/>
                        </a:rPr>
                        <a:t>Bent</a:t>
                      </a:r>
                    </a:p>
                  </a:txBody>
                  <a:tcPr marL="54864" marR="54864" marT="18288" marB="18288">
                    <a:solidFill>
                      <a:srgbClr val="FFFDF8"/>
                    </a:solidFill>
                  </a:tcPr>
                </a:tc>
                <a:tc>
                  <a:txBody>
                    <a:bodyPr/>
                    <a:lstStyle/>
                    <a:p>
                      <a:r>
                        <a:rPr sz="1600" b="0" i="0" u="none">
                          <a:solidFill>
                            <a:srgbClr val="1C2B3A"/>
                          </a:solidFill>
                          <a:latin typeface="Barlow"/>
                        </a:rPr>
                        <a:t>Hollwedel</a:t>
                      </a:r>
                    </a:p>
                  </a:txBody>
                  <a:tcPr marL="54864" marR="54864" marT="18288" marB="18288">
                    <a:solidFill>
                      <a:srgbClr val="FFFDF8"/>
                    </a:solidFill>
                  </a:tcPr>
                </a:tc>
                <a:tc>
                  <a:txBody>
                    <a:bodyPr/>
                    <a:lstStyle/>
                    <a:p>
                      <a:r>
                        <a:rPr sz="1600" b="0" i="0" u="none">
                          <a:solidFill>
                            <a:srgbClr val="1C2B3A"/>
                          </a:solidFill>
                          <a:latin typeface="Barlow"/>
                        </a:rPr>
                        <a:t>Lindenhof</a:t>
                      </a:r>
                    </a:p>
                  </a:txBody>
                  <a:tcPr marL="54864" marR="54864" marT="18288" marB="18288">
                    <a:solidFill>
                      <a:srgbClr val="FFFDF8"/>
                    </a:solidFill>
                  </a:tcPr>
                </a:tc>
                <a:tc>
                  <a:txBody>
                    <a:bodyPr/>
                    <a:lstStyle/>
                    <a:p>
                      <a:pPr algn="r"/>
                      <a:r>
                        <a:rPr sz="1600" b="0" i="0" u="none">
                          <a:solidFill>
                            <a:srgbClr val="1C2B3A"/>
                          </a:solidFill>
                          <a:latin typeface="Barlow"/>
                        </a:rPr>
                        <a:t>2026</a:t>
                      </a:r>
                    </a:p>
                  </a:txBody>
                  <a:tcPr marL="54864" marR="54864" marT="18288" marB="18288">
                    <a:solidFill>
                      <a:srgbClr val="FFFDF8"/>
                    </a:solidFill>
                  </a:tcPr>
                </a:tc>
              </a:tr>
              <a:tr h="314960">
                <a:tc>
                  <a:txBody>
                    <a:bodyPr/>
                    <a:lstStyle/>
                    <a:p>
                      <a:r>
                        <a:rPr sz="1600" b="0" i="0" u="none">
                          <a:solidFill>
                            <a:srgbClr val="1C2B3A"/>
                          </a:solidFill>
                          <a:latin typeface="Barlow"/>
                        </a:rPr>
                        <a:t>Selin</a:t>
                      </a:r>
                    </a:p>
                  </a:txBody>
                  <a:tcPr marL="54864" marR="54864" marT="18288" marB="18288">
                    <a:solidFill>
                      <a:srgbClr val="FFFDF8"/>
                    </a:solidFill>
                  </a:tcPr>
                </a:tc>
                <a:tc>
                  <a:txBody>
                    <a:bodyPr/>
                    <a:lstStyle/>
                    <a:p>
                      <a:r>
                        <a:rPr sz="1600" b="0" i="0" u="none">
                          <a:solidFill>
                            <a:srgbClr val="1C2B3A"/>
                          </a:solidFill>
                          <a:latin typeface="Barlow"/>
                        </a:rPr>
                        <a:t>Aksoy</a:t>
                      </a:r>
                    </a:p>
                  </a:txBody>
                  <a:tcPr marL="54864" marR="54864" marT="18288" marB="18288">
                    <a:solidFill>
                      <a:srgbClr val="FFFDF8"/>
                    </a:solidFill>
                  </a:tcPr>
                </a:tc>
                <a:tc>
                  <a:txBody>
                    <a:bodyPr/>
                    <a:lstStyle/>
                    <a:p>
                      <a:r>
                        <a:rPr sz="1600" b="0" i="0" u="none">
                          <a:solidFill>
                            <a:srgbClr val="1C2B3A"/>
                          </a:solidFill>
                          <a:latin typeface="Barlow"/>
                        </a:rPr>
                        <a:t>Lindenhof</a:t>
                      </a:r>
                    </a:p>
                  </a:txBody>
                  <a:tcPr marL="54864" marR="54864" marT="18288" marB="18288">
                    <a:solidFill>
                      <a:srgbClr val="FFFDF8"/>
                    </a:solidFill>
                  </a:tcPr>
                </a:tc>
                <a:tc>
                  <a:txBody>
                    <a:bodyPr/>
                    <a:lstStyle/>
                    <a:p>
                      <a:pPr algn="r"/>
                      <a:r>
                        <a:rPr sz="1600" b="0" i="0" u="none">
                          <a:solidFill>
                            <a:srgbClr val="1C2B3A"/>
                          </a:solidFill>
                          <a:latin typeface="Barlow"/>
                        </a:rPr>
                        <a:t>2026</a:t>
                      </a:r>
                    </a:p>
                  </a:txBody>
                  <a:tcPr marL="54864" marR="54864" marT="18288" marB="18288">
                    <a:solidFill>
                      <a:srgbClr val="FFFDF8"/>
                    </a:solidFill>
                  </a:tcPr>
                </a:tc>
              </a:tr>
              <a:tr h="314960">
                <a:tc>
                  <a:txBody>
                    <a:bodyPr/>
                    <a:lstStyle/>
                    <a:p>
                      <a:r>
                        <a:rPr sz="1600" b="0" i="0" u="none">
                          <a:solidFill>
                            <a:srgbClr val="1C2B3A"/>
                          </a:solidFill>
                          <a:latin typeface="Barlow"/>
                        </a:rPr>
                        <a:t>Wiebke</a:t>
                      </a:r>
                    </a:p>
                  </a:txBody>
                  <a:tcPr marL="54864" marR="54864" marT="18288" marB="18288">
                    <a:solidFill>
                      <a:srgbClr val="FFFDF8"/>
                    </a:solidFill>
                  </a:tcPr>
                </a:tc>
                <a:tc>
                  <a:txBody>
                    <a:bodyPr/>
                    <a:lstStyle/>
                    <a:p>
                      <a:r>
                        <a:rPr sz="1600" b="0" i="0" u="none">
                          <a:solidFill>
                            <a:srgbClr val="1C2B3A"/>
                          </a:solidFill>
                          <a:latin typeface="Barlow"/>
                        </a:rPr>
                        <a:t>Lüttjohann</a:t>
                      </a:r>
                    </a:p>
                  </a:txBody>
                  <a:tcPr marL="54864" marR="54864" marT="18288" marB="18288">
                    <a:solidFill>
                      <a:srgbClr val="FFFDF8"/>
                    </a:solidFill>
                  </a:tcPr>
                </a:tc>
                <a:tc>
                  <a:txBody>
                    <a:bodyPr/>
                    <a:lstStyle/>
                    <a:p>
                      <a:r>
                        <a:rPr sz="1600" b="0" i="0" u="none">
                          <a:solidFill>
                            <a:srgbClr val="1C2B3A"/>
                          </a:solidFill>
                          <a:latin typeface="Barlow"/>
                        </a:rPr>
                        <a:t>Mühlenfeld</a:t>
                      </a:r>
                    </a:p>
                  </a:txBody>
                  <a:tcPr marL="54864" marR="54864" marT="18288" marB="18288">
                    <a:solidFill>
                      <a:srgbClr val="FFFDF8"/>
                    </a:solidFill>
                  </a:tcPr>
                </a:tc>
                <a:tc>
                  <a:txBody>
                    <a:bodyPr/>
                    <a:lstStyle/>
                    <a:p>
                      <a:pPr algn="r"/>
                      <a:r>
                        <a:rPr sz="1600" b="0" i="0" u="none">
                          <a:solidFill>
                            <a:srgbClr val="1C2B3A"/>
                          </a:solidFill>
                          <a:latin typeface="Barlow"/>
                        </a:rPr>
                        <a:t>2026</a:t>
                      </a:r>
                    </a:p>
                  </a:txBody>
                  <a:tcPr marL="54864" marR="54864" marT="18288" marB="18288">
                    <a:solidFill>
                      <a:srgbClr val="FFFDF8"/>
                    </a:solidFill>
                  </a:tcPr>
                </a:tc>
              </a:tr>
              <a:tr h="314960">
                <a:tc>
                  <a:txBody>
                    <a:bodyPr/>
                    <a:lstStyle/>
                    <a:p>
                      <a:r>
                        <a:rPr sz="1600" b="0" i="0" u="none">
                          <a:solidFill>
                            <a:srgbClr val="1C2B3A"/>
                          </a:solidFill>
                          <a:latin typeface="Barlow"/>
                        </a:rPr>
                        <a:t>Keno</a:t>
                      </a:r>
                    </a:p>
                  </a:txBody>
                  <a:tcPr marL="54864" marR="54864" marT="18288" marB="18288">
                    <a:solidFill>
                      <a:srgbClr val="FFFDF8"/>
                    </a:solidFill>
                  </a:tcPr>
                </a:tc>
                <a:tc>
                  <a:txBody>
                    <a:bodyPr/>
                    <a:lstStyle/>
                    <a:p>
                      <a:r>
                        <a:rPr sz="1600" b="0" i="0" u="none">
                          <a:solidFill>
                            <a:srgbClr val="1C2B3A"/>
                          </a:solidFill>
                          <a:latin typeface="Barlow"/>
                        </a:rPr>
                        <a:t>Bargmann</a:t>
                      </a:r>
                    </a:p>
                  </a:txBody>
                  <a:tcPr marL="54864" marR="54864" marT="18288" marB="18288">
                    <a:solidFill>
                      <a:srgbClr val="FFFDF8"/>
                    </a:solidFill>
                  </a:tcPr>
                </a:tc>
                <a:tc>
                  <a:txBody>
                    <a:bodyPr/>
                    <a:lstStyle/>
                    <a:p>
                      <a:r>
                        <a:rPr sz="1600" b="0" i="0" u="none">
                          <a:solidFill>
                            <a:srgbClr val="1C2B3A"/>
                          </a:solidFill>
                          <a:latin typeface="Barlow"/>
                        </a:rPr>
                        <a:t>Nordheide</a:t>
                      </a:r>
                    </a:p>
                  </a:txBody>
                  <a:tcPr marL="54864" marR="54864" marT="18288" marB="18288">
                    <a:solidFill>
                      <a:srgbClr val="FFFDF8"/>
                    </a:solidFill>
                  </a:tcPr>
                </a:tc>
                <a:tc>
                  <a:txBody>
                    <a:bodyPr/>
                    <a:lstStyle/>
                    <a:p>
                      <a:pPr algn="r"/>
                      <a:r>
                        <a:rPr sz="1600" b="0" i="0" u="none">
                          <a:solidFill>
                            <a:srgbClr val="1C2B3A"/>
                          </a:solidFill>
                          <a:latin typeface="Barlow"/>
                        </a:rPr>
                        <a:t>2026</a:t>
                      </a:r>
                    </a:p>
                  </a:txBody>
                  <a:tcPr marL="54864" marR="54864" marT="18288" marB="18288">
                    <a:solidFill>
                      <a:srgbClr val="FFFDF8"/>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5 · DER BAUPLAN</a:t>
            </a:r>
          </a:p>
        </p:txBody>
      </p:sp>
      <p:sp>
        <p:nvSpPr>
          <p:cNvPr id="3" name="TextBox 2"/>
          <p:cNvSpPr txBox="1"/>
          <p:nvPr/>
        </p:nvSpPr>
        <p:spPr>
          <a:xfrm>
            <a:off x="548640" y="566928"/>
            <a:ext cx="935705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Cliffhanger</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Marker Lehrkraft"/>
          <p:cNvSpPr/>
          <p:nvPr/>
        </p:nvSpPr>
        <p:spPr>
          <a:xfrm>
            <a:off x="10042855" y="310896"/>
            <a:ext cx="1600200" cy="310896"/>
          </a:xfrm>
          <a:prstGeom prst="roundRect">
            <a:avLst>
              <a:gd name="adj" fmla="val 4000"/>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42855" y="310896"/>
            <a:ext cx="1600200" cy="310896"/>
          </a:xfrm>
          <a:prstGeom prst="rect">
            <a:avLst/>
          </a:prstGeom>
          <a:noFill/>
        </p:spPr>
        <p:txBody>
          <a:bodyPr wrap="square" anchor="ctr" lIns="36576" rIns="36576" tIns="36576" bIns="36576">
            <a:spAutoFit/>
          </a:bodyPr>
          <a:lstStyle/>
          <a:p>
            <a:pPr algn="ctr">
              <a:lnSpc>
                <a:spcPct val="105000"/>
              </a:lnSpc>
            </a:pPr>
            <a:r>
              <a:rPr sz="1000" b="1" i="0" u="none">
                <a:solidFill>
                  <a:srgbClr val="141B22"/>
                </a:solidFill>
                <a:latin typeface="IBM Plex Mono"/>
              </a:rPr>
              <a:t>NUR LEHRKRAFT</a:t>
            </a:r>
          </a:p>
        </p:txBody>
      </p:sp>
      <p:sp>
        <p:nvSpPr>
          <p:cNvPr id="9" name="TextBox 8"/>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50</a:t>
            </a:r>
          </a:p>
        </p:txBody>
      </p:sp>
      <p:sp>
        <p:nvSpPr>
          <p:cNvPr id="10" name="Rounded Rectangle 9"/>
          <p:cNvSpPr/>
          <p:nvPr/>
        </p:nvSpPr>
        <p:spPr>
          <a:xfrm>
            <a:off x="548640" y="1691640"/>
            <a:ext cx="11094415" cy="42062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BRIEFING · EDDA LORENZ</a:t>
            </a:r>
          </a:p>
        </p:txBody>
      </p:sp>
      <p:sp>
        <p:nvSpPr>
          <p:cNvPr id="12" name="TextBox 11"/>
          <p:cNvSpPr txBox="1"/>
          <p:nvPr/>
        </p:nvSpPr>
        <p:spPr>
          <a:xfrm>
            <a:off x="822959" y="2240280"/>
            <a:ext cx="10545775" cy="3474720"/>
          </a:xfrm>
          <a:prstGeom prst="rect">
            <a:avLst/>
          </a:prstGeom>
          <a:noFill/>
        </p:spPr>
        <p:txBody>
          <a:bodyPr wrap="square" anchor="t" lIns="36576" rIns="36576" tIns="36576" bIns="36576">
            <a:spAutoFit/>
          </a:bodyPr>
          <a:lstStyle/>
          <a:p>
            <a:pPr>
              <a:lnSpc>
                <a:spcPct val="105000"/>
              </a:lnSpc>
            </a:pPr>
            <a:r>
              <a:rPr sz="2200" b="0" i="1" u="none">
                <a:solidFill>
                  <a:srgbClr val="1C2B3A"/>
                </a:solidFill>
                <a:latin typeface="Barlow"/>
              </a:rPr>
              <a:t>Die Antwort ist eindeutig: Nora Falter – verdächtig in allen vier Fällen, mit Bekannten an jedem Tatort. Doch die Bürgermeisterin lässt ausrichten: Eine Nora Falter ist in Weserstedt nicht gemeldet.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Der Bauplan</dc:title>
  <dc:subject/>
  <dc:creator>Datendetektei Weserstedt</dc:creator>
  <cp:keywords/>
  <dc:description>generated using python-pptx</dc:description>
  <cp:lastModifiedBy>Datendetektei Weserstedt</cp:lastModifiedBy>
  <cp:revision>1</cp:revision>
  <dcterms:created xsi:type="dcterms:W3CDTF">2013-01-27T09:14:16Z</dcterms:created>
  <dcterms:modified xsi:type="dcterms:W3CDTF">2013-01-27T09:15:58Z</dcterms:modified>
  <cp:category/>
  <dc:language>de-DE</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D-Akte">
    <vt:lpwstr>5</vt:lpwstr>
  </property>
  <property fmtid="{D5CDD505-2E9C-101B-9397-08002B2CF9AE}" pid="3" name="DD-Art">
    <vt:lpwstr>praesentation</vt:lpwstr>
  </property>
  <property fmtid="{D5CDD505-2E9C-101B-9397-08002B2CF9AE}" pid="4" name="DD-Datenbank">
    <vt:lpwstr>detektei</vt:lpwstr>
  </property>
  <property fmtid="{D5CDD505-2E9C-101B-9397-08002B2CF9AE}" pid="5" name="DD-Kuer">
    <vt:lpwstr>nein</vt:lpwstr>
  </property>
</Properties>
</file>