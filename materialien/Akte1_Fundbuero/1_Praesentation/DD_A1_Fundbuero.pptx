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 1, Kick-off (0–10'): Statt Warm-up. Teams zu 3–4 bilden, Detektei-Ausweise (Kopiervorlage 3_Unplugged) ausfüllen lassen: Teamname, Ermittlername. Portal-Login vorbereiten (Kursliste mit persönlichen Codes bereithalten).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 vorlesen (lassen). Kurz nachfragen: Was ist ein Fundbüro, was steht wohl im Fundbuch?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Fachbegriffe im Briefing (Tabelle, Datensatz, Attribut, Primärschlüssel) werden gleich am Fundbuch beschriftet – hier nur ankündigen.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Ideen sammeln (2–3 min). Ziel: „Name reicht nicht – es gibt Namensgleiche“ → Überleitung zum Primärschlüssel. Antworten an der Tafel stehen lassen.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Briefing-Phase (10–20'): Begriffe am Ausschnitt sammeln und beschriften (Beamer + Tafel). Impuls: „Welche Spalte würdet ihr nehmen, um genau eine Fundsache zu bezeichnen?“ – „Im Ausschnitt ist auch die Bezeichnung eindeutig. Reicht das?“ (Ausschnitt-Falle anbahnen: Es gibt im ganzen Fundbuch mehrere Regenjacken, Schals …). Noch nicht auflösen.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Tafelbild Teil 1 (Merkkasten). Kurzschreibweise: Tabellenname, in Klammern die Attribute, Primärschlüssel unterstrichen (später: Fremdschlüssel mit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Typischer Fehler P8: „Im Ausschnitt eindeutig, also Schlüssel.“ Gegenbeispiel-Frage stellen lassen. Funddatum: an einem Tag mehrere Funde. FundNr: vom Fundbüro fortlaufend vergeben.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Abfragen und erwartete Ergebnisse: Lehrerhinweise, Abschnitt „Unplugged-Ablauf DS 1“. Schild „FROM Fundsache“ an die Tafel. Die Abfragen nacheinander anschreiben bzw. von der nächsten Folie zeigen. Sicherung: Foto der Reihe; Merksätze „SELECT wählt Spalten – WHERE wählt Zeilen – ORDER BY ordnet“, „AND vor OR → im Zweifel Klammern“.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Karten sind eigene Daten (nicht die Lab-DB) – daher Kategorien wie 'Schirm', 'Tasche'. Abfrage 2 danach mit &gt;= wiederholen (Daunenjacke und Haustürschlüssel, je 20 €, stehen dann zusätzlich). Abfrage 3: Die Handtasche für 15 € steht auch – AND bindet stärker! Danach mit Klammern um die OR-Bedingung. Anschließend ORDER BY Wert DESC (Reihe) und ORDER BY Stadtteil, Wert DESC.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Tafelbild Teil 2. Reihenfolge der Auswertung betonen: FROM → WHERE → ORDER BY → SELECT (Werkzeug Zeitlupe im Lab). Ergebnis: 8 Zeilen, hier gekürzt. Frage: Was passiert ohne Klammern? (Dann alle Kleidungsstücke, auch billige, plus teure Dokumente.)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Lab-Einsatz (35–80'): Optional Video 0 (3 min) für die Bedienung. Herumgehen, typische Fehler sammeln (P5 Text ohne Hochkommata, P6 Klammern) für die Fallbesprechung. Schnelle: Cold Case A1-E1-CC, AB-Cold-Case.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Fallbesprechung (80–90'): Merkkasten an der Tafel sichern, ins Heft übernehmen lassen.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Abi-Ecke von AB 1.1: 2 Minuten Einzelarbeit, dann Kurzbewertung im Team (1 BE SELECT/FROM, 1 BE Bedingung). Operator „entwerfen“ = eine Lösung selbstständig erstellen.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Erst nach der Einzelarbeit zeigen (6 Zeilen, gekürzt). Ball und Helm (je genau 20 €) gehören nicht dazu: „mehr als“ heißt &gt;.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Abschluss-Satz DS 1. Hausaufgabe: Video 1 (SQL-Grundlagen), Rest von AB 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 2, Warm-up (0–10'): Warm-up-Karten A1 (Papier) austeilen, optional Leitner im Lab. Karte 02 an der Tafel auflösen (nächste Folie, nur Lehrkraft).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Die FundNr-Liste grenzt die Probe auf die sechs Karten-Zeilen ein. Mit Klammern: 10, 73. Bezug zum NULL-Thema: FundNr 31 hat keine Farbe (NULL) – steht trotzdem wegen 'Sonstiges'.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Briefing (10–20'). Gesa Ohlendieks Notizen an die Tafel: „Messing“, „Juni oder Juli“, „mehrere hundert Euro“ – sie bleiben dort für die Fallbesprechung stehen.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Impulse: „Wie findet ihr alles aus Messing, wenn ihr nicht wisst, ob ‚Messingleuchter‘ oder ‚Kompass (Messing)‘ eingetragen ist?“ – „Was bedeutet ein leeres Feld AbgeholtAm?“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Tafelbild DS 2 (Merkkasten). Jedes Werkzeug mit einem Beispiel an der Tafel, Schüler formulieren die Bedeutung selbst.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Typischer Fehler: Datum ohne Hochkommata – 2026-09-01 wird als Rechnung 2026 − 9 − 1 gelesen! Deutsches Datumsformat '01.09.2026' sortiert falsch.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Gegenprobe im Gespräch: Was liefert `Wert = NULL`? (Keine Zeile.) Was liefert `LIKE 'uhr'`? (Nur die Bezeichnung „uhr“ – ohne Platzhalter wirkt LIKE wie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 nur, wenn an der Schnittkante kein Gleichstand ist (hier 3. und 4. Platz verschieden). Alias in WHERE (WHERE Finderlohn &gt; 5) geht in SQLite, im Abitur nicht – Berechnung wiederholen.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Kopiervorlage DD_A1_Unplugged_Platzhalter-Fahndung; Lösungen in den Lehrerhinweisen. Sicherung: „% beliebig viele, _ genau ein Zeichen“ · „NULL nur mit IS NULL“ · „BETWEEN schließt beide Grenzen ein“.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Lab-Einsatz (30–75'). Verhör 1 im Kurs auf „auto“ (ab 60 % der Akte-1-Punkte) oder „offen“ stellen, wenn es Hausaufgabe bis DS 3 ist. Typische Fehler sammeln: = NULL, Datum ohne Hochkommata, LIKE 'Messing%' statt '%Messing%'.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Fallbesprechung (75–90'). Merkkasten Literale/NULL sichern.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Abi-Ecke von AB 1.2 im Team, Kurzvergleich. 1 BE IS NULL, 1 BE Zeitraum mit korrekten Literalen, 1 BE Sortierung.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Ergebnis: 6 Zeilen (gekürzt). Auch richtig: Funddatum &gt;= '2026-09-01' AND Funddatum &lt;= '2026-09-30' bzw. LIKE '2026-09-%'. Typisch falsch: AbgeholtAm = NULL; &lt; '2026-09-30' (der 30. fehlt).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Fallbesprechung: „Welche Bedingung hat den entscheidenden Datensatz verraten?“ Schritt 1: vier Messing-Funde, zwei außerhalb Juni/Juli, einer mit unbekanntem Wert.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Schritte 2 und 3: Zeitraum + Wert (mindestens 400 € oder unbekannt), dann „abgeholt“. Übrig: Messing-Kompass, 450 €, Weserpromenade, abgeholt am 14.09. – Finder 'N. Falter'.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LEHRKRAFT] Abschluss-Satz DS 2 (verrät das Lab-Ergebnis, daher nicht im Handout). Steckbrief an der Pinnwand beginnen: Initialen „N. F.“, Signatur Nachtfalter, Zugriff auf städtische Daten. Hinweis Verhör 1 (20 Minuten, bis DS 3 im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1828800"/>
            <a:ext cx="8229600" cy="1280160"/>
          </a:xfrm>
          <a:prstGeom prst="rect">
            <a:avLst/>
          </a:prstGeom>
          <a:noFill/>
        </p:spPr>
        <p:txBody>
          <a:bodyPr wrap="square" anchor="b" lIns="36576" rIns="36576" tIns="36576" bIns="36576">
            <a:spAutoFit/>
          </a:bodyPr>
          <a:lstStyle/>
          <a:p>
            <a:pPr>
              <a:lnSpc>
                <a:spcPct val="105000"/>
              </a:lnSpc>
            </a:pPr>
            <a:r>
              <a:rPr sz="5400" b="0" i="0" u="none">
                <a:solidFill>
                  <a:srgbClr val="E8E1D3"/>
                </a:solidFill>
                <a:latin typeface="Barlow Condensed SemiBold"/>
              </a:rPr>
              <a:t>Das Fundbüro</a:t>
            </a:r>
          </a:p>
        </p:txBody>
      </p:sp>
      <p:cxnSp>
        <p:nvCxnSpPr>
          <p:cNvPr id="5" name="Roter Faden"/>
          <p:cNvCxnSpPr/>
          <p:nvPr/>
        </p:nvCxnSpPr>
        <p:spPr>
          <a:xfrm>
            <a:off x="548640" y="3291840"/>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484632"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579047" y="3227832"/>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3474720"/>
            <a:ext cx="8229600" cy="1097280"/>
          </a:xfrm>
          <a:prstGeom prst="rect">
            <a:avLst/>
          </a:prstGeom>
          <a:noFill/>
        </p:spPr>
        <p:txBody>
          <a:bodyPr wrap="square" anchor="t" lIns="36576" rIns="36576" tIns="36576" bIns="36576">
            <a:spAutoFit/>
          </a:bodyPr>
          <a:lstStyle/>
          <a:p>
            <a:pPr>
              <a:lnSpc>
                <a:spcPct val="105000"/>
              </a:lnSpc>
            </a:pPr>
            <a:r>
              <a:rPr sz="2200" b="0" i="0" u="none">
                <a:solidFill>
                  <a:srgbClr val="BDB6A9"/>
                </a:solidFill>
                <a:latin typeface="Barlow"/>
              </a:rPr>
              <a:t>Akte 1 · DS 1 „Der erste Auftrag“ · DS 2 „Das verschwundene Fundstück“</a:t>
            </a:r>
          </a:p>
        </p:txBody>
      </p:sp>
      <p:pic>
        <p:nvPicPr>
          <p:cNvPr id="9" name="Picture 8" descr="stempel.png"/>
          <p:cNvPicPr>
            <a:picLocks noChangeAspect="1"/>
          </p:cNvPicPr>
          <p:nvPr/>
        </p:nvPicPr>
        <p:blipFill>
          <a:blip r:embed="rId3"/>
          <a:stretch>
            <a:fillRect/>
          </a:stretch>
        </p:blipFill>
        <p:spPr>
          <a:xfrm>
            <a:off x="9052560" y="1463040"/>
            <a:ext cx="2560320" cy="87036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erste Auftrag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Moin, Ermittlerteam – ich bin Edda Lorenz, 31 Jahre Kriminalpolizei und ab heute eure Chefin. Die Datendetektei Weserstedt hat ihren ersten Auftrag: Gesa Ohlendiek vom Fundbüro bittet uns, ihr Fundbuch zu prüfen, weil dort „etwas nicht stimmt“. In der Stadt reden die Leute seit Wochen über kleine gezeichnete Nachtfalter an merkwürdigen Orten, und das Weserstedter Tageblatt nennt den Unbekannten schon „das Phantom“.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erste Auftrag (Fortsetzung)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Ob das zusammenhängt, weiß ich nicht – und Raten ist in diesem Haus verboten. Bevor wir suchen, lernen wir lesen: Das Fundbuch ist eine Tabelle, jede Zeile ein Datensatz, jede Spalte ein Attribut, und die FundNr ist der Primärschlüssel. Gleich bekommt jede und jeder von euch eine Karteikarte, denn heute seid ihr selbst die Datensätze. Eure Detektei-Ausweise holt ihr euch über das Portal – damit meldet ihr euch im Lab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Impuls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694690"/>
          </a:xfrm>
          <a:prstGeom prst="rect">
            <a:avLst/>
          </a:prstGeom>
          <a:noFill/>
        </p:spPr>
        <p:txBody>
          <a:bodyPr wrap="square" anchor="t" lIns="36576" rIns="36576" tIns="36576" bIns="36576">
            <a:spAutoFit/>
          </a:bodyPr>
          <a:lstStyle/>
          <a:p>
            <a:pPr>
              <a:lnSpc>
                <a:spcPct val="105000"/>
              </a:lnSpc>
              <a:spcAft>
                <a:spcPts val="600"/>
              </a:spcAft>
            </a:pPr>
            <a:r>
              <a:rPr sz="1900" b="1" i="0" u="none">
                <a:solidFill>
                  <a:srgbClr val="1C2B3A"/>
                </a:solidFill>
                <a:latin typeface="Barlow"/>
              </a:rPr>
              <a:t>Wo werden über euch Daten in Tabellen gespeichert – und woran erkennt man euch dort eindeutig?</a:t>
            </a:r>
          </a:p>
        </p:txBody>
      </p:sp>
      <p:sp>
        <p:nvSpPr>
          <p:cNvPr id="10" name="TextBox 9"/>
          <p:cNvSpPr txBox="1"/>
          <p:nvPr/>
        </p:nvSpPr>
        <p:spPr>
          <a:xfrm>
            <a:off x="822959" y="2688082"/>
            <a:ext cx="10545775" cy="114109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Schule: Kursliste, Notenverwaltung …</a:t>
            </a:r>
          </a:p>
          <a:p>
            <a:pPr>
              <a:lnSpc>
                <a:spcPct val="105000"/>
              </a:lnSpc>
              <a:spcAft>
                <a:spcPts val="600"/>
              </a:spcAft>
            </a:pPr>
            <a:r>
              <a:rPr sz="1900" b="0" i="0" u="none">
                <a:solidFill>
                  <a:srgbClr val="1C2B3A"/>
                </a:solidFill>
                <a:latin typeface="Barlow"/>
              </a:rPr>
              <a:t>▸ Verein, Bibliothek, Handyvertrag …</a:t>
            </a:r>
          </a:p>
          <a:p>
            <a:pPr>
              <a:lnSpc>
                <a:spcPct val="105000"/>
              </a:lnSpc>
              <a:spcAft>
                <a:spcPts val="600"/>
              </a:spcAft>
            </a:pPr>
            <a:r>
              <a:rPr sz="1900" b="0" i="0" u="none">
                <a:solidFill>
                  <a:srgbClr val="1C2B3A"/>
                </a:solidFill>
                <a:latin typeface="Barlow"/>
              </a:rPr>
              <a:t>▸ Erkennungsmerkmal: Name? Geburtsdatum? Nummer?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Fundbuch (Ausschnitt)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Datentabelle"/>
          <p:cNvGraphicFramePr>
            <a:graphicFrameLocks noGrp="1"/>
          </p:cNvGraphicFramePr>
          <p:nvPr/>
        </p:nvGraphicFramePr>
        <p:xfrm>
          <a:off x="822959" y="1920240"/>
          <a:ext cx="9506100" cy="2834640"/>
        </p:xfrm>
        <a:graphic>
          <a:graphicData uri="http://schemas.openxmlformats.org/drawingml/2006/table">
            <a:tbl>
              <a:tblPr firstRow="1">
                <a:tableStyleId>{5C22544A-7EE6-4342-B048-85BDC9FD1C3A}</a:tableStyleId>
              </a:tblPr>
              <a:tblGrid>
                <a:gridCol w="1020470"/>
                <a:gridCol w="2015337"/>
                <a:gridCol w="1517904"/>
                <a:gridCol w="896112"/>
                <a:gridCol w="1766620"/>
                <a:gridCol w="1517904"/>
                <a:gridCol w="771753"/>
              </a:tblGrid>
              <a:tr h="314960">
                <a:tc>
                  <a:txBody>
                    <a:bodyPr/>
                    <a:lstStyle/>
                    <a:p>
                      <a:r>
                        <a:rPr sz="1472" b="1" i="0" u="sng">
                          <a:solidFill>
                            <a:srgbClr val="1C2B3A"/>
                          </a:solidFill>
                          <a:latin typeface="IBM Plex Mono"/>
                        </a:rPr>
                        <a:t>FundNr</a:t>
                      </a:r>
                    </a:p>
                  </a:txBody>
                  <a:tcPr marL="54864" marR="54864" marT="18288" marB="18288">
                    <a:solidFill>
                      <a:srgbClr val="EBE2D2"/>
                    </a:solidFill>
                  </a:tcPr>
                </a:tc>
                <a:tc>
                  <a:txBody>
                    <a:bodyPr/>
                    <a:lstStyle/>
                    <a:p>
                      <a:r>
                        <a:rPr sz="1472" b="1" i="0" u="none">
                          <a:solidFill>
                            <a:srgbClr val="1C2B3A"/>
                          </a:solidFill>
                          <a:latin typeface="IBM Plex Mono"/>
                        </a:rPr>
                        <a:t>Bezeichnung</a:t>
                      </a:r>
                    </a:p>
                  </a:txBody>
                  <a:tcPr marL="54864" marR="54864" marT="18288" marB="18288">
                    <a:solidFill>
                      <a:srgbClr val="EBE2D2"/>
                    </a:solidFill>
                  </a:tcPr>
                </a:tc>
                <a:tc>
                  <a:txBody>
                    <a:bodyPr/>
                    <a:lstStyle/>
                    <a:p>
                      <a:r>
                        <a:rPr sz="1472" b="1" i="0" u="none">
                          <a:solidFill>
                            <a:srgbClr val="1C2B3A"/>
                          </a:solidFill>
                          <a:latin typeface="IBM Plex Mono"/>
                        </a:rPr>
                        <a:t>Kategorie</a:t>
                      </a:r>
                    </a:p>
                  </a:txBody>
                  <a:tcPr marL="54864" marR="54864" marT="18288" marB="18288">
                    <a:solidFill>
                      <a:srgbClr val="EBE2D2"/>
                    </a:solidFill>
                  </a:tcPr>
                </a:tc>
                <a:tc>
                  <a:txBody>
                    <a:bodyPr/>
                    <a:lstStyle/>
                    <a:p>
                      <a:r>
                        <a:rPr sz="1472" b="1" i="0" u="none">
                          <a:solidFill>
                            <a:srgbClr val="1C2B3A"/>
                          </a:solidFill>
                          <a:latin typeface="IBM Plex Mono"/>
                        </a:rPr>
                        <a:t>Farbe</a:t>
                      </a:r>
                    </a:p>
                  </a:txBody>
                  <a:tcPr marL="54864" marR="54864" marT="18288" marB="18288">
                    <a:solidFill>
                      <a:srgbClr val="EBE2D2"/>
                    </a:solidFill>
                  </a:tcPr>
                </a:tc>
                <a:tc>
                  <a:txBody>
                    <a:bodyPr/>
                    <a:lstStyle/>
                    <a:p>
                      <a:r>
                        <a:rPr sz="1472" b="1" i="0" u="none">
                          <a:solidFill>
                            <a:srgbClr val="1C2B3A"/>
                          </a:solidFill>
                          <a:latin typeface="IBM Plex Mono"/>
                        </a:rPr>
                        <a:t>Stadtteil</a:t>
                      </a:r>
                    </a:p>
                  </a:txBody>
                  <a:tcPr marL="54864" marR="54864" marT="18288" marB="18288">
                    <a:solidFill>
                      <a:srgbClr val="EBE2D2"/>
                    </a:solidFill>
                  </a:tcPr>
                </a:tc>
                <a:tc>
                  <a:txBody>
                    <a:bodyPr/>
                    <a:lstStyle/>
                    <a:p>
                      <a:r>
                        <a:rPr sz="1472" b="1" i="0" u="none">
                          <a:solidFill>
                            <a:srgbClr val="1C2B3A"/>
                          </a:solidFill>
                          <a:latin typeface="IBM Plex Mono"/>
                        </a:rPr>
                        <a:t>Funddatum</a:t>
                      </a:r>
                    </a:p>
                  </a:txBody>
                  <a:tcPr marL="54864" marR="54864" marT="18288" marB="18288">
                    <a:solidFill>
                      <a:srgbClr val="EBE2D2"/>
                    </a:solidFill>
                  </a:tcPr>
                </a:tc>
                <a:tc>
                  <a:txBody>
                    <a:bodyPr/>
                    <a:lstStyle/>
                    <a:p>
                      <a:r>
                        <a:rPr sz="1472" b="1" i="0" u="none">
                          <a:solidFill>
                            <a:srgbClr val="1C2B3A"/>
                          </a:solidFill>
                          <a:latin typeface="IBM Plex Mono"/>
                        </a:rPr>
                        <a:t>Wert</a:t>
                      </a:r>
                    </a:p>
                  </a:txBody>
                  <a:tcPr marL="54864" marR="54864" marT="18288" marB="18288">
                    <a:solidFill>
                      <a:srgbClr val="EBE2D2"/>
                    </a:solidFill>
                  </a:tcPr>
                </a:tc>
              </a:tr>
              <a:tr h="314960">
                <a:tc>
                  <a:txBody>
                    <a:bodyPr/>
                    <a:lstStyle/>
                    <a:p>
                      <a:pPr algn="r"/>
                      <a:r>
                        <a:rPr sz="1600" b="0" i="0" u="none">
                          <a:solidFill>
                            <a:srgbClr val="1C2B3A"/>
                          </a:solidFill>
                          <a:latin typeface="Barlow"/>
                        </a:rPr>
                        <a:t>2</a:t>
                      </a:r>
                    </a:p>
                  </a:txBody>
                  <a:tcPr marL="54864" marR="54864" marT="18288" marB="18288">
                    <a:solidFill>
                      <a:srgbClr val="FFFDF8"/>
                    </a:solidFill>
                  </a:tcPr>
                </a:tc>
                <a:tc>
                  <a:txBody>
                    <a:bodyPr/>
                    <a:lstStyle/>
                    <a:p>
                      <a:r>
                        <a:rPr sz="1600" b="0" i="0" u="none">
                          <a:solidFill>
                            <a:srgbClr val="1C2B3A"/>
                          </a:solidFill>
                          <a:latin typeface="Barlow"/>
                        </a:rPr>
                        <a:t>Regenjacke</a:t>
                      </a:r>
                    </a:p>
                  </a:txBody>
                  <a:tcPr marL="54864" marR="54864" marT="18288" marB="18288">
                    <a:solidFill>
                      <a:srgbClr val="FFFDF8"/>
                    </a:solidFill>
                  </a:tcPr>
                </a:tc>
                <a:tc>
                  <a:txBody>
                    <a:bodyPr/>
                    <a:lstStyle/>
                    <a:p>
                      <a:r>
                        <a:rPr sz="1600" b="0" i="0" u="none">
                          <a:solidFill>
                            <a:srgbClr val="1C2B3A"/>
                          </a:solidFill>
                          <a:latin typeface="Barlow"/>
                        </a:rPr>
                        <a:t>Kleidung</a:t>
                      </a:r>
                    </a:p>
                  </a:txBody>
                  <a:tcPr marL="54864" marR="54864" marT="18288" marB="18288">
                    <a:solidFill>
                      <a:srgbClr val="FFFDF8"/>
                    </a:solidFill>
                  </a:tcPr>
                </a:tc>
                <a:tc>
                  <a:txBody>
                    <a:bodyPr/>
                    <a:lstStyle/>
                    <a:p>
                      <a:r>
                        <a:rPr sz="1600" b="0" i="0" u="none">
                          <a:solidFill>
                            <a:srgbClr val="1C2B3A"/>
                          </a:solidFill>
                          <a:latin typeface="Barlow"/>
                        </a:rPr>
                        <a:t>grün</a:t>
                      </a:r>
                    </a:p>
                  </a:txBody>
                  <a:tcPr marL="54864" marR="54864" marT="18288" marB="18288">
                    <a:solidFill>
                      <a:srgbClr val="FFFDF8"/>
                    </a:solidFill>
                  </a:tcPr>
                </a:tc>
                <a:tc>
                  <a:txBody>
                    <a:bodyPr/>
                    <a:lstStyle/>
                    <a:p>
                      <a:r>
                        <a:rPr sz="1600" b="0" i="0" u="none">
                          <a:solidFill>
                            <a:srgbClr val="1C2B3A"/>
                          </a:solidFill>
                          <a:latin typeface="Barlow"/>
                        </a:rPr>
                        <a:t>Lindenhof</a:t>
                      </a:r>
                    </a:p>
                  </a:txBody>
                  <a:tcPr marL="54864" marR="54864" marT="18288" marB="18288">
                    <a:solidFill>
                      <a:srgbClr val="FFFDF8"/>
                    </a:solidFill>
                  </a:tcPr>
                </a:tc>
                <a:tc>
                  <a:txBody>
                    <a:bodyPr/>
                    <a:lstStyle/>
                    <a:p>
                      <a:r>
                        <a:rPr sz="1600" b="0" i="0" u="none">
                          <a:solidFill>
                            <a:srgbClr val="1C2B3A"/>
                          </a:solidFill>
                          <a:latin typeface="Barlow"/>
                        </a:rPr>
                        <a:t>2026-04-04</a:t>
                      </a:r>
                    </a:p>
                  </a:txBody>
                  <a:tcPr marL="54864" marR="54864" marT="18288" marB="18288">
                    <a:solidFill>
                      <a:srgbClr val="FFFDF8"/>
                    </a:solidFill>
                  </a:tcPr>
                </a:tc>
                <a:tc>
                  <a:txBody>
                    <a:bodyPr/>
                    <a:lstStyle/>
                    <a:p>
                      <a:pPr algn="r"/>
                      <a:r>
                        <a:rPr sz="1600" b="0" i="0" u="none">
                          <a:solidFill>
                            <a:srgbClr val="1C2B3A"/>
                          </a:solidFill>
                          <a:latin typeface="Barlow"/>
                        </a:rPr>
                        <a:t>10</a:t>
                      </a:r>
                    </a:p>
                  </a:txBody>
                  <a:tcPr marL="54864" marR="54864" marT="18288" marB="18288">
                    <a:solidFill>
                      <a:srgbClr val="FFFDF8"/>
                    </a:solidFill>
                  </a:tcPr>
                </a:tc>
              </a:tr>
              <a:tr h="314960">
                <a:tc>
                  <a:txBody>
                    <a:bodyPr/>
                    <a:lstStyle/>
                    <a:p>
                      <a:pPr algn="r"/>
                      <a:r>
                        <a:rPr sz="1600" b="0" i="0" u="none">
                          <a:solidFill>
                            <a:srgbClr val="1C2B3A"/>
                          </a:solidFill>
                          <a:latin typeface="Barlow"/>
                        </a:rPr>
                        <a:t>3</a:t>
                      </a:r>
                    </a:p>
                  </a:txBody>
                  <a:tcPr marL="54864" marR="54864" marT="18288" marB="18288">
                    <a:solidFill>
                      <a:srgbClr val="FFFDF8"/>
                    </a:solidFill>
                  </a:tcPr>
                </a:tc>
                <a:tc>
                  <a:txBody>
                    <a:bodyPr/>
                    <a:lstStyle/>
                    <a:p>
                      <a:r>
                        <a:rPr sz="1600" b="0" i="0" u="none">
                          <a:solidFill>
                            <a:srgbClr val="1C2B3A"/>
                          </a:solidFill>
                          <a:latin typeface="Barlow"/>
                        </a:rPr>
                        <a:t>Monatskarte</a:t>
                      </a:r>
                    </a:p>
                  </a:txBody>
                  <a:tcPr marL="54864" marR="54864" marT="18288" marB="18288">
                    <a:solidFill>
                      <a:srgbClr val="FFFDF8"/>
                    </a:solidFill>
                  </a:tcPr>
                </a:tc>
                <a:tc>
                  <a:txBody>
                    <a:bodyPr/>
                    <a:lstStyle/>
                    <a:p>
                      <a:r>
                        <a:rPr sz="1600" b="0" i="0" u="none">
                          <a:solidFill>
                            <a:srgbClr val="1C2B3A"/>
                          </a:solidFill>
                          <a:latin typeface="Barlow"/>
                        </a:rPr>
                        <a:t>Dokumente</a:t>
                      </a:r>
                    </a:p>
                  </a:txBody>
                  <a:tcPr marL="54864" marR="54864" marT="18288" marB="18288">
                    <a:solidFill>
                      <a:srgbClr val="FFFDF8"/>
                    </a:solidFill>
                  </a:tcPr>
                </a:tc>
                <a:tc>
                  <a:txBody>
                    <a:bodyPr/>
                    <a:lstStyle/>
                    <a:p>
                      <a:r>
                        <a:rPr sz="1600" b="0" i="0" u="none">
                          <a:solidFill>
                            <a:srgbClr val="1C2B3A"/>
                          </a:solidFill>
                          <a:latin typeface="Barlow"/>
                        </a:rPr>
                        <a:t>braun</a:t>
                      </a:r>
                    </a:p>
                  </a:txBody>
                  <a:tcPr marL="54864" marR="54864" marT="18288" marB="18288">
                    <a:solidFill>
                      <a:srgbClr val="FFFDF8"/>
                    </a:solidFill>
                  </a:tcPr>
                </a:tc>
                <a:tc>
                  <a:txBody>
                    <a:bodyPr/>
                    <a:lstStyle/>
                    <a:p>
                      <a:r>
                        <a:rPr sz="1600" b="0" i="0" u="none">
                          <a:solidFill>
                            <a:srgbClr val="1C2B3A"/>
                          </a:solidFill>
                          <a:latin typeface="Barlow"/>
                        </a:rPr>
                        <a:t>Hafenviertel</a:t>
                      </a:r>
                    </a:p>
                  </a:txBody>
                  <a:tcPr marL="54864" marR="54864" marT="18288" marB="18288">
                    <a:solidFill>
                      <a:srgbClr val="FFFDF8"/>
                    </a:solidFill>
                  </a:tcPr>
                </a:tc>
                <a:tc>
                  <a:txBody>
                    <a:bodyPr/>
                    <a:lstStyle/>
                    <a:p>
                      <a:r>
                        <a:rPr sz="1600" b="0" i="0" u="none">
                          <a:solidFill>
                            <a:srgbClr val="1C2B3A"/>
                          </a:solidFill>
                          <a:latin typeface="Barlow"/>
                        </a:rPr>
                        <a:t>2026-04-05</a:t>
                      </a:r>
                    </a:p>
                  </a:txBody>
                  <a:tcPr marL="54864" marR="54864" marT="18288" marB="18288">
                    <a:solidFill>
                      <a:srgbClr val="FFFDF8"/>
                    </a:solidFill>
                  </a:tcPr>
                </a:tc>
                <a:tc>
                  <a:txBody>
                    <a:bodyPr/>
                    <a:lstStyle/>
                    <a:p>
                      <a:pPr algn="r"/>
                      <a:r>
                        <a:rPr sz="1600" b="0" i="0" u="none">
                          <a:solidFill>
                            <a:srgbClr val="1C2B3A"/>
                          </a:solidFill>
                          <a:latin typeface="Barlow"/>
                        </a:rPr>
                        <a:t>9</a:t>
                      </a:r>
                    </a:p>
                  </a:txBody>
                  <a:tcPr marL="54864" marR="54864" marT="18288" marB="18288">
                    <a:solidFill>
                      <a:srgbClr val="FFFDF8"/>
                    </a:solidFill>
                  </a:tcPr>
                </a:tc>
              </a:tr>
              <a:tr h="314960">
                <a:tc>
                  <a:txBody>
                    <a:bodyPr/>
                    <a:lstStyle/>
                    <a:p>
                      <a:pPr algn="r"/>
                      <a:r>
                        <a:rPr sz="1600" b="0" i="0" u="none">
                          <a:solidFill>
                            <a:srgbClr val="1C2B3A"/>
                          </a:solidFill>
                          <a:latin typeface="Barlow"/>
                        </a:rPr>
                        <a:t>4</a:t>
                      </a:r>
                    </a:p>
                  </a:txBody>
                  <a:tcPr marL="54864" marR="54864" marT="18288" marB="18288">
                    <a:solidFill>
                      <a:srgbClr val="FFFDF8"/>
                    </a:solidFill>
                  </a:tcPr>
                </a:tc>
                <a:tc>
                  <a:txBody>
                    <a:bodyPr/>
                    <a:lstStyle/>
                    <a:p>
                      <a:r>
                        <a:rPr sz="1600" b="0" i="0" u="none">
                          <a:solidFill>
                            <a:srgbClr val="1C2B3A"/>
                          </a:solidFill>
                          <a:latin typeface="Barlow"/>
                        </a:rPr>
                        <a:t>Geldbörse</a:t>
                      </a:r>
                    </a:p>
                  </a:txBody>
                  <a:tcPr marL="54864" marR="54864" marT="18288" marB="18288">
                    <a:solidFill>
                      <a:srgbClr val="FFFDF8"/>
                    </a:solidFill>
                  </a:tcPr>
                </a:tc>
                <a:tc>
                  <a:txBody>
                    <a:bodyPr/>
                    <a:lstStyle/>
                    <a:p>
                      <a:r>
                        <a:rPr sz="1600" b="0" i="0" u="none">
                          <a:solidFill>
                            <a:srgbClr val="1C2B3A"/>
                          </a:solidFill>
                          <a:latin typeface="Barlow"/>
                        </a:rPr>
                        <a:t>Taschen</a:t>
                      </a:r>
                    </a:p>
                  </a:txBody>
                  <a:tcPr marL="54864" marR="54864" marT="18288" marB="18288">
                    <a:solidFill>
                      <a:srgbClr val="FFFDF8"/>
                    </a:solidFill>
                  </a:tcPr>
                </a:tc>
                <a:tc>
                  <a:txBody>
                    <a:bodyPr/>
                    <a:lstStyle/>
                    <a:p>
                      <a:r>
                        <a:rPr sz="1600" b="0" i="0" u="none">
                          <a:solidFill>
                            <a:srgbClr val="1C2B3A"/>
                          </a:solidFill>
                          <a:latin typeface="Barlow"/>
                        </a:rPr>
                        <a:t>blau</a:t>
                      </a:r>
                    </a:p>
                  </a:txBody>
                  <a:tcPr marL="54864" marR="54864" marT="18288" marB="18288">
                    <a:solidFill>
                      <a:srgbClr val="FFFDF8"/>
                    </a:solidFill>
                  </a:tcPr>
                </a:tc>
                <a:tc>
                  <a:txBody>
                    <a:bodyPr/>
                    <a:lstStyle/>
                    <a:p>
                      <a:r>
                        <a:rPr sz="1600" b="0" i="0" u="none">
                          <a:solidFill>
                            <a:srgbClr val="1C2B3A"/>
                          </a:solidFill>
                          <a:latin typeface="Barlow"/>
                        </a:rPr>
                        <a:t>Nordheide</a:t>
                      </a:r>
                    </a:p>
                  </a:txBody>
                  <a:tcPr marL="54864" marR="54864" marT="18288" marB="18288">
                    <a:solidFill>
                      <a:srgbClr val="FFFDF8"/>
                    </a:solidFill>
                  </a:tcPr>
                </a:tc>
                <a:tc>
                  <a:txBody>
                    <a:bodyPr/>
                    <a:lstStyle/>
                    <a:p>
                      <a:r>
                        <a:rPr sz="1600" b="0" i="0" u="none">
                          <a:solidFill>
                            <a:srgbClr val="1C2B3A"/>
                          </a:solidFill>
                          <a:latin typeface="Barlow"/>
                        </a:rPr>
                        <a:t>2026-04-06</a:t>
                      </a:r>
                    </a:p>
                  </a:txBody>
                  <a:tcPr marL="54864" marR="54864" marT="18288" marB="18288">
                    <a:solidFill>
                      <a:srgbClr val="FFFDF8"/>
                    </a:solidFill>
                  </a:tcPr>
                </a:tc>
                <a:tc>
                  <a:txBody>
                    <a:bodyPr/>
                    <a:lstStyle/>
                    <a:p>
                      <a:pPr algn="r"/>
                      <a:r>
                        <a:rPr sz="1600" b="0" i="0" u="none">
                          <a:solidFill>
                            <a:srgbClr val="1C2B3A"/>
                          </a:solidFill>
                          <a:latin typeface="Barlow"/>
                        </a:rPr>
                        <a:t>32</a:t>
                      </a:r>
                    </a:p>
                  </a:txBody>
                  <a:tcPr marL="54864" marR="54864" marT="18288" marB="18288">
                    <a:solidFill>
                      <a:srgbClr val="FFFDF8"/>
                    </a:solidFill>
                  </a:tcPr>
                </a:tc>
              </a:tr>
              <a:tr h="314960">
                <a:tc>
                  <a:txBody>
                    <a:bodyPr/>
                    <a:lstStyle/>
                    <a:p>
                      <a:pPr algn="r"/>
                      <a:r>
                        <a:rPr sz="1600" b="0" i="0" u="none">
                          <a:solidFill>
                            <a:srgbClr val="1C2B3A"/>
                          </a:solidFill>
                          <a:latin typeface="Barlow"/>
                        </a:rPr>
                        <a:t>5</a:t>
                      </a:r>
                    </a:p>
                  </a:txBody>
                  <a:tcPr marL="54864" marR="54864" marT="18288" marB="18288">
                    <a:solidFill>
                      <a:srgbClr val="FFFDF8"/>
                    </a:solidFill>
                  </a:tcPr>
                </a:tc>
                <a:tc>
                  <a:txBody>
                    <a:bodyPr/>
                    <a:lstStyle/>
                    <a:p>
                      <a:r>
                        <a:rPr sz="1600" b="0" i="0" u="none">
                          <a:solidFill>
                            <a:srgbClr val="1C2B3A"/>
                          </a:solidFill>
                          <a:latin typeface="Barlow"/>
                        </a:rPr>
                        <a:t>Turnbeutel</a:t>
                      </a:r>
                    </a:p>
                  </a:txBody>
                  <a:tcPr marL="54864" marR="54864" marT="18288" marB="18288">
                    <a:solidFill>
                      <a:srgbClr val="FFFDF8"/>
                    </a:solidFill>
                  </a:tcPr>
                </a:tc>
                <a:tc>
                  <a:txBody>
                    <a:bodyPr/>
                    <a:lstStyle/>
                    <a:p>
                      <a:r>
                        <a:rPr sz="1600" b="0" i="0" u="none">
                          <a:solidFill>
                            <a:srgbClr val="1C2B3A"/>
                          </a:solidFill>
                          <a:latin typeface="Barlow"/>
                        </a:rPr>
                        <a:t>Taschen</a:t>
                      </a:r>
                    </a:p>
                  </a:txBody>
                  <a:tcPr marL="54864" marR="54864" marT="18288" marB="18288">
                    <a:solidFill>
                      <a:srgbClr val="FFFDF8"/>
                    </a:solidFill>
                  </a:tcPr>
                </a:tc>
                <a:tc>
                  <a:txBody>
                    <a:bodyPr/>
                    <a:lstStyle/>
                    <a:p>
                      <a:r>
                        <a:rPr sz="1600" b="0" i="0" u="none">
                          <a:solidFill>
                            <a:srgbClr val="1C2B3A"/>
                          </a:solidFill>
                          <a:latin typeface="Barlow"/>
                        </a:rPr>
                        <a:t>grau</a:t>
                      </a:r>
                    </a:p>
                  </a:txBody>
                  <a:tcPr marL="54864" marR="54864" marT="18288" marB="18288">
                    <a:solidFill>
                      <a:srgbClr val="FFFDF8"/>
                    </a:solidFill>
                  </a:tcPr>
                </a:tc>
                <a:tc>
                  <a:txBody>
                    <a:bodyPr/>
                    <a:lstStyle/>
                    <a:p>
                      <a:r>
                        <a:rPr sz="1600" b="0" i="0" u="none">
                          <a:solidFill>
                            <a:srgbClr val="1C2B3A"/>
                          </a:solidFill>
                          <a:latin typeface="Barlow"/>
                        </a:rPr>
                        <a:t>Nordheide</a:t>
                      </a:r>
                    </a:p>
                  </a:txBody>
                  <a:tcPr marL="54864" marR="54864" marT="18288" marB="18288">
                    <a:solidFill>
                      <a:srgbClr val="FFFDF8"/>
                    </a:solidFill>
                  </a:tcPr>
                </a:tc>
                <a:tc>
                  <a:txBody>
                    <a:bodyPr/>
                    <a:lstStyle/>
                    <a:p>
                      <a:r>
                        <a:rPr sz="1600" b="0" i="0" u="none">
                          <a:solidFill>
                            <a:srgbClr val="1C2B3A"/>
                          </a:solidFill>
                          <a:latin typeface="Barlow"/>
                        </a:rPr>
                        <a:t>2026-04-07</a:t>
                      </a:r>
                    </a:p>
                  </a:txBody>
                  <a:tcPr marL="54864" marR="54864" marT="18288" marB="18288">
                    <a:solidFill>
                      <a:srgbClr val="FFFDF8"/>
                    </a:solidFill>
                  </a:tcPr>
                </a:tc>
                <a:tc>
                  <a:txBody>
                    <a:bodyPr/>
                    <a:lstStyle/>
                    <a:p>
                      <a:pPr algn="r"/>
                      <a:r>
                        <a:rPr sz="1600" b="0" i="0" u="none">
                          <a:solidFill>
                            <a:srgbClr val="1C2B3A"/>
                          </a:solidFill>
                          <a:latin typeface="Barlow"/>
                        </a:rPr>
                        <a:t>14</a:t>
                      </a:r>
                    </a:p>
                  </a:txBody>
                  <a:tcPr marL="54864" marR="54864" marT="18288" marB="18288">
                    <a:solidFill>
                      <a:srgbClr val="FFFDF8"/>
                    </a:solidFill>
                  </a:tcPr>
                </a:tc>
              </a:tr>
              <a:tr h="314960">
                <a:tc>
                  <a:txBody>
                    <a:bodyPr/>
                    <a:lstStyle/>
                    <a:p>
                      <a:pPr algn="r"/>
                      <a:r>
                        <a:rPr sz="1600" b="0" i="0" u="none">
                          <a:solidFill>
                            <a:srgbClr val="1C2B3A"/>
                          </a:solidFill>
                          <a:latin typeface="Barlow"/>
                        </a:rPr>
                        <a:t>6</a:t>
                      </a:r>
                    </a:p>
                  </a:txBody>
                  <a:tcPr marL="54864" marR="54864" marT="18288" marB="18288">
                    <a:solidFill>
                      <a:srgbClr val="FFFDF8"/>
                    </a:solidFill>
                  </a:tcPr>
                </a:tc>
                <a:tc>
                  <a:txBody>
                    <a:bodyPr/>
                    <a:lstStyle/>
                    <a:p>
                      <a:r>
                        <a:rPr sz="1600" b="0" i="0" u="none">
                          <a:solidFill>
                            <a:srgbClr val="1C2B3A"/>
                          </a:solidFill>
                          <a:latin typeface="Barlow"/>
                        </a:rPr>
                        <a:t>E-Reader</a:t>
                      </a:r>
                    </a:p>
                  </a:txBody>
                  <a:tcPr marL="54864" marR="54864" marT="18288" marB="18288">
                    <a:solidFill>
                      <a:srgbClr val="FFFDF8"/>
                    </a:solidFill>
                  </a:tcPr>
                </a:tc>
                <a:tc>
                  <a:txBody>
                    <a:bodyPr/>
                    <a:lstStyle/>
                    <a:p>
                      <a:r>
                        <a:rPr sz="1600" b="0" i="0" u="none">
                          <a:solidFill>
                            <a:srgbClr val="1C2B3A"/>
                          </a:solidFill>
                          <a:latin typeface="Barlow"/>
                        </a:rPr>
                        <a:t>Elektronik</a:t>
                      </a:r>
                    </a:p>
                  </a:txBody>
                  <a:tcPr marL="54864" marR="54864" marT="18288" marB="18288">
                    <a:solidFill>
                      <a:srgbClr val="FFFDF8"/>
                    </a:solidFill>
                  </a:tcPr>
                </a:tc>
                <a:tc>
                  <a:txBody>
                    <a:bodyPr/>
                    <a:lstStyle/>
                    <a:p>
                      <a:r>
                        <a:rPr sz="1600" b="0" i="0" u="none">
                          <a:solidFill>
                            <a:srgbClr val="1C2B3A"/>
                          </a:solidFill>
                          <a:latin typeface="Barlow"/>
                        </a:rPr>
                        <a:t>weiß</a:t>
                      </a:r>
                    </a:p>
                  </a:txBody>
                  <a:tcPr marL="54864" marR="54864" marT="18288" marB="18288">
                    <a:solidFill>
                      <a:srgbClr val="FFFDF8"/>
                    </a:solidFill>
                  </a:tcPr>
                </a:tc>
                <a:tc>
                  <a:txBody>
                    <a:bodyPr/>
                    <a:lstStyle/>
                    <a:p>
                      <a:r>
                        <a:rPr sz="1600" b="0" i="0" u="none">
                          <a:solidFill>
                            <a:srgbClr val="1C2B3A"/>
                          </a:solidFill>
                          <a:latin typeface="Barlow"/>
                        </a:rPr>
                        <a:t>Hafenviertel</a:t>
                      </a:r>
                    </a:p>
                  </a:txBody>
                  <a:tcPr marL="54864" marR="54864" marT="18288" marB="18288">
                    <a:solidFill>
                      <a:srgbClr val="FFFDF8"/>
                    </a:solidFill>
                  </a:tcPr>
                </a:tc>
                <a:tc>
                  <a:txBody>
                    <a:bodyPr/>
                    <a:lstStyle/>
                    <a:p>
                      <a:r>
                        <a:rPr sz="1600" b="0" i="0" u="none">
                          <a:solidFill>
                            <a:srgbClr val="1C2B3A"/>
                          </a:solidFill>
                          <a:latin typeface="Barlow"/>
                        </a:rPr>
                        <a:t>2026-04-13</a:t>
                      </a:r>
                    </a:p>
                  </a:txBody>
                  <a:tcPr marL="54864" marR="54864" marT="18288" marB="18288">
                    <a:solidFill>
                      <a:srgbClr val="FFFDF8"/>
                    </a:solidFill>
                  </a:tcPr>
                </a:tc>
                <a:tc>
                  <a:txBody>
                    <a:bodyPr/>
                    <a:lstStyle/>
                    <a:p>
                      <a:pPr algn="r"/>
                      <a:r>
                        <a:rPr sz="1600" b="0" i="0" u="none">
                          <a:solidFill>
                            <a:srgbClr val="1C2B3A"/>
                          </a:solidFill>
                          <a:latin typeface="Barlow"/>
                        </a:rPr>
                        <a:t>84</a:t>
                      </a:r>
                    </a:p>
                  </a:txBody>
                  <a:tcPr marL="54864" marR="54864" marT="18288" marB="18288">
                    <a:solidFill>
                      <a:srgbClr val="FFFDF8"/>
                    </a:solidFill>
                  </a:tcPr>
                </a:tc>
              </a:tr>
              <a:tr h="314960">
                <a:tc>
                  <a:txBody>
                    <a:bodyPr/>
                    <a:lstStyle/>
                    <a:p>
                      <a:pPr algn="r"/>
                      <a:r>
                        <a:rPr sz="1600" b="0" i="0" u="none">
                          <a:solidFill>
                            <a:srgbClr val="1C2B3A"/>
                          </a:solidFill>
                          <a:latin typeface="Barlow"/>
                        </a:rPr>
                        <a:t>7</a:t>
                      </a:r>
                    </a:p>
                  </a:txBody>
                  <a:tcPr marL="54864" marR="54864" marT="18288" marB="18288">
                    <a:solidFill>
                      <a:srgbClr val="FFFDF8"/>
                    </a:solidFill>
                  </a:tcPr>
                </a:tc>
                <a:tc>
                  <a:txBody>
                    <a:bodyPr/>
                    <a:lstStyle/>
                    <a:p>
                      <a:r>
                        <a:rPr sz="1600" b="0" i="0" u="none">
                          <a:solidFill>
                            <a:srgbClr val="1C2B3A"/>
                          </a:solidFill>
                          <a:latin typeface="Barlow"/>
                        </a:rPr>
                        <a:t>Brillenetui</a:t>
                      </a:r>
                    </a:p>
                  </a:txBody>
                  <a:tcPr marL="54864" marR="54864" marT="18288" marB="18288">
                    <a:solidFill>
                      <a:srgbClr val="FFFDF8"/>
                    </a:solidFill>
                  </a:tcPr>
                </a:tc>
                <a:tc>
                  <a:txBody>
                    <a:bodyPr/>
                    <a:lstStyle/>
                    <a:p>
                      <a:r>
                        <a:rPr sz="1600" b="0" i="0" u="none">
                          <a:solidFill>
                            <a:srgbClr val="1C2B3A"/>
                          </a:solidFill>
                          <a:latin typeface="Barlow"/>
                        </a:rPr>
                        <a:t>Sonstiges</a:t>
                      </a:r>
                    </a:p>
                  </a:txBody>
                  <a:tcPr marL="54864" marR="54864" marT="18288" marB="18288">
                    <a:solidFill>
                      <a:srgbClr val="FFFDF8"/>
                    </a:solidFill>
                  </a:tcPr>
                </a:tc>
                <a:tc>
                  <a:txBody>
                    <a:bodyPr/>
                    <a:lstStyle/>
                    <a:p>
                      <a:r>
                        <a:rPr sz="1360" b="0" i="1" u="none">
                          <a:solidFill>
                            <a:srgbClr val="58626D"/>
                          </a:solidFill>
                          <a:latin typeface="IBM Plex Mono"/>
                        </a:rPr>
                        <a:t>NULL</a:t>
                      </a:r>
                    </a:p>
                  </a:txBody>
                  <a:tcPr marL="54864" marR="54864" marT="18288" marB="18288">
                    <a:solidFill>
                      <a:srgbClr val="FFFDF8"/>
                    </a:solidFill>
                  </a:tcPr>
                </a:tc>
                <a:tc>
                  <a:txBody>
                    <a:bodyPr/>
                    <a:lstStyle/>
                    <a:p>
                      <a:r>
                        <a:rPr sz="1600" b="0" i="0" u="none">
                          <a:solidFill>
                            <a:srgbClr val="1C2B3A"/>
                          </a:solidFill>
                          <a:latin typeface="Barlow"/>
                        </a:rPr>
                        <a:t>Lindenhof</a:t>
                      </a:r>
                    </a:p>
                  </a:txBody>
                  <a:tcPr marL="54864" marR="54864" marT="18288" marB="18288">
                    <a:solidFill>
                      <a:srgbClr val="FFFDF8"/>
                    </a:solidFill>
                  </a:tcPr>
                </a:tc>
                <a:tc>
                  <a:txBody>
                    <a:bodyPr/>
                    <a:lstStyle/>
                    <a:p>
                      <a:r>
                        <a:rPr sz="1600" b="0" i="0" u="none">
                          <a:solidFill>
                            <a:srgbClr val="1C2B3A"/>
                          </a:solidFill>
                          <a:latin typeface="Barlow"/>
                        </a:rPr>
                        <a:t>2026-04-17</a:t>
                      </a:r>
                    </a:p>
                  </a:txBody>
                  <a:tcPr marL="54864" marR="54864" marT="18288" marB="18288">
                    <a:solidFill>
                      <a:srgbClr val="FFFDF8"/>
                    </a:solidFill>
                  </a:tcPr>
                </a:tc>
                <a:tc>
                  <a:txBody>
                    <a:bodyPr/>
                    <a:lstStyle/>
                    <a:p>
                      <a:pPr algn="r"/>
                      <a:r>
                        <a:rPr sz="1600" b="0" i="0" u="none">
                          <a:solidFill>
                            <a:srgbClr val="1C2B3A"/>
                          </a:solidFill>
                          <a:latin typeface="Barlow"/>
                        </a:rPr>
                        <a:t>40</a:t>
                      </a:r>
                    </a:p>
                  </a:txBody>
                  <a:tcPr marL="54864" marR="54864" marT="18288" marB="18288">
                    <a:solidFill>
                      <a:srgbClr val="FFFDF8"/>
                    </a:solidFill>
                  </a:tcPr>
                </a:tc>
              </a:tr>
              <a:tr h="314960">
                <a:tc>
                  <a:txBody>
                    <a:bodyPr/>
                    <a:lstStyle/>
                    <a:p>
                      <a:pPr algn="r"/>
                      <a:r>
                        <a:rPr sz="1600" b="0" i="0" u="none">
                          <a:solidFill>
                            <a:srgbClr val="1C2B3A"/>
                          </a:solidFill>
                          <a:latin typeface="Barlow"/>
                        </a:rPr>
                        <a:t>8</a:t>
                      </a:r>
                    </a:p>
                  </a:txBody>
                  <a:tcPr marL="54864" marR="54864" marT="18288" marB="18288">
                    <a:solidFill>
                      <a:srgbClr val="FFFDF8"/>
                    </a:solidFill>
                  </a:tcPr>
                </a:tc>
                <a:tc>
                  <a:txBody>
                    <a:bodyPr/>
                    <a:lstStyle/>
                    <a:p>
                      <a:r>
                        <a:rPr sz="1600" b="0" i="0" u="none">
                          <a:solidFill>
                            <a:srgbClr val="1C2B3A"/>
                          </a:solidFill>
                          <a:latin typeface="Barlow"/>
                        </a:rPr>
                        <a:t>Schal</a:t>
                      </a:r>
                    </a:p>
                  </a:txBody>
                  <a:tcPr marL="54864" marR="54864" marT="18288" marB="18288">
                    <a:solidFill>
                      <a:srgbClr val="FFFDF8"/>
                    </a:solidFill>
                  </a:tcPr>
                </a:tc>
                <a:tc>
                  <a:txBody>
                    <a:bodyPr/>
                    <a:lstStyle/>
                    <a:p>
                      <a:r>
                        <a:rPr sz="1600" b="0" i="0" u="none">
                          <a:solidFill>
                            <a:srgbClr val="1C2B3A"/>
                          </a:solidFill>
                          <a:latin typeface="Barlow"/>
                        </a:rPr>
                        <a:t>Kleidung</a:t>
                      </a:r>
                    </a:p>
                  </a:txBody>
                  <a:tcPr marL="54864" marR="54864" marT="18288" marB="18288">
                    <a:solidFill>
                      <a:srgbClr val="FFFDF8"/>
                    </a:solidFill>
                  </a:tcPr>
                </a:tc>
                <a:tc>
                  <a:txBody>
                    <a:bodyPr/>
                    <a:lstStyle/>
                    <a:p>
                      <a:r>
                        <a:rPr sz="1600" b="0" i="0" u="none">
                          <a:solidFill>
                            <a:srgbClr val="1C2B3A"/>
                          </a:solidFill>
                          <a:latin typeface="Barlow"/>
                        </a:rPr>
                        <a:t>blau</a:t>
                      </a:r>
                    </a:p>
                  </a:txBody>
                  <a:tcPr marL="54864" marR="54864" marT="18288" marB="18288">
                    <a:solidFill>
                      <a:srgbClr val="FFFDF8"/>
                    </a:solidFill>
                  </a:tcPr>
                </a:tc>
                <a:tc>
                  <a:txBody>
                    <a:bodyPr/>
                    <a:lstStyle/>
                    <a:p>
                      <a:r>
                        <a:rPr sz="1600" b="0" i="0" u="none">
                          <a:solidFill>
                            <a:srgbClr val="1C2B3A"/>
                          </a:solidFill>
                          <a:latin typeface="Barlow"/>
                        </a:rPr>
                        <a:t>Deichkamp</a:t>
                      </a:r>
                    </a:p>
                  </a:txBody>
                  <a:tcPr marL="54864" marR="54864" marT="18288" marB="18288">
                    <a:solidFill>
                      <a:srgbClr val="FFFDF8"/>
                    </a:solidFill>
                  </a:tcPr>
                </a:tc>
                <a:tc>
                  <a:txBody>
                    <a:bodyPr/>
                    <a:lstStyle/>
                    <a:p>
                      <a:r>
                        <a:rPr sz="1600" b="0" i="0" u="none">
                          <a:solidFill>
                            <a:srgbClr val="1C2B3A"/>
                          </a:solidFill>
                          <a:latin typeface="Barlow"/>
                        </a:rPr>
                        <a:t>2026-04-20</a:t>
                      </a:r>
                    </a:p>
                  </a:txBody>
                  <a:tcPr marL="54864" marR="54864" marT="18288" marB="18288">
                    <a:solidFill>
                      <a:srgbClr val="FFFDF8"/>
                    </a:solidFill>
                  </a:tcPr>
                </a:tc>
                <a:tc>
                  <a:txBody>
                    <a:bodyPr/>
                    <a:lstStyle/>
                    <a:p>
                      <a:pPr algn="r"/>
                      <a:r>
                        <a:rPr sz="1600" b="0" i="0" u="none">
                          <a:solidFill>
                            <a:srgbClr val="1C2B3A"/>
                          </a:solidFill>
                          <a:latin typeface="Barlow"/>
                        </a:rPr>
                        <a:t>33</a:t>
                      </a:r>
                    </a:p>
                  </a:txBody>
                  <a:tcPr marL="54864" marR="54864" marT="18288" marB="18288">
                    <a:solidFill>
                      <a:srgbClr val="FFFDF8"/>
                    </a:solidFill>
                  </a:tcPr>
                </a:tc>
              </a:tr>
              <a:tr h="314960">
                <a:tc>
                  <a:txBody>
                    <a:bodyPr/>
                    <a:lstStyle/>
                    <a:p>
                      <a:pPr algn="r"/>
                      <a:r>
                        <a:rPr sz="1600" b="0" i="0" u="none">
                          <a:solidFill>
                            <a:srgbClr val="1C2B3A"/>
                          </a:solidFill>
                          <a:latin typeface="Barlow"/>
                        </a:rPr>
                        <a:t>9</a:t>
                      </a:r>
                    </a:p>
                  </a:txBody>
                  <a:tcPr marL="54864" marR="54864" marT="18288" marB="18288">
                    <a:solidFill>
                      <a:srgbClr val="FFFDF8"/>
                    </a:solidFill>
                  </a:tcPr>
                </a:tc>
                <a:tc>
                  <a:txBody>
                    <a:bodyPr/>
                    <a:lstStyle/>
                    <a:p>
                      <a:r>
                        <a:rPr sz="1600" b="0" i="0" u="none">
                          <a:solidFill>
                            <a:srgbClr val="1C2B3A"/>
                          </a:solidFill>
                          <a:latin typeface="Barlow"/>
                        </a:rPr>
                        <a:t>Taschenkompass</a:t>
                      </a:r>
                    </a:p>
                  </a:txBody>
                  <a:tcPr marL="54864" marR="54864" marT="18288" marB="18288">
                    <a:solidFill>
                      <a:srgbClr val="FFFDF8"/>
                    </a:solidFill>
                  </a:tcPr>
                </a:tc>
                <a:tc>
                  <a:txBody>
                    <a:bodyPr/>
                    <a:lstStyle/>
                    <a:p>
                      <a:r>
                        <a:rPr sz="1600" b="0" i="0" u="none">
                          <a:solidFill>
                            <a:srgbClr val="1C2B3A"/>
                          </a:solidFill>
                          <a:latin typeface="Barlow"/>
                        </a:rPr>
                        <a:t>Spielzeug</a:t>
                      </a:r>
                    </a:p>
                  </a:txBody>
                  <a:tcPr marL="54864" marR="54864" marT="18288" marB="18288">
                    <a:solidFill>
                      <a:srgbClr val="FFFDF8"/>
                    </a:solidFill>
                  </a:tcPr>
                </a:tc>
                <a:tc>
                  <a:txBody>
                    <a:bodyPr/>
                    <a:lstStyle/>
                    <a:p>
                      <a:r>
                        <a:rPr sz="1600" b="0" i="0" u="none">
                          <a:solidFill>
                            <a:srgbClr val="1C2B3A"/>
                          </a:solidFill>
                          <a:latin typeface="Barlow"/>
                        </a:rPr>
                        <a:t>rot</a:t>
                      </a:r>
                    </a:p>
                  </a:txBody>
                  <a:tcPr marL="54864" marR="54864" marT="18288" marB="18288">
                    <a:solidFill>
                      <a:srgbClr val="FFFDF8"/>
                    </a:solidFill>
                  </a:tcPr>
                </a:tc>
                <a:tc>
                  <a:txBody>
                    <a:bodyPr/>
                    <a:lstStyle/>
                    <a:p>
                      <a:r>
                        <a:rPr sz="1600" b="0" i="0" u="none">
                          <a:solidFill>
                            <a:srgbClr val="1C2B3A"/>
                          </a:solidFill>
                          <a:latin typeface="Barlow"/>
                        </a:rPr>
                        <a:t>Nordheide</a:t>
                      </a:r>
                    </a:p>
                  </a:txBody>
                  <a:tcPr marL="54864" marR="54864" marT="18288" marB="18288">
                    <a:solidFill>
                      <a:srgbClr val="FFFDF8"/>
                    </a:solidFill>
                  </a:tcPr>
                </a:tc>
                <a:tc>
                  <a:txBody>
                    <a:bodyPr/>
                    <a:lstStyle/>
                    <a:p>
                      <a:r>
                        <a:rPr sz="1600" b="0" i="0" u="none">
                          <a:solidFill>
                            <a:srgbClr val="1C2B3A"/>
                          </a:solidFill>
                          <a:latin typeface="Barlow"/>
                        </a:rPr>
                        <a:t>2026-04-21</a:t>
                      </a:r>
                    </a:p>
                  </a:txBody>
                  <a:tcPr marL="54864" marR="54864" marT="18288" marB="18288">
                    <a:solidFill>
                      <a:srgbClr val="FFFDF8"/>
                    </a:solidFill>
                  </a:tcPr>
                </a:tc>
                <a:tc>
                  <a:txBody>
                    <a:bodyPr/>
                    <a:lstStyle/>
                    <a:p>
                      <a:pPr algn="r"/>
                      <a:r>
                        <a:rPr sz="1600" b="0" i="0" u="none">
                          <a:solidFill>
                            <a:srgbClr val="1C2B3A"/>
                          </a:solidFill>
                          <a:latin typeface="Barlow"/>
                        </a:rPr>
                        <a:t>3</a:t>
                      </a:r>
                    </a:p>
                  </a:txBody>
                  <a:tcPr marL="54864" marR="54864" marT="18288" marB="18288">
                    <a:solidFill>
                      <a:srgbClr val="FFFDF8"/>
                    </a:solidFill>
                  </a:tcPr>
                </a:tc>
              </a:tr>
            </a:tbl>
          </a:graphicData>
        </a:graphic>
      </p:graphicFrame>
      <p:sp>
        <p:nvSpPr>
          <p:cNvPr id="10" name="TextBox 9"/>
          <p:cNvSpPr txBox="1"/>
          <p:nvPr/>
        </p:nvSpPr>
        <p:spPr>
          <a:xfrm>
            <a:off x="822959" y="4864608"/>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Was ist hier die Tabelle, ein Datensatz, ein Attribut, ein Attributwert?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Begriffe am Fundbuch</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graphicFrame>
        <p:nvGraphicFramePr>
          <p:cNvPr id="8" name="Datentabelle"/>
          <p:cNvGraphicFramePr>
            <a:graphicFrameLocks noGrp="1"/>
          </p:cNvGraphicFramePr>
          <p:nvPr/>
        </p:nvGraphicFramePr>
        <p:xfrm>
          <a:off x="548640" y="1691640"/>
          <a:ext cx="11094415" cy="2007870"/>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Tabelle (Relation)</a:t>
                      </a:r>
                    </a:p>
                  </a:txBody>
                  <a:tcPr marL="54864" marR="54864" marT="18288" marB="18288">
                    <a:solidFill>
                      <a:srgbClr val="FFFDF8"/>
                    </a:solidFill>
                  </a:tcPr>
                </a:tc>
                <a:tc>
                  <a:txBody>
                    <a:bodyPr/>
                    <a:lstStyle/>
                    <a:p>
                      <a:r>
                        <a:rPr sz="1700" b="0" i="0" u="none">
                          <a:solidFill>
                            <a:srgbClr val="1C2B3A"/>
                          </a:solidFill>
                          <a:latin typeface="Barlow"/>
                        </a:rPr>
                        <a:t>Fundsache – das ganze Fundbuch</a:t>
                      </a:r>
                    </a:p>
                  </a:txBody>
                  <a:tcPr marL="54864" marR="54864" marT="18288" marB="18288">
                    <a:solidFill>
                      <a:srgbClr val="FFFDF8"/>
                    </a:solidFill>
                  </a:tcPr>
                </a:tc>
              </a:tr>
              <a:tr h="334645">
                <a:tc>
                  <a:txBody>
                    <a:bodyPr/>
                    <a:lstStyle/>
                    <a:p>
                      <a:r>
                        <a:rPr sz="1700" b="0" i="0" u="none">
                          <a:solidFill>
                            <a:srgbClr val="1C2B3A"/>
                          </a:solidFill>
                          <a:latin typeface="Barlow"/>
                        </a:rPr>
                        <a:t>Datensatz</a:t>
                      </a:r>
                    </a:p>
                  </a:txBody>
                  <a:tcPr marL="54864" marR="54864" marT="18288" marB="18288">
                    <a:solidFill>
                      <a:srgbClr val="FFFDF8"/>
                    </a:solidFill>
                  </a:tcPr>
                </a:tc>
                <a:tc>
                  <a:txBody>
                    <a:bodyPr/>
                    <a:lstStyle/>
                    <a:p>
                      <a:r>
                        <a:rPr sz="1700" b="0" i="0" u="none">
                          <a:solidFill>
                            <a:srgbClr val="1C2B3A"/>
                          </a:solidFill>
                          <a:latin typeface="Barlow"/>
                        </a:rPr>
                        <a:t>eine Zeile = eine Fundsache</a:t>
                      </a:r>
                    </a:p>
                  </a:txBody>
                  <a:tcPr marL="54864" marR="54864" marT="18288" marB="18288">
                    <a:solidFill>
                      <a:srgbClr val="FFFDF8"/>
                    </a:solidFill>
                  </a:tcPr>
                </a:tc>
              </a:tr>
              <a:tr h="334645">
                <a:tc>
                  <a:txBody>
                    <a:bodyPr/>
                    <a:lstStyle/>
                    <a:p>
                      <a:r>
                        <a:rPr sz="1700" b="0" i="0" u="none">
                          <a:solidFill>
                            <a:srgbClr val="1C2B3A"/>
                          </a:solidFill>
                          <a:latin typeface="Barlow"/>
                        </a:rPr>
                        <a:t>Attribut</a:t>
                      </a:r>
                    </a:p>
                  </a:txBody>
                  <a:tcPr marL="54864" marR="54864" marT="18288" marB="18288">
                    <a:solidFill>
                      <a:srgbClr val="FFFDF8"/>
                    </a:solidFill>
                  </a:tcPr>
                </a:tc>
                <a:tc>
                  <a:txBody>
                    <a:bodyPr/>
                    <a:lstStyle/>
                    <a:p>
                      <a:r>
                        <a:rPr sz="1700" b="0" i="0" u="none">
                          <a:solidFill>
                            <a:srgbClr val="1C2B3A"/>
                          </a:solidFill>
                          <a:latin typeface="Barlow"/>
                        </a:rPr>
                        <a:t>eine Spalte, z. B. Kategorie</a:t>
                      </a:r>
                    </a:p>
                  </a:txBody>
                  <a:tcPr marL="54864" marR="54864" marT="18288" marB="18288">
                    <a:solidFill>
                      <a:srgbClr val="FFFDF8"/>
                    </a:solidFill>
                  </a:tcPr>
                </a:tc>
              </a:tr>
              <a:tr h="334645">
                <a:tc>
                  <a:txBody>
                    <a:bodyPr/>
                    <a:lstStyle/>
                    <a:p>
                      <a:r>
                        <a:rPr sz="1700" b="0" i="0" u="none">
                          <a:solidFill>
                            <a:srgbClr val="1C2B3A"/>
                          </a:solidFill>
                          <a:latin typeface="Barlow"/>
                        </a:rPr>
                        <a:t>Attributwert</a:t>
                      </a:r>
                    </a:p>
                  </a:txBody>
                  <a:tcPr marL="54864" marR="54864" marT="18288" marB="18288">
                    <a:solidFill>
                      <a:srgbClr val="FFFDF8"/>
                    </a:solidFill>
                  </a:tcPr>
                </a:tc>
                <a:tc>
                  <a:txBody>
                    <a:bodyPr/>
                    <a:lstStyle/>
                    <a:p>
                      <a:r>
                        <a:rPr sz="1700" b="0" i="0" u="none">
                          <a:solidFill>
                            <a:srgbClr val="1C2B3A"/>
                          </a:solidFill>
                          <a:latin typeface="Barlow"/>
                        </a:rPr>
                        <a:t>ein Eintrag, z. B. 'Kleidung'</a:t>
                      </a:r>
                    </a:p>
                  </a:txBody>
                  <a:tcPr marL="54864" marR="54864" marT="18288" marB="18288">
                    <a:solidFill>
                      <a:srgbClr val="FFFDF8"/>
                    </a:solidFill>
                  </a:tcPr>
                </a:tc>
              </a:tr>
              <a:tr h="334645">
                <a:tc>
                  <a:txBody>
                    <a:bodyPr/>
                    <a:lstStyle/>
                    <a:p>
                      <a:r>
                        <a:rPr sz="1700" b="0" i="0" u="none">
                          <a:solidFill>
                            <a:srgbClr val="1C2B3A"/>
                          </a:solidFill>
                          <a:latin typeface="Barlow"/>
                        </a:rPr>
                        <a:t>Primärschlüssel</a:t>
                      </a:r>
                    </a:p>
                  </a:txBody>
                  <a:tcPr marL="54864" marR="54864" marT="18288" marB="18288">
                    <a:solidFill>
                      <a:srgbClr val="FFFDF8"/>
                    </a:solidFill>
                  </a:tcPr>
                </a:tc>
                <a:tc>
                  <a:txBody>
                    <a:bodyPr/>
                    <a:lstStyle/>
                    <a:p>
                      <a:r>
                        <a:rPr sz="1700" b="0" i="0" u="none">
                          <a:solidFill>
                            <a:srgbClr val="1C2B3A"/>
                          </a:solidFill>
                          <a:latin typeface="Barlow"/>
                        </a:rPr>
                        <a:t>FundNr: eindeutig für </a:t>
                      </a:r>
                      <a:r>
                        <a:rPr sz="1700" b="1" i="0" u="none">
                          <a:solidFill>
                            <a:srgbClr val="1C2B3A"/>
                          </a:solidFill>
                          <a:latin typeface="Barlow"/>
                        </a:rPr>
                        <a:t>alle möglichen</a:t>
                      </a:r>
                      <a:r>
                        <a:rPr sz="1700" b="0" i="0" u="none">
                          <a:solidFill>
                            <a:srgbClr val="1C2B3A"/>
                          </a:solidFill>
                          <a:latin typeface="Barlow"/>
                        </a:rPr>
                        <a:t> Daten, nie NULL, minimal</a:t>
                      </a:r>
                    </a:p>
                  </a:txBody>
                  <a:tcPr marL="54864" marR="54864" marT="18288" marB="18288">
                    <a:solidFill>
                      <a:srgbClr val="FFFDF8"/>
                    </a:solidFill>
                  </a:tcPr>
                </a:tc>
              </a:tr>
            </a:tbl>
          </a:graphicData>
        </a:graphic>
      </p:graphicFrame>
      <p:sp>
        <p:nvSpPr>
          <p:cNvPr id="9" name="TextBox 8"/>
          <p:cNvSpPr txBox="1"/>
          <p:nvPr/>
        </p:nvSpPr>
        <p:spPr>
          <a:xfrm>
            <a:off x="548640" y="3882390"/>
            <a:ext cx="11094415" cy="457200"/>
          </a:xfrm>
          <a:prstGeom prst="rect">
            <a:avLst/>
          </a:prstGeom>
          <a:noFill/>
        </p:spPr>
        <p:txBody>
          <a:bodyPr wrap="square" anchor="t" lIns="36576" rIns="36576" tIns="36576" bIns="36576">
            <a:spAutoFit/>
          </a:bodyPr>
          <a:lstStyle/>
          <a:p>
            <a:pPr>
              <a:lnSpc>
                <a:spcPct val="105000"/>
              </a:lnSpc>
            </a:pPr>
            <a:r>
              <a:rPr sz="1620" b="0" i="0" u="none">
                <a:solidFill>
                  <a:srgbClr val="E8E1D3"/>
                </a:solidFill>
                <a:latin typeface="IBM Plex Mono"/>
              </a:rPr>
              <a:t>Fundsache(</a:t>
            </a:r>
            <a:r>
              <a:rPr sz="1620" b="0" i="0" u="sng">
                <a:solidFill>
                  <a:srgbClr val="E8E1D3"/>
                </a:solidFill>
                <a:latin typeface="IBM Plex Mono"/>
              </a:rPr>
              <a:t>FundNr</a:t>
            </a:r>
            <a:r>
              <a:rPr sz="1620" b="0" i="0" u="none">
                <a:solidFill>
                  <a:srgbClr val="E8E1D3"/>
                </a:solidFill>
                <a:latin typeface="IBM Plex Mono"/>
              </a:rPr>
              <a:t>, Bezeichnung, Kategorie, Farbe, Fundort, Stadtteil, Funddatum, Wert, Finder, AbgeholtAm)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Primärschlüssel: Ein Ausschnitt beweist nichts</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114109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a:t>
            </a:r>
            <a:r>
              <a:rPr sz="1900" b="1" i="0" u="none">
                <a:solidFill>
                  <a:srgbClr val="1C2B3A"/>
                </a:solidFill>
                <a:latin typeface="Barlow"/>
              </a:rPr>
              <a:t>eindeutig</a:t>
            </a:r>
            <a:r>
              <a:rPr sz="1900" b="0" i="0" u="none">
                <a:solidFill>
                  <a:srgbClr val="1C2B3A"/>
                </a:solidFill>
                <a:latin typeface="Barlow"/>
              </a:rPr>
              <a:t> – für alle möglichen Daten, auch für die Fundsachen von morgen</a:t>
            </a:r>
          </a:p>
          <a:p>
            <a:pPr>
              <a:lnSpc>
                <a:spcPct val="105000"/>
              </a:lnSpc>
              <a:spcAft>
                <a:spcPts val="600"/>
              </a:spcAft>
            </a:pPr>
            <a:r>
              <a:rPr sz="1900" b="0" i="0" u="none">
                <a:solidFill>
                  <a:srgbClr val="1C2B3A"/>
                </a:solidFill>
                <a:latin typeface="Barlow"/>
              </a:rPr>
              <a:t>2. </a:t>
            </a:r>
            <a:r>
              <a:rPr sz="1900" b="1" i="0" u="none">
                <a:solidFill>
                  <a:srgbClr val="1C2B3A"/>
                </a:solidFill>
                <a:latin typeface="Barlow"/>
              </a:rPr>
              <a:t>nie NULL</a:t>
            </a:r>
            <a:r>
              <a:rPr sz="1900" b="0" i="0" u="none">
                <a:solidFill>
                  <a:srgbClr val="1C2B3A"/>
                </a:solidFill>
                <a:latin typeface="Barlow"/>
              </a:rPr>
              <a:t> – jeder Datensatz hat einen Wert</a:t>
            </a:r>
          </a:p>
          <a:p>
            <a:pPr>
              <a:lnSpc>
                <a:spcPct val="105000"/>
              </a:lnSpc>
              <a:spcAft>
                <a:spcPts val="600"/>
              </a:spcAft>
            </a:pPr>
            <a:r>
              <a:rPr sz="1900" b="0" i="0" u="none">
                <a:solidFill>
                  <a:srgbClr val="1C2B3A"/>
                </a:solidFill>
                <a:latin typeface="Barlow"/>
              </a:rPr>
              <a:t>3. </a:t>
            </a:r>
            <a:r>
              <a:rPr sz="1900" b="1" i="0" u="none">
                <a:solidFill>
                  <a:srgbClr val="1C2B3A"/>
                </a:solidFill>
                <a:latin typeface="Barlow"/>
              </a:rPr>
              <a:t>minimal</a:t>
            </a:r>
            <a:r>
              <a:rPr sz="1900" b="0" i="0" u="none">
                <a:solidFill>
                  <a:srgbClr val="1C2B3A"/>
                </a:solidFill>
                <a:latin typeface="Barlow"/>
              </a:rPr>
              <a:t> – nichts Überflüssiges</a:t>
            </a:r>
          </a:p>
        </p:txBody>
      </p:sp>
      <p:sp>
        <p:nvSpPr>
          <p:cNvPr id="10" name="TextBox 9"/>
          <p:cNvSpPr txBox="1"/>
          <p:nvPr/>
        </p:nvSpPr>
        <p:spPr>
          <a:xfrm>
            <a:off x="822959" y="3134487"/>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Gegenfrage: </a:t>
            </a:r>
            <a:r>
              <a:rPr sz="1900" b="0" i="1" u="none">
                <a:solidFill>
                  <a:srgbClr val="1C2B3A"/>
                </a:solidFill>
                <a:latin typeface="Barlow"/>
              </a:rPr>
              <a:t>Kann morgen eine zweite Fundsache „Regenschirm“ abgegeben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Karteikarten-Filter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15 MIN · MATERIAL: 30 KARTEIKARTEN (KOPIERVORLAGE)</a:t>
            </a:r>
          </a:p>
        </p:txBody>
      </p:sp>
      <p:sp>
        <p:nvSpPr>
          <p:cNvPr id="10" name="TextBox 9"/>
          <p:cNvSpPr txBox="1"/>
          <p:nvPr/>
        </p:nvSpPr>
        <p:spPr>
          <a:xfrm>
            <a:off x="822959" y="2194560"/>
            <a:ext cx="10545775" cy="1840864"/>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Jede/r zieht eine Karteikarte – ihr seid die Datensätze der Tabelle Fundsache.</a:t>
            </a:r>
          </a:p>
          <a:p>
            <a:pPr>
              <a:lnSpc>
                <a:spcPct val="105000"/>
              </a:lnSpc>
              <a:spcAft>
                <a:spcPts val="600"/>
              </a:spcAft>
            </a:pPr>
            <a:r>
              <a:rPr sz="1900" b="0" i="0" u="none">
                <a:solidFill>
                  <a:srgbClr val="1C2B3A"/>
                </a:solidFill>
                <a:latin typeface="Barlow"/>
              </a:rPr>
              <a:t>2. WHERE = aufstehen, wer passt · SELECT = nur die genannten Spalten vorlesen.</a:t>
            </a:r>
          </a:p>
          <a:p>
            <a:pPr>
              <a:lnSpc>
                <a:spcPct val="105000"/>
              </a:lnSpc>
              <a:spcAft>
                <a:spcPts val="600"/>
              </a:spcAft>
            </a:pPr>
            <a:r>
              <a:rPr sz="1900" b="0" i="0" u="none">
                <a:solidFill>
                  <a:srgbClr val="1C2B3A"/>
                </a:solidFill>
                <a:latin typeface="Barlow"/>
              </a:rPr>
              <a:t>3. Vergleiche testen: </a:t>
            </a:r>
            <a:r>
              <a:rPr sz="1710" b="0" i="0" u="none">
                <a:solidFill>
                  <a:srgbClr val="1C2B3A"/>
                </a:solidFill>
                <a:latin typeface="IBM Plex Mono"/>
              </a:rPr>
              <a:t>&gt;</a:t>
            </a:r>
            <a:r>
              <a:rPr sz="1900" b="0" i="0" u="none">
                <a:solidFill>
                  <a:srgbClr val="1C2B3A"/>
                </a:solidFill>
                <a:latin typeface="Barlow"/>
              </a:rPr>
              <a:t> und </a:t>
            </a:r>
            <a:r>
              <a:rPr sz="1710" b="0" i="0" u="none">
                <a:solidFill>
                  <a:srgbClr val="1C2B3A"/>
                </a:solidFill>
                <a:latin typeface="IBM Plex Mono"/>
              </a:rPr>
              <a:t>&gt;=</a:t>
            </a:r>
            <a:r>
              <a:rPr sz="1900" b="0" i="0" u="none">
                <a:solidFill>
                  <a:srgbClr val="1C2B3A"/>
                </a:solidFill>
                <a:latin typeface="Barlow"/>
              </a:rPr>
              <a:t> – wer steht mit genau 20 € zusätzlich auf?</a:t>
            </a:r>
          </a:p>
          <a:p>
            <a:pPr>
              <a:lnSpc>
                <a:spcPct val="105000"/>
              </a:lnSpc>
              <a:spcAft>
                <a:spcPts val="600"/>
              </a:spcAft>
            </a:pPr>
            <a:r>
              <a:rPr sz="1900" b="0" i="0" u="none">
                <a:solidFill>
                  <a:srgbClr val="1C2B3A"/>
                </a:solidFill>
                <a:latin typeface="Barlow"/>
              </a:rPr>
              <a:t>4. AND und OR live: erst per Handzeichen vermuten, dann auflösen – danach mit Klammern.</a:t>
            </a:r>
          </a:p>
          <a:p>
            <a:pPr>
              <a:lnSpc>
                <a:spcPct val="105000"/>
              </a:lnSpc>
              <a:spcAft>
                <a:spcPts val="600"/>
              </a:spcAft>
            </a:pPr>
            <a:r>
              <a:rPr sz="1900" b="0" i="0" u="none">
                <a:solidFill>
                  <a:srgbClr val="1C2B3A"/>
                </a:solidFill>
                <a:latin typeface="Barlow"/>
              </a:rPr>
              <a:t>5. ORDER BY: Die Stehenden bilden eine Reihe – auch zweistufig (Stadtteil, dann Wert).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Unplugged: die Abfragen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SQL-Hintergrund"/>
          <p:cNvSpPr/>
          <p:nvPr/>
        </p:nvSpPr>
        <p:spPr>
          <a:xfrm>
            <a:off x="548640" y="1691640"/>
            <a:ext cx="11094415" cy="1272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db=keine]"/>
          <p:cNvSpPr txBox="1"/>
          <p:nvPr/>
        </p:nvSpPr>
        <p:spPr>
          <a:xfrm>
            <a:off x="731520" y="1828800"/>
            <a:ext cx="10728655" cy="998219"/>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Bezeichnung</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Kategorie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'Schirm'</a:t>
            </a:r>
            <a:r>
              <a:rPr sz="2000" i="0">
                <a:solidFill>
                  <a:srgbClr val="D8E3D0"/>
                </a:solidFill>
                <a:latin typeface="IBM Plex Mono"/>
              </a:rPr>
              <a:t>;</a:t>
            </a:r>
          </a:p>
        </p:txBody>
      </p:sp>
      <p:sp>
        <p:nvSpPr>
          <p:cNvPr id="10" name="SQL-Hintergrund"/>
          <p:cNvSpPr/>
          <p:nvPr/>
        </p:nvSpPr>
        <p:spPr>
          <a:xfrm>
            <a:off x="548640" y="3073908"/>
            <a:ext cx="11094415"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QL [db=keine]"/>
          <p:cNvSpPr txBox="1"/>
          <p:nvPr/>
        </p:nvSpPr>
        <p:spPr>
          <a:xfrm>
            <a:off x="731520" y="3211068"/>
            <a:ext cx="10728655" cy="1315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Bezeichnung</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D8E3D0"/>
                </a:solidFill>
                <a:latin typeface="IBM Plex Mono"/>
              </a:rPr>
              <a:t>&gt;</a:t>
            </a:r>
            <a:r>
              <a:rPr sz="2000" i="0">
                <a:solidFill>
                  <a:srgbClr val="D8E3D0"/>
                </a:solidFill>
                <a:latin typeface="IBM Plex Mono"/>
              </a:rPr>
              <a:t> </a:t>
            </a:r>
            <a:r>
              <a:rPr sz="2000" i="0">
                <a:solidFill>
                  <a:srgbClr val="8CC4FF"/>
                </a:solidFill>
                <a:latin typeface="IBM Plex Mono"/>
              </a:rPr>
              <a:t>20</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Stadtteil</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'Altstadt'</a:t>
            </a:r>
            <a:r>
              <a:rPr sz="2000" i="0">
                <a:solidFill>
                  <a:srgbClr val="D8E3D0"/>
                </a:solidFill>
                <a:latin typeface="IBM Plex Mono"/>
              </a:rPr>
              <a:t>;</a:t>
            </a:r>
          </a:p>
        </p:txBody>
      </p:sp>
      <p:sp>
        <p:nvSpPr>
          <p:cNvPr id="12" name="SQL-Hintergrund"/>
          <p:cNvSpPr/>
          <p:nvPr/>
        </p:nvSpPr>
        <p:spPr>
          <a:xfrm>
            <a:off x="548640" y="4773676"/>
            <a:ext cx="11094415" cy="1907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db=keine]"/>
          <p:cNvSpPr txBox="1"/>
          <p:nvPr/>
        </p:nvSpPr>
        <p:spPr>
          <a:xfrm>
            <a:off x="731520" y="4910836"/>
            <a:ext cx="10728655" cy="16332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Bezeichnung</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Kategorie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'Tasche'</a:t>
            </a:r>
          </a:p>
          <a:p>
            <a:pPr>
              <a:lnSpc>
                <a:spcPct val="100000"/>
              </a:lnSpc>
            </a:pPr>
            <a:r>
              <a:rPr sz="2000" i="0">
                <a:solidFill>
                  <a:srgbClr val="D8E3D0"/>
                </a:solidFill>
                <a:latin typeface="IBM Plex Mono"/>
              </a:rPr>
              <a:t>   </a:t>
            </a:r>
            <a:r>
              <a:rPr sz="2000" i="0">
                <a:solidFill>
                  <a:srgbClr val="F2A65A"/>
                </a:solidFill>
                <a:latin typeface="IBM Plex Mono"/>
              </a:rPr>
              <a:t>OR</a:t>
            </a:r>
            <a:r>
              <a:rPr sz="2000" i="0">
                <a:solidFill>
                  <a:srgbClr val="D8E3D0"/>
                </a:solidFill>
                <a:latin typeface="IBM Plex Mono"/>
              </a:rPr>
              <a:t> </a:t>
            </a:r>
            <a:r>
              <a:rPr sz="2000" i="0">
                <a:solidFill>
                  <a:srgbClr val="D8E3D0"/>
                </a:solidFill>
                <a:latin typeface="IBM Plex Mono"/>
              </a:rPr>
              <a:t>Kategorie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'Rucksack'</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D8E3D0"/>
                </a:solidFill>
                <a:latin typeface="IBM Plex Mono"/>
              </a:rPr>
              <a:t>&gt;</a:t>
            </a:r>
            <a:r>
              <a:rPr sz="2000" i="0">
                <a:solidFill>
                  <a:srgbClr val="D8E3D0"/>
                </a:solidFill>
                <a:latin typeface="IBM Plex Mono"/>
              </a:rPr>
              <a:t> </a:t>
            </a:r>
            <a:r>
              <a:rPr sz="2000" i="0">
                <a:solidFill>
                  <a:srgbClr val="8CC4FF"/>
                </a:solidFill>
                <a:latin typeface="IBM Plex Mono"/>
              </a:rPr>
              <a:t>50</a:t>
            </a:r>
            <a:r>
              <a:rPr sz="2000" i="0">
                <a:solidFill>
                  <a:srgbClr val="D8E3D0"/>
                </a:solidFill>
                <a:latin typeface="IBM Plex Mono"/>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Schritt für Schritt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SQL-Hintergrund"/>
          <p:cNvSpPr/>
          <p:nvPr/>
        </p:nvSpPr>
        <p:spPr>
          <a:xfrm>
            <a:off x="548640" y="1691640"/>
            <a:ext cx="6101928" cy="2225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950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Stadtteil</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Wert</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Kategorie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'Kleidung'</a:t>
            </a:r>
          </a:p>
          <a:p>
            <a:pPr>
              <a:lnSpc>
                <a:spcPct val="100000"/>
              </a:lnSpc>
            </a:pPr>
            <a:r>
              <a:rPr sz="2000" i="0">
                <a:solidFill>
                  <a:srgbClr val="D8E3D0"/>
                </a:solidFill>
                <a:latin typeface="IBM Plex Mono"/>
              </a:rPr>
              <a:t>    </a:t>
            </a:r>
            <a:r>
              <a:rPr sz="2000" i="0">
                <a:solidFill>
                  <a:srgbClr val="F2A65A"/>
                </a:solidFill>
                <a:latin typeface="IBM Plex Mono"/>
              </a:rPr>
              <a:t>OR</a:t>
            </a:r>
            <a:r>
              <a:rPr sz="2000" i="0">
                <a:solidFill>
                  <a:srgbClr val="D8E3D0"/>
                </a:solidFill>
                <a:latin typeface="IBM Plex Mono"/>
              </a:rPr>
              <a:t> </a:t>
            </a:r>
            <a:r>
              <a:rPr sz="2000" i="0">
                <a:solidFill>
                  <a:srgbClr val="D8E3D0"/>
                </a:solidFill>
                <a:latin typeface="IBM Plex Mono"/>
              </a:rPr>
              <a:t>Kategorie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'Dokumente'</a:t>
            </a:r>
            <a:r>
              <a:rPr sz="2000" i="0">
                <a:solidFill>
                  <a:srgbClr val="D8E3D0"/>
                </a:solidFill>
                <a:latin typeface="IBM Plex Mono"/>
              </a:rPr>
              <a:t>)</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D8E3D0"/>
                </a:solidFill>
                <a:latin typeface="IBM Plex Mono"/>
              </a:rPr>
              <a:t>&gt;</a:t>
            </a:r>
            <a:r>
              <a:rPr sz="2000" i="0">
                <a:solidFill>
                  <a:srgbClr val="D8E3D0"/>
                </a:solidFill>
                <a:latin typeface="IBM Plex Mono"/>
              </a:rPr>
              <a:t> </a:t>
            </a:r>
            <a:r>
              <a:rPr sz="2000" i="0">
                <a:solidFill>
                  <a:srgbClr val="8CC4FF"/>
                </a:solidFill>
                <a:latin typeface="IBM Plex Mono"/>
              </a:rPr>
              <a:t>30</a:t>
            </a:r>
          </a:p>
          <a:p>
            <a:pPr>
              <a:lnSpc>
                <a:spcPct val="100000"/>
              </a:lnSpc>
            </a:pPr>
            <a:r>
              <a:rPr sz="2000" i="0">
                <a:solidFill>
                  <a:srgbClr val="F2A65A"/>
                </a:solidFill>
                <a:latin typeface="IBM Plex Mono"/>
              </a:rPr>
              <a:t>ORDER</a:t>
            </a:r>
            <a:r>
              <a:rPr sz="2000" i="0">
                <a:solidFill>
                  <a:srgbClr val="D8E3D0"/>
                </a:solidFill>
                <a:latin typeface="IBM Plex Mono"/>
              </a:rPr>
              <a:t> </a:t>
            </a:r>
            <a:r>
              <a:rPr sz="2000" i="0">
                <a:solidFill>
                  <a:srgbClr val="F2A65A"/>
                </a:solidFill>
                <a:latin typeface="IBM Plex Mono"/>
              </a:rPr>
              <a:t>BY</a:t>
            </a:r>
            <a:r>
              <a:rPr sz="2000" i="0">
                <a:solidFill>
                  <a:srgbClr val="D8E3D0"/>
                </a:solidFill>
                <a:latin typeface="IBM Plex Mono"/>
              </a:rPr>
              <a:t> </a:t>
            </a:r>
            <a:r>
              <a:rPr sz="2000" i="0">
                <a:solidFill>
                  <a:srgbClr val="D8E3D0"/>
                </a:solidFill>
                <a:latin typeface="IBM Plex Mono"/>
              </a:rPr>
              <a:t>Stadtteil</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F2A65A"/>
                </a:solidFill>
                <a:latin typeface="IBM Plex Mono"/>
              </a:rPr>
              <a:t>DESC</a:t>
            </a:r>
            <a:r>
              <a:rPr sz="2000" i="0">
                <a:solidFill>
                  <a:srgbClr val="D8E3D0"/>
                </a:solidFill>
                <a:latin typeface="IBM Plex Mono"/>
              </a:rPr>
              <a:t>;</a:t>
            </a:r>
          </a:p>
        </p:txBody>
      </p:sp>
      <p:sp>
        <p:nvSpPr>
          <p:cNvPr id="10" name="TextBox 9"/>
          <p:cNvSpPr txBox="1"/>
          <p:nvPr/>
        </p:nvSpPr>
        <p:spPr>
          <a:xfrm>
            <a:off x="548640" y="4008119"/>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4328160"/>
          <a:ext cx="3907231" cy="1791335"/>
        </p:xfrm>
        <a:graphic>
          <a:graphicData uri="http://schemas.openxmlformats.org/drawingml/2006/table">
            <a:tbl>
              <a:tblPr firstRow="1">
                <a:tableStyleId>{5C22544A-7EE6-4342-B048-85BDC9FD1C3A}</a:tableStyleId>
              </a:tblPr>
              <a:tblGrid>
                <a:gridCol w="1385773"/>
                <a:gridCol w="1789938"/>
                <a:gridCol w="731520"/>
              </a:tblGrid>
              <a:tr h="255905">
                <a:tc>
                  <a:txBody>
                    <a:bodyPr/>
                    <a:lstStyle/>
                    <a:p>
                      <a:r>
                        <a:rPr sz="1196" b="1" i="0" u="none">
                          <a:solidFill>
                            <a:srgbClr val="1C2B3A"/>
                          </a:solidFill>
                          <a:latin typeface="IBM Plex Mono"/>
                        </a:rPr>
                        <a:t>Bezeichnung</a:t>
                      </a:r>
                    </a:p>
                  </a:txBody>
                  <a:tcPr marL="54864" marR="54864" marT="18288" marB="18288">
                    <a:solidFill>
                      <a:srgbClr val="EBE2D2"/>
                    </a:solidFill>
                  </a:tcPr>
                </a:tc>
                <a:tc>
                  <a:txBody>
                    <a:bodyPr/>
                    <a:lstStyle/>
                    <a:p>
                      <a:r>
                        <a:rPr sz="1196" b="1" i="0" u="none">
                          <a:solidFill>
                            <a:srgbClr val="1C2B3A"/>
                          </a:solidFill>
                          <a:latin typeface="IBM Plex Mono"/>
                        </a:rPr>
                        <a:t>Stadtteil</a:t>
                      </a:r>
                    </a:p>
                  </a:txBody>
                  <a:tcPr marL="54864" marR="54864" marT="18288" marB="18288">
                    <a:solidFill>
                      <a:srgbClr val="EBE2D2"/>
                    </a:solidFill>
                  </a:tcPr>
                </a:tc>
                <a:tc>
                  <a:txBody>
                    <a:bodyPr/>
                    <a:lstStyle/>
                    <a:p>
                      <a:r>
                        <a:rPr sz="1196" b="1" i="0" u="none">
                          <a:solidFill>
                            <a:srgbClr val="1C2B3A"/>
                          </a:solidFill>
                          <a:latin typeface="IBM Plex Mono"/>
                        </a:rPr>
                        <a:t>Wert</a:t>
                      </a:r>
                    </a:p>
                  </a:txBody>
                  <a:tcPr marL="54864" marR="54864" marT="18288" marB="18288">
                    <a:solidFill>
                      <a:srgbClr val="EBE2D2"/>
                    </a:solidFill>
                  </a:tcPr>
                </a:tc>
              </a:tr>
              <a:tr h="255905">
                <a:tc>
                  <a:txBody>
                    <a:bodyPr/>
                    <a:lstStyle/>
                    <a:p>
                      <a:r>
                        <a:rPr sz="1300" b="0" i="0" u="none">
                          <a:solidFill>
                            <a:srgbClr val="1C2B3A"/>
                          </a:solidFill>
                          <a:latin typeface="Barlow"/>
                        </a:rPr>
                        <a:t>Handschuh</a:t>
                      </a:r>
                    </a:p>
                  </a:txBody>
                  <a:tcPr marL="54864" marR="54864" marT="18288" marB="18288">
                    <a:solidFill>
                      <a:srgbClr val="FFFDF8"/>
                    </a:solidFill>
                  </a:tcPr>
                </a:tc>
                <a:tc>
                  <a:txBody>
                    <a:bodyPr/>
                    <a:lstStyle/>
                    <a:p>
                      <a:r>
                        <a:rPr sz="1300" b="0" i="0" u="none">
                          <a:solidFill>
                            <a:srgbClr val="1C2B3A"/>
                          </a:solidFill>
                          <a:latin typeface="Barlow"/>
                        </a:rPr>
                        <a:t>Altstadt</a:t>
                      </a:r>
                    </a:p>
                  </a:txBody>
                  <a:tcPr marL="54864" marR="54864" marT="18288" marB="18288">
                    <a:solidFill>
                      <a:srgbClr val="FFFDF8"/>
                    </a:solidFill>
                  </a:tcPr>
                </a:tc>
                <a:tc>
                  <a:txBody>
                    <a:bodyPr/>
                    <a:lstStyle/>
                    <a:p>
                      <a:pPr algn="r"/>
                      <a:r>
                        <a:rPr sz="1300" b="0" i="0" u="none">
                          <a:solidFill>
                            <a:srgbClr val="1C2B3A"/>
                          </a:solidFill>
                          <a:latin typeface="Barlow"/>
                        </a:rPr>
                        <a:t>42</a:t>
                      </a:r>
                    </a:p>
                  </a:txBody>
                  <a:tcPr marL="54864" marR="54864" marT="18288" marB="18288">
                    <a:solidFill>
                      <a:srgbClr val="FFFDF8"/>
                    </a:solidFill>
                  </a:tcPr>
                </a:tc>
              </a:tr>
              <a:tr h="255905">
                <a:tc>
                  <a:txBody>
                    <a:bodyPr/>
                    <a:lstStyle/>
                    <a:p>
                      <a:r>
                        <a:rPr sz="1300" b="0" i="0" u="none">
                          <a:solidFill>
                            <a:srgbClr val="1C2B3A"/>
                          </a:solidFill>
                          <a:latin typeface="Barlow"/>
                        </a:rPr>
                        <a:t>Schal</a:t>
                      </a:r>
                    </a:p>
                  </a:txBody>
                  <a:tcPr marL="54864" marR="54864" marT="18288" marB="18288">
                    <a:solidFill>
                      <a:srgbClr val="FFFDF8"/>
                    </a:solidFill>
                  </a:tcPr>
                </a:tc>
                <a:tc>
                  <a:txBody>
                    <a:bodyPr/>
                    <a:lstStyle/>
                    <a:p>
                      <a:r>
                        <a:rPr sz="1300" b="0" i="0" u="none">
                          <a:solidFill>
                            <a:srgbClr val="1C2B3A"/>
                          </a:solidFill>
                          <a:latin typeface="Barlow"/>
                        </a:rPr>
                        <a:t>Altstadt</a:t>
                      </a:r>
                    </a:p>
                  </a:txBody>
                  <a:tcPr marL="54864" marR="54864" marT="18288" marB="18288">
                    <a:solidFill>
                      <a:srgbClr val="FFFDF8"/>
                    </a:solidFill>
                  </a:tcPr>
                </a:tc>
                <a:tc>
                  <a:txBody>
                    <a:bodyPr/>
                    <a:lstStyle/>
                    <a:p>
                      <a:pPr algn="r"/>
                      <a:r>
                        <a:rPr sz="1300" b="0" i="0" u="none">
                          <a:solidFill>
                            <a:srgbClr val="1C2B3A"/>
                          </a:solidFill>
                          <a:latin typeface="Barlow"/>
                        </a:rPr>
                        <a:t>36</a:t>
                      </a:r>
                    </a:p>
                  </a:txBody>
                  <a:tcPr marL="54864" marR="54864" marT="18288" marB="18288">
                    <a:solidFill>
                      <a:srgbClr val="FFFDF8"/>
                    </a:solidFill>
                  </a:tcPr>
                </a:tc>
              </a:tr>
              <a:tr h="255905">
                <a:tc>
                  <a:txBody>
                    <a:bodyPr/>
                    <a:lstStyle/>
                    <a:p>
                      <a:r>
                        <a:rPr sz="1300" b="0" i="0" u="none">
                          <a:solidFill>
                            <a:srgbClr val="1C2B3A"/>
                          </a:solidFill>
                          <a:latin typeface="Barlow"/>
                        </a:rPr>
                        <a:t>Regenjacke</a:t>
                      </a:r>
                    </a:p>
                  </a:txBody>
                  <a:tcPr marL="54864" marR="54864" marT="18288" marB="18288">
                    <a:solidFill>
                      <a:srgbClr val="FFFDF8"/>
                    </a:solidFill>
                  </a:tcPr>
                </a:tc>
                <a:tc>
                  <a:txBody>
                    <a:bodyPr/>
                    <a:lstStyle/>
                    <a:p>
                      <a:r>
                        <a:rPr sz="1300" b="0" i="0" u="none">
                          <a:solidFill>
                            <a:srgbClr val="1C2B3A"/>
                          </a:solidFill>
                          <a:latin typeface="Barlow"/>
                        </a:rPr>
                        <a:t>Bahnhofsviertel</a:t>
                      </a:r>
                    </a:p>
                  </a:txBody>
                  <a:tcPr marL="54864" marR="54864" marT="18288" marB="18288">
                    <a:solidFill>
                      <a:srgbClr val="FFFDF8"/>
                    </a:solidFill>
                  </a:tcPr>
                </a:tc>
                <a:tc>
                  <a:txBody>
                    <a:bodyPr/>
                    <a:lstStyle/>
                    <a:p>
                      <a:pPr algn="r"/>
                      <a:r>
                        <a:rPr sz="1300" b="0" i="0" u="none">
                          <a:solidFill>
                            <a:srgbClr val="1C2B3A"/>
                          </a:solidFill>
                          <a:latin typeface="Barlow"/>
                        </a:rPr>
                        <a:t>40</a:t>
                      </a:r>
                    </a:p>
                  </a:txBody>
                  <a:tcPr marL="54864" marR="54864" marT="18288" marB="18288">
                    <a:solidFill>
                      <a:srgbClr val="FFFDF8"/>
                    </a:solidFill>
                  </a:tcPr>
                </a:tc>
              </a:tr>
              <a:tr h="255905">
                <a:tc>
                  <a:txBody>
                    <a:bodyPr/>
                    <a:lstStyle/>
                    <a:p>
                      <a:r>
                        <a:rPr sz="1300" b="0" i="0" u="none">
                          <a:solidFill>
                            <a:srgbClr val="1C2B3A"/>
                          </a:solidFill>
                          <a:latin typeface="Barlow"/>
                        </a:rPr>
                        <a:t>Schal</a:t>
                      </a:r>
                    </a:p>
                  </a:txBody>
                  <a:tcPr marL="54864" marR="54864" marT="18288" marB="18288">
                    <a:solidFill>
                      <a:srgbClr val="FFFDF8"/>
                    </a:solidFill>
                  </a:tcPr>
                </a:tc>
                <a:tc>
                  <a:txBody>
                    <a:bodyPr/>
                    <a:lstStyle/>
                    <a:p>
                      <a:r>
                        <a:rPr sz="1300" b="0" i="0" u="none">
                          <a:solidFill>
                            <a:srgbClr val="1C2B3A"/>
                          </a:solidFill>
                          <a:latin typeface="Barlow"/>
                        </a:rPr>
                        <a:t>Deichkamp</a:t>
                      </a:r>
                    </a:p>
                  </a:txBody>
                  <a:tcPr marL="54864" marR="54864" marT="18288" marB="18288">
                    <a:solidFill>
                      <a:srgbClr val="FFFDF8"/>
                    </a:solidFill>
                  </a:tcPr>
                </a:tc>
                <a:tc>
                  <a:txBody>
                    <a:bodyPr/>
                    <a:lstStyle/>
                    <a:p>
                      <a:pPr algn="r"/>
                      <a:r>
                        <a:rPr sz="1300" b="0" i="0" u="none">
                          <a:solidFill>
                            <a:srgbClr val="1C2B3A"/>
                          </a:solidFill>
                          <a:latin typeface="Barlow"/>
                        </a:rPr>
                        <a:t>33</a:t>
                      </a:r>
                    </a:p>
                  </a:txBody>
                  <a:tcPr marL="54864" marR="54864" marT="18288" marB="18288">
                    <a:solidFill>
                      <a:srgbClr val="FFFDF8"/>
                    </a:solidFill>
                  </a:tcPr>
                </a:tc>
              </a:tr>
              <a:tr h="255905">
                <a:tc>
                  <a:txBody>
                    <a:bodyPr/>
                    <a:lstStyle/>
                    <a:p>
                      <a:r>
                        <a:rPr sz="1300" b="0" i="0" u="none">
                          <a:solidFill>
                            <a:srgbClr val="1C2B3A"/>
                          </a:solidFill>
                          <a:latin typeface="Barlow"/>
                        </a:rPr>
                        <a:t>Regenjacke</a:t>
                      </a:r>
                    </a:p>
                  </a:txBody>
                  <a:tcPr marL="54864" marR="54864" marT="18288" marB="18288">
                    <a:solidFill>
                      <a:srgbClr val="FFFDF8"/>
                    </a:solidFill>
                  </a:tcPr>
                </a:tc>
                <a:tc>
                  <a:txBody>
                    <a:bodyPr/>
                    <a:lstStyle/>
                    <a:p>
                      <a:r>
                        <a:rPr sz="1300" b="0" i="0" u="none">
                          <a:solidFill>
                            <a:srgbClr val="1C2B3A"/>
                          </a:solidFill>
                          <a:latin typeface="Barlow"/>
                        </a:rPr>
                        <a:t>Hafenviertel</a:t>
                      </a:r>
                    </a:p>
                  </a:txBody>
                  <a:tcPr marL="54864" marR="54864" marT="18288" marB="18288">
                    <a:solidFill>
                      <a:srgbClr val="FFFDF8"/>
                    </a:solidFill>
                  </a:tcPr>
                </a:tc>
                <a:tc>
                  <a:txBody>
                    <a:bodyPr/>
                    <a:lstStyle/>
                    <a:p>
                      <a:pPr algn="r"/>
                      <a:r>
                        <a:rPr sz="1300" b="0" i="0" u="none">
                          <a:solidFill>
                            <a:srgbClr val="1C2B3A"/>
                          </a:solidFill>
                          <a:latin typeface="Barlow"/>
                        </a:rPr>
                        <a:t>39</a:t>
                      </a:r>
                    </a:p>
                  </a:txBody>
                  <a:tcPr marL="54864" marR="54864" marT="18288" marB="18288">
                    <a:solidFill>
                      <a:srgbClr val="FFFDF8"/>
                    </a:solidFill>
                  </a:tcPr>
                </a:tc>
              </a:tr>
              <a:tr h="255905">
                <a:tc>
                  <a:txBody>
                    <a:bodyPr/>
                    <a:lstStyle/>
                    <a:p>
                      <a:r>
                        <a:rPr sz="1300" b="0" i="0" u="none">
                          <a:solidFill>
                            <a:srgbClr val="1C2B3A"/>
                          </a:solidFill>
                          <a:latin typeface="Barlow"/>
                        </a:rPr>
                        <a:t>…</a:t>
                      </a:r>
                    </a:p>
                  </a:txBody>
                  <a:tcPr marL="54864" marR="54864" marT="18288" marB="18288">
                    <a:solidFill>
                      <a:srgbClr val="FFFDF8"/>
                    </a:solidFill>
                  </a:tcPr>
                </a:tc>
                <a:tc>
                  <a:txBody>
                    <a:bodyPr/>
                    <a:lstStyle/>
                    <a:p>
                      <a:r>
                        <a:rPr sz="1300" b="0" i="0" u="none">
                          <a:solidFill>
                            <a:srgbClr val="1C2B3A"/>
                          </a:solidFill>
                          <a:latin typeface="Barlow"/>
                        </a:rPr>
                        <a:t>…</a:t>
                      </a:r>
                    </a:p>
                  </a:txBody>
                  <a:tcPr marL="54864" marR="54864" marT="18288" marB="18288">
                    <a:solidFill>
                      <a:srgbClr val="FFFDF8"/>
                    </a:solidFill>
                  </a:tcPr>
                </a:tc>
                <a:tc>
                  <a:txBody>
                    <a:bodyPr/>
                    <a:lstStyle/>
                    <a:p>
                      <a:r>
                        <a:rPr sz="1300" b="0" i="0" u="none">
                          <a:solidFill>
                            <a:srgbClr val="1C2B3A"/>
                          </a:solidFill>
                          <a:latin typeface="Barlow"/>
                        </a:rPr>
                        <a:t>…</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FROM</a:t>
            </a:r>
            <a:r>
              <a:rPr sz="1600" b="0" i="0" u="none">
                <a:solidFill>
                  <a:srgbClr val="1C2B3A"/>
                </a:solidFill>
                <a:latin typeface="Barlow"/>
              </a:rPr>
              <a:t> – alle 80 Zeilen der Tabelle Fundsache</a:t>
            </a:r>
          </a:p>
        </p:txBody>
      </p:sp>
      <p:sp>
        <p:nvSpPr>
          <p:cNvPr id="16" name="Rounded Rectangle 15"/>
          <p:cNvSpPr/>
          <p:nvPr/>
        </p:nvSpPr>
        <p:spPr>
          <a:xfrm>
            <a:off x="6924888" y="258572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WHERE</a:t>
            </a:r>
            <a:r>
              <a:rPr sz="1600" b="0" i="0" u="none">
                <a:solidFill>
                  <a:srgbClr val="1C2B3A"/>
                </a:solidFill>
                <a:latin typeface="Barlow"/>
              </a:rPr>
              <a:t> – Kleidung oder Dokumente (Klammern!) und Wert über 30 €</a:t>
            </a:r>
          </a:p>
        </p:txBody>
      </p:sp>
      <p:sp>
        <p:nvSpPr>
          <p:cNvPr id="20" name="Rounded Rectangle 19"/>
          <p:cNvSpPr/>
          <p:nvPr/>
        </p:nvSpPr>
        <p:spPr>
          <a:xfrm>
            <a:off x="6924888" y="347980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7980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5529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55295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ORDER BY</a:t>
            </a:r>
            <a:r>
              <a:rPr sz="1600" b="0" i="0" u="none">
                <a:solidFill>
                  <a:srgbClr val="1C2B3A"/>
                </a:solidFill>
                <a:latin typeface="Barlow"/>
              </a:rPr>
              <a:t> – erst nach Stadtteil, bei Gleichstand teuerste zuerst</a:t>
            </a:r>
          </a:p>
        </p:txBody>
      </p:sp>
      <p:sp>
        <p:nvSpPr>
          <p:cNvPr id="24" name="Rounded Rectangle 23"/>
          <p:cNvSpPr/>
          <p:nvPr/>
        </p:nvSpPr>
        <p:spPr>
          <a:xfrm>
            <a:off x="6924888" y="437388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7388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4470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44703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SELECT</a:t>
            </a:r>
            <a:r>
              <a:rPr sz="1600" b="0" i="0" u="none">
                <a:solidFill>
                  <a:srgbClr val="1C2B3A"/>
                </a:solidFill>
                <a:latin typeface="Barlow"/>
              </a:rPr>
              <a:t> – nur Bezeichnung, Stadtteil und Wert zeigen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1.1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„Der erste Auftrag“</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A1-E1-01 … 08 (</a:t>
            </a:r>
            <a:r>
              <a:rPr sz="1900" b="0" i="0" u="none">
                <a:solidFill>
                  <a:srgbClr val="D4B062"/>
                </a:solidFill>
                <a:latin typeface="Segoe UI Symbol"/>
              </a:rPr>
              <a:t>★</a:t>
            </a:r>
            <a:r>
              <a:rPr sz="1900" b="0" i="0" u="none">
                <a:solidFill>
                  <a:srgbClr val="1C2B3A"/>
                </a:solidFill>
                <a:latin typeface="Barlow"/>
              </a:rPr>
              <a:t> → </a:t>
            </a:r>
            <a:r>
              <a:rPr sz="1900" b="0" i="0" u="none">
                <a:solidFill>
                  <a:srgbClr val="D4B062"/>
                </a:solidFill>
                <a:latin typeface="Segoe UI Symbol"/>
              </a:rPr>
              <a:t>★★</a:t>
            </a:r>
            <a:r>
              <a:rPr sz="1900" b="0" i="0" u="none">
                <a:solidFill>
                  <a:srgbClr val="1C2B3A"/>
                </a:solidFill>
                <a:latin typeface="Barlow"/>
              </a:rPr>
              <a:t> → </a:t>
            </a:r>
            <a:r>
              <a:rPr sz="1900" b="0" i="0" u="none">
                <a:solidFill>
                  <a:srgbClr val="D4B062"/>
                </a:solidFill>
                <a:latin typeface="Segoe UI Symbol"/>
              </a:rPr>
              <a:t>★★★</a:t>
            </a:r>
            <a:r>
              <a:rPr sz="1900" b="0" i="0" u="none">
                <a:solidFill>
                  <a:srgbClr val="1C2B3A"/>
                </a:solidFill>
                <a:latin typeface="Barlow"/>
              </a:rPr>
              <a:t>)</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Zeitlupe (WHERE-Schritt)</a:t>
            </a:r>
          </a:p>
        </p:txBody>
      </p:sp>
      <p:sp>
        <p:nvSpPr>
          <p:cNvPr id="11" name="TextBox 10"/>
          <p:cNvSpPr txBox="1"/>
          <p:nvPr/>
        </p:nvSpPr>
        <p:spPr>
          <a:xfrm>
            <a:off x="548640" y="4800600"/>
            <a:ext cx="11094415" cy="1030605"/>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Portal → Datendetektei → Stadtplan → Fundbüro → Ermittlung 1.1</a:t>
            </a:r>
          </a:p>
          <a:p>
            <a:pPr>
              <a:lnSpc>
                <a:spcPct val="105000"/>
              </a:lnSpc>
              <a:spcAft>
                <a:spcPts val="600"/>
              </a:spcAft>
            </a:pPr>
            <a:r>
              <a:rPr sz="1700" b="0" i="0" u="none">
                <a:solidFill>
                  <a:srgbClr val="E8E1D3"/>
                </a:solidFill>
                <a:latin typeface="Barlow"/>
              </a:rPr>
              <a:t>▸ Erst „Ausführen“, dann „Prüfen“ – bei Fehlern die Zeitlupe öffnen.</a:t>
            </a:r>
          </a:p>
          <a:p>
            <a:pPr>
              <a:lnSpc>
                <a:spcPct val="105000"/>
              </a:lnSpc>
              <a:spcAft>
                <a:spcPts val="600"/>
              </a:spcAft>
            </a:pPr>
            <a:r>
              <a:rPr sz="1700" b="0" i="0" u="none">
                <a:solidFill>
                  <a:srgbClr val="E8E1D3"/>
                </a:solidFill>
                <a:latin typeface="Barlow"/>
              </a:rPr>
              <a:t>▸ Parallel: AB 1.1, Aufträge 1–4 auf Papier.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932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SELECT wählt Spalten – WHERE wählt Zeilen – ORDER BY ordnet (ASC ist Standard).</a:t>
            </a:r>
          </a:p>
          <a:p>
            <a:pPr>
              <a:lnSpc>
                <a:spcPct val="105000"/>
              </a:lnSpc>
              <a:spcAft>
                <a:spcPts val="600"/>
              </a:spcAft>
            </a:pPr>
            <a:r>
              <a:rPr sz="2000" b="0" i="0" u="none">
                <a:solidFill>
                  <a:srgbClr val="1C2B3A"/>
                </a:solidFill>
                <a:latin typeface="Barlow"/>
              </a:rPr>
              <a:t>▸ AND bindet stärker als OR – Klammern setzen!</a:t>
            </a:r>
          </a:p>
          <a:p>
            <a:pPr>
              <a:lnSpc>
                <a:spcPct val="105000"/>
              </a:lnSpc>
              <a:spcAft>
                <a:spcPts val="600"/>
              </a:spcAft>
            </a:pPr>
            <a:r>
              <a:rPr sz="2000" b="0" i="0" u="none">
                <a:solidFill>
                  <a:srgbClr val="1C2B3A"/>
                </a:solidFill>
                <a:latin typeface="Barlow"/>
              </a:rPr>
              <a:t>▸ Text steht in </a:t>
            </a:r>
            <a:r>
              <a:rPr sz="1800" b="0" i="0" u="none">
                <a:solidFill>
                  <a:srgbClr val="1C2B3A"/>
                </a:solidFill>
                <a:latin typeface="IBM Plex Mono"/>
              </a:rPr>
              <a:t>'…'</a:t>
            </a:r>
            <a:r>
              <a:rPr sz="2000" b="0" i="0" u="none">
                <a:solidFill>
                  <a:srgbClr val="1C2B3A"/>
                </a:solidFill>
                <a:latin typeface="Barlow"/>
              </a:rPr>
              <a:t>, Zahlen ohne Hochkommata.</a:t>
            </a:r>
          </a:p>
          <a:p>
            <a:pPr>
              <a:lnSpc>
                <a:spcPct val="105000"/>
              </a:lnSpc>
              <a:spcAft>
                <a:spcPts val="600"/>
              </a:spcAft>
            </a:pPr>
            <a:r>
              <a:rPr sz="2000" b="0" i="0" u="none">
                <a:solidFill>
                  <a:srgbClr val="1C2B3A"/>
                </a:solidFill>
                <a:latin typeface="Barlow"/>
              </a:rPr>
              <a:t>▸ ORDER BY mehrstufig: erst nach dem ersten Kriterium, bei Gleichstand nach dem zweiten.</a:t>
            </a:r>
          </a:p>
          <a:p>
            <a:pPr>
              <a:lnSpc>
                <a:spcPct val="105000"/>
              </a:lnSpc>
              <a:spcAft>
                <a:spcPts val="600"/>
              </a:spcAft>
            </a:pPr>
            <a:r>
              <a:rPr sz="2000" b="0" i="0" u="none">
                <a:solidFill>
                  <a:srgbClr val="1C2B3A"/>
                </a:solidFill>
                <a:latin typeface="Barlow"/>
              </a:rPr>
              <a:t>▸ Primärschlüssel: eindeutig für alle möglichen Daten, nie NULL, minimal.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ENTWERFEN</a:t>
            </a:r>
          </a:p>
        </p:txBody>
      </p:sp>
      <p:sp>
        <p:nvSpPr>
          <p:cNvPr id="10" name="TextBox 9"/>
          <p:cNvSpPr txBox="1"/>
          <p:nvPr/>
        </p:nvSpPr>
        <p:spPr>
          <a:xfrm>
            <a:off x="822959" y="2194560"/>
            <a:ext cx="10545775" cy="1043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Gegeben ist die Tabelle Fundsache. </a:t>
            </a:r>
            <a:r>
              <a:rPr sz="2000" b="1" i="0" u="none">
                <a:solidFill>
                  <a:srgbClr val="1C2B3A"/>
                </a:solidFill>
                <a:latin typeface="Barlow"/>
              </a:rPr>
              <a:t>Entwerfen</a:t>
            </a:r>
            <a:r>
              <a:rPr sz="2000" b="0" i="0" u="none">
                <a:solidFill>
                  <a:srgbClr val="1C2B3A"/>
                </a:solidFill>
                <a:latin typeface="Barlow"/>
              </a:rPr>
              <a:t> Sie eine SQL-Abfrage, die Bezeichnung und Wert aller Fundsachen ausgibt, die im Stadtteil Altstadt gefunden wurden und einen Wert von mehr als 20 € haben. [2 BE]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(DS 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14</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SQL-Hintergrund"/>
          <p:cNvSpPr/>
          <p:nvPr/>
        </p:nvSpPr>
        <p:spPr>
          <a:xfrm>
            <a:off x="822959" y="2194560"/>
            <a:ext cx="10545775"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1005839" y="2331720"/>
            <a:ext cx="10180015" cy="1315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Wert</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Stadtteil</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'Altstadt'</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D8E3D0"/>
                </a:solidFill>
                <a:latin typeface="IBM Plex Mono"/>
              </a:rPr>
              <a:t>&gt;</a:t>
            </a:r>
            <a:r>
              <a:rPr sz="2000" i="0">
                <a:solidFill>
                  <a:srgbClr val="D8E3D0"/>
                </a:solidFill>
                <a:latin typeface="IBM Plex Mono"/>
              </a:rPr>
              <a:t> </a:t>
            </a:r>
            <a:r>
              <a:rPr sz="2000" i="0">
                <a:solidFill>
                  <a:srgbClr val="8CC4FF"/>
                </a:solidFill>
                <a:latin typeface="IBM Plex Mono"/>
              </a:rPr>
              <a:t>20</a:t>
            </a:r>
            <a:r>
              <a:rPr sz="2000" i="0">
                <a:solidFill>
                  <a:srgbClr val="D8E3D0"/>
                </a:solidFill>
                <a:latin typeface="IBM Plex Mono"/>
              </a:rPr>
              <a:t>;</a:t>
            </a:r>
          </a:p>
        </p:txBody>
      </p:sp>
      <p:graphicFrame>
        <p:nvGraphicFramePr>
          <p:cNvPr id="14" name="Ergebnistabelle"/>
          <p:cNvGraphicFramePr>
            <a:graphicFrameLocks noGrp="1"/>
          </p:cNvGraphicFramePr>
          <p:nvPr/>
        </p:nvGraphicFramePr>
        <p:xfrm>
          <a:off x="822959" y="3894328"/>
          <a:ext cx="3035807" cy="1889760"/>
        </p:xfrm>
        <a:graphic>
          <a:graphicData uri="http://schemas.openxmlformats.org/drawingml/2006/table">
            <a:tbl>
              <a:tblPr firstRow="1">
                <a:tableStyleId>{5C22544A-7EE6-4342-B048-85BDC9FD1C3A}</a:tableStyleId>
              </a:tblPr>
              <a:tblGrid>
                <a:gridCol w="2264054"/>
                <a:gridCol w="771753"/>
              </a:tblGrid>
              <a:tr h="314960">
                <a:tc>
                  <a:txBody>
                    <a:bodyPr/>
                    <a:lstStyle/>
                    <a:p>
                      <a:r>
                        <a:rPr sz="1472" b="1" i="0" u="none">
                          <a:solidFill>
                            <a:srgbClr val="1C2B3A"/>
                          </a:solidFill>
                          <a:latin typeface="IBM Plex Mono"/>
                        </a:rPr>
                        <a:t>Bezeichnung</a:t>
                      </a:r>
                    </a:p>
                  </a:txBody>
                  <a:tcPr marL="54864" marR="54864" marT="18288" marB="18288">
                    <a:solidFill>
                      <a:srgbClr val="EBE2D2"/>
                    </a:solidFill>
                  </a:tcPr>
                </a:tc>
                <a:tc>
                  <a:txBody>
                    <a:bodyPr/>
                    <a:lstStyle/>
                    <a:p>
                      <a:r>
                        <a:rPr sz="1472" b="1" i="0" u="none">
                          <a:solidFill>
                            <a:srgbClr val="1C2B3A"/>
                          </a:solidFill>
                          <a:latin typeface="IBM Plex Mono"/>
                        </a:rPr>
                        <a:t>Wert</a:t>
                      </a:r>
                    </a:p>
                  </a:txBody>
                  <a:tcPr marL="54864" marR="54864" marT="18288" marB="18288">
                    <a:solidFill>
                      <a:srgbClr val="EBE2D2"/>
                    </a:solidFill>
                  </a:tcPr>
                </a:tc>
              </a:tr>
              <a:tr h="314960">
                <a:tc>
                  <a:txBody>
                    <a:bodyPr/>
                    <a:lstStyle/>
                    <a:p>
                      <a:r>
                        <a:rPr sz="1600" b="0" i="0" u="none">
                          <a:solidFill>
                            <a:srgbClr val="1C2B3A"/>
                          </a:solidFill>
                          <a:latin typeface="Barlow"/>
                        </a:rPr>
                        <a:t>Kopfhörer</a:t>
                      </a:r>
                    </a:p>
                  </a:txBody>
                  <a:tcPr marL="54864" marR="54864" marT="18288" marB="18288">
                    <a:solidFill>
                      <a:srgbClr val="FFFDF8"/>
                    </a:solidFill>
                  </a:tcPr>
                </a:tc>
                <a:tc>
                  <a:txBody>
                    <a:bodyPr/>
                    <a:lstStyle/>
                    <a:p>
                      <a:pPr algn="r"/>
                      <a:r>
                        <a:rPr sz="1600" b="0" i="0" u="none">
                          <a:solidFill>
                            <a:srgbClr val="1C2B3A"/>
                          </a:solidFill>
                          <a:latin typeface="Barlow"/>
                        </a:rPr>
                        <a:t>111</a:t>
                      </a:r>
                    </a:p>
                  </a:txBody>
                  <a:tcPr marL="54864" marR="54864" marT="18288" marB="18288">
                    <a:solidFill>
                      <a:srgbClr val="FFFDF8"/>
                    </a:solidFill>
                  </a:tcPr>
                </a:tc>
              </a:tr>
              <a:tr h="314960">
                <a:tc>
                  <a:txBody>
                    <a:bodyPr/>
                    <a:lstStyle/>
                    <a:p>
                      <a:r>
                        <a:rPr sz="1600" b="0" i="0" u="none">
                          <a:solidFill>
                            <a:srgbClr val="1C2B3A"/>
                          </a:solidFill>
                          <a:latin typeface="Barlow"/>
                        </a:rPr>
                        <a:t>Kompass-Anhänger</a:t>
                      </a:r>
                    </a:p>
                  </a:txBody>
                  <a:tcPr marL="54864" marR="54864" marT="18288" marB="18288">
                    <a:solidFill>
                      <a:srgbClr val="FFFDF8"/>
                    </a:solidFill>
                  </a:tcPr>
                </a:tc>
                <a:tc>
                  <a:txBody>
                    <a:bodyPr/>
                    <a:lstStyle/>
                    <a:p>
                      <a:pPr algn="r"/>
                      <a:r>
                        <a:rPr sz="1600" b="0" i="0" u="none">
                          <a:solidFill>
                            <a:srgbClr val="1C2B3A"/>
                          </a:solidFill>
                          <a:latin typeface="Barlow"/>
                        </a:rPr>
                        <a:t>25</a:t>
                      </a:r>
                    </a:p>
                  </a:txBody>
                  <a:tcPr marL="54864" marR="54864" marT="18288" marB="18288">
                    <a:solidFill>
                      <a:srgbClr val="FFFDF8"/>
                    </a:solidFill>
                  </a:tcPr>
                </a:tc>
              </a:tr>
              <a:tr h="314960">
                <a:tc>
                  <a:txBody>
                    <a:bodyPr/>
                    <a:lstStyle/>
                    <a:p>
                      <a:r>
                        <a:rPr sz="1600" b="0" i="0" u="none">
                          <a:solidFill>
                            <a:srgbClr val="1C2B3A"/>
                          </a:solidFill>
                          <a:latin typeface="Barlow"/>
                        </a:rPr>
                        <a:t>Handschuh</a:t>
                      </a:r>
                    </a:p>
                  </a:txBody>
                  <a:tcPr marL="54864" marR="54864" marT="18288" marB="18288">
                    <a:solidFill>
                      <a:srgbClr val="FFFDF8"/>
                    </a:solidFill>
                  </a:tcPr>
                </a:tc>
                <a:tc>
                  <a:txBody>
                    <a:bodyPr/>
                    <a:lstStyle/>
                    <a:p>
                      <a:pPr algn="r"/>
                      <a:r>
                        <a:rPr sz="1600" b="0" i="0" u="none">
                          <a:solidFill>
                            <a:srgbClr val="1C2B3A"/>
                          </a:solidFill>
                          <a:latin typeface="Barlow"/>
                        </a:rPr>
                        <a:t>42</a:t>
                      </a:r>
                    </a:p>
                  </a:txBody>
                  <a:tcPr marL="54864" marR="54864" marT="18288" marB="18288">
                    <a:solidFill>
                      <a:srgbClr val="FFFDF8"/>
                    </a:solidFill>
                  </a:tcPr>
                </a:tc>
              </a:tr>
              <a:tr h="314960">
                <a:tc>
                  <a:txBody>
                    <a:bodyPr/>
                    <a:lstStyle/>
                    <a:p>
                      <a:r>
                        <a:rPr sz="1600" b="0" i="0" u="none">
                          <a:solidFill>
                            <a:srgbClr val="1C2B3A"/>
                          </a:solidFill>
                          <a:latin typeface="Barlow"/>
                        </a:rPr>
                        <a:t>Geldbörse</a:t>
                      </a:r>
                    </a:p>
                  </a:txBody>
                  <a:tcPr marL="54864" marR="54864" marT="18288" marB="18288">
                    <a:solidFill>
                      <a:srgbClr val="FFFDF8"/>
                    </a:solidFill>
                  </a:tcPr>
                </a:tc>
                <a:tc>
                  <a:txBody>
                    <a:bodyPr/>
                    <a:lstStyle/>
                    <a:p>
                      <a:pPr algn="r"/>
                      <a:r>
                        <a:rPr sz="1600" b="0" i="0" u="none">
                          <a:solidFill>
                            <a:srgbClr val="1C2B3A"/>
                          </a:solidFill>
                          <a:latin typeface="Barlow"/>
                        </a:rPr>
                        <a:t>73</a:t>
                      </a:r>
                    </a:p>
                  </a:txBody>
                  <a:tcPr marL="54864" marR="54864" marT="18288" marB="18288">
                    <a:solidFill>
                      <a:srgbClr val="FFFDF8"/>
                    </a:solidFill>
                  </a:tcPr>
                </a:tc>
              </a:tr>
              <a:tr h="314960">
                <a:tc>
                  <a:txBody>
                    <a:bodyPr/>
                    <a:lstStyle/>
                    <a:p>
                      <a:r>
                        <a:rPr sz="1600" b="0" i="0" u="none">
                          <a:solidFill>
                            <a:srgbClr val="1C2B3A"/>
                          </a:solidFill>
                          <a:latin typeface="Barlow"/>
                        </a:rPr>
                        <a:t>…</a:t>
                      </a:r>
                    </a:p>
                  </a:txBody>
                  <a:tcPr marL="54864" marR="54864" marT="18288" marB="18288">
                    <a:solidFill>
                      <a:srgbClr val="FFFDF8"/>
                    </a:solidFill>
                  </a:tcPr>
                </a:tc>
                <a:tc>
                  <a:txBody>
                    <a:bodyPr/>
                    <a:lstStyle/>
                    <a:p>
                      <a:r>
                        <a:rPr sz="1600" b="0" i="0" u="none">
                          <a:solidFill>
                            <a:srgbClr val="1C2B3A"/>
                          </a:solidFill>
                          <a:latin typeface="Barlow"/>
                        </a:rPr>
                        <a:t>…</a:t>
                      </a:r>
                    </a:p>
                  </a:txBody>
                  <a:tcPr marL="54864" marR="54864" marT="18288" marB="18288">
                    <a:solidFill>
                      <a:srgbClr val="FFFD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Cliffhanger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15</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FUNDBÜRO</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Kurz vor Feierabend ruft Gesa Ohlendiek noch einmal an: „Laut Fundbuch wurde etwas Wertvolles abgeholt – aber in meinem Ausgabebuch steht keine Unterschrift.“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Warm-up: Karten W-A1-01 … 04</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16</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920240"/>
            <a:ext cx="10545775" cy="114109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 Einzelarbeit, je Karte 2–3 Minuten</a:t>
            </a:r>
          </a:p>
          <a:p>
            <a:pPr>
              <a:lnSpc>
                <a:spcPct val="105000"/>
              </a:lnSpc>
              <a:spcAft>
                <a:spcPts val="600"/>
              </a:spcAft>
            </a:pPr>
            <a:r>
              <a:rPr sz="1900" b="0" i="0" u="none">
                <a:solidFill>
                  <a:srgbClr val="1C2B3A"/>
                </a:solidFill>
                <a:latin typeface="Barlow"/>
              </a:rPr>
              <a:t>▸ Dann Vergleich im Team</a:t>
            </a:r>
          </a:p>
          <a:p>
            <a:pPr>
              <a:lnSpc>
                <a:spcPct val="105000"/>
              </a:lnSpc>
              <a:spcAft>
                <a:spcPts val="600"/>
              </a:spcAft>
            </a:pPr>
            <a:r>
              <a:rPr sz="1900" b="0" i="0" u="none">
                <a:solidFill>
                  <a:srgbClr val="1C2B3A"/>
                </a:solidFill>
                <a:latin typeface="Barlow"/>
              </a:rPr>
              <a:t>▸ Karte 02 (Klammer-Check) lösen wir gemeinsam</a:t>
            </a:r>
          </a:p>
        </p:txBody>
      </p:sp>
      <p:sp>
        <p:nvSpPr>
          <p:cNvPr id="10" name="TextBox 9"/>
          <p:cNvSpPr txBox="1"/>
          <p:nvPr/>
        </p:nvSpPr>
        <p:spPr>
          <a:xfrm>
            <a:off x="822959" y="3134487"/>
            <a:ext cx="10545775" cy="393065"/>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Begriffe am Fundbuch · Klammer-Check · Zweistufig sortieren · Schlüsselfrage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Warm-up W-A1-02: Klammer-Check</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17</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TextBox 11"/>
          <p:cNvSpPr txBox="1"/>
          <p:nvPr/>
        </p:nvSpPr>
        <p:spPr>
          <a:xfrm>
            <a:off x="822959" y="2194560"/>
            <a:ext cx="10545775" cy="377190"/>
          </a:xfrm>
          <a:prstGeom prst="rect">
            <a:avLst/>
          </a:prstGeom>
          <a:noFill/>
        </p:spPr>
        <p:txBody>
          <a:bodyPr wrap="square" anchor="t" lIns="36576" rIns="36576" tIns="36576" bIns="36576">
            <a:spAutoFit/>
          </a:bodyPr>
          <a:lstStyle/>
          <a:p>
            <a:pPr>
              <a:lnSpc>
                <a:spcPct val="105000"/>
              </a:lnSpc>
              <a:spcAft>
                <a:spcPts val="600"/>
              </a:spcAft>
            </a:pPr>
            <a:r>
              <a:rPr sz="1800" b="0" i="0" u="none">
                <a:solidFill>
                  <a:srgbClr val="1C2B3A"/>
                </a:solidFill>
                <a:latin typeface="Barlow"/>
              </a:rPr>
              <a:t>Wie notiert (AND zuerst): </a:t>
            </a:r>
            <a:r>
              <a:rPr sz="1800" b="1" i="0" u="none">
                <a:solidFill>
                  <a:srgbClr val="1C2B3A"/>
                </a:solidFill>
                <a:latin typeface="Barlow"/>
              </a:rPr>
              <a:t>10, 31, 73, 80</a:t>
            </a:r>
            <a:r>
              <a:rPr sz="1800" b="0" i="0" u="none">
                <a:solidFill>
                  <a:srgbClr val="1C2B3A"/>
                </a:solidFill>
                <a:latin typeface="Barlow"/>
              </a:rPr>
              <a:t> · mit Klammern um OR: </a:t>
            </a:r>
            <a:r>
              <a:rPr sz="1800" b="1" i="0" u="none">
                <a:solidFill>
                  <a:srgbClr val="1C2B3A"/>
                </a:solidFill>
                <a:latin typeface="Barlow"/>
              </a:rPr>
              <a:t>10, 73</a:t>
            </a:r>
          </a:p>
        </p:txBody>
      </p:sp>
      <p:sp>
        <p:nvSpPr>
          <p:cNvPr id="13" name="SQL-Hintergrund"/>
          <p:cNvSpPr/>
          <p:nvPr/>
        </p:nvSpPr>
        <p:spPr>
          <a:xfrm>
            <a:off x="822959" y="2644902"/>
            <a:ext cx="10545775"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QL"/>
          <p:cNvSpPr txBox="1"/>
          <p:nvPr/>
        </p:nvSpPr>
        <p:spPr>
          <a:xfrm>
            <a:off x="1005839" y="2782062"/>
            <a:ext cx="10180015" cy="1315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FundNr</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FundNr</a:t>
            </a:r>
            <a:r>
              <a:rPr sz="2000" i="0">
                <a:solidFill>
                  <a:srgbClr val="D8E3D0"/>
                </a:solidFill>
                <a:latin typeface="IBM Plex Mono"/>
              </a:rPr>
              <a:t> </a:t>
            </a:r>
            <a:r>
              <a:rPr sz="2000" i="0">
                <a:solidFill>
                  <a:srgbClr val="F2A65A"/>
                </a:solidFill>
                <a:latin typeface="IBM Plex Mono"/>
              </a:rPr>
              <a:t>IN</a:t>
            </a:r>
            <a:r>
              <a:rPr sz="2000" i="0">
                <a:solidFill>
                  <a:srgbClr val="D8E3D0"/>
                </a:solidFill>
                <a:latin typeface="IBM Plex Mono"/>
              </a:rPr>
              <a:t> </a:t>
            </a:r>
            <a:r>
              <a:rPr sz="2000" i="0">
                <a:solidFill>
                  <a:srgbClr val="D8E3D0"/>
                </a:solidFill>
                <a:latin typeface="IBM Plex Mono"/>
              </a:rPr>
              <a:t>(</a:t>
            </a:r>
            <a:r>
              <a:rPr sz="2000" i="0">
                <a:solidFill>
                  <a:srgbClr val="8CC4FF"/>
                </a:solidFill>
                <a:latin typeface="IBM Plex Mono"/>
              </a:rPr>
              <a:t>4</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9</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10</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31</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73</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80</a:t>
            </a:r>
            <a:r>
              <a:rPr sz="2000" i="0">
                <a:solidFill>
                  <a:srgbClr val="D8E3D0"/>
                </a:solidFill>
                <a:latin typeface="IBM Plex Mono"/>
              </a:rPr>
              <a:t>)</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Kategorie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'Sonstiges'</a:t>
            </a:r>
            <a:r>
              <a:rPr sz="2000" i="0">
                <a:solidFill>
                  <a:srgbClr val="D8E3D0"/>
                </a:solidFill>
                <a:latin typeface="IBM Plex Mono"/>
              </a:rPr>
              <a:t> </a:t>
            </a:r>
            <a:r>
              <a:rPr sz="2000" i="0">
                <a:solidFill>
                  <a:srgbClr val="F2A65A"/>
                </a:solidFill>
                <a:latin typeface="IBM Plex Mono"/>
              </a:rPr>
              <a:t>OR</a:t>
            </a:r>
            <a:r>
              <a:rPr sz="2000" i="0">
                <a:solidFill>
                  <a:srgbClr val="D8E3D0"/>
                </a:solidFill>
                <a:latin typeface="IBM Plex Mono"/>
              </a:rPr>
              <a:t> </a:t>
            </a:r>
            <a:r>
              <a:rPr sz="2000" i="0">
                <a:solidFill>
                  <a:srgbClr val="D8E3D0"/>
                </a:solidFill>
                <a:latin typeface="IBM Plex Mono"/>
              </a:rPr>
              <a:t>Farbe</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9BD3A6"/>
                </a:solidFill>
                <a:latin typeface="IBM Plex Mono"/>
              </a:rPr>
              <a:t>'rot'</a:t>
            </a: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D8E3D0"/>
                </a:solidFill>
                <a:latin typeface="IBM Plex Mono"/>
              </a:rPr>
              <a:t>&gt;</a:t>
            </a:r>
            <a:r>
              <a:rPr sz="2000" i="0">
                <a:solidFill>
                  <a:srgbClr val="D8E3D0"/>
                </a:solidFill>
                <a:latin typeface="IBM Plex Mono"/>
              </a:rPr>
              <a:t> </a:t>
            </a:r>
            <a:r>
              <a:rPr sz="2000" i="0">
                <a:solidFill>
                  <a:srgbClr val="8CC4FF"/>
                </a:solidFill>
                <a:latin typeface="IBM Plex Mono"/>
              </a:rPr>
              <a:t>10</a:t>
            </a:r>
            <a:r>
              <a:rPr sz="2000" i="0">
                <a:solidFill>
                  <a:srgbClr val="D8E3D0"/>
                </a:solidFill>
                <a:latin typeface="IBM Plex Mono"/>
              </a:rPr>
              <a:t>)</a:t>
            </a:r>
            <a:r>
              <a:rPr sz="2000" i="0">
                <a:solidFill>
                  <a:srgbClr val="D8E3D0"/>
                </a:solidFill>
                <a:latin typeface="IBM Plex Mono"/>
              </a:rPr>
              <a:t>;</a:t>
            </a:r>
          </a:p>
        </p:txBody>
      </p:sp>
      <p:graphicFrame>
        <p:nvGraphicFramePr>
          <p:cNvPr id="15" name="Ergebnistabelle"/>
          <p:cNvGraphicFramePr>
            <a:graphicFrameLocks noGrp="1"/>
          </p:cNvGraphicFramePr>
          <p:nvPr/>
        </p:nvGraphicFramePr>
        <p:xfrm>
          <a:off x="822959" y="4344670"/>
          <a:ext cx="1020470" cy="1574800"/>
        </p:xfrm>
        <a:graphic>
          <a:graphicData uri="http://schemas.openxmlformats.org/drawingml/2006/table">
            <a:tbl>
              <a:tblPr firstRow="1">
                <a:tableStyleId>{5C22544A-7EE6-4342-B048-85BDC9FD1C3A}</a:tableStyleId>
              </a:tblPr>
              <a:tblGrid>
                <a:gridCol w="1020470"/>
              </a:tblGrid>
              <a:tr h="314960">
                <a:tc>
                  <a:txBody>
                    <a:bodyPr/>
                    <a:lstStyle/>
                    <a:p>
                      <a:r>
                        <a:rPr sz="1472" b="1" i="0" u="none">
                          <a:solidFill>
                            <a:srgbClr val="1C2B3A"/>
                          </a:solidFill>
                          <a:latin typeface="IBM Plex Mono"/>
                        </a:rPr>
                        <a:t>FundNr</a:t>
                      </a:r>
                    </a:p>
                  </a:txBody>
                  <a:tcPr marL="54864" marR="54864" marT="18288" marB="18288">
                    <a:solidFill>
                      <a:srgbClr val="EBE2D2"/>
                    </a:solidFill>
                  </a:tcPr>
                </a:tc>
              </a:tr>
              <a:tr h="314960">
                <a:tc>
                  <a:txBody>
                    <a:bodyPr/>
                    <a:lstStyle/>
                    <a:p>
                      <a:pPr algn="r"/>
                      <a:r>
                        <a:rPr sz="1600" b="0" i="0" u="none">
                          <a:solidFill>
                            <a:srgbClr val="1C2B3A"/>
                          </a:solidFill>
                          <a:latin typeface="Barlow"/>
                        </a:rPr>
                        <a:t>10</a:t>
                      </a:r>
                    </a:p>
                  </a:txBody>
                  <a:tcPr marL="54864" marR="54864" marT="18288" marB="18288">
                    <a:solidFill>
                      <a:srgbClr val="FFFDF8"/>
                    </a:solidFill>
                  </a:tcPr>
                </a:tc>
              </a:tr>
              <a:tr h="314960">
                <a:tc>
                  <a:txBody>
                    <a:bodyPr/>
                    <a:lstStyle/>
                    <a:p>
                      <a:pPr algn="r"/>
                      <a:r>
                        <a:rPr sz="1600" b="0" i="0" u="none">
                          <a:solidFill>
                            <a:srgbClr val="1C2B3A"/>
                          </a:solidFill>
                          <a:latin typeface="Barlow"/>
                        </a:rPr>
                        <a:t>31</a:t>
                      </a:r>
                    </a:p>
                  </a:txBody>
                  <a:tcPr marL="54864" marR="54864" marT="18288" marB="18288">
                    <a:solidFill>
                      <a:srgbClr val="FFFDF8"/>
                    </a:solidFill>
                  </a:tcPr>
                </a:tc>
              </a:tr>
              <a:tr h="314960">
                <a:tc>
                  <a:txBody>
                    <a:bodyPr/>
                    <a:lstStyle/>
                    <a:p>
                      <a:pPr algn="r"/>
                      <a:r>
                        <a:rPr sz="1600" b="0" i="0" u="none">
                          <a:solidFill>
                            <a:srgbClr val="1C2B3A"/>
                          </a:solidFill>
                          <a:latin typeface="Barlow"/>
                        </a:rPr>
                        <a:t>73</a:t>
                      </a:r>
                    </a:p>
                  </a:txBody>
                  <a:tcPr marL="54864" marR="54864" marT="18288" marB="18288">
                    <a:solidFill>
                      <a:srgbClr val="FFFDF8"/>
                    </a:solidFill>
                  </a:tcPr>
                </a:tc>
              </a:tr>
              <a:tr h="314960">
                <a:tc>
                  <a:txBody>
                    <a:bodyPr/>
                    <a:lstStyle/>
                    <a:p>
                      <a:pPr algn="r"/>
                      <a:r>
                        <a:rPr sz="1600" b="0" i="0" u="none">
                          <a:solidFill>
                            <a:srgbClr val="1C2B3A"/>
                          </a:solidFill>
                          <a:latin typeface="Barlow"/>
                        </a:rPr>
                        <a:t>80</a:t>
                      </a:r>
                    </a:p>
                  </a:txBody>
                  <a:tcPr marL="54864" marR="54864" marT="18288" marB="18288">
                    <a:solidFill>
                      <a:srgbClr val="FFFD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verschwundene Fundstück</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18</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Gesa Ohlendiek hat uns ihre Notizen gegeben, und sie sind – freundlich gesagt – lückenhaft: „irgendwas mit Messing“, „Juni oder Juli“, „mehrere hundert Euro“. Mit einem einfachen Gleichheitszeichen kommen wir da nicht weit; wir brauchen Werkzeuge für ungefähre Angaben: LIKE für Textmuster, BETWEEN für Zeiträume, IN für Wertelisten.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verschwundene Fundstück (Fortsetzung)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19</a:t>
            </a:r>
          </a:p>
        </p:txBody>
      </p:sp>
      <p:sp>
        <p:nvSpPr>
          <p:cNvPr id="8" name="Rounded Rectangle 7"/>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0" name="TextBox 9"/>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Und wir müssen mit Lücken umgehen: Wo im Fundbuch nichts steht, steht NULL, und NULL prüft man mit IS NULL. Merkt euch: Text gehört in einfache Hochkommata, ein Datum schreibt man als 'JJJJ-MM-TT', und „ungleich“ heißt im Abitur !=. Im Lab kreist ihr das Fundstück mit einer Kette aus drei Abfragen ein. Wer fertig ist, stellt sich dem ersten Verhör – meinem Test, ob ihr das auch in einem fremden Archiv könnt.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Neue Werkzeuge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20</a:t>
            </a:r>
          </a:p>
        </p:txBody>
      </p:sp>
      <p:graphicFrame>
        <p:nvGraphicFramePr>
          <p:cNvPr id="8" name="Datentabelle"/>
          <p:cNvGraphicFramePr>
            <a:graphicFrameLocks noGrp="1"/>
          </p:cNvGraphicFramePr>
          <p:nvPr/>
        </p:nvGraphicFramePr>
        <p:xfrm>
          <a:off x="548640" y="1691640"/>
          <a:ext cx="11094415" cy="2677160"/>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530" b="0" i="0" u="none">
                          <a:solidFill>
                            <a:srgbClr val="1C2B3A"/>
                          </a:solidFill>
                          <a:latin typeface="IBM Plex Mono"/>
                        </a:rPr>
                        <a:t>LIKE 'Schl%'</a:t>
                      </a:r>
                    </a:p>
                  </a:txBody>
                  <a:tcPr marL="54864" marR="54864" marT="18288" marB="18288">
                    <a:solidFill>
                      <a:srgbClr val="FFFDF8"/>
                    </a:solidFill>
                  </a:tcPr>
                </a:tc>
                <a:tc>
                  <a:txBody>
                    <a:bodyPr/>
                    <a:lstStyle/>
                    <a:p>
                      <a:r>
                        <a:rPr sz="1700" b="0" i="0" u="none">
                          <a:solidFill>
                            <a:srgbClr val="1C2B3A"/>
                          </a:solidFill>
                          <a:latin typeface="Barlow"/>
                        </a:rPr>
                        <a:t>Textmuster: </a:t>
                      </a:r>
                      <a:r>
                        <a:rPr sz="1530" b="0" i="0" u="none">
                          <a:solidFill>
                            <a:srgbClr val="1C2B3A"/>
                          </a:solidFill>
                          <a:latin typeface="IBM Plex Mono"/>
                        </a:rPr>
                        <a:t>%</a:t>
                      </a:r>
                      <a:r>
                        <a:rPr sz="1700" b="0" i="0" u="none">
                          <a:solidFill>
                            <a:srgbClr val="1C2B3A"/>
                          </a:solidFill>
                          <a:latin typeface="Barlow"/>
                        </a:rPr>
                        <a:t> beliebig viele Zeichen, </a:t>
                      </a:r>
                      <a:r>
                        <a:rPr sz="1530" b="0" i="0" u="none">
                          <a:solidFill>
                            <a:srgbClr val="1C2B3A"/>
                          </a:solidFill>
                          <a:latin typeface="IBM Plex Mono"/>
                        </a:rPr>
                        <a:t>_</a:t>
                      </a:r>
                      <a:r>
                        <a:rPr sz="1700" b="0" i="0" u="none">
                          <a:solidFill>
                            <a:srgbClr val="1C2B3A"/>
                          </a:solidFill>
                          <a:latin typeface="Barlow"/>
                        </a:rPr>
                        <a:t> genau eins</a:t>
                      </a:r>
                    </a:p>
                  </a:txBody>
                  <a:tcPr marL="54864" marR="54864" marT="18288" marB="18288">
                    <a:solidFill>
                      <a:srgbClr val="FFFDF8"/>
                    </a:solidFill>
                  </a:tcPr>
                </a:tc>
              </a:tr>
              <a:tr h="334645">
                <a:tc>
                  <a:txBody>
                    <a:bodyPr/>
                    <a:lstStyle/>
                    <a:p>
                      <a:r>
                        <a:rPr sz="1530" b="0" i="0" u="none">
                          <a:solidFill>
                            <a:srgbClr val="1C2B3A"/>
                          </a:solidFill>
                          <a:latin typeface="IBM Plex Mono"/>
                        </a:rPr>
                        <a:t>BETWEEN 10 AND 20</a:t>
                      </a:r>
                    </a:p>
                  </a:txBody>
                  <a:tcPr marL="54864" marR="54864" marT="18288" marB="18288">
                    <a:solidFill>
                      <a:srgbClr val="FFFDF8"/>
                    </a:solidFill>
                  </a:tcPr>
                </a:tc>
                <a:tc>
                  <a:txBody>
                    <a:bodyPr/>
                    <a:lstStyle/>
                    <a:p>
                      <a:r>
                        <a:rPr sz="1700" b="0" i="0" u="none">
                          <a:solidFill>
                            <a:srgbClr val="1C2B3A"/>
                          </a:solidFill>
                          <a:latin typeface="Barlow"/>
                        </a:rPr>
                        <a:t>Bereich – beide Grenzen inklusive</a:t>
                      </a:r>
                    </a:p>
                  </a:txBody>
                  <a:tcPr marL="54864" marR="54864" marT="18288" marB="18288">
                    <a:solidFill>
                      <a:srgbClr val="FFFDF8"/>
                    </a:solidFill>
                  </a:tcPr>
                </a:tc>
              </a:tr>
              <a:tr h="334645">
                <a:tc>
                  <a:txBody>
                    <a:bodyPr/>
                    <a:lstStyle/>
                    <a:p>
                      <a:r>
                        <a:rPr sz="1530" b="0" i="0" u="none">
                          <a:solidFill>
                            <a:srgbClr val="1C2B3A"/>
                          </a:solidFill>
                          <a:latin typeface="IBM Plex Mono"/>
                        </a:rPr>
                        <a:t>IN ('a', 'b')</a:t>
                      </a:r>
                    </a:p>
                  </a:txBody>
                  <a:tcPr marL="54864" marR="54864" marT="18288" marB="18288">
                    <a:solidFill>
                      <a:srgbClr val="FFFDF8"/>
                    </a:solidFill>
                  </a:tcPr>
                </a:tc>
                <a:tc>
                  <a:txBody>
                    <a:bodyPr/>
                    <a:lstStyle/>
                    <a:p>
                      <a:r>
                        <a:rPr sz="1700" b="0" i="0" u="none">
                          <a:solidFill>
                            <a:srgbClr val="1C2B3A"/>
                          </a:solidFill>
                          <a:latin typeface="Barlow"/>
                        </a:rPr>
                        <a:t>Werteliste, z. B. </a:t>
                      </a:r>
                      <a:r>
                        <a:rPr sz="1530" b="0" i="0" u="none">
                          <a:solidFill>
                            <a:srgbClr val="1C2B3A"/>
                          </a:solidFill>
                          <a:latin typeface="IBM Plex Mono"/>
                        </a:rPr>
                        <a:t>Kategorie IN ('Schmuck', 'Elektronik')</a:t>
                      </a:r>
                    </a:p>
                  </a:txBody>
                  <a:tcPr marL="54864" marR="54864" marT="18288" marB="18288">
                    <a:solidFill>
                      <a:srgbClr val="FFFDF8"/>
                    </a:solidFill>
                  </a:tcPr>
                </a:tc>
              </a:tr>
              <a:tr h="334645">
                <a:tc>
                  <a:txBody>
                    <a:bodyPr/>
                    <a:lstStyle/>
                    <a:p>
                      <a:r>
                        <a:rPr sz="1530" b="0" i="0" u="none">
                          <a:solidFill>
                            <a:srgbClr val="1C2B3A"/>
                          </a:solidFill>
                          <a:latin typeface="IBM Plex Mono"/>
                        </a:rPr>
                        <a:t>IS NULL</a:t>
                      </a:r>
                    </a:p>
                  </a:txBody>
                  <a:tcPr marL="54864" marR="54864" marT="18288" marB="18288">
                    <a:solidFill>
                      <a:srgbClr val="FFFDF8"/>
                    </a:solidFill>
                  </a:tcPr>
                </a:tc>
                <a:tc>
                  <a:txBody>
                    <a:bodyPr/>
                    <a:lstStyle/>
                    <a:p>
                      <a:r>
                        <a:rPr sz="1700" b="0" i="0" u="none">
                          <a:solidFill>
                            <a:srgbClr val="1C2B3A"/>
                          </a:solidFill>
                          <a:latin typeface="Barlow"/>
                        </a:rPr>
                        <a:t>kein Eintrag – niemals </a:t>
                      </a:r>
                      <a:r>
                        <a:rPr sz="1530" b="0" i="0" u="none">
                          <a:solidFill>
                            <a:srgbClr val="1C2B3A"/>
                          </a:solidFill>
                          <a:latin typeface="IBM Plex Mono"/>
                        </a:rPr>
                        <a:t>= NULL</a:t>
                      </a:r>
                    </a:p>
                  </a:txBody>
                  <a:tcPr marL="54864" marR="54864" marT="18288" marB="18288">
                    <a:solidFill>
                      <a:srgbClr val="FFFDF8"/>
                    </a:solidFill>
                  </a:tcPr>
                </a:tc>
              </a:tr>
              <a:tr h="334645">
                <a:tc>
                  <a:txBody>
                    <a:bodyPr/>
                    <a:lstStyle/>
                    <a:p>
                      <a:r>
                        <a:rPr sz="1530" b="0" i="0" u="none">
                          <a:solidFill>
                            <a:srgbClr val="1C2B3A"/>
                          </a:solidFill>
                          <a:latin typeface="IBM Plex Mono"/>
                        </a:rPr>
                        <a:t>DISTINCT</a:t>
                      </a:r>
                    </a:p>
                  </a:txBody>
                  <a:tcPr marL="54864" marR="54864" marT="18288" marB="18288">
                    <a:solidFill>
                      <a:srgbClr val="FFFDF8"/>
                    </a:solidFill>
                  </a:tcPr>
                </a:tc>
                <a:tc>
                  <a:txBody>
                    <a:bodyPr/>
                    <a:lstStyle/>
                    <a:p>
                      <a:r>
                        <a:rPr sz="1700" b="0" i="0" u="none">
                          <a:solidFill>
                            <a:srgbClr val="1C2B3A"/>
                          </a:solidFill>
                          <a:latin typeface="Barlow"/>
                        </a:rPr>
                        <a:t>doppelte Zeilen weglassen</a:t>
                      </a:r>
                    </a:p>
                  </a:txBody>
                  <a:tcPr marL="54864" marR="54864" marT="18288" marB="18288">
                    <a:solidFill>
                      <a:srgbClr val="FFFDF8"/>
                    </a:solidFill>
                  </a:tcPr>
                </a:tc>
              </a:tr>
              <a:tr h="334645">
                <a:tc>
                  <a:txBody>
                    <a:bodyPr/>
                    <a:lstStyle/>
                    <a:p>
                      <a:r>
                        <a:rPr sz="1530" b="0" i="0" u="none">
                          <a:solidFill>
                            <a:srgbClr val="1C2B3A"/>
                          </a:solidFill>
                          <a:latin typeface="IBM Plex Mono"/>
                        </a:rPr>
                        <a:t>… AS Finderlohn</a:t>
                      </a:r>
                    </a:p>
                  </a:txBody>
                  <a:tcPr marL="54864" marR="54864" marT="18288" marB="18288">
                    <a:solidFill>
                      <a:srgbClr val="FFFDF8"/>
                    </a:solidFill>
                  </a:tcPr>
                </a:tc>
                <a:tc>
                  <a:txBody>
                    <a:bodyPr/>
                    <a:lstStyle/>
                    <a:p>
                      <a:r>
                        <a:rPr sz="1700" b="0" i="0" u="none">
                          <a:solidFill>
                            <a:srgbClr val="1C2B3A"/>
                          </a:solidFill>
                          <a:latin typeface="Barlow"/>
                        </a:rPr>
                        <a:t>Spaltenalias, z. B. für </a:t>
                      </a:r>
                      <a:r>
                        <a:rPr sz="1530" b="0" i="0" u="none">
                          <a:solidFill>
                            <a:srgbClr val="1C2B3A"/>
                          </a:solidFill>
                          <a:latin typeface="IBM Plex Mono"/>
                        </a:rPr>
                        <a:t>Wert * 0.05</a:t>
                      </a:r>
                    </a:p>
                  </a:txBody>
                  <a:tcPr marL="54864" marR="54864" marT="18288" marB="18288">
                    <a:solidFill>
                      <a:srgbClr val="FFFDF8"/>
                    </a:solidFill>
                  </a:tcPr>
                </a:tc>
              </a:tr>
              <a:tr h="334645">
                <a:tc>
                  <a:txBody>
                    <a:bodyPr/>
                    <a:lstStyle/>
                    <a:p>
                      <a:r>
                        <a:rPr sz="1530" b="0" i="0" u="none">
                          <a:solidFill>
                            <a:srgbClr val="1C2B3A"/>
                          </a:solidFill>
                          <a:latin typeface="IBM Plex Mono"/>
                        </a:rPr>
                        <a:t>LIMIT 3</a:t>
                      </a:r>
                    </a:p>
                  </a:txBody>
                  <a:tcPr marL="54864" marR="54864" marT="18288" marB="18288">
                    <a:solidFill>
                      <a:srgbClr val="FFFDF8"/>
                    </a:solidFill>
                  </a:tcPr>
                </a:tc>
                <a:tc>
                  <a:txBody>
                    <a:bodyPr/>
                    <a:lstStyle/>
                    <a:p>
                      <a:r>
                        <a:rPr sz="1700" b="0" i="0" u="none">
                          <a:solidFill>
                            <a:srgbClr val="1C2B3A"/>
                          </a:solidFill>
                          <a:latin typeface="Barlow"/>
                        </a:rPr>
                        <a:t>nur die ersten 3 Zeilen (nach ORDER BY)</a:t>
                      </a:r>
                    </a:p>
                  </a:txBody>
                  <a:tcPr marL="54864" marR="54864" marT="18288" marB="18288">
                    <a:solidFill>
                      <a:srgbClr val="FFFDF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Literale – so schreibt man Werte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21</a:t>
            </a:r>
          </a:p>
        </p:txBody>
      </p:sp>
      <p:graphicFrame>
        <p:nvGraphicFramePr>
          <p:cNvPr id="8" name="Datentabelle"/>
          <p:cNvGraphicFramePr>
            <a:graphicFrameLocks noGrp="1"/>
          </p:cNvGraphicFramePr>
          <p:nvPr/>
        </p:nvGraphicFramePr>
        <p:xfrm>
          <a:off x="548640" y="1691640"/>
          <a:ext cx="11094415" cy="2007870"/>
        </p:xfrm>
        <a:graphic>
          <a:graphicData uri="http://schemas.openxmlformats.org/drawingml/2006/table">
            <a:tbl>
              <a:tblPr firstRow="1">
                <a:tableStyleId>{5C22544A-7EE6-4342-B048-85BDC9FD1C3A}</a:tableStyleId>
              </a:tblPr>
              <a:tblGrid>
                <a:gridCol w="2520000"/>
                <a:gridCol w="8574415"/>
              </a:tblGrid>
              <a:tr h="334645">
                <a:tc>
                  <a:txBody>
                    <a:bodyPr/>
                    <a:lstStyle/>
                    <a:p>
                      <a:r>
                        <a:rPr sz="1564" b="1" i="0" u="none">
                          <a:solidFill>
                            <a:srgbClr val="1C2B3A"/>
                          </a:solidFill>
                          <a:latin typeface="IBM Plex Mono"/>
                        </a:rPr>
                        <a:t>Fachbegriff</a:t>
                      </a:r>
                    </a:p>
                  </a:txBody>
                  <a:tcPr marL="54864" marR="54864" marT="18288" marB="18288">
                    <a:solidFill>
                      <a:srgbClr val="EBE2D2"/>
                    </a:solidFill>
                  </a:tcPr>
                </a:tc>
                <a:tc>
                  <a:txBody>
                    <a:bodyPr/>
                    <a:lstStyle/>
                    <a:p>
                      <a:r>
                        <a:rPr sz="1564" b="1" i="0" u="none">
                          <a:solidFill>
                            <a:srgbClr val="1C2B3A"/>
                          </a:solidFill>
                          <a:latin typeface="IBM Plex Mono"/>
                        </a:rPr>
                        <a:t>Bedeutung</a:t>
                      </a:r>
                    </a:p>
                  </a:txBody>
                  <a:tcPr marL="54864" marR="54864" marT="18288" marB="18288">
                    <a:solidFill>
                      <a:srgbClr val="EBE2D2"/>
                    </a:solidFill>
                  </a:tcPr>
                </a:tc>
              </a:tr>
              <a:tr h="334645">
                <a:tc>
                  <a:txBody>
                    <a:bodyPr/>
                    <a:lstStyle/>
                    <a:p>
                      <a:r>
                        <a:rPr sz="1700" b="0" i="0" u="none">
                          <a:solidFill>
                            <a:srgbClr val="1C2B3A"/>
                          </a:solidFill>
                          <a:latin typeface="Barlow"/>
                        </a:rPr>
                        <a:t>Text</a:t>
                      </a:r>
                    </a:p>
                  </a:txBody>
                  <a:tcPr marL="54864" marR="54864" marT="18288" marB="18288">
                    <a:solidFill>
                      <a:srgbClr val="FFFDF8"/>
                    </a:solidFill>
                  </a:tcPr>
                </a:tc>
                <a:tc>
                  <a:txBody>
                    <a:bodyPr/>
                    <a:lstStyle/>
                    <a:p>
                      <a:r>
                        <a:rPr sz="1530" b="0" i="0" u="none">
                          <a:solidFill>
                            <a:srgbClr val="1C2B3A"/>
                          </a:solidFill>
                          <a:latin typeface="IBM Plex Mono"/>
                        </a:rPr>
                        <a:t>'Hafenviertel'</a:t>
                      </a:r>
                      <a:r>
                        <a:rPr sz="1700" b="0" i="0" u="none">
                          <a:solidFill>
                            <a:srgbClr val="1C2B3A"/>
                          </a:solidFill>
                          <a:latin typeface="Barlow"/>
                        </a:rPr>
                        <a:t> – in einfachen Hochkommata</a:t>
                      </a:r>
                    </a:p>
                  </a:txBody>
                  <a:tcPr marL="54864" marR="54864" marT="18288" marB="18288">
                    <a:solidFill>
                      <a:srgbClr val="FFFDF8"/>
                    </a:solidFill>
                  </a:tcPr>
                </a:tc>
              </a:tr>
              <a:tr h="334645">
                <a:tc>
                  <a:txBody>
                    <a:bodyPr/>
                    <a:lstStyle/>
                    <a:p>
                      <a:r>
                        <a:rPr sz="1700" b="0" i="0" u="none">
                          <a:solidFill>
                            <a:srgbClr val="1C2B3A"/>
                          </a:solidFill>
                          <a:latin typeface="Barlow"/>
                        </a:rPr>
                        <a:t>Datum</a:t>
                      </a:r>
                    </a:p>
                  </a:txBody>
                  <a:tcPr marL="54864" marR="54864" marT="18288" marB="18288">
                    <a:solidFill>
                      <a:srgbClr val="FFFDF8"/>
                    </a:solidFill>
                  </a:tcPr>
                </a:tc>
                <a:tc>
                  <a:txBody>
                    <a:bodyPr/>
                    <a:lstStyle/>
                    <a:p>
                      <a:r>
                        <a:rPr sz="1530" b="0" i="0" u="none">
                          <a:solidFill>
                            <a:srgbClr val="1C2B3A"/>
                          </a:solidFill>
                          <a:latin typeface="IBM Plex Mono"/>
                        </a:rPr>
                        <a:t>'2026-09-30'</a:t>
                      </a:r>
                      <a:r>
                        <a:rPr sz="1700" b="0" i="0" u="none">
                          <a:solidFill>
                            <a:srgbClr val="1C2B3A"/>
                          </a:solidFill>
                          <a:latin typeface="Barlow"/>
                        </a:rPr>
                        <a:t> – Text im Format JJJJ-MM-TT, darum vergleichbar</a:t>
                      </a:r>
                    </a:p>
                  </a:txBody>
                  <a:tcPr marL="54864" marR="54864" marT="18288" marB="18288">
                    <a:solidFill>
                      <a:srgbClr val="FFFDF8"/>
                    </a:solidFill>
                  </a:tcPr>
                </a:tc>
              </a:tr>
              <a:tr h="334645">
                <a:tc>
                  <a:txBody>
                    <a:bodyPr/>
                    <a:lstStyle/>
                    <a:p>
                      <a:r>
                        <a:rPr sz="1700" b="0" i="0" u="none">
                          <a:solidFill>
                            <a:srgbClr val="1C2B3A"/>
                          </a:solidFill>
                          <a:latin typeface="Barlow"/>
                        </a:rPr>
                        <a:t>Zahl</a:t>
                      </a:r>
                    </a:p>
                  </a:txBody>
                  <a:tcPr marL="54864" marR="54864" marT="18288" marB="18288">
                    <a:solidFill>
                      <a:srgbClr val="FFFDF8"/>
                    </a:solidFill>
                  </a:tcPr>
                </a:tc>
                <a:tc>
                  <a:txBody>
                    <a:bodyPr/>
                    <a:lstStyle/>
                    <a:p>
                      <a:r>
                        <a:rPr sz="1530" b="0" i="0" u="none">
                          <a:solidFill>
                            <a:srgbClr val="1C2B3A"/>
                          </a:solidFill>
                          <a:latin typeface="IBM Plex Mono"/>
                        </a:rPr>
                        <a:t>0.05</a:t>
                      </a:r>
                      <a:r>
                        <a:rPr sz="1700" b="0" i="0" u="none">
                          <a:solidFill>
                            <a:srgbClr val="1C2B3A"/>
                          </a:solidFill>
                          <a:latin typeface="Barlow"/>
                        </a:rPr>
                        <a:t> – Dezimalpunkt, ohne Hochkommata</a:t>
                      </a:r>
                    </a:p>
                  </a:txBody>
                  <a:tcPr marL="54864" marR="54864" marT="18288" marB="18288">
                    <a:solidFill>
                      <a:srgbClr val="FFFDF8"/>
                    </a:solidFill>
                  </a:tcPr>
                </a:tc>
              </a:tr>
              <a:tr h="334645">
                <a:tc>
                  <a:txBody>
                    <a:bodyPr/>
                    <a:lstStyle/>
                    <a:p>
                      <a:r>
                        <a:rPr sz="1700" b="0" i="0" u="none">
                          <a:solidFill>
                            <a:srgbClr val="1C2B3A"/>
                          </a:solidFill>
                          <a:latin typeface="Barlow"/>
                        </a:rPr>
                        <a:t>ungleich</a:t>
                      </a:r>
                    </a:p>
                  </a:txBody>
                  <a:tcPr marL="54864" marR="54864" marT="18288" marB="18288">
                    <a:solidFill>
                      <a:srgbClr val="FFFDF8"/>
                    </a:solidFill>
                  </a:tcPr>
                </a:tc>
                <a:tc>
                  <a:txBody>
                    <a:bodyPr/>
                    <a:lstStyle/>
                    <a:p>
                      <a:r>
                        <a:rPr sz="1530" b="0" i="0" u="none">
                          <a:solidFill>
                            <a:srgbClr val="1C2B3A"/>
                          </a:solidFill>
                          <a:latin typeface="IBM Plex Mono"/>
                        </a:rPr>
                        <a:t>!=</a:t>
                      </a:r>
                      <a:r>
                        <a:rPr sz="1700" b="0" i="0" u="none">
                          <a:solidFill>
                            <a:srgbClr val="1C2B3A"/>
                          </a:solidFill>
                          <a:latin typeface="Barlow"/>
                        </a:rPr>
                        <a:t> – im Abitur statt </a:t>
                      </a:r>
                      <a:r>
                        <a:rPr sz="1530" b="0" i="0" u="none">
                          <a:solidFill>
                            <a:srgbClr val="1C2B3A"/>
                          </a:solidFill>
                          <a:latin typeface="IBM Plex Mono"/>
                        </a:rPr>
                        <a:t>&lt;&gt;</a:t>
                      </a:r>
                    </a:p>
                  </a:txBody>
                  <a:tcPr marL="54864" marR="54864" marT="18288" marB="18288">
                    <a:solidFill>
                      <a:srgbClr val="FFFDF8"/>
                    </a:solidFill>
                  </a:tcPr>
                </a:tc>
              </a:tr>
              <a:tr h="334645">
                <a:tc>
                  <a:txBody>
                    <a:bodyPr/>
                    <a:lstStyle/>
                    <a:p>
                      <a:r>
                        <a:rPr sz="1700" b="0" i="0" u="none">
                          <a:solidFill>
                            <a:srgbClr val="1C2B3A"/>
                          </a:solidFill>
                          <a:latin typeface="Barlow"/>
                        </a:rPr>
                        <a:t>Division</a:t>
                      </a:r>
                    </a:p>
                  </a:txBody>
                  <a:tcPr marL="54864" marR="54864" marT="18288" marB="18288">
                    <a:solidFill>
                      <a:srgbClr val="FFFDF8"/>
                    </a:solidFill>
                  </a:tcPr>
                </a:tc>
                <a:tc>
                  <a:txBody>
                    <a:bodyPr/>
                    <a:lstStyle/>
                    <a:p>
                      <a:r>
                        <a:rPr sz="1530" b="0" i="0" u="none">
                          <a:solidFill>
                            <a:srgbClr val="1C2B3A"/>
                          </a:solidFill>
                          <a:latin typeface="IBM Plex Mono"/>
                        </a:rPr>
                        <a:t>7 / 2</a:t>
                      </a:r>
                      <a:r>
                        <a:rPr sz="1700" b="0" i="0" u="none">
                          <a:solidFill>
                            <a:srgbClr val="1C2B3A"/>
                          </a:solidFill>
                          <a:latin typeface="Barlow"/>
                        </a:rPr>
                        <a:t> ergibt bei ganzen Zahlen </a:t>
                      </a:r>
                      <a:r>
                        <a:rPr sz="1530" b="0" i="0" u="none">
                          <a:solidFill>
                            <a:srgbClr val="1C2B3A"/>
                          </a:solidFill>
                          <a:latin typeface="IBM Plex Mono"/>
                        </a:rPr>
                        <a:t>3</a:t>
                      </a:r>
                    </a:p>
                  </a:txBody>
                  <a:tcPr marL="54864" marR="54864" marT="18288" marB="18288">
                    <a:solidFill>
                      <a:srgbClr val="FFFD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Uhren ohne Wert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22</a:t>
            </a:r>
          </a:p>
        </p:txBody>
      </p:sp>
      <p:sp>
        <p:nvSpPr>
          <p:cNvPr id="8" name="SQL-Hintergrund"/>
          <p:cNvSpPr/>
          <p:nvPr/>
        </p:nvSpPr>
        <p:spPr>
          <a:xfrm>
            <a:off x="548640" y="1691640"/>
            <a:ext cx="6101928"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315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FundNr</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Wert</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 </a:t>
            </a:r>
            <a:r>
              <a:rPr sz="2000" i="0">
                <a:solidFill>
                  <a:srgbClr val="F2A65A"/>
                </a:solidFill>
                <a:latin typeface="IBM Plex Mono"/>
              </a:rPr>
              <a:t>LIKE</a:t>
            </a:r>
            <a:r>
              <a:rPr sz="2000" i="0">
                <a:solidFill>
                  <a:srgbClr val="D8E3D0"/>
                </a:solidFill>
                <a:latin typeface="IBM Plex Mono"/>
              </a:rPr>
              <a:t> </a:t>
            </a:r>
            <a:r>
              <a:rPr sz="2000" i="0">
                <a:solidFill>
                  <a:srgbClr val="9BD3A6"/>
                </a:solidFill>
                <a:latin typeface="IBM Plex Mono"/>
              </a:rPr>
              <a:t>'%uhr%'</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F2A65A"/>
                </a:solidFill>
                <a:latin typeface="IBM Plex Mono"/>
              </a:rPr>
              <a:t>IS</a:t>
            </a:r>
            <a:r>
              <a:rPr sz="2000" i="0">
                <a:solidFill>
                  <a:srgbClr val="D8E3D0"/>
                </a:solidFill>
                <a:latin typeface="IBM Plex Mono"/>
              </a:rPr>
              <a:t> </a:t>
            </a:r>
            <a:r>
              <a:rPr sz="2000" i="0">
                <a:solidFill>
                  <a:srgbClr val="F2A65A"/>
                </a:solidFill>
                <a:latin typeface="IBM Plex Mono"/>
              </a:rPr>
              <a:t>NULL</a:t>
            </a:r>
            <a:r>
              <a:rPr sz="2000" i="0">
                <a:solidFill>
                  <a:srgbClr val="D8E3D0"/>
                </a:solidFill>
                <a:latin typeface="IBM Plex Mono"/>
              </a:rPr>
              <a:t>;</a:t>
            </a:r>
          </a:p>
        </p:txBody>
      </p:sp>
      <p:sp>
        <p:nvSpPr>
          <p:cNvPr id="10" name="TextBox 9"/>
          <p:cNvSpPr txBox="1"/>
          <p:nvPr/>
        </p:nvSpPr>
        <p:spPr>
          <a:xfrm>
            <a:off x="548640" y="337312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693160"/>
          <a:ext cx="2997860" cy="767715"/>
        </p:xfrm>
        <a:graphic>
          <a:graphicData uri="http://schemas.openxmlformats.org/drawingml/2006/table">
            <a:tbl>
              <a:tblPr firstRow="1">
                <a:tableStyleId>{5C22544A-7EE6-4342-B048-85BDC9FD1C3A}</a:tableStyleId>
              </a:tblPr>
              <a:tblGrid>
                <a:gridCol w="880567"/>
                <a:gridCol w="1385773"/>
                <a:gridCol w="731520"/>
              </a:tblGrid>
              <a:tr h="255905">
                <a:tc>
                  <a:txBody>
                    <a:bodyPr/>
                    <a:lstStyle/>
                    <a:p>
                      <a:r>
                        <a:rPr sz="1196" b="1" i="0" u="none">
                          <a:solidFill>
                            <a:srgbClr val="1C2B3A"/>
                          </a:solidFill>
                          <a:latin typeface="IBM Plex Mono"/>
                        </a:rPr>
                        <a:t>FundNr</a:t>
                      </a:r>
                    </a:p>
                  </a:txBody>
                  <a:tcPr marL="54864" marR="54864" marT="18288" marB="18288">
                    <a:solidFill>
                      <a:srgbClr val="EBE2D2"/>
                    </a:solidFill>
                  </a:tcPr>
                </a:tc>
                <a:tc>
                  <a:txBody>
                    <a:bodyPr/>
                    <a:lstStyle/>
                    <a:p>
                      <a:r>
                        <a:rPr sz="1196" b="1" i="0" u="none">
                          <a:solidFill>
                            <a:srgbClr val="1C2B3A"/>
                          </a:solidFill>
                          <a:latin typeface="IBM Plex Mono"/>
                        </a:rPr>
                        <a:t>Bezeichnung</a:t>
                      </a:r>
                    </a:p>
                  </a:txBody>
                  <a:tcPr marL="54864" marR="54864" marT="18288" marB="18288">
                    <a:solidFill>
                      <a:srgbClr val="EBE2D2"/>
                    </a:solidFill>
                  </a:tcPr>
                </a:tc>
                <a:tc>
                  <a:txBody>
                    <a:bodyPr/>
                    <a:lstStyle/>
                    <a:p>
                      <a:r>
                        <a:rPr sz="1196" b="1" i="0" u="none">
                          <a:solidFill>
                            <a:srgbClr val="1C2B3A"/>
                          </a:solidFill>
                          <a:latin typeface="IBM Plex Mono"/>
                        </a:rPr>
                        <a:t>Wert</a:t>
                      </a:r>
                    </a:p>
                  </a:txBody>
                  <a:tcPr marL="54864" marR="54864" marT="18288" marB="18288">
                    <a:solidFill>
                      <a:srgbClr val="EBE2D2"/>
                    </a:solidFill>
                  </a:tcPr>
                </a:tc>
              </a:tr>
              <a:tr h="255905">
                <a:tc>
                  <a:txBody>
                    <a:bodyPr/>
                    <a:lstStyle/>
                    <a:p>
                      <a:pPr algn="r"/>
                      <a:r>
                        <a:rPr sz="1300" b="0" i="0" u="none">
                          <a:solidFill>
                            <a:srgbClr val="1C2B3A"/>
                          </a:solidFill>
                          <a:latin typeface="Barlow"/>
                        </a:rPr>
                        <a:t>27</a:t>
                      </a:r>
                    </a:p>
                  </a:txBody>
                  <a:tcPr marL="54864" marR="54864" marT="18288" marB="18288">
                    <a:solidFill>
                      <a:srgbClr val="FFFDF8"/>
                    </a:solidFill>
                  </a:tcPr>
                </a:tc>
                <a:tc>
                  <a:txBody>
                    <a:bodyPr/>
                    <a:lstStyle/>
                    <a:p>
                      <a:r>
                        <a:rPr sz="1300" b="0" i="0" u="none">
                          <a:solidFill>
                            <a:srgbClr val="1C2B3A"/>
                          </a:solidFill>
                          <a:latin typeface="Barlow"/>
                        </a:rPr>
                        <a:t>Armbanduhr</a:t>
                      </a:r>
                    </a:p>
                  </a:txBody>
                  <a:tcPr marL="54864" marR="54864" marT="18288" marB="18288">
                    <a:solidFill>
                      <a:srgbClr val="FFFDF8"/>
                    </a:solidFill>
                  </a:tcPr>
                </a:tc>
                <a:tc>
                  <a:txBody>
                    <a:bodyPr/>
                    <a:lstStyle/>
                    <a:p>
                      <a:r>
                        <a:rPr sz="1105" b="0" i="1" u="none">
                          <a:solidFill>
                            <a:srgbClr val="58626D"/>
                          </a:solidFill>
                          <a:latin typeface="IBM Plex Mono"/>
                        </a:rPr>
                        <a:t>NULL</a:t>
                      </a:r>
                    </a:p>
                  </a:txBody>
                  <a:tcPr marL="54864" marR="54864" marT="18288" marB="18288">
                    <a:solidFill>
                      <a:srgbClr val="FFFDF8"/>
                    </a:solidFill>
                  </a:tcPr>
                </a:tc>
              </a:tr>
              <a:tr h="255905">
                <a:tc>
                  <a:txBody>
                    <a:bodyPr/>
                    <a:lstStyle/>
                    <a:p>
                      <a:pPr algn="r"/>
                      <a:r>
                        <a:rPr sz="1300" b="0" i="0" u="none">
                          <a:solidFill>
                            <a:srgbClr val="1C2B3A"/>
                          </a:solidFill>
                          <a:latin typeface="Barlow"/>
                        </a:rPr>
                        <a:t>54</a:t>
                      </a:r>
                    </a:p>
                  </a:txBody>
                  <a:tcPr marL="54864" marR="54864" marT="18288" marB="18288">
                    <a:solidFill>
                      <a:srgbClr val="FFFDF8"/>
                    </a:solidFill>
                  </a:tcPr>
                </a:tc>
                <a:tc>
                  <a:txBody>
                    <a:bodyPr/>
                    <a:lstStyle/>
                    <a:p>
                      <a:r>
                        <a:rPr sz="1300" b="0" i="0" u="none">
                          <a:solidFill>
                            <a:srgbClr val="1C2B3A"/>
                          </a:solidFill>
                          <a:latin typeface="Barlow"/>
                        </a:rPr>
                        <a:t>Armbanduhr</a:t>
                      </a:r>
                    </a:p>
                  </a:txBody>
                  <a:tcPr marL="54864" marR="54864" marT="18288" marB="18288">
                    <a:solidFill>
                      <a:srgbClr val="FFFDF8"/>
                    </a:solidFill>
                  </a:tcPr>
                </a:tc>
                <a:tc>
                  <a:txBody>
                    <a:bodyPr/>
                    <a:lstStyle/>
                    <a:p>
                      <a:r>
                        <a:rPr sz="1105" b="0" i="1" u="none">
                          <a:solidFill>
                            <a:srgbClr val="58626D"/>
                          </a:solidFill>
                          <a:latin typeface="IBM Plex Mono"/>
                        </a:rPr>
                        <a:t>NULL</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6858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68580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57607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FROM</a:t>
            </a:r>
            <a:r>
              <a:rPr sz="1600" b="0" i="0" u="none">
                <a:solidFill>
                  <a:srgbClr val="1C2B3A"/>
                </a:solidFill>
                <a:latin typeface="Barlow"/>
              </a:rPr>
              <a:t> – alle Fundsachen</a:t>
            </a:r>
          </a:p>
        </p:txBody>
      </p:sp>
      <p:sp>
        <p:nvSpPr>
          <p:cNvPr id="16" name="Rounded Rectangle 15"/>
          <p:cNvSpPr/>
          <p:nvPr/>
        </p:nvSpPr>
        <p:spPr>
          <a:xfrm>
            <a:off x="6924888" y="251460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1460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5877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58775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WHERE</a:t>
            </a:r>
            <a:r>
              <a:rPr sz="1600" b="0" i="0" u="none">
                <a:solidFill>
                  <a:srgbClr val="1C2B3A"/>
                </a:solidFill>
                <a:latin typeface="Barlow"/>
              </a:rPr>
              <a:t> – „uhr“ irgendwo in der Bezeichnung (</a:t>
            </a:r>
            <a:r>
              <a:rPr sz="1440" b="0" i="0" u="none">
                <a:solidFill>
                  <a:srgbClr val="1C2B3A"/>
                </a:solidFill>
                <a:latin typeface="IBM Plex Mono"/>
              </a:rPr>
              <a:t>%</a:t>
            </a:r>
            <a:r>
              <a:rPr sz="1600" b="0" i="0" u="none">
                <a:solidFill>
                  <a:srgbClr val="1C2B3A"/>
                </a:solidFill>
                <a:latin typeface="Barlow"/>
              </a:rPr>
              <a:t> vorn und hinten)</a:t>
            </a:r>
          </a:p>
        </p:txBody>
      </p:sp>
      <p:sp>
        <p:nvSpPr>
          <p:cNvPr id="20" name="Rounded Rectangle 19"/>
          <p:cNvSpPr/>
          <p:nvPr/>
        </p:nvSpPr>
        <p:spPr>
          <a:xfrm>
            <a:off x="6924888" y="340868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0868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4818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481832"/>
            <a:ext cx="3986646" cy="647192"/>
          </a:xfrm>
          <a:prstGeom prst="rect">
            <a:avLst/>
          </a:prstGeom>
          <a:noFill/>
        </p:spPr>
        <p:txBody>
          <a:bodyPr wrap="square" anchor="ctr" lIns="36576" rIns="36576" tIns="36576" bIns="36576">
            <a:spAutoFit/>
          </a:bodyPr>
          <a:lstStyle/>
          <a:p>
            <a:pPr>
              <a:lnSpc>
                <a:spcPct val="105000"/>
              </a:lnSpc>
            </a:pPr>
            <a:r>
              <a:rPr sz="1600" b="0" i="0" u="none">
                <a:solidFill>
                  <a:srgbClr val="1C2B3A"/>
                </a:solidFill>
                <a:latin typeface="Barlow"/>
              </a:rPr>
              <a:t>… </a:t>
            </a:r>
            <a:r>
              <a:rPr sz="1600" b="1" i="0" u="none">
                <a:solidFill>
                  <a:srgbClr val="1C2B3A"/>
                </a:solidFill>
                <a:latin typeface="Barlow"/>
              </a:rPr>
              <a:t>und</a:t>
            </a:r>
            <a:r>
              <a:rPr sz="1600" b="0" i="0" u="none">
                <a:solidFill>
                  <a:srgbClr val="1C2B3A"/>
                </a:solidFill>
                <a:latin typeface="Barlow"/>
              </a:rPr>
              <a:t> kein Wert eingetragen (</a:t>
            </a:r>
            <a:r>
              <a:rPr sz="1440" b="0" i="0" u="none">
                <a:solidFill>
                  <a:srgbClr val="1C2B3A"/>
                </a:solidFill>
                <a:latin typeface="IBM Plex Mono"/>
              </a:rPr>
              <a:t>IS NULL</a:t>
            </a:r>
            <a:r>
              <a:rPr sz="1600" b="0" i="0" u="none">
                <a:solidFill>
                  <a:srgbClr val="1C2B3A"/>
                </a:solidFill>
                <a:latin typeface="Barlow"/>
              </a:rPr>
              <a:t>)</a:t>
            </a:r>
          </a:p>
        </p:txBody>
      </p:sp>
      <p:sp>
        <p:nvSpPr>
          <p:cNvPr id="24" name="Rounded Rectangle 23"/>
          <p:cNvSpPr/>
          <p:nvPr/>
        </p:nvSpPr>
        <p:spPr>
          <a:xfrm>
            <a:off x="6924888" y="4302760"/>
            <a:ext cx="4718166" cy="6858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02760"/>
            <a:ext cx="73152" cy="68580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37591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375912"/>
            <a:ext cx="3986646" cy="57607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SELECT</a:t>
            </a:r>
            <a:r>
              <a:rPr sz="1600" b="0" i="0" u="none">
                <a:solidFill>
                  <a:srgbClr val="1C2B3A"/>
                </a:solidFill>
                <a:latin typeface="Barlow"/>
              </a:rPr>
              <a:t> – FundNr, Bezeichnung, Wert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Beispiel: Finderlohn der Top 3</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23</a:t>
            </a:r>
          </a:p>
        </p:txBody>
      </p:sp>
      <p:sp>
        <p:nvSpPr>
          <p:cNvPr id="8" name="SQL-Hintergrund"/>
          <p:cNvSpPr/>
          <p:nvPr/>
        </p:nvSpPr>
        <p:spPr>
          <a:xfrm>
            <a:off x="548640" y="1691640"/>
            <a:ext cx="6101928" cy="143129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p:cNvSpPr txBox="1"/>
          <p:nvPr/>
        </p:nvSpPr>
        <p:spPr>
          <a:xfrm>
            <a:off x="731520" y="1828800"/>
            <a:ext cx="5736168" cy="1156970"/>
          </a:xfrm>
          <a:prstGeom prst="rect">
            <a:avLst/>
          </a:prstGeom>
          <a:noFill/>
        </p:spPr>
        <p:txBody>
          <a:bodyPr wrap="square" lIns="18288" rIns="18288" tIns="18288" bIns="18288">
            <a:spAutoFit/>
          </a:bodyPr>
          <a:lstStyle/>
          <a:p>
            <a:pPr>
              <a:lnSpc>
                <a:spcPct val="100000"/>
              </a:lnSpc>
            </a:pPr>
            <a:r>
              <a:rPr sz="1400" i="0">
                <a:solidFill>
                  <a:srgbClr val="F2A65A"/>
                </a:solidFill>
                <a:latin typeface="IBM Plex Mono"/>
              </a:rPr>
              <a:t>SELECT</a:t>
            </a:r>
            <a:r>
              <a:rPr sz="1400" i="0">
                <a:solidFill>
                  <a:srgbClr val="D8E3D0"/>
                </a:solidFill>
                <a:latin typeface="IBM Plex Mono"/>
              </a:rPr>
              <a:t> </a:t>
            </a:r>
            <a:r>
              <a:rPr sz="1400" i="0">
                <a:solidFill>
                  <a:srgbClr val="D8E3D0"/>
                </a:solidFill>
                <a:latin typeface="IBM Plex Mono"/>
              </a:rPr>
              <a:t>Bezeichnung</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Wert</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Wert</a:t>
            </a:r>
            <a:r>
              <a:rPr sz="1400" i="0">
                <a:solidFill>
                  <a:srgbClr val="D8E3D0"/>
                </a:solidFill>
                <a:latin typeface="IBM Plex Mono"/>
              </a:rPr>
              <a:t> </a:t>
            </a:r>
            <a:r>
              <a:rPr sz="1400" i="0">
                <a:solidFill>
                  <a:srgbClr val="D8E3D0"/>
                </a:solidFill>
                <a:latin typeface="IBM Plex Mono"/>
              </a:rPr>
              <a:t>*</a:t>
            </a:r>
            <a:r>
              <a:rPr sz="1400" i="0">
                <a:solidFill>
                  <a:srgbClr val="D8E3D0"/>
                </a:solidFill>
                <a:latin typeface="IBM Plex Mono"/>
              </a:rPr>
              <a:t> </a:t>
            </a:r>
            <a:r>
              <a:rPr sz="1400" i="0">
                <a:solidFill>
                  <a:srgbClr val="8CC4FF"/>
                </a:solidFill>
                <a:latin typeface="IBM Plex Mono"/>
              </a:rPr>
              <a:t>0.05</a:t>
            </a:r>
            <a:r>
              <a:rPr sz="1400" i="0">
                <a:solidFill>
                  <a:srgbClr val="D8E3D0"/>
                </a:solidFill>
                <a:latin typeface="IBM Plex Mono"/>
              </a:rPr>
              <a:t> </a:t>
            </a:r>
            <a:r>
              <a:rPr sz="1400" i="0">
                <a:solidFill>
                  <a:srgbClr val="F2A65A"/>
                </a:solidFill>
                <a:latin typeface="IBM Plex Mono"/>
              </a:rPr>
              <a:t>AS</a:t>
            </a:r>
            <a:r>
              <a:rPr sz="1400" i="0">
                <a:solidFill>
                  <a:srgbClr val="D8E3D0"/>
                </a:solidFill>
                <a:latin typeface="IBM Plex Mono"/>
              </a:rPr>
              <a:t> </a:t>
            </a:r>
            <a:r>
              <a:rPr sz="1400" i="0">
                <a:solidFill>
                  <a:srgbClr val="D8E3D0"/>
                </a:solidFill>
                <a:latin typeface="IBM Plex Mono"/>
              </a:rPr>
              <a:t>Finderlohn</a:t>
            </a:r>
          </a:p>
          <a:p>
            <a:pPr>
              <a:lnSpc>
                <a:spcPct val="100000"/>
              </a:lnSpc>
            </a:pPr>
            <a:r>
              <a:rPr sz="1400" i="0">
                <a:solidFill>
                  <a:srgbClr val="F2A65A"/>
                </a:solidFill>
                <a:latin typeface="IBM Plex Mono"/>
              </a:rPr>
              <a:t>FROM</a:t>
            </a:r>
            <a:r>
              <a:rPr sz="1400" i="0">
                <a:solidFill>
                  <a:srgbClr val="D8E3D0"/>
                </a:solidFill>
                <a:latin typeface="IBM Plex Mono"/>
              </a:rPr>
              <a:t> </a:t>
            </a:r>
            <a:r>
              <a:rPr sz="1400" i="0">
                <a:solidFill>
                  <a:srgbClr val="D8E3D0"/>
                </a:solidFill>
                <a:latin typeface="IBM Plex Mono"/>
              </a:rPr>
              <a:t>Fundsache</a:t>
            </a:r>
          </a:p>
          <a:p>
            <a:pPr>
              <a:lnSpc>
                <a:spcPct val="100000"/>
              </a:lnSpc>
            </a:pPr>
            <a:r>
              <a:rPr sz="1400" i="0">
                <a:solidFill>
                  <a:srgbClr val="F2A65A"/>
                </a:solidFill>
                <a:latin typeface="IBM Plex Mono"/>
              </a:rPr>
              <a:t>WHERE</a:t>
            </a:r>
            <a:r>
              <a:rPr sz="1400" i="0">
                <a:solidFill>
                  <a:srgbClr val="D8E3D0"/>
                </a:solidFill>
                <a:latin typeface="IBM Plex Mono"/>
              </a:rPr>
              <a:t> </a:t>
            </a:r>
            <a:r>
              <a:rPr sz="1400" i="0">
                <a:solidFill>
                  <a:srgbClr val="D8E3D0"/>
                </a:solidFill>
                <a:latin typeface="IBM Plex Mono"/>
              </a:rPr>
              <a:t>Kategorie</a:t>
            </a:r>
            <a:r>
              <a:rPr sz="1400" i="0">
                <a:solidFill>
                  <a:srgbClr val="D8E3D0"/>
                </a:solidFill>
                <a:latin typeface="IBM Plex Mono"/>
              </a:rPr>
              <a:t> </a:t>
            </a:r>
            <a:r>
              <a:rPr sz="1400" i="0">
                <a:solidFill>
                  <a:srgbClr val="F2A65A"/>
                </a:solidFill>
                <a:latin typeface="IBM Plex Mono"/>
              </a:rPr>
              <a:t>IN</a:t>
            </a:r>
            <a:r>
              <a:rPr sz="1400" i="0">
                <a:solidFill>
                  <a:srgbClr val="D8E3D0"/>
                </a:solidFill>
                <a:latin typeface="IBM Plex Mono"/>
              </a:rPr>
              <a:t> </a:t>
            </a:r>
            <a:r>
              <a:rPr sz="1400" i="0">
                <a:solidFill>
                  <a:srgbClr val="D8E3D0"/>
                </a:solidFill>
                <a:latin typeface="IBM Plex Mono"/>
              </a:rPr>
              <a:t>(</a:t>
            </a:r>
            <a:r>
              <a:rPr sz="1400" i="0">
                <a:solidFill>
                  <a:srgbClr val="9BD3A6"/>
                </a:solidFill>
                <a:latin typeface="IBM Plex Mono"/>
              </a:rPr>
              <a:t>'Taschen'</a:t>
            </a:r>
            <a:r>
              <a:rPr sz="1400" i="0">
                <a:solidFill>
                  <a:srgbClr val="D8E3D0"/>
                </a:solidFill>
                <a:latin typeface="IBM Plex Mono"/>
              </a:rPr>
              <a:t>,</a:t>
            </a:r>
            <a:r>
              <a:rPr sz="1400" i="0">
                <a:solidFill>
                  <a:srgbClr val="D8E3D0"/>
                </a:solidFill>
                <a:latin typeface="IBM Plex Mono"/>
              </a:rPr>
              <a:t> </a:t>
            </a:r>
            <a:r>
              <a:rPr sz="1400" i="0">
                <a:solidFill>
                  <a:srgbClr val="9BD3A6"/>
                </a:solidFill>
                <a:latin typeface="IBM Plex Mono"/>
              </a:rPr>
              <a:t>'Spielzeug'</a:t>
            </a:r>
            <a:r>
              <a:rPr sz="1400" i="0">
                <a:solidFill>
                  <a:srgbClr val="D8E3D0"/>
                </a:solidFill>
                <a:latin typeface="IBM Plex Mono"/>
              </a:rPr>
              <a:t>)</a:t>
            </a:r>
          </a:p>
          <a:p>
            <a:pPr>
              <a:lnSpc>
                <a:spcPct val="100000"/>
              </a:lnSpc>
            </a:pPr>
            <a:r>
              <a:rPr sz="1400" i="0">
                <a:solidFill>
                  <a:srgbClr val="F2A65A"/>
                </a:solidFill>
                <a:latin typeface="IBM Plex Mono"/>
              </a:rPr>
              <a:t>ORDER</a:t>
            </a:r>
            <a:r>
              <a:rPr sz="1400" i="0">
                <a:solidFill>
                  <a:srgbClr val="D8E3D0"/>
                </a:solidFill>
                <a:latin typeface="IBM Plex Mono"/>
              </a:rPr>
              <a:t> </a:t>
            </a:r>
            <a:r>
              <a:rPr sz="1400" i="0">
                <a:solidFill>
                  <a:srgbClr val="F2A65A"/>
                </a:solidFill>
                <a:latin typeface="IBM Plex Mono"/>
              </a:rPr>
              <a:t>BY</a:t>
            </a:r>
            <a:r>
              <a:rPr sz="1400" i="0">
                <a:solidFill>
                  <a:srgbClr val="D8E3D0"/>
                </a:solidFill>
                <a:latin typeface="IBM Plex Mono"/>
              </a:rPr>
              <a:t> </a:t>
            </a:r>
            <a:r>
              <a:rPr sz="1400" i="0">
                <a:solidFill>
                  <a:srgbClr val="D8E3D0"/>
                </a:solidFill>
                <a:latin typeface="IBM Plex Mono"/>
              </a:rPr>
              <a:t>Finderlohn</a:t>
            </a:r>
            <a:r>
              <a:rPr sz="1400" i="0">
                <a:solidFill>
                  <a:srgbClr val="D8E3D0"/>
                </a:solidFill>
                <a:latin typeface="IBM Plex Mono"/>
              </a:rPr>
              <a:t> </a:t>
            </a:r>
            <a:r>
              <a:rPr sz="1400" i="0">
                <a:solidFill>
                  <a:srgbClr val="F2A65A"/>
                </a:solidFill>
                <a:latin typeface="IBM Plex Mono"/>
              </a:rPr>
              <a:t>DESC</a:t>
            </a:r>
          </a:p>
          <a:p>
            <a:pPr>
              <a:lnSpc>
                <a:spcPct val="100000"/>
              </a:lnSpc>
            </a:pPr>
            <a:r>
              <a:rPr sz="1400" i="0">
                <a:solidFill>
                  <a:srgbClr val="F2A65A"/>
                </a:solidFill>
                <a:latin typeface="IBM Plex Mono"/>
              </a:rPr>
              <a:t>LIMIT</a:t>
            </a:r>
            <a:r>
              <a:rPr sz="1400" i="0">
                <a:solidFill>
                  <a:srgbClr val="D8E3D0"/>
                </a:solidFill>
                <a:latin typeface="IBM Plex Mono"/>
              </a:rPr>
              <a:t> </a:t>
            </a:r>
            <a:r>
              <a:rPr sz="1400" i="0">
                <a:solidFill>
                  <a:srgbClr val="8CC4FF"/>
                </a:solidFill>
                <a:latin typeface="IBM Plex Mono"/>
              </a:rPr>
              <a:t>3</a:t>
            </a:r>
            <a:r>
              <a:rPr sz="1400" i="0">
                <a:solidFill>
                  <a:srgbClr val="D8E3D0"/>
                </a:solidFill>
                <a:latin typeface="IBM Plex Mono"/>
              </a:rPr>
              <a:t>;</a:t>
            </a:r>
          </a:p>
        </p:txBody>
      </p:sp>
      <p:sp>
        <p:nvSpPr>
          <p:cNvPr id="10" name="TextBox 9"/>
          <p:cNvSpPr txBox="1"/>
          <p:nvPr/>
        </p:nvSpPr>
        <p:spPr>
          <a:xfrm>
            <a:off x="548640" y="3214370"/>
            <a:ext cx="6101928" cy="274320"/>
          </a:xfrm>
          <a:prstGeom prst="rect">
            <a:avLst/>
          </a:prstGeom>
          <a:noFill/>
        </p:spPr>
        <p:txBody>
          <a:bodyPr wrap="square" anchor="t" lIns="36576" rIns="36576" tIns="36576" bIns="36576">
            <a:spAutoFit/>
          </a:bodyPr>
          <a:lstStyle/>
          <a:p>
            <a:pPr>
              <a:lnSpc>
                <a:spcPct val="105000"/>
              </a:lnSpc>
            </a:pPr>
            <a:r>
              <a:rPr sz="1000" b="1" i="0" u="none" spc="120">
                <a:solidFill>
                  <a:srgbClr val="D4B062"/>
                </a:solidFill>
                <a:latin typeface="IBM Plex Mono"/>
              </a:rPr>
              <a:t>ERGEBNIS</a:t>
            </a:r>
          </a:p>
        </p:txBody>
      </p:sp>
      <p:graphicFrame>
        <p:nvGraphicFramePr>
          <p:cNvPr id="11" name="Ergebnistabelle"/>
          <p:cNvGraphicFramePr>
            <a:graphicFrameLocks noGrp="1"/>
          </p:cNvGraphicFramePr>
          <p:nvPr/>
        </p:nvGraphicFramePr>
        <p:xfrm>
          <a:off x="548640" y="3534410"/>
          <a:ext cx="3402025" cy="1023620"/>
        </p:xfrm>
        <a:graphic>
          <a:graphicData uri="http://schemas.openxmlformats.org/drawingml/2006/table">
            <a:tbl>
              <a:tblPr firstRow="1">
                <a:tableStyleId>{5C22544A-7EE6-4342-B048-85BDC9FD1C3A}</a:tableStyleId>
              </a:tblPr>
              <a:tblGrid>
                <a:gridCol w="1385773"/>
                <a:gridCol w="731520"/>
                <a:gridCol w="1284732"/>
              </a:tblGrid>
              <a:tr h="255905">
                <a:tc>
                  <a:txBody>
                    <a:bodyPr/>
                    <a:lstStyle/>
                    <a:p>
                      <a:r>
                        <a:rPr sz="1196" b="1" i="0" u="none">
                          <a:solidFill>
                            <a:srgbClr val="1C2B3A"/>
                          </a:solidFill>
                          <a:latin typeface="IBM Plex Mono"/>
                        </a:rPr>
                        <a:t>Bezeichnung</a:t>
                      </a:r>
                    </a:p>
                  </a:txBody>
                  <a:tcPr marL="54864" marR="54864" marT="18288" marB="18288">
                    <a:solidFill>
                      <a:srgbClr val="EBE2D2"/>
                    </a:solidFill>
                  </a:tcPr>
                </a:tc>
                <a:tc>
                  <a:txBody>
                    <a:bodyPr/>
                    <a:lstStyle/>
                    <a:p>
                      <a:r>
                        <a:rPr sz="1196" b="1" i="0" u="none">
                          <a:solidFill>
                            <a:srgbClr val="1C2B3A"/>
                          </a:solidFill>
                          <a:latin typeface="IBM Plex Mono"/>
                        </a:rPr>
                        <a:t>Wert</a:t>
                      </a:r>
                    </a:p>
                  </a:txBody>
                  <a:tcPr marL="54864" marR="54864" marT="18288" marB="18288">
                    <a:solidFill>
                      <a:srgbClr val="EBE2D2"/>
                    </a:solidFill>
                  </a:tcPr>
                </a:tc>
                <a:tc>
                  <a:txBody>
                    <a:bodyPr/>
                    <a:lstStyle/>
                    <a:p>
                      <a:r>
                        <a:rPr sz="1196" b="1" i="0" u="none">
                          <a:solidFill>
                            <a:srgbClr val="1C2B3A"/>
                          </a:solidFill>
                          <a:latin typeface="IBM Plex Mono"/>
                        </a:rPr>
                        <a:t>Finderlohn</a:t>
                      </a:r>
                    </a:p>
                  </a:txBody>
                  <a:tcPr marL="54864" marR="54864" marT="18288" marB="18288">
                    <a:solidFill>
                      <a:srgbClr val="EBE2D2"/>
                    </a:solidFill>
                  </a:tcPr>
                </a:tc>
              </a:tr>
              <a:tr h="255905">
                <a:tc>
                  <a:txBody>
                    <a:bodyPr/>
                    <a:lstStyle/>
                    <a:p>
                      <a:r>
                        <a:rPr sz="1300" b="0" i="0" u="none">
                          <a:solidFill>
                            <a:srgbClr val="1C2B3A"/>
                          </a:solidFill>
                          <a:latin typeface="Barlow"/>
                        </a:rPr>
                        <a:t>Geldbörse</a:t>
                      </a:r>
                    </a:p>
                  </a:txBody>
                  <a:tcPr marL="54864" marR="54864" marT="18288" marB="18288">
                    <a:solidFill>
                      <a:srgbClr val="FFFDF8"/>
                    </a:solidFill>
                  </a:tcPr>
                </a:tc>
                <a:tc>
                  <a:txBody>
                    <a:bodyPr/>
                    <a:lstStyle/>
                    <a:p>
                      <a:pPr algn="r"/>
                      <a:r>
                        <a:rPr sz="1300" b="0" i="0" u="none">
                          <a:solidFill>
                            <a:srgbClr val="1C2B3A"/>
                          </a:solidFill>
                          <a:latin typeface="Barlow"/>
                        </a:rPr>
                        <a:t>73</a:t>
                      </a:r>
                    </a:p>
                  </a:txBody>
                  <a:tcPr marL="54864" marR="54864" marT="18288" marB="18288">
                    <a:solidFill>
                      <a:srgbClr val="FFFDF8"/>
                    </a:solidFill>
                  </a:tcPr>
                </a:tc>
                <a:tc>
                  <a:txBody>
                    <a:bodyPr/>
                    <a:lstStyle/>
                    <a:p>
                      <a:pPr algn="r"/>
                      <a:r>
                        <a:rPr sz="1300" b="0" i="0" u="none">
                          <a:solidFill>
                            <a:srgbClr val="1C2B3A"/>
                          </a:solidFill>
                          <a:latin typeface="Barlow"/>
                        </a:rPr>
                        <a:t>3,65</a:t>
                      </a:r>
                    </a:p>
                  </a:txBody>
                  <a:tcPr marL="54864" marR="54864" marT="18288" marB="18288">
                    <a:solidFill>
                      <a:srgbClr val="FFFDF8"/>
                    </a:solidFill>
                  </a:tcPr>
                </a:tc>
              </a:tr>
              <a:tr h="255905">
                <a:tc>
                  <a:txBody>
                    <a:bodyPr/>
                    <a:lstStyle/>
                    <a:p>
                      <a:r>
                        <a:rPr sz="1300" b="0" i="0" u="none">
                          <a:solidFill>
                            <a:srgbClr val="1C2B3A"/>
                          </a:solidFill>
                          <a:latin typeface="Barlow"/>
                        </a:rPr>
                        <a:t>Sporttasche</a:t>
                      </a:r>
                    </a:p>
                  </a:txBody>
                  <a:tcPr marL="54864" marR="54864" marT="18288" marB="18288">
                    <a:solidFill>
                      <a:srgbClr val="FFFDF8"/>
                    </a:solidFill>
                  </a:tcPr>
                </a:tc>
                <a:tc>
                  <a:txBody>
                    <a:bodyPr/>
                    <a:lstStyle/>
                    <a:p>
                      <a:pPr algn="r"/>
                      <a:r>
                        <a:rPr sz="1300" b="0" i="0" u="none">
                          <a:solidFill>
                            <a:srgbClr val="1C2B3A"/>
                          </a:solidFill>
                          <a:latin typeface="Barlow"/>
                        </a:rPr>
                        <a:t>35</a:t>
                      </a:r>
                    </a:p>
                  </a:txBody>
                  <a:tcPr marL="54864" marR="54864" marT="18288" marB="18288">
                    <a:solidFill>
                      <a:srgbClr val="FFFDF8"/>
                    </a:solidFill>
                  </a:tcPr>
                </a:tc>
                <a:tc>
                  <a:txBody>
                    <a:bodyPr/>
                    <a:lstStyle/>
                    <a:p>
                      <a:pPr algn="r"/>
                      <a:r>
                        <a:rPr sz="1300" b="0" i="0" u="none">
                          <a:solidFill>
                            <a:srgbClr val="1C2B3A"/>
                          </a:solidFill>
                          <a:latin typeface="Barlow"/>
                        </a:rPr>
                        <a:t>1,75</a:t>
                      </a:r>
                    </a:p>
                  </a:txBody>
                  <a:tcPr marL="54864" marR="54864" marT="18288" marB="18288">
                    <a:solidFill>
                      <a:srgbClr val="FFFDF8"/>
                    </a:solidFill>
                  </a:tcPr>
                </a:tc>
              </a:tr>
              <a:tr h="255905">
                <a:tc>
                  <a:txBody>
                    <a:bodyPr/>
                    <a:lstStyle/>
                    <a:p>
                      <a:r>
                        <a:rPr sz="1300" b="0" i="0" u="none">
                          <a:solidFill>
                            <a:srgbClr val="1C2B3A"/>
                          </a:solidFill>
                          <a:latin typeface="Barlow"/>
                        </a:rPr>
                        <a:t>Turnbeutel</a:t>
                      </a:r>
                    </a:p>
                  </a:txBody>
                  <a:tcPr marL="54864" marR="54864" marT="18288" marB="18288">
                    <a:solidFill>
                      <a:srgbClr val="FFFDF8"/>
                    </a:solidFill>
                  </a:tcPr>
                </a:tc>
                <a:tc>
                  <a:txBody>
                    <a:bodyPr/>
                    <a:lstStyle/>
                    <a:p>
                      <a:pPr algn="r"/>
                      <a:r>
                        <a:rPr sz="1300" b="0" i="0" u="none">
                          <a:solidFill>
                            <a:srgbClr val="1C2B3A"/>
                          </a:solidFill>
                          <a:latin typeface="Barlow"/>
                        </a:rPr>
                        <a:t>33</a:t>
                      </a:r>
                    </a:p>
                  </a:txBody>
                  <a:tcPr marL="54864" marR="54864" marT="18288" marB="18288">
                    <a:solidFill>
                      <a:srgbClr val="FFFDF8"/>
                    </a:solidFill>
                  </a:tcPr>
                </a:tc>
                <a:tc>
                  <a:txBody>
                    <a:bodyPr/>
                    <a:lstStyle/>
                    <a:p>
                      <a:pPr algn="r"/>
                      <a:r>
                        <a:rPr sz="1300" b="0" i="0" u="none">
                          <a:solidFill>
                            <a:srgbClr val="1C2B3A"/>
                          </a:solidFill>
                          <a:latin typeface="Barlow"/>
                        </a:rPr>
                        <a:t>1,65</a:t>
                      </a:r>
                    </a:p>
                  </a:txBody>
                  <a:tcPr marL="54864" marR="54864" marT="18288" marB="18288">
                    <a:solidFill>
                      <a:srgbClr val="FFFDF8"/>
                    </a:solidFill>
                  </a:tcPr>
                </a:tc>
              </a:tr>
            </a:tbl>
          </a:graphicData>
        </a:graphic>
      </p:graphicFrame>
      <p:sp>
        <p:nvSpPr>
          <p:cNvPr id="12" name="Rounded Rectangle 11"/>
          <p:cNvSpPr/>
          <p:nvPr/>
        </p:nvSpPr>
        <p:spPr>
          <a:xfrm>
            <a:off x="6924888" y="169164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924888" y="169164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62048" y="176479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1</a:t>
            </a:r>
          </a:p>
        </p:txBody>
      </p:sp>
      <p:sp>
        <p:nvSpPr>
          <p:cNvPr id="15" name="TextBox 14"/>
          <p:cNvSpPr txBox="1"/>
          <p:nvPr/>
        </p:nvSpPr>
        <p:spPr>
          <a:xfrm>
            <a:off x="7519248" y="176479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WHERE</a:t>
            </a:r>
            <a:r>
              <a:rPr sz="1600" b="0" i="0" u="none">
                <a:solidFill>
                  <a:srgbClr val="1C2B3A"/>
                </a:solidFill>
                <a:latin typeface="Barlow"/>
              </a:rPr>
              <a:t> – nur Taschen und Spielzeug (IN)</a:t>
            </a:r>
          </a:p>
        </p:txBody>
      </p:sp>
      <p:sp>
        <p:nvSpPr>
          <p:cNvPr id="16" name="Rounded Rectangle 15"/>
          <p:cNvSpPr/>
          <p:nvPr/>
        </p:nvSpPr>
        <p:spPr>
          <a:xfrm>
            <a:off x="6924888" y="258572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924888" y="258572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62048" y="265887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2</a:t>
            </a:r>
          </a:p>
        </p:txBody>
      </p:sp>
      <p:sp>
        <p:nvSpPr>
          <p:cNvPr id="19" name="TextBox 18"/>
          <p:cNvSpPr txBox="1"/>
          <p:nvPr/>
        </p:nvSpPr>
        <p:spPr>
          <a:xfrm>
            <a:off x="7519248" y="265887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SELECT</a:t>
            </a:r>
            <a:r>
              <a:rPr sz="1600" b="0" i="0" u="none">
                <a:solidFill>
                  <a:srgbClr val="1C2B3A"/>
                </a:solidFill>
                <a:latin typeface="Barlow"/>
              </a:rPr>
              <a:t> berechnet 5 % als Spalte Finderlohn</a:t>
            </a:r>
          </a:p>
        </p:txBody>
      </p:sp>
      <p:sp>
        <p:nvSpPr>
          <p:cNvPr id="20" name="Rounded Rectangle 19"/>
          <p:cNvSpPr/>
          <p:nvPr/>
        </p:nvSpPr>
        <p:spPr>
          <a:xfrm>
            <a:off x="6924888" y="3479800"/>
            <a:ext cx="4718166" cy="75692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924888" y="3479800"/>
            <a:ext cx="73152" cy="75692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62048" y="355295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3</a:t>
            </a:r>
          </a:p>
        </p:txBody>
      </p:sp>
      <p:sp>
        <p:nvSpPr>
          <p:cNvPr id="23" name="TextBox 22"/>
          <p:cNvSpPr txBox="1"/>
          <p:nvPr/>
        </p:nvSpPr>
        <p:spPr>
          <a:xfrm>
            <a:off x="7519248" y="3552952"/>
            <a:ext cx="3986646" cy="64719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ORDER BY</a:t>
            </a:r>
            <a:r>
              <a:rPr sz="1600" b="0" i="0" u="none">
                <a:solidFill>
                  <a:srgbClr val="1C2B3A"/>
                </a:solidFill>
                <a:latin typeface="Barlow"/>
              </a:rPr>
              <a:t> über den Alias – höchster Finderlohn zuerst</a:t>
            </a:r>
          </a:p>
        </p:txBody>
      </p:sp>
      <p:sp>
        <p:nvSpPr>
          <p:cNvPr id="24" name="Rounded Rectangle 23"/>
          <p:cNvSpPr/>
          <p:nvPr/>
        </p:nvSpPr>
        <p:spPr>
          <a:xfrm>
            <a:off x="6924888" y="4373880"/>
            <a:ext cx="4718166" cy="6858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924888" y="4373880"/>
            <a:ext cx="73152" cy="68580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62048" y="4447032"/>
            <a:ext cx="457200" cy="457200"/>
          </a:xfrm>
          <a:prstGeom prst="rect">
            <a:avLst/>
          </a:prstGeom>
          <a:noFill/>
        </p:spPr>
        <p:txBody>
          <a:bodyPr wrap="square" anchor="t" lIns="36576" rIns="36576" tIns="36576" bIns="36576">
            <a:spAutoFit/>
          </a:bodyPr>
          <a:lstStyle/>
          <a:p>
            <a:pPr>
              <a:lnSpc>
                <a:spcPct val="105000"/>
              </a:lnSpc>
            </a:pPr>
            <a:r>
              <a:rPr sz="2400" b="0" i="0" u="none">
                <a:solidFill>
                  <a:srgbClr val="B3261E"/>
                </a:solidFill>
                <a:latin typeface="Barlow Condensed SemiBold"/>
              </a:rPr>
              <a:t>4</a:t>
            </a:r>
          </a:p>
        </p:txBody>
      </p:sp>
      <p:sp>
        <p:nvSpPr>
          <p:cNvPr id="27" name="TextBox 26"/>
          <p:cNvSpPr txBox="1"/>
          <p:nvPr/>
        </p:nvSpPr>
        <p:spPr>
          <a:xfrm>
            <a:off x="7519248" y="4447032"/>
            <a:ext cx="3986646" cy="576072"/>
          </a:xfrm>
          <a:prstGeom prst="rect">
            <a:avLst/>
          </a:prstGeom>
          <a:noFill/>
        </p:spPr>
        <p:txBody>
          <a:bodyPr wrap="square" anchor="ctr" lIns="36576" rIns="36576" tIns="36576" bIns="36576">
            <a:spAutoFit/>
          </a:bodyPr>
          <a:lstStyle/>
          <a:p>
            <a:pPr>
              <a:lnSpc>
                <a:spcPct val="105000"/>
              </a:lnSpc>
            </a:pPr>
            <a:r>
              <a:rPr sz="1600" b="1" i="0" u="none">
                <a:solidFill>
                  <a:srgbClr val="1C2B3A"/>
                </a:solidFill>
                <a:latin typeface="Barlow"/>
              </a:rPr>
              <a:t>LIMIT 3</a:t>
            </a:r>
            <a:r>
              <a:rPr sz="1600" b="0" i="0" u="none">
                <a:solidFill>
                  <a:srgbClr val="1C2B3A"/>
                </a:solidFill>
                <a:latin typeface="Barlow"/>
              </a:rPr>
              <a:t> – nur die ersten drei Zeilen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Fahndung mit Platzhaltern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24</a:t>
            </a:r>
          </a:p>
        </p:txBody>
      </p:sp>
      <p:sp>
        <p:nvSpPr>
          <p:cNvPr id="8" name="Rounded Rectangle 7"/>
          <p:cNvSpPr/>
          <p:nvPr/>
        </p:nvSpPr>
        <p:spPr>
          <a:xfrm>
            <a:off x="548640" y="1691640"/>
            <a:ext cx="11094415" cy="434340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UNPLUGGED · 10 MIN · MATERIAL: WORT-/MUSTERKARTEN JE TEAM, NULL-KARTE</a:t>
            </a:r>
          </a:p>
        </p:txBody>
      </p:sp>
      <p:sp>
        <p:nvSpPr>
          <p:cNvPr id="10" name="TextBox 9"/>
          <p:cNvSpPr txBox="1"/>
          <p:nvPr/>
        </p:nvSpPr>
        <p:spPr>
          <a:xfrm>
            <a:off x="822959" y="2194560"/>
            <a:ext cx="10545775" cy="1840864"/>
          </a:xfrm>
          <a:prstGeom prst="rect">
            <a:avLst/>
          </a:prstGeom>
          <a:noFill/>
        </p:spPr>
        <p:txBody>
          <a:bodyPr wrap="square" anchor="t" lIns="36576" rIns="36576" tIns="36576" bIns="36576">
            <a:spAutoFit/>
          </a:bodyPr>
          <a:lstStyle/>
          <a:p>
            <a:pPr>
              <a:lnSpc>
                <a:spcPct val="105000"/>
              </a:lnSpc>
              <a:spcAft>
                <a:spcPts val="600"/>
              </a:spcAft>
            </a:pPr>
            <a:r>
              <a:rPr sz="1900" b="0" i="0" u="none">
                <a:solidFill>
                  <a:srgbClr val="1C2B3A"/>
                </a:solidFill>
                <a:latin typeface="Barlow"/>
              </a:rPr>
              <a:t>1. Teams ordnen jeder Musterkarte alle passenden Wortkarten zu (Wettlauf, 4 Minuten).</a:t>
            </a:r>
          </a:p>
          <a:p>
            <a:pPr>
              <a:lnSpc>
                <a:spcPct val="105000"/>
              </a:lnSpc>
              <a:spcAft>
                <a:spcPts val="600"/>
              </a:spcAft>
            </a:pPr>
            <a:r>
              <a:rPr sz="1900" b="0" i="0" u="none">
                <a:solidFill>
                  <a:srgbClr val="1C2B3A"/>
                </a:solidFill>
                <a:latin typeface="Barlow"/>
              </a:rPr>
              <a:t>2. Streitfälle klären: Passt „Uhrenkette“ zu </a:t>
            </a:r>
            <a:r>
              <a:rPr sz="1710" b="0" i="0" u="none">
                <a:solidFill>
                  <a:srgbClr val="1C2B3A"/>
                </a:solidFill>
                <a:latin typeface="IBM Plex Mono"/>
              </a:rPr>
              <a:t>'%uhr'</a:t>
            </a:r>
            <a:r>
              <a:rPr sz="1900" b="0" i="0" u="none">
                <a:solidFill>
                  <a:srgbClr val="1C2B3A"/>
                </a:solidFill>
                <a:latin typeface="Barlow"/>
              </a:rPr>
              <a:t>? Und zu </a:t>
            </a:r>
            <a:r>
              <a:rPr sz="1710" b="0" i="0" u="none">
                <a:solidFill>
                  <a:srgbClr val="1C2B3A"/>
                </a:solidFill>
                <a:latin typeface="IBM Plex Mono"/>
              </a:rPr>
              <a:t>'%uhr%'</a:t>
            </a:r>
            <a:r>
              <a:rPr sz="1900" b="0" i="0" u="none">
                <a:solidFill>
                  <a:srgbClr val="1C2B3A"/>
                </a:solidFill>
                <a:latin typeface="Barlow"/>
              </a:rPr>
              <a:t>?</a:t>
            </a:r>
          </a:p>
          <a:p>
            <a:pPr>
              <a:lnSpc>
                <a:spcPct val="105000"/>
              </a:lnSpc>
              <a:spcAft>
                <a:spcPts val="600"/>
              </a:spcAft>
            </a:pPr>
            <a:r>
              <a:rPr sz="1900" b="0" i="0" u="none">
                <a:solidFill>
                  <a:srgbClr val="1C2B3A"/>
                </a:solidFill>
                <a:latin typeface="Barlow"/>
              </a:rPr>
              <a:t>3. NULL-Stuhl: Eine Person hält die NULL-Karte als Farbe. </a:t>
            </a:r>
            <a:r>
              <a:rPr sz="1710" b="0" i="0" u="none">
                <a:solidFill>
                  <a:srgbClr val="1C2B3A"/>
                </a:solidFill>
                <a:latin typeface="IBM Plex Mono"/>
              </a:rPr>
              <a:t>WHERE Farbe = NULL</a:t>
            </a:r>
            <a:r>
              <a:rPr sz="1900" b="0" i="0" u="none">
                <a:solidFill>
                  <a:srgbClr val="1C2B3A"/>
                </a:solidFill>
                <a:latin typeface="Barlow"/>
              </a:rPr>
              <a:t> – wer steht auf?</a:t>
            </a:r>
          </a:p>
          <a:p>
            <a:pPr>
              <a:lnSpc>
                <a:spcPct val="105000"/>
              </a:lnSpc>
              <a:spcAft>
                <a:spcPts val="600"/>
              </a:spcAft>
            </a:pPr>
            <a:r>
              <a:rPr sz="1900" b="0" i="0" u="none">
                <a:solidFill>
                  <a:srgbClr val="1C2B3A"/>
                </a:solidFill>
                <a:latin typeface="Barlow"/>
              </a:rPr>
              <a:t>4. Dann </a:t>
            </a:r>
            <a:r>
              <a:rPr sz="1710" b="0" i="0" u="none">
                <a:solidFill>
                  <a:srgbClr val="1C2B3A"/>
                </a:solidFill>
                <a:latin typeface="IBM Plex Mono"/>
              </a:rPr>
              <a:t>WHERE Farbe IS NULL</a:t>
            </a:r>
            <a:r>
              <a:rPr sz="1900" b="0" i="0" u="none">
                <a:solidFill>
                  <a:srgbClr val="1C2B3A"/>
                </a:solidFill>
                <a:latin typeface="Barlow"/>
              </a:rPr>
              <a:t> und </a:t>
            </a:r>
            <a:r>
              <a:rPr sz="1710" b="0" i="0" u="none">
                <a:solidFill>
                  <a:srgbClr val="1C2B3A"/>
                </a:solidFill>
                <a:latin typeface="IBM Plex Mono"/>
              </a:rPr>
              <a:t>WHERE Farbe != 'rot'</a:t>
            </a:r>
            <a:r>
              <a:rPr sz="1900" b="0" i="0" u="none">
                <a:solidFill>
                  <a:srgbClr val="1C2B3A"/>
                </a:solidFill>
                <a:latin typeface="Barlow"/>
              </a:rPr>
              <a:t> – wer bleibt sitzen?</a:t>
            </a:r>
          </a:p>
          <a:p>
            <a:pPr>
              <a:lnSpc>
                <a:spcPct val="105000"/>
              </a:lnSpc>
              <a:spcAft>
                <a:spcPts val="600"/>
              </a:spcAft>
            </a:pPr>
            <a:r>
              <a:rPr sz="1900" b="0" i="0" u="none">
                <a:solidFill>
                  <a:srgbClr val="1C2B3A"/>
                </a:solidFill>
                <a:latin typeface="Barlow"/>
              </a:rPr>
              <a:t>5. BETWEEN 10 AND 20 mit den Wertkarten 10 · 15 · 20 · 21: Wer gehört dazu?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 ins Lab: Ermittlung 1.2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25</a:t>
            </a:r>
          </a:p>
        </p:txBody>
      </p:sp>
      <p:sp>
        <p:nvSpPr>
          <p:cNvPr id="8" name="Rounded Rectangle 7"/>
          <p:cNvSpPr/>
          <p:nvPr/>
        </p:nvSpPr>
        <p:spPr>
          <a:xfrm>
            <a:off x="548640" y="1691640"/>
            <a:ext cx="11094415" cy="29260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SPUR IM LAB</a:t>
            </a:r>
          </a:p>
        </p:txBody>
      </p:sp>
      <p:sp>
        <p:nvSpPr>
          <p:cNvPr id="10" name="TextBox 9"/>
          <p:cNvSpPr txBox="1"/>
          <p:nvPr/>
        </p:nvSpPr>
        <p:spPr>
          <a:xfrm>
            <a:off x="822959" y="2194560"/>
            <a:ext cx="10545775" cy="2194560"/>
          </a:xfrm>
          <a:prstGeom prst="rect">
            <a:avLst/>
          </a:prstGeom>
          <a:noFill/>
        </p:spPr>
        <p:txBody>
          <a:bodyPr wrap="square" anchor="t" lIns="36576" rIns="36576" tIns="36576" bIns="36576">
            <a:spAutoFit/>
          </a:bodyPr>
          <a:lstStyle/>
          <a:p>
            <a:pPr>
              <a:lnSpc>
                <a:spcPct val="105000"/>
              </a:lnSpc>
              <a:spcAft>
                <a:spcPts val="600"/>
              </a:spcAft>
            </a:pPr>
            <a:r>
              <a:rPr sz="2600" b="0" i="0" u="none">
                <a:solidFill>
                  <a:srgbClr val="1C2B3A"/>
                </a:solidFill>
                <a:latin typeface="Barlow Condensed SemiBold"/>
              </a:rPr>
              <a:t>„Das verschwundene Fundstück“</a:t>
            </a:r>
          </a:p>
          <a:p>
            <a:pPr>
              <a:lnSpc>
                <a:spcPct val="105000"/>
              </a:lnSpc>
              <a:spcAft>
                <a:spcPts val="400"/>
              </a:spcAft>
            </a:pPr>
            <a:r>
              <a:rPr sz="1900" b="1" i="0" u="none">
                <a:solidFill>
                  <a:srgbClr val="1C2B3A"/>
                </a:solidFill>
                <a:latin typeface="Barlow"/>
              </a:rPr>
              <a:t>Aufgaben:</a:t>
            </a:r>
            <a:r>
              <a:rPr sz="1900" b="0" i="0" u="none">
                <a:solidFill>
                  <a:srgbClr val="1C2B3A"/>
                </a:solidFill>
                <a:latin typeface="Barlow"/>
              </a:rPr>
              <a:t> A1-E2-01 … 05 (Werkzeuge), dann Indizienkette 06 → 07 → 08</a:t>
            </a:r>
          </a:p>
          <a:p>
            <a:pPr>
              <a:lnSpc>
                <a:spcPct val="105000"/>
              </a:lnSpc>
              <a:spcAft>
                <a:spcPts val="400"/>
              </a:spcAft>
            </a:pPr>
            <a:r>
              <a:rPr sz="1900" b="1" i="0" u="none">
                <a:solidFill>
                  <a:srgbClr val="1C2B3A"/>
                </a:solidFill>
                <a:latin typeface="Barlow"/>
              </a:rPr>
              <a:t>Werkzeug:</a:t>
            </a:r>
            <a:r>
              <a:rPr sz="1900" b="0" i="0" u="none">
                <a:solidFill>
                  <a:srgbClr val="1C2B3A"/>
                </a:solidFill>
                <a:latin typeface="Barlow"/>
              </a:rPr>
              <a:t> Zeitlupe (WHERE-Schritt)</a:t>
            </a:r>
          </a:p>
        </p:txBody>
      </p:sp>
      <p:sp>
        <p:nvSpPr>
          <p:cNvPr id="11" name="TextBox 10"/>
          <p:cNvSpPr txBox="1"/>
          <p:nvPr/>
        </p:nvSpPr>
        <p:spPr>
          <a:xfrm>
            <a:off x="548640" y="4800600"/>
            <a:ext cx="11094415" cy="717550"/>
          </a:xfrm>
          <a:prstGeom prst="rect">
            <a:avLst/>
          </a:prstGeom>
          <a:noFill/>
        </p:spPr>
        <p:txBody>
          <a:bodyPr wrap="square" anchor="t" lIns="36576" rIns="36576" tIns="36576" bIns="36576">
            <a:spAutoFit/>
          </a:bodyPr>
          <a:lstStyle/>
          <a:p>
            <a:pPr>
              <a:lnSpc>
                <a:spcPct val="105000"/>
              </a:lnSpc>
              <a:spcAft>
                <a:spcPts val="600"/>
              </a:spcAft>
            </a:pPr>
            <a:r>
              <a:rPr sz="1700" b="0" i="0" u="none">
                <a:solidFill>
                  <a:srgbClr val="E8E1D3"/>
                </a:solidFill>
                <a:latin typeface="Barlow"/>
              </a:rPr>
              <a:t>▸ Jede Abfrage der Indizienkette baut auf der vorigen auf – Bedingungen ergänzen, nicht neu raten.</a:t>
            </a:r>
          </a:p>
          <a:p>
            <a:pPr>
              <a:lnSpc>
                <a:spcPct val="105000"/>
              </a:lnSpc>
              <a:spcAft>
                <a:spcPts val="600"/>
              </a:spcAft>
            </a:pPr>
            <a:r>
              <a:rPr sz="1700" b="0" i="0" u="none">
                <a:solidFill>
                  <a:srgbClr val="E8E1D3"/>
                </a:solidFill>
                <a:latin typeface="Barlow"/>
              </a:rPr>
              <a:t>▸ Parallel: AB 1.2. Wer fertig ist: Verhör 1 · Stadtbibliothek (20 Minuten).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Ermittler-Notiz</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26</a:t>
            </a:r>
          </a:p>
        </p:txBody>
      </p:sp>
      <p:sp>
        <p:nvSpPr>
          <p:cNvPr id="8" name="Rounded Rectangle 7"/>
          <p:cNvSpPr/>
          <p:nvPr/>
        </p:nvSpPr>
        <p:spPr>
          <a:xfrm>
            <a:off x="548640" y="1691640"/>
            <a:ext cx="11094415" cy="434340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C5A85"/>
                </a:solidFill>
                <a:latin typeface="IBM Plex Mono"/>
              </a:rPr>
              <a:t>ERMITTLER-NOTIZ</a:t>
            </a:r>
          </a:p>
        </p:txBody>
      </p:sp>
      <p:sp>
        <p:nvSpPr>
          <p:cNvPr id="10" name="TextBox 9"/>
          <p:cNvSpPr txBox="1"/>
          <p:nvPr/>
        </p:nvSpPr>
        <p:spPr>
          <a:xfrm>
            <a:off x="822959" y="2194560"/>
            <a:ext cx="10545775" cy="19329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 </a:t>
            </a:r>
            <a:r>
              <a:rPr sz="1800" b="0" i="0" u="none">
                <a:solidFill>
                  <a:srgbClr val="1C2B3A"/>
                </a:solidFill>
                <a:latin typeface="IBM Plex Mono"/>
              </a:rPr>
              <a:t>%</a:t>
            </a:r>
            <a:r>
              <a:rPr sz="2000" b="0" i="0" u="none">
                <a:solidFill>
                  <a:srgbClr val="1C2B3A"/>
                </a:solidFill>
                <a:latin typeface="Barlow"/>
              </a:rPr>
              <a:t> = beliebig viele Zeichen (auch keins), </a:t>
            </a:r>
            <a:r>
              <a:rPr sz="1800" b="0" i="0" u="none">
                <a:solidFill>
                  <a:srgbClr val="1C2B3A"/>
                </a:solidFill>
                <a:latin typeface="IBM Plex Mono"/>
              </a:rPr>
              <a:t>_</a:t>
            </a:r>
            <a:r>
              <a:rPr sz="2000" b="0" i="0" u="none">
                <a:solidFill>
                  <a:srgbClr val="1C2B3A"/>
                </a:solidFill>
                <a:latin typeface="Barlow"/>
              </a:rPr>
              <a:t> = genau ein Zeichen.</a:t>
            </a:r>
          </a:p>
          <a:p>
            <a:pPr>
              <a:lnSpc>
                <a:spcPct val="105000"/>
              </a:lnSpc>
              <a:spcAft>
                <a:spcPts val="600"/>
              </a:spcAft>
            </a:pPr>
            <a:r>
              <a:rPr sz="2000" b="0" i="0" u="none">
                <a:solidFill>
                  <a:srgbClr val="1C2B3A"/>
                </a:solidFill>
                <a:latin typeface="Barlow"/>
              </a:rPr>
              <a:t>▸ NULL heißt „weiß keiner“ – nur </a:t>
            </a:r>
            <a:r>
              <a:rPr sz="1800" b="0" i="0" u="none">
                <a:solidFill>
                  <a:srgbClr val="1C2B3A"/>
                </a:solidFill>
                <a:latin typeface="IBM Plex Mono"/>
              </a:rPr>
              <a:t>IS NULL</a:t>
            </a:r>
            <a:r>
              <a:rPr sz="2000" b="0" i="0" u="none">
                <a:solidFill>
                  <a:srgbClr val="1C2B3A"/>
                </a:solidFill>
                <a:latin typeface="Barlow"/>
              </a:rPr>
              <a:t> findet es, </a:t>
            </a:r>
            <a:r>
              <a:rPr sz="1800" b="0" i="0" u="none">
                <a:solidFill>
                  <a:srgbClr val="1C2B3A"/>
                </a:solidFill>
                <a:latin typeface="IBM Plex Mono"/>
              </a:rPr>
              <a:t>= NULL</a:t>
            </a:r>
            <a:r>
              <a:rPr sz="2000" b="0" i="0" u="none">
                <a:solidFill>
                  <a:srgbClr val="1C2B3A"/>
                </a:solidFill>
                <a:latin typeface="Barlow"/>
              </a:rPr>
              <a:t> ist nie wahr.</a:t>
            </a:r>
          </a:p>
          <a:p>
            <a:pPr>
              <a:lnSpc>
                <a:spcPct val="105000"/>
              </a:lnSpc>
              <a:spcAft>
                <a:spcPts val="600"/>
              </a:spcAft>
            </a:pPr>
            <a:r>
              <a:rPr sz="2000" b="0" i="0" u="none">
                <a:solidFill>
                  <a:srgbClr val="1C2B3A"/>
                </a:solidFill>
                <a:latin typeface="Barlow"/>
              </a:rPr>
              <a:t>▸ BETWEEN schließt beide Grenzen ein.</a:t>
            </a:r>
          </a:p>
          <a:p>
            <a:pPr>
              <a:lnSpc>
                <a:spcPct val="105000"/>
              </a:lnSpc>
              <a:spcAft>
                <a:spcPts val="600"/>
              </a:spcAft>
            </a:pPr>
            <a:r>
              <a:rPr sz="2000" b="0" i="0" u="none">
                <a:solidFill>
                  <a:srgbClr val="1C2B3A"/>
                </a:solidFill>
                <a:latin typeface="Barlow"/>
              </a:rPr>
              <a:t>▸ Text </a:t>
            </a:r>
            <a:r>
              <a:rPr sz="1800" b="0" i="0" u="none">
                <a:solidFill>
                  <a:srgbClr val="1C2B3A"/>
                </a:solidFill>
                <a:latin typeface="IBM Plex Mono"/>
              </a:rPr>
              <a:t>'…'</a:t>
            </a:r>
            <a:r>
              <a:rPr sz="2000" b="0" i="0" u="none">
                <a:solidFill>
                  <a:srgbClr val="1C2B3A"/>
                </a:solidFill>
                <a:latin typeface="Barlow"/>
              </a:rPr>
              <a:t> · Datum </a:t>
            </a:r>
            <a:r>
              <a:rPr sz="1800" b="0" i="0" u="none">
                <a:solidFill>
                  <a:srgbClr val="1C2B3A"/>
                </a:solidFill>
                <a:latin typeface="IBM Plex Mono"/>
              </a:rPr>
              <a:t>'JJJJ-MM-TT'</a:t>
            </a:r>
            <a:r>
              <a:rPr sz="2000" b="0" i="0" u="none">
                <a:solidFill>
                  <a:srgbClr val="1C2B3A"/>
                </a:solidFill>
                <a:latin typeface="Barlow"/>
              </a:rPr>
              <a:t> · Zahl mit Punkt · ungleich </a:t>
            </a:r>
            <a:r>
              <a:rPr sz="1800" b="0" i="0" u="none">
                <a:solidFill>
                  <a:srgbClr val="1C2B3A"/>
                </a:solidFill>
                <a:latin typeface="IBM Plex Mono"/>
              </a:rPr>
              <a:t>!=</a:t>
            </a:r>
            <a:r>
              <a:rPr sz="2000" b="0" i="0" u="none">
                <a:solidFill>
                  <a:srgbClr val="1C2B3A"/>
                </a:solidFill>
                <a:latin typeface="Barlow"/>
              </a:rPr>
              <a:t>.</a:t>
            </a:r>
          </a:p>
          <a:p>
            <a:pPr>
              <a:lnSpc>
                <a:spcPct val="105000"/>
              </a:lnSpc>
              <a:spcAft>
                <a:spcPts val="600"/>
              </a:spcAft>
            </a:pPr>
            <a:r>
              <a:rPr sz="2000" b="0" i="0" u="none">
                <a:solidFill>
                  <a:srgbClr val="1C2B3A"/>
                </a:solidFill>
                <a:latin typeface="Barlow"/>
              </a:rPr>
              <a:t>▸ LIMIT nur nach ORDER BY und ohne Gleichstand an der Schnittkante.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Abi-Format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27</a:t>
            </a:r>
          </a:p>
        </p:txBody>
      </p:sp>
      <p:sp>
        <p:nvSpPr>
          <p:cNvPr id="8" name="Rounded Rectangle 7"/>
          <p:cNvSpPr/>
          <p:nvPr/>
        </p:nvSpPr>
        <p:spPr>
          <a:xfrm>
            <a:off x="548640" y="1691640"/>
            <a:ext cx="11094415" cy="4343400"/>
          </a:xfrm>
          <a:prstGeom prst="roundRect">
            <a:avLst>
              <a:gd name="adj" fmla="val 4000"/>
            </a:avLst>
          </a:prstGeom>
          <a:solidFill>
            <a:srgbClr val="F4EDE1"/>
          </a:solidFill>
          <a:ln w="2540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ABI-ECKE · OPERATOR ENTWERFEN</a:t>
            </a:r>
          </a:p>
        </p:txBody>
      </p:sp>
      <p:sp>
        <p:nvSpPr>
          <p:cNvPr id="10" name="TextBox 9"/>
          <p:cNvSpPr txBox="1"/>
          <p:nvPr/>
        </p:nvSpPr>
        <p:spPr>
          <a:xfrm>
            <a:off x="822959" y="2194560"/>
            <a:ext cx="10545775" cy="1361440"/>
          </a:xfrm>
          <a:prstGeom prst="rect">
            <a:avLst/>
          </a:prstGeom>
          <a:noFill/>
        </p:spPr>
        <p:txBody>
          <a:bodyPr wrap="square" anchor="t" lIns="36576" rIns="36576" tIns="36576" bIns="36576">
            <a:spAutoFit/>
          </a:bodyPr>
          <a:lstStyle/>
          <a:p>
            <a:pPr>
              <a:lnSpc>
                <a:spcPct val="105000"/>
              </a:lnSpc>
              <a:spcAft>
                <a:spcPts val="600"/>
              </a:spcAft>
            </a:pPr>
            <a:r>
              <a:rPr sz="2000" b="0" i="0" u="none">
                <a:solidFill>
                  <a:srgbClr val="1C2B3A"/>
                </a:solidFill>
                <a:latin typeface="Barlow"/>
              </a:rPr>
              <a:t>Gegeben ist die Tabelle Fundsache. </a:t>
            </a:r>
            <a:r>
              <a:rPr sz="2000" b="1" i="0" u="none">
                <a:solidFill>
                  <a:srgbClr val="1C2B3A"/>
                </a:solidFill>
                <a:latin typeface="Barlow"/>
              </a:rPr>
              <a:t>Entwerfen</a:t>
            </a:r>
            <a:r>
              <a:rPr sz="2000" b="0" i="0" u="none">
                <a:solidFill>
                  <a:srgbClr val="1C2B3A"/>
                </a:solidFill>
                <a:latin typeface="Barlow"/>
              </a:rPr>
              <a:t> Sie eine SQL-Abfrage, die Bezeichnung und Funddatum aller noch nicht abgeholten Fundsachen ausgibt, die im September 2026 gefunden wurden. Die neuesten Funde sollen zuerst erscheinen. [3 BE]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Lösung Abi-Format (DS 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28</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SQL-Hintergrund"/>
          <p:cNvSpPr/>
          <p:nvPr/>
        </p:nvSpPr>
        <p:spPr>
          <a:xfrm>
            <a:off x="822959" y="2194560"/>
            <a:ext cx="10545775" cy="1907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1005839" y="2331720"/>
            <a:ext cx="10180015" cy="16332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Funddatum</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AbgeholtAm</a:t>
            </a:r>
            <a:r>
              <a:rPr sz="2000" i="0">
                <a:solidFill>
                  <a:srgbClr val="D8E3D0"/>
                </a:solidFill>
                <a:latin typeface="IBM Plex Mono"/>
              </a:rPr>
              <a:t> </a:t>
            </a:r>
            <a:r>
              <a:rPr sz="2000" i="0">
                <a:solidFill>
                  <a:srgbClr val="F2A65A"/>
                </a:solidFill>
                <a:latin typeface="IBM Plex Mono"/>
              </a:rPr>
              <a:t>IS</a:t>
            </a:r>
            <a:r>
              <a:rPr sz="2000" i="0">
                <a:solidFill>
                  <a:srgbClr val="D8E3D0"/>
                </a:solidFill>
                <a:latin typeface="IBM Plex Mono"/>
              </a:rPr>
              <a:t> </a:t>
            </a:r>
            <a:r>
              <a:rPr sz="2000" i="0">
                <a:solidFill>
                  <a:srgbClr val="F2A65A"/>
                </a:solidFill>
                <a:latin typeface="IBM Plex Mono"/>
              </a:rPr>
              <a:t>NULL</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Funddatum</a:t>
            </a:r>
            <a:r>
              <a:rPr sz="2000" i="0">
                <a:solidFill>
                  <a:srgbClr val="D8E3D0"/>
                </a:solidFill>
                <a:latin typeface="IBM Plex Mono"/>
              </a:rPr>
              <a:t> </a:t>
            </a:r>
            <a:r>
              <a:rPr sz="2000" i="0">
                <a:solidFill>
                  <a:srgbClr val="F2A65A"/>
                </a:solidFill>
                <a:latin typeface="IBM Plex Mono"/>
              </a:rPr>
              <a:t>BETWEEN</a:t>
            </a:r>
            <a:r>
              <a:rPr sz="2000" i="0">
                <a:solidFill>
                  <a:srgbClr val="D8E3D0"/>
                </a:solidFill>
                <a:latin typeface="IBM Plex Mono"/>
              </a:rPr>
              <a:t> </a:t>
            </a:r>
            <a:r>
              <a:rPr sz="2000" i="0">
                <a:solidFill>
                  <a:srgbClr val="9BD3A6"/>
                </a:solidFill>
                <a:latin typeface="IBM Plex Mono"/>
              </a:rPr>
              <a:t>'2026-09-01'</a:t>
            </a: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9BD3A6"/>
                </a:solidFill>
                <a:latin typeface="IBM Plex Mono"/>
              </a:rPr>
              <a:t>'2026-09-30'</a:t>
            </a:r>
          </a:p>
          <a:p>
            <a:pPr>
              <a:lnSpc>
                <a:spcPct val="100000"/>
              </a:lnSpc>
            </a:pPr>
            <a:r>
              <a:rPr sz="2000" i="0">
                <a:solidFill>
                  <a:srgbClr val="F2A65A"/>
                </a:solidFill>
                <a:latin typeface="IBM Plex Mono"/>
              </a:rPr>
              <a:t>ORDER</a:t>
            </a:r>
            <a:r>
              <a:rPr sz="2000" i="0">
                <a:solidFill>
                  <a:srgbClr val="D8E3D0"/>
                </a:solidFill>
                <a:latin typeface="IBM Plex Mono"/>
              </a:rPr>
              <a:t> </a:t>
            </a:r>
            <a:r>
              <a:rPr sz="2000" i="0">
                <a:solidFill>
                  <a:srgbClr val="F2A65A"/>
                </a:solidFill>
                <a:latin typeface="IBM Plex Mono"/>
              </a:rPr>
              <a:t>BY</a:t>
            </a:r>
            <a:r>
              <a:rPr sz="2000" i="0">
                <a:solidFill>
                  <a:srgbClr val="D8E3D0"/>
                </a:solidFill>
                <a:latin typeface="IBM Plex Mono"/>
              </a:rPr>
              <a:t> </a:t>
            </a:r>
            <a:r>
              <a:rPr sz="2000" i="0">
                <a:solidFill>
                  <a:srgbClr val="D8E3D0"/>
                </a:solidFill>
                <a:latin typeface="IBM Plex Mono"/>
              </a:rPr>
              <a:t>Funddatum</a:t>
            </a:r>
            <a:r>
              <a:rPr sz="2000" i="0">
                <a:solidFill>
                  <a:srgbClr val="D8E3D0"/>
                </a:solidFill>
                <a:latin typeface="IBM Plex Mono"/>
              </a:rPr>
              <a:t> </a:t>
            </a:r>
            <a:r>
              <a:rPr sz="2000" i="0">
                <a:solidFill>
                  <a:srgbClr val="F2A65A"/>
                </a:solidFill>
                <a:latin typeface="IBM Plex Mono"/>
              </a:rPr>
              <a:t>DESC</a:t>
            </a:r>
            <a:r>
              <a:rPr sz="2000" i="0">
                <a:solidFill>
                  <a:srgbClr val="D8E3D0"/>
                </a:solidFill>
                <a:latin typeface="IBM Plex Mono"/>
              </a:rPr>
              <a:t>;</a:t>
            </a:r>
          </a:p>
        </p:txBody>
      </p:sp>
      <p:graphicFrame>
        <p:nvGraphicFramePr>
          <p:cNvPr id="14" name="Ergebnistabelle"/>
          <p:cNvGraphicFramePr>
            <a:graphicFrameLocks noGrp="1"/>
          </p:cNvGraphicFramePr>
          <p:nvPr/>
        </p:nvGraphicFramePr>
        <p:xfrm>
          <a:off x="822959" y="4211828"/>
          <a:ext cx="3284524" cy="1889760"/>
        </p:xfrm>
        <a:graphic>
          <a:graphicData uri="http://schemas.openxmlformats.org/drawingml/2006/table">
            <a:tbl>
              <a:tblPr firstRow="1">
                <a:tableStyleId>{5C22544A-7EE6-4342-B048-85BDC9FD1C3A}</a:tableStyleId>
              </a:tblPr>
              <a:tblGrid>
                <a:gridCol w="1766620"/>
                <a:gridCol w="1517904"/>
              </a:tblGrid>
              <a:tr h="314960">
                <a:tc>
                  <a:txBody>
                    <a:bodyPr/>
                    <a:lstStyle/>
                    <a:p>
                      <a:r>
                        <a:rPr sz="1472" b="1" i="0" u="none">
                          <a:solidFill>
                            <a:srgbClr val="1C2B3A"/>
                          </a:solidFill>
                          <a:latin typeface="IBM Plex Mono"/>
                        </a:rPr>
                        <a:t>Bezeichnung</a:t>
                      </a:r>
                    </a:p>
                  </a:txBody>
                  <a:tcPr marL="54864" marR="54864" marT="18288" marB="18288">
                    <a:solidFill>
                      <a:srgbClr val="EBE2D2"/>
                    </a:solidFill>
                  </a:tcPr>
                </a:tc>
                <a:tc>
                  <a:txBody>
                    <a:bodyPr/>
                    <a:lstStyle/>
                    <a:p>
                      <a:r>
                        <a:rPr sz="1472" b="1" i="0" u="none">
                          <a:solidFill>
                            <a:srgbClr val="1C2B3A"/>
                          </a:solidFill>
                          <a:latin typeface="IBM Plex Mono"/>
                        </a:rPr>
                        <a:t>Funddatum</a:t>
                      </a:r>
                    </a:p>
                  </a:txBody>
                  <a:tcPr marL="54864" marR="54864" marT="18288" marB="18288">
                    <a:solidFill>
                      <a:srgbClr val="EBE2D2"/>
                    </a:solidFill>
                  </a:tcPr>
                </a:tc>
              </a:tr>
              <a:tr h="314960">
                <a:tc>
                  <a:txBody>
                    <a:bodyPr/>
                    <a:lstStyle/>
                    <a:p>
                      <a:r>
                        <a:rPr sz="1600" b="0" i="0" u="none">
                          <a:solidFill>
                            <a:srgbClr val="1C2B3A"/>
                          </a:solidFill>
                          <a:latin typeface="Barlow"/>
                        </a:rPr>
                        <a:t>Regenschirm</a:t>
                      </a:r>
                    </a:p>
                  </a:txBody>
                  <a:tcPr marL="54864" marR="54864" marT="18288" marB="18288">
                    <a:solidFill>
                      <a:srgbClr val="FFFDF8"/>
                    </a:solidFill>
                  </a:tcPr>
                </a:tc>
                <a:tc>
                  <a:txBody>
                    <a:bodyPr/>
                    <a:lstStyle/>
                    <a:p>
                      <a:r>
                        <a:rPr sz="1600" b="0" i="0" u="none">
                          <a:solidFill>
                            <a:srgbClr val="1C2B3A"/>
                          </a:solidFill>
                          <a:latin typeface="Barlow"/>
                        </a:rPr>
                        <a:t>2026-09-20</a:t>
                      </a:r>
                    </a:p>
                  </a:txBody>
                  <a:tcPr marL="54864" marR="54864" marT="18288" marB="18288">
                    <a:solidFill>
                      <a:srgbClr val="FFFDF8"/>
                    </a:solidFill>
                  </a:tcPr>
                </a:tc>
              </a:tr>
              <a:tr h="314960">
                <a:tc>
                  <a:txBody>
                    <a:bodyPr/>
                    <a:lstStyle/>
                    <a:p>
                      <a:r>
                        <a:rPr sz="1600" b="0" i="0" u="none">
                          <a:solidFill>
                            <a:srgbClr val="1C2B3A"/>
                          </a:solidFill>
                          <a:latin typeface="Barlow"/>
                        </a:rPr>
                        <a:t>Monatskarte</a:t>
                      </a:r>
                    </a:p>
                  </a:txBody>
                  <a:tcPr marL="54864" marR="54864" marT="18288" marB="18288">
                    <a:solidFill>
                      <a:srgbClr val="FFFDF8"/>
                    </a:solidFill>
                  </a:tcPr>
                </a:tc>
                <a:tc>
                  <a:txBody>
                    <a:bodyPr/>
                    <a:lstStyle/>
                    <a:p>
                      <a:r>
                        <a:rPr sz="1600" b="0" i="0" u="none">
                          <a:solidFill>
                            <a:srgbClr val="1C2B3A"/>
                          </a:solidFill>
                          <a:latin typeface="Barlow"/>
                        </a:rPr>
                        <a:t>2026-09-19</a:t>
                      </a:r>
                    </a:p>
                  </a:txBody>
                  <a:tcPr marL="54864" marR="54864" marT="18288" marB="18288">
                    <a:solidFill>
                      <a:srgbClr val="FFFDF8"/>
                    </a:solidFill>
                  </a:tcPr>
                </a:tc>
              </a:tr>
              <a:tr h="314960">
                <a:tc>
                  <a:txBody>
                    <a:bodyPr/>
                    <a:lstStyle/>
                    <a:p>
                      <a:r>
                        <a:rPr sz="1600" b="0" i="0" u="none">
                          <a:solidFill>
                            <a:srgbClr val="1C2B3A"/>
                          </a:solidFill>
                          <a:latin typeface="Barlow"/>
                        </a:rPr>
                        <a:t>Fahrradhelm</a:t>
                      </a:r>
                    </a:p>
                  </a:txBody>
                  <a:tcPr marL="54864" marR="54864" marT="18288" marB="18288">
                    <a:solidFill>
                      <a:srgbClr val="FFFDF8"/>
                    </a:solidFill>
                  </a:tcPr>
                </a:tc>
                <a:tc>
                  <a:txBody>
                    <a:bodyPr/>
                    <a:lstStyle/>
                    <a:p>
                      <a:r>
                        <a:rPr sz="1600" b="0" i="0" u="none">
                          <a:solidFill>
                            <a:srgbClr val="1C2B3A"/>
                          </a:solidFill>
                          <a:latin typeface="Barlow"/>
                        </a:rPr>
                        <a:t>2026-09-14</a:t>
                      </a:r>
                    </a:p>
                  </a:txBody>
                  <a:tcPr marL="54864" marR="54864" marT="18288" marB="18288">
                    <a:solidFill>
                      <a:srgbClr val="FFFDF8"/>
                    </a:solidFill>
                  </a:tcPr>
                </a:tc>
              </a:tr>
              <a:tr h="314960">
                <a:tc>
                  <a:txBody>
                    <a:bodyPr/>
                    <a:lstStyle/>
                    <a:p>
                      <a:r>
                        <a:rPr sz="1600" b="0" i="0" u="none">
                          <a:solidFill>
                            <a:srgbClr val="1C2B3A"/>
                          </a:solidFill>
                          <a:latin typeface="Barlow"/>
                        </a:rPr>
                        <a:t>Sonnenbrille</a:t>
                      </a:r>
                    </a:p>
                  </a:txBody>
                  <a:tcPr marL="54864" marR="54864" marT="18288" marB="18288">
                    <a:solidFill>
                      <a:srgbClr val="FFFDF8"/>
                    </a:solidFill>
                  </a:tcPr>
                </a:tc>
                <a:tc>
                  <a:txBody>
                    <a:bodyPr/>
                    <a:lstStyle/>
                    <a:p>
                      <a:r>
                        <a:rPr sz="1600" b="0" i="0" u="none">
                          <a:solidFill>
                            <a:srgbClr val="1C2B3A"/>
                          </a:solidFill>
                          <a:latin typeface="Barlow"/>
                        </a:rPr>
                        <a:t>2026-09-13</a:t>
                      </a:r>
                    </a:p>
                  </a:txBody>
                  <a:tcPr marL="54864" marR="54864" marT="18288" marB="18288">
                    <a:solidFill>
                      <a:srgbClr val="FFFDF8"/>
                    </a:solidFill>
                  </a:tcPr>
                </a:tc>
              </a:tr>
              <a:tr h="314960">
                <a:tc>
                  <a:txBody>
                    <a:bodyPr/>
                    <a:lstStyle/>
                    <a:p>
                      <a:r>
                        <a:rPr sz="1600" b="0" i="0" u="none">
                          <a:solidFill>
                            <a:srgbClr val="1C2B3A"/>
                          </a:solidFill>
                          <a:latin typeface="Barlow"/>
                        </a:rPr>
                        <a:t>…</a:t>
                      </a:r>
                    </a:p>
                  </a:txBody>
                  <a:tcPr marL="54864" marR="54864" marT="18288" marB="18288">
                    <a:solidFill>
                      <a:srgbClr val="FFFDF8"/>
                    </a:solidFill>
                  </a:tcPr>
                </a:tc>
                <a:tc>
                  <a:txBody>
                    <a:bodyPr/>
                    <a:lstStyle/>
                    <a:p>
                      <a:r>
                        <a:rPr sz="1600" b="0" i="0" u="none">
                          <a:solidFill>
                            <a:srgbClr val="1C2B3A"/>
                          </a:solidFill>
                          <a:latin typeface="Barlow"/>
                        </a:rPr>
                        <a:t>…</a:t>
                      </a:r>
                    </a:p>
                  </a:txBody>
                  <a:tcPr marL="54864" marR="54864" marT="18288" marB="18288">
                    <a:solidFill>
                      <a:srgbClr val="FFFD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Indizienkette rekonstruiert (1/2)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29</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SQL-Hintergrund"/>
          <p:cNvSpPr/>
          <p:nvPr/>
        </p:nvSpPr>
        <p:spPr>
          <a:xfrm>
            <a:off x="822959" y="2194560"/>
            <a:ext cx="10545775" cy="1272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1005839" y="2331720"/>
            <a:ext cx="10180015" cy="998219"/>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FundNr</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Funddatum</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Wert</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 </a:t>
            </a:r>
            <a:r>
              <a:rPr sz="2000" i="0">
                <a:solidFill>
                  <a:srgbClr val="F2A65A"/>
                </a:solidFill>
                <a:latin typeface="IBM Plex Mono"/>
              </a:rPr>
              <a:t>LIKE</a:t>
            </a:r>
            <a:r>
              <a:rPr sz="2000" i="0">
                <a:solidFill>
                  <a:srgbClr val="D8E3D0"/>
                </a:solidFill>
                <a:latin typeface="IBM Plex Mono"/>
              </a:rPr>
              <a:t> </a:t>
            </a:r>
            <a:r>
              <a:rPr sz="2000" i="0">
                <a:solidFill>
                  <a:srgbClr val="9BD3A6"/>
                </a:solidFill>
                <a:latin typeface="IBM Plex Mono"/>
              </a:rPr>
              <a:t>'%Messing%'</a:t>
            </a:r>
            <a:r>
              <a:rPr sz="2000" i="0">
                <a:solidFill>
                  <a:srgbClr val="D8E3D0"/>
                </a:solidFill>
                <a:latin typeface="IBM Plex Mono"/>
              </a:rPr>
              <a:t>;</a:t>
            </a:r>
          </a:p>
        </p:txBody>
      </p:sp>
      <p:graphicFrame>
        <p:nvGraphicFramePr>
          <p:cNvPr id="14" name="Ergebnistabelle"/>
          <p:cNvGraphicFramePr>
            <a:graphicFrameLocks noGrp="1"/>
          </p:cNvGraphicFramePr>
          <p:nvPr/>
        </p:nvGraphicFramePr>
        <p:xfrm>
          <a:off x="822959" y="3576828"/>
          <a:ext cx="6071615" cy="1574800"/>
        </p:xfrm>
        <a:graphic>
          <a:graphicData uri="http://schemas.openxmlformats.org/drawingml/2006/table">
            <a:tbl>
              <a:tblPr firstRow="1">
                <a:tableStyleId>{5C22544A-7EE6-4342-B048-85BDC9FD1C3A}</a:tableStyleId>
              </a:tblPr>
              <a:tblGrid>
                <a:gridCol w="1020470"/>
                <a:gridCol w="2761488"/>
                <a:gridCol w="1517904"/>
                <a:gridCol w="771753"/>
              </a:tblGrid>
              <a:tr h="314960">
                <a:tc>
                  <a:txBody>
                    <a:bodyPr/>
                    <a:lstStyle/>
                    <a:p>
                      <a:r>
                        <a:rPr sz="1472" b="1" i="0" u="none">
                          <a:solidFill>
                            <a:srgbClr val="1C2B3A"/>
                          </a:solidFill>
                          <a:latin typeface="IBM Plex Mono"/>
                        </a:rPr>
                        <a:t>FundNr</a:t>
                      </a:r>
                    </a:p>
                  </a:txBody>
                  <a:tcPr marL="54864" marR="54864" marT="18288" marB="18288">
                    <a:solidFill>
                      <a:srgbClr val="EBE2D2"/>
                    </a:solidFill>
                  </a:tcPr>
                </a:tc>
                <a:tc>
                  <a:txBody>
                    <a:bodyPr/>
                    <a:lstStyle/>
                    <a:p>
                      <a:r>
                        <a:rPr sz="1472" b="1" i="0" u="none">
                          <a:solidFill>
                            <a:srgbClr val="1C2B3A"/>
                          </a:solidFill>
                          <a:latin typeface="IBM Plex Mono"/>
                        </a:rPr>
                        <a:t>Bezeichnung</a:t>
                      </a:r>
                    </a:p>
                  </a:txBody>
                  <a:tcPr marL="54864" marR="54864" marT="18288" marB="18288">
                    <a:solidFill>
                      <a:srgbClr val="EBE2D2"/>
                    </a:solidFill>
                  </a:tcPr>
                </a:tc>
                <a:tc>
                  <a:txBody>
                    <a:bodyPr/>
                    <a:lstStyle/>
                    <a:p>
                      <a:r>
                        <a:rPr sz="1472" b="1" i="0" u="none">
                          <a:solidFill>
                            <a:srgbClr val="1C2B3A"/>
                          </a:solidFill>
                          <a:latin typeface="IBM Plex Mono"/>
                        </a:rPr>
                        <a:t>Funddatum</a:t>
                      </a:r>
                    </a:p>
                  </a:txBody>
                  <a:tcPr marL="54864" marR="54864" marT="18288" marB="18288">
                    <a:solidFill>
                      <a:srgbClr val="EBE2D2"/>
                    </a:solidFill>
                  </a:tcPr>
                </a:tc>
                <a:tc>
                  <a:txBody>
                    <a:bodyPr/>
                    <a:lstStyle/>
                    <a:p>
                      <a:r>
                        <a:rPr sz="1472" b="1" i="0" u="none">
                          <a:solidFill>
                            <a:srgbClr val="1C2B3A"/>
                          </a:solidFill>
                          <a:latin typeface="IBM Plex Mono"/>
                        </a:rPr>
                        <a:t>Wert</a:t>
                      </a:r>
                    </a:p>
                  </a:txBody>
                  <a:tcPr marL="54864" marR="54864" marT="18288" marB="18288">
                    <a:solidFill>
                      <a:srgbClr val="EBE2D2"/>
                    </a:solidFill>
                  </a:tcPr>
                </a:tc>
              </a:tr>
              <a:tr h="314960">
                <a:tc>
                  <a:txBody>
                    <a:bodyPr/>
                    <a:lstStyle/>
                    <a:p>
                      <a:pPr algn="r"/>
                      <a:r>
                        <a:rPr sz="1600" b="0" i="0" u="none">
                          <a:solidFill>
                            <a:srgbClr val="1C2B3A"/>
                          </a:solidFill>
                          <a:latin typeface="Barlow"/>
                        </a:rPr>
                        <a:t>19</a:t>
                      </a:r>
                    </a:p>
                  </a:txBody>
                  <a:tcPr marL="54864" marR="54864" marT="18288" marB="18288">
                    <a:solidFill>
                      <a:srgbClr val="FFFDF8"/>
                    </a:solidFill>
                  </a:tcPr>
                </a:tc>
                <a:tc>
                  <a:txBody>
                    <a:bodyPr/>
                    <a:lstStyle/>
                    <a:p>
                      <a:r>
                        <a:rPr sz="1600" b="0" i="0" u="none">
                          <a:solidFill>
                            <a:srgbClr val="1C2B3A"/>
                          </a:solidFill>
                          <a:latin typeface="Barlow"/>
                        </a:rPr>
                        <a:t>Messingschlüssel</a:t>
                      </a:r>
                    </a:p>
                  </a:txBody>
                  <a:tcPr marL="54864" marR="54864" marT="18288" marB="18288">
                    <a:solidFill>
                      <a:srgbClr val="FFFDF8"/>
                    </a:solidFill>
                  </a:tcPr>
                </a:tc>
                <a:tc>
                  <a:txBody>
                    <a:bodyPr/>
                    <a:lstStyle/>
                    <a:p>
                      <a:r>
                        <a:rPr sz="1600" b="0" i="0" u="none">
                          <a:solidFill>
                            <a:srgbClr val="1C2B3A"/>
                          </a:solidFill>
                          <a:latin typeface="Barlow"/>
                        </a:rPr>
                        <a:t>2026-05-15</a:t>
                      </a:r>
                    </a:p>
                  </a:txBody>
                  <a:tcPr marL="54864" marR="54864" marT="18288" marB="18288">
                    <a:solidFill>
                      <a:srgbClr val="FFFDF8"/>
                    </a:solidFill>
                  </a:tcPr>
                </a:tc>
                <a:tc>
                  <a:txBody>
                    <a:bodyPr/>
                    <a:lstStyle/>
                    <a:p>
                      <a:r>
                        <a:rPr sz="1360" b="0" i="1" u="none">
                          <a:solidFill>
                            <a:srgbClr val="58626D"/>
                          </a:solidFill>
                          <a:latin typeface="IBM Plex Mono"/>
                        </a:rPr>
                        <a:t>NULL</a:t>
                      </a:r>
                    </a:p>
                  </a:txBody>
                  <a:tcPr marL="54864" marR="54864" marT="18288" marB="18288">
                    <a:solidFill>
                      <a:srgbClr val="FFFDF8"/>
                    </a:solidFill>
                  </a:tcPr>
                </a:tc>
              </a:tr>
              <a:tr h="314960">
                <a:tc>
                  <a:txBody>
                    <a:bodyPr/>
                    <a:lstStyle/>
                    <a:p>
                      <a:pPr algn="r"/>
                      <a:r>
                        <a:rPr sz="1600" b="0" i="0" u="none">
                          <a:solidFill>
                            <a:srgbClr val="1C2B3A"/>
                          </a:solidFill>
                          <a:latin typeface="Barlow"/>
                        </a:rPr>
                        <a:t>36</a:t>
                      </a:r>
                    </a:p>
                  </a:txBody>
                  <a:tcPr marL="54864" marR="54864" marT="18288" marB="18288">
                    <a:solidFill>
                      <a:srgbClr val="FFFDF8"/>
                    </a:solidFill>
                  </a:tcPr>
                </a:tc>
                <a:tc>
                  <a:txBody>
                    <a:bodyPr/>
                    <a:lstStyle/>
                    <a:p>
                      <a:r>
                        <a:rPr sz="1600" b="0" i="0" u="none">
                          <a:solidFill>
                            <a:srgbClr val="1C2B3A"/>
                          </a:solidFill>
                          <a:latin typeface="Barlow"/>
                        </a:rPr>
                        <a:t>Messing-Kompass</a:t>
                      </a:r>
                    </a:p>
                  </a:txBody>
                  <a:tcPr marL="54864" marR="54864" marT="18288" marB="18288">
                    <a:solidFill>
                      <a:srgbClr val="FFFDF8"/>
                    </a:solidFill>
                  </a:tcPr>
                </a:tc>
                <a:tc>
                  <a:txBody>
                    <a:bodyPr/>
                    <a:lstStyle/>
                    <a:p>
                      <a:r>
                        <a:rPr sz="1600" b="0" i="0" u="none">
                          <a:solidFill>
                            <a:srgbClr val="1C2B3A"/>
                          </a:solidFill>
                          <a:latin typeface="Barlow"/>
                        </a:rPr>
                        <a:t>2026-06-18</a:t>
                      </a:r>
                    </a:p>
                  </a:txBody>
                  <a:tcPr marL="54864" marR="54864" marT="18288" marB="18288">
                    <a:solidFill>
                      <a:srgbClr val="FFFDF8"/>
                    </a:solidFill>
                  </a:tcPr>
                </a:tc>
                <a:tc>
                  <a:txBody>
                    <a:bodyPr/>
                    <a:lstStyle/>
                    <a:p>
                      <a:pPr algn="r"/>
                      <a:r>
                        <a:rPr sz="1600" b="0" i="0" u="none">
                          <a:solidFill>
                            <a:srgbClr val="1C2B3A"/>
                          </a:solidFill>
                          <a:latin typeface="Barlow"/>
                        </a:rPr>
                        <a:t>450</a:t>
                      </a:r>
                    </a:p>
                  </a:txBody>
                  <a:tcPr marL="54864" marR="54864" marT="18288" marB="18288">
                    <a:solidFill>
                      <a:srgbClr val="FFFDF8"/>
                    </a:solidFill>
                  </a:tcPr>
                </a:tc>
              </a:tr>
              <a:tr h="314960">
                <a:tc>
                  <a:txBody>
                    <a:bodyPr/>
                    <a:lstStyle/>
                    <a:p>
                      <a:pPr algn="r"/>
                      <a:r>
                        <a:rPr sz="1600" b="0" i="0" u="none">
                          <a:solidFill>
                            <a:srgbClr val="1C2B3A"/>
                          </a:solidFill>
                          <a:latin typeface="Barlow"/>
                        </a:rPr>
                        <a:t>46</a:t>
                      </a:r>
                    </a:p>
                  </a:txBody>
                  <a:tcPr marL="54864" marR="54864" marT="18288" marB="18288">
                    <a:solidFill>
                      <a:srgbClr val="FFFDF8"/>
                    </a:solidFill>
                  </a:tcPr>
                </a:tc>
                <a:tc>
                  <a:txBody>
                    <a:bodyPr/>
                    <a:lstStyle/>
                    <a:p>
                      <a:r>
                        <a:rPr sz="1600" b="0" i="0" u="none">
                          <a:solidFill>
                            <a:srgbClr val="1C2B3A"/>
                          </a:solidFill>
                          <a:latin typeface="Barlow"/>
                        </a:rPr>
                        <a:t>Messing-Kerzenhalter</a:t>
                      </a:r>
                    </a:p>
                  </a:txBody>
                  <a:tcPr marL="54864" marR="54864" marT="18288" marB="18288">
                    <a:solidFill>
                      <a:srgbClr val="FFFDF8"/>
                    </a:solidFill>
                  </a:tcPr>
                </a:tc>
                <a:tc>
                  <a:txBody>
                    <a:bodyPr/>
                    <a:lstStyle/>
                    <a:p>
                      <a:r>
                        <a:rPr sz="1600" b="0" i="0" u="none">
                          <a:solidFill>
                            <a:srgbClr val="1C2B3A"/>
                          </a:solidFill>
                          <a:latin typeface="Barlow"/>
                        </a:rPr>
                        <a:t>2026-07-09</a:t>
                      </a:r>
                    </a:p>
                  </a:txBody>
                  <a:tcPr marL="54864" marR="54864" marT="18288" marB="18288">
                    <a:solidFill>
                      <a:srgbClr val="FFFDF8"/>
                    </a:solidFill>
                  </a:tcPr>
                </a:tc>
                <a:tc>
                  <a:txBody>
                    <a:bodyPr/>
                    <a:lstStyle/>
                    <a:p>
                      <a:pPr algn="r"/>
                      <a:r>
                        <a:rPr sz="1600" b="0" i="0" u="none">
                          <a:solidFill>
                            <a:srgbClr val="1C2B3A"/>
                          </a:solidFill>
                          <a:latin typeface="Barlow"/>
                        </a:rPr>
                        <a:t>35</a:t>
                      </a:r>
                    </a:p>
                  </a:txBody>
                  <a:tcPr marL="54864" marR="54864" marT="18288" marB="18288">
                    <a:solidFill>
                      <a:srgbClr val="FFFDF8"/>
                    </a:solidFill>
                  </a:tcPr>
                </a:tc>
              </a:tr>
              <a:tr h="314960">
                <a:tc>
                  <a:txBody>
                    <a:bodyPr/>
                    <a:lstStyle/>
                    <a:p>
                      <a:pPr algn="r"/>
                      <a:r>
                        <a:rPr sz="1600" b="0" i="0" u="none">
                          <a:solidFill>
                            <a:srgbClr val="1C2B3A"/>
                          </a:solidFill>
                          <a:latin typeface="Barlow"/>
                        </a:rPr>
                        <a:t>61</a:t>
                      </a:r>
                    </a:p>
                  </a:txBody>
                  <a:tcPr marL="54864" marR="54864" marT="18288" marB="18288">
                    <a:solidFill>
                      <a:srgbClr val="FFFDF8"/>
                    </a:solidFill>
                  </a:tcPr>
                </a:tc>
                <a:tc>
                  <a:txBody>
                    <a:bodyPr/>
                    <a:lstStyle/>
                    <a:p>
                      <a:r>
                        <a:rPr sz="1600" b="0" i="0" u="none">
                          <a:solidFill>
                            <a:srgbClr val="1C2B3A"/>
                          </a:solidFill>
                          <a:latin typeface="Barlow"/>
                        </a:rPr>
                        <a:t>Messingglocke</a:t>
                      </a:r>
                    </a:p>
                  </a:txBody>
                  <a:tcPr marL="54864" marR="54864" marT="18288" marB="18288">
                    <a:solidFill>
                      <a:srgbClr val="FFFDF8"/>
                    </a:solidFill>
                  </a:tcPr>
                </a:tc>
                <a:tc>
                  <a:txBody>
                    <a:bodyPr/>
                    <a:lstStyle/>
                    <a:p>
                      <a:r>
                        <a:rPr sz="1600" b="0" i="0" u="none">
                          <a:solidFill>
                            <a:srgbClr val="1C2B3A"/>
                          </a:solidFill>
                          <a:latin typeface="Barlow"/>
                        </a:rPr>
                        <a:t>2026-08-21</a:t>
                      </a:r>
                    </a:p>
                  </a:txBody>
                  <a:tcPr marL="54864" marR="54864" marT="18288" marB="18288">
                    <a:solidFill>
                      <a:srgbClr val="FFFDF8"/>
                    </a:solidFill>
                  </a:tcPr>
                </a:tc>
                <a:tc>
                  <a:txBody>
                    <a:bodyPr/>
                    <a:lstStyle/>
                    <a:p>
                      <a:pPr algn="r"/>
                      <a:r>
                        <a:rPr sz="1600" b="0" i="0" u="none">
                          <a:solidFill>
                            <a:srgbClr val="1C2B3A"/>
                          </a:solidFill>
                          <a:latin typeface="Barlow"/>
                        </a:rPr>
                        <a:t>12</a:t>
                      </a:r>
                    </a:p>
                  </a:txBody>
                  <a:tcPr marL="54864" marR="54864" marT="18288" marB="18288">
                    <a:solidFill>
                      <a:srgbClr val="FFFDF8"/>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Indizienkette rekonstruiert (2/2)</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30</a:t>
            </a:r>
          </a:p>
        </p:txBody>
      </p:sp>
      <p:sp>
        <p:nvSpPr>
          <p:cNvPr id="10" name="Rounded Rectangle 9"/>
          <p:cNvSpPr/>
          <p:nvPr/>
        </p:nvSpPr>
        <p:spPr>
          <a:xfrm>
            <a:off x="548640" y="1691640"/>
            <a:ext cx="11094415" cy="4343400"/>
          </a:xfrm>
          <a:prstGeom prst="roundRect">
            <a:avLst>
              <a:gd name="adj" fmla="val 4000"/>
            </a:avLst>
          </a:prstGeom>
          <a:solidFill>
            <a:srgbClr val="F4EDE1"/>
          </a:solidFill>
          <a:ln w="25400">
            <a:solidFill>
              <a:srgbClr val="5FAF8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2F6B4F"/>
                </a:solidFill>
                <a:latin typeface="IBM Plex Mono"/>
              </a:rPr>
              <a:t>LÖSUNG</a:t>
            </a:r>
          </a:p>
        </p:txBody>
      </p:sp>
      <p:sp>
        <p:nvSpPr>
          <p:cNvPr id="12" name="SQL-Hintergrund"/>
          <p:cNvSpPr/>
          <p:nvPr/>
        </p:nvSpPr>
        <p:spPr>
          <a:xfrm>
            <a:off x="822959" y="2194560"/>
            <a:ext cx="10545775" cy="2225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1005839" y="2331720"/>
            <a:ext cx="10180015" cy="1950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Fundort</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AbgeholtAm</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Finder</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Fundsache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Bezeichnung</a:t>
            </a:r>
            <a:r>
              <a:rPr sz="2000" i="0">
                <a:solidFill>
                  <a:srgbClr val="D8E3D0"/>
                </a:solidFill>
                <a:latin typeface="IBM Plex Mono"/>
              </a:rPr>
              <a:t> </a:t>
            </a:r>
            <a:r>
              <a:rPr sz="2000" i="0">
                <a:solidFill>
                  <a:srgbClr val="F2A65A"/>
                </a:solidFill>
                <a:latin typeface="IBM Plex Mono"/>
              </a:rPr>
              <a:t>LIKE</a:t>
            </a:r>
            <a:r>
              <a:rPr sz="2000" i="0">
                <a:solidFill>
                  <a:srgbClr val="D8E3D0"/>
                </a:solidFill>
                <a:latin typeface="IBM Plex Mono"/>
              </a:rPr>
              <a:t> </a:t>
            </a:r>
            <a:r>
              <a:rPr sz="2000" i="0">
                <a:solidFill>
                  <a:srgbClr val="9BD3A6"/>
                </a:solidFill>
                <a:latin typeface="IBM Plex Mono"/>
              </a:rPr>
              <a:t>'%Messing%'</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Funddatum</a:t>
            </a:r>
            <a:r>
              <a:rPr sz="2000" i="0">
                <a:solidFill>
                  <a:srgbClr val="D8E3D0"/>
                </a:solidFill>
                <a:latin typeface="IBM Plex Mono"/>
              </a:rPr>
              <a:t> </a:t>
            </a:r>
            <a:r>
              <a:rPr sz="2000" i="0">
                <a:solidFill>
                  <a:srgbClr val="F2A65A"/>
                </a:solidFill>
                <a:latin typeface="IBM Plex Mono"/>
              </a:rPr>
              <a:t>BETWEEN</a:t>
            </a:r>
            <a:r>
              <a:rPr sz="2000" i="0">
                <a:solidFill>
                  <a:srgbClr val="D8E3D0"/>
                </a:solidFill>
                <a:latin typeface="IBM Plex Mono"/>
              </a:rPr>
              <a:t> </a:t>
            </a:r>
            <a:r>
              <a:rPr sz="2000" i="0">
                <a:solidFill>
                  <a:srgbClr val="9BD3A6"/>
                </a:solidFill>
                <a:latin typeface="IBM Plex Mono"/>
              </a:rPr>
              <a:t>'2026-06-01'</a:t>
            </a: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9BD3A6"/>
                </a:solidFill>
                <a:latin typeface="IBM Plex Mono"/>
              </a:rPr>
              <a:t>'2026-07-31'</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Wert</a:t>
            </a:r>
            <a:r>
              <a:rPr sz="2000" i="0">
                <a:solidFill>
                  <a:srgbClr val="D8E3D0"/>
                </a:solidFill>
                <a:latin typeface="IBM Plex Mono"/>
              </a:rPr>
              <a:t> </a:t>
            </a:r>
            <a:r>
              <a:rPr sz="2000" i="0">
                <a:solidFill>
                  <a:srgbClr val="D8E3D0"/>
                </a:solidFill>
                <a:latin typeface="IBM Plex Mono"/>
              </a:rPr>
              <a:t>&gt;</a:t>
            </a:r>
            <a:r>
              <a:rPr sz="2000" i="0">
                <a:solidFill>
                  <a:srgbClr val="D8E3D0"/>
                </a:solidFill>
                <a:latin typeface="IBM Plex Mono"/>
              </a:rPr>
              <a:t>=</a:t>
            </a:r>
            <a:r>
              <a:rPr sz="2000" i="0">
                <a:solidFill>
                  <a:srgbClr val="D8E3D0"/>
                </a:solidFill>
                <a:latin typeface="IBM Plex Mono"/>
              </a:rPr>
              <a:t> </a:t>
            </a:r>
            <a:r>
              <a:rPr sz="2000" i="0">
                <a:solidFill>
                  <a:srgbClr val="8CC4FF"/>
                </a:solidFill>
                <a:latin typeface="IBM Plex Mono"/>
              </a:rPr>
              <a:t>400</a:t>
            </a:r>
            <a:r>
              <a:rPr sz="2000" i="0">
                <a:solidFill>
                  <a:srgbClr val="D8E3D0"/>
                </a:solidFill>
                <a:latin typeface="IBM Plex Mono"/>
              </a:rPr>
              <a:t> </a:t>
            </a:r>
            <a:r>
              <a:rPr sz="2000" i="0">
                <a:solidFill>
                  <a:srgbClr val="F2A65A"/>
                </a:solidFill>
                <a:latin typeface="IBM Plex Mono"/>
              </a:rPr>
              <a:t>OR</a:t>
            </a:r>
            <a:r>
              <a:rPr sz="2000" i="0">
                <a:solidFill>
                  <a:srgbClr val="D8E3D0"/>
                </a:solidFill>
                <a:latin typeface="IBM Plex Mono"/>
              </a:rPr>
              <a:t> </a:t>
            </a:r>
            <a:r>
              <a:rPr sz="2000" i="0">
                <a:solidFill>
                  <a:srgbClr val="D8E3D0"/>
                </a:solidFill>
                <a:latin typeface="IBM Plex Mono"/>
              </a:rPr>
              <a:t>Wert</a:t>
            </a:r>
            <a:r>
              <a:rPr sz="2000" i="0">
                <a:solidFill>
                  <a:srgbClr val="D8E3D0"/>
                </a:solidFill>
                <a:latin typeface="IBM Plex Mono"/>
              </a:rPr>
              <a:t> </a:t>
            </a:r>
            <a:r>
              <a:rPr sz="2000" i="0">
                <a:solidFill>
                  <a:srgbClr val="F2A65A"/>
                </a:solidFill>
                <a:latin typeface="IBM Plex Mono"/>
              </a:rPr>
              <a:t>IS</a:t>
            </a:r>
            <a:r>
              <a:rPr sz="2000" i="0">
                <a:solidFill>
                  <a:srgbClr val="D8E3D0"/>
                </a:solidFill>
                <a:latin typeface="IBM Plex Mono"/>
              </a:rPr>
              <a:t> </a:t>
            </a:r>
            <a:r>
              <a:rPr sz="2000" i="0">
                <a:solidFill>
                  <a:srgbClr val="F2A65A"/>
                </a:solidFill>
                <a:latin typeface="IBM Plex Mono"/>
              </a:rPr>
              <a:t>NULL</a:t>
            </a:r>
            <a:r>
              <a:rPr sz="2000" i="0">
                <a:solidFill>
                  <a:srgbClr val="D8E3D0"/>
                </a:solidFill>
                <a:latin typeface="IBM Plex Mono"/>
              </a:rPr>
              <a:t>)</a:t>
            </a:r>
          </a:p>
          <a:p>
            <a:pPr>
              <a:lnSpc>
                <a:spcPct val="100000"/>
              </a:lnSpc>
            </a:pPr>
            <a:r>
              <a:rPr sz="2000" i="0">
                <a:solidFill>
                  <a:srgbClr val="D8E3D0"/>
                </a:solidFill>
                <a:latin typeface="IBM Plex Mono"/>
              </a:rPr>
              <a:t>  </a:t>
            </a:r>
            <a:r>
              <a:rPr sz="2000" i="0">
                <a:solidFill>
                  <a:srgbClr val="F2A65A"/>
                </a:solidFill>
                <a:latin typeface="IBM Plex Mono"/>
              </a:rPr>
              <a:t>AND</a:t>
            </a:r>
            <a:r>
              <a:rPr sz="2000" i="0">
                <a:solidFill>
                  <a:srgbClr val="D8E3D0"/>
                </a:solidFill>
                <a:latin typeface="IBM Plex Mono"/>
              </a:rPr>
              <a:t> </a:t>
            </a:r>
            <a:r>
              <a:rPr sz="2000" i="0">
                <a:solidFill>
                  <a:srgbClr val="F2A65A"/>
                </a:solidFill>
                <a:latin typeface="IBM Plex Mono"/>
              </a:rPr>
              <a:t>NOT</a:t>
            </a:r>
            <a:r>
              <a:rPr sz="2000" i="0">
                <a:solidFill>
                  <a:srgbClr val="D8E3D0"/>
                </a:solidFill>
                <a:latin typeface="IBM Plex Mono"/>
              </a:rPr>
              <a:t> </a:t>
            </a:r>
            <a:r>
              <a:rPr sz="2000" i="0">
                <a:solidFill>
                  <a:srgbClr val="D8E3D0"/>
                </a:solidFill>
                <a:latin typeface="IBM Plex Mono"/>
              </a:rPr>
              <a:t>AbgeholtAm</a:t>
            </a:r>
            <a:r>
              <a:rPr sz="2000" i="0">
                <a:solidFill>
                  <a:srgbClr val="D8E3D0"/>
                </a:solidFill>
                <a:latin typeface="IBM Plex Mono"/>
              </a:rPr>
              <a:t> </a:t>
            </a:r>
            <a:r>
              <a:rPr sz="2000" i="0">
                <a:solidFill>
                  <a:srgbClr val="F2A65A"/>
                </a:solidFill>
                <a:latin typeface="IBM Plex Mono"/>
              </a:rPr>
              <a:t>IS</a:t>
            </a:r>
            <a:r>
              <a:rPr sz="2000" i="0">
                <a:solidFill>
                  <a:srgbClr val="D8E3D0"/>
                </a:solidFill>
                <a:latin typeface="IBM Plex Mono"/>
              </a:rPr>
              <a:t> </a:t>
            </a:r>
            <a:r>
              <a:rPr sz="2000" i="0">
                <a:solidFill>
                  <a:srgbClr val="F2A65A"/>
                </a:solidFill>
                <a:latin typeface="IBM Plex Mono"/>
              </a:rPr>
              <a:t>NULL</a:t>
            </a:r>
            <a:r>
              <a:rPr sz="2000" i="0">
                <a:solidFill>
                  <a:srgbClr val="D8E3D0"/>
                </a:solidFill>
                <a:latin typeface="IBM Plex Mono"/>
              </a:rPr>
              <a:t>;</a:t>
            </a:r>
          </a:p>
        </p:txBody>
      </p:sp>
      <p:graphicFrame>
        <p:nvGraphicFramePr>
          <p:cNvPr id="14" name="Ergebnistabelle"/>
          <p:cNvGraphicFramePr>
            <a:graphicFrameLocks noGrp="1"/>
          </p:cNvGraphicFramePr>
          <p:nvPr/>
        </p:nvGraphicFramePr>
        <p:xfrm>
          <a:off x="822959" y="4529328"/>
          <a:ext cx="7838235" cy="629920"/>
        </p:xfrm>
        <a:graphic>
          <a:graphicData uri="http://schemas.openxmlformats.org/drawingml/2006/table">
            <a:tbl>
              <a:tblPr firstRow="1">
                <a:tableStyleId>{5C22544A-7EE6-4342-B048-85BDC9FD1C3A}</a:tableStyleId>
              </a:tblPr>
              <a:tblGrid>
                <a:gridCol w="2139696"/>
                <a:gridCol w="2015337"/>
                <a:gridCol w="771753"/>
                <a:gridCol w="1517904"/>
                <a:gridCol w="1393545"/>
              </a:tblGrid>
              <a:tr h="314960">
                <a:tc>
                  <a:txBody>
                    <a:bodyPr/>
                    <a:lstStyle/>
                    <a:p>
                      <a:r>
                        <a:rPr sz="1472" b="1" i="0" u="none">
                          <a:solidFill>
                            <a:srgbClr val="1C2B3A"/>
                          </a:solidFill>
                          <a:latin typeface="IBM Plex Mono"/>
                        </a:rPr>
                        <a:t>Bezeichnung</a:t>
                      </a:r>
                    </a:p>
                  </a:txBody>
                  <a:tcPr marL="54864" marR="54864" marT="18288" marB="18288">
                    <a:solidFill>
                      <a:srgbClr val="EBE2D2"/>
                    </a:solidFill>
                  </a:tcPr>
                </a:tc>
                <a:tc>
                  <a:txBody>
                    <a:bodyPr/>
                    <a:lstStyle/>
                    <a:p>
                      <a:r>
                        <a:rPr sz="1472" b="1" i="0" u="none">
                          <a:solidFill>
                            <a:srgbClr val="1C2B3A"/>
                          </a:solidFill>
                          <a:latin typeface="IBM Plex Mono"/>
                        </a:rPr>
                        <a:t>Fundort</a:t>
                      </a:r>
                    </a:p>
                  </a:txBody>
                  <a:tcPr marL="54864" marR="54864" marT="18288" marB="18288">
                    <a:solidFill>
                      <a:srgbClr val="EBE2D2"/>
                    </a:solidFill>
                  </a:tcPr>
                </a:tc>
                <a:tc>
                  <a:txBody>
                    <a:bodyPr/>
                    <a:lstStyle/>
                    <a:p>
                      <a:r>
                        <a:rPr sz="1472" b="1" i="0" u="none">
                          <a:solidFill>
                            <a:srgbClr val="1C2B3A"/>
                          </a:solidFill>
                          <a:latin typeface="IBM Plex Mono"/>
                        </a:rPr>
                        <a:t>Wert</a:t>
                      </a:r>
                    </a:p>
                  </a:txBody>
                  <a:tcPr marL="54864" marR="54864" marT="18288" marB="18288">
                    <a:solidFill>
                      <a:srgbClr val="EBE2D2"/>
                    </a:solidFill>
                  </a:tcPr>
                </a:tc>
                <a:tc>
                  <a:txBody>
                    <a:bodyPr/>
                    <a:lstStyle/>
                    <a:p>
                      <a:r>
                        <a:rPr sz="1472" b="1" i="0" u="none">
                          <a:solidFill>
                            <a:srgbClr val="1C2B3A"/>
                          </a:solidFill>
                          <a:latin typeface="IBM Plex Mono"/>
                        </a:rPr>
                        <a:t>AbgeholtAm</a:t>
                      </a:r>
                    </a:p>
                  </a:txBody>
                  <a:tcPr marL="54864" marR="54864" marT="18288" marB="18288">
                    <a:solidFill>
                      <a:srgbClr val="EBE2D2"/>
                    </a:solidFill>
                  </a:tcPr>
                </a:tc>
                <a:tc>
                  <a:txBody>
                    <a:bodyPr/>
                    <a:lstStyle/>
                    <a:p>
                      <a:r>
                        <a:rPr sz="1472" b="1" i="0" u="none">
                          <a:solidFill>
                            <a:srgbClr val="1C2B3A"/>
                          </a:solidFill>
                          <a:latin typeface="IBM Plex Mono"/>
                        </a:rPr>
                        <a:t>Finder</a:t>
                      </a:r>
                    </a:p>
                  </a:txBody>
                  <a:tcPr marL="54864" marR="54864" marT="18288" marB="18288">
                    <a:solidFill>
                      <a:srgbClr val="EBE2D2"/>
                    </a:solidFill>
                  </a:tcPr>
                </a:tc>
              </a:tr>
              <a:tr h="314960">
                <a:tc>
                  <a:txBody>
                    <a:bodyPr/>
                    <a:lstStyle/>
                    <a:p>
                      <a:r>
                        <a:rPr sz="1600" b="0" i="0" u="none">
                          <a:solidFill>
                            <a:srgbClr val="1C2B3A"/>
                          </a:solidFill>
                          <a:latin typeface="Barlow"/>
                        </a:rPr>
                        <a:t>Messing-Kompass</a:t>
                      </a:r>
                    </a:p>
                  </a:txBody>
                  <a:tcPr marL="54864" marR="54864" marT="18288" marB="18288">
                    <a:solidFill>
                      <a:srgbClr val="FFFDF8"/>
                    </a:solidFill>
                  </a:tcPr>
                </a:tc>
                <a:tc>
                  <a:txBody>
                    <a:bodyPr/>
                    <a:lstStyle/>
                    <a:p>
                      <a:r>
                        <a:rPr sz="1600" b="0" i="0" u="none">
                          <a:solidFill>
                            <a:srgbClr val="1C2B3A"/>
                          </a:solidFill>
                          <a:latin typeface="Barlow"/>
                        </a:rPr>
                        <a:t>Weserpromenade</a:t>
                      </a:r>
                    </a:p>
                  </a:txBody>
                  <a:tcPr marL="54864" marR="54864" marT="18288" marB="18288">
                    <a:solidFill>
                      <a:srgbClr val="FFFDF8"/>
                    </a:solidFill>
                  </a:tcPr>
                </a:tc>
                <a:tc>
                  <a:txBody>
                    <a:bodyPr/>
                    <a:lstStyle/>
                    <a:p>
                      <a:pPr algn="r"/>
                      <a:r>
                        <a:rPr sz="1600" b="0" i="0" u="none">
                          <a:solidFill>
                            <a:srgbClr val="1C2B3A"/>
                          </a:solidFill>
                          <a:latin typeface="Barlow"/>
                        </a:rPr>
                        <a:t>450</a:t>
                      </a:r>
                    </a:p>
                  </a:txBody>
                  <a:tcPr marL="54864" marR="54864" marT="18288" marB="18288">
                    <a:solidFill>
                      <a:srgbClr val="FFFDF8"/>
                    </a:solidFill>
                  </a:tcPr>
                </a:tc>
                <a:tc>
                  <a:txBody>
                    <a:bodyPr/>
                    <a:lstStyle/>
                    <a:p>
                      <a:r>
                        <a:rPr sz="1600" b="0" i="0" u="none">
                          <a:solidFill>
                            <a:srgbClr val="1C2B3A"/>
                          </a:solidFill>
                          <a:latin typeface="Barlow"/>
                        </a:rPr>
                        <a:t>2026-09-14</a:t>
                      </a:r>
                    </a:p>
                  </a:txBody>
                  <a:tcPr marL="54864" marR="54864" marT="18288" marB="18288">
                    <a:solidFill>
                      <a:srgbClr val="FFFDF8"/>
                    </a:solidFill>
                  </a:tcPr>
                </a:tc>
                <a:tc>
                  <a:txBody>
                    <a:bodyPr/>
                    <a:lstStyle/>
                    <a:p>
                      <a:r>
                        <a:rPr sz="1600" b="0" i="0" u="none">
                          <a:solidFill>
                            <a:srgbClr val="1C2B3A"/>
                          </a:solidFill>
                          <a:latin typeface="Barlow"/>
                        </a:rPr>
                        <a:t>N. Falter</a:t>
                      </a:r>
                    </a:p>
                  </a:txBody>
                  <a:tcPr marL="54864" marR="54864" marT="18288" marB="18288">
                    <a:solidFill>
                      <a:srgbClr val="FFFD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AKTE 1 · DAS FUNDBÜRO</a:t>
            </a:r>
          </a:p>
        </p:txBody>
      </p:sp>
      <p:sp>
        <p:nvSpPr>
          <p:cNvPr id="3" name="TextBox 2"/>
          <p:cNvSpPr txBox="1"/>
          <p:nvPr/>
        </p:nvSpPr>
        <p:spPr>
          <a:xfrm>
            <a:off x="548640" y="566928"/>
            <a:ext cx="935705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Cliffhanger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Marker Lehrkraft"/>
          <p:cNvSpPr/>
          <p:nvPr/>
        </p:nvSpPr>
        <p:spPr>
          <a:xfrm>
            <a:off x="10042855" y="310896"/>
            <a:ext cx="1600200" cy="310896"/>
          </a:xfrm>
          <a:prstGeom prst="roundRect">
            <a:avLst>
              <a:gd name="adj" fmla="val 4000"/>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42855" y="310896"/>
            <a:ext cx="1600200" cy="310896"/>
          </a:xfrm>
          <a:prstGeom prst="rect">
            <a:avLst/>
          </a:prstGeom>
          <a:noFill/>
        </p:spPr>
        <p:txBody>
          <a:bodyPr wrap="square" anchor="ctr" lIns="36576" rIns="36576" tIns="36576" bIns="36576">
            <a:spAutoFit/>
          </a:bodyPr>
          <a:lstStyle/>
          <a:p>
            <a:pPr algn="ctr">
              <a:lnSpc>
                <a:spcPct val="105000"/>
              </a:lnSpc>
            </a:pPr>
            <a:r>
              <a:rPr sz="1000" b="1" i="0" u="none">
                <a:solidFill>
                  <a:srgbClr val="141B22"/>
                </a:solidFill>
                <a:latin typeface="IBM Plex Mono"/>
              </a:rPr>
              <a:t>NUR LEHRKRAFT</a:t>
            </a:r>
          </a:p>
        </p:txBody>
      </p:sp>
      <p:sp>
        <p:nvSpPr>
          <p:cNvPr id="9" name="TextBox 8"/>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31</a:t>
            </a:r>
          </a:p>
        </p:txBody>
      </p:sp>
      <p:sp>
        <p:nvSpPr>
          <p:cNvPr id="10" name="Rounded Rectangle 9"/>
          <p:cNvSpPr/>
          <p:nvPr/>
        </p:nvSpPr>
        <p:spPr>
          <a:xfrm>
            <a:off x="548640" y="1691640"/>
            <a:ext cx="11094415" cy="42062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1828800"/>
            <a:ext cx="10637215" cy="274320"/>
          </a:xfrm>
          <a:prstGeom prst="rect">
            <a:avLst/>
          </a:prstGeom>
          <a:noFill/>
        </p:spPr>
        <p:txBody>
          <a:bodyPr wrap="square" anchor="t" lIns="36576" rIns="36576" tIns="36576" bIns="36576">
            <a:spAutoFit/>
          </a:bodyPr>
          <a:lstStyle/>
          <a:p>
            <a:pPr>
              <a:lnSpc>
                <a:spcPct val="105000"/>
              </a:lnSpc>
            </a:pPr>
            <a:r>
              <a:rPr sz="1050" b="1" i="0" u="none" spc="120">
                <a:solidFill>
                  <a:srgbClr val="B3261E"/>
                </a:solidFill>
                <a:latin typeface="IBM Plex Mono"/>
              </a:rPr>
              <a:t>BRIEFING · EDDA LORENZ</a:t>
            </a:r>
          </a:p>
        </p:txBody>
      </p:sp>
      <p:sp>
        <p:nvSpPr>
          <p:cNvPr id="12" name="TextBox 11"/>
          <p:cNvSpPr txBox="1"/>
          <p:nvPr/>
        </p:nvSpPr>
        <p:spPr>
          <a:xfrm>
            <a:off x="822959" y="2240280"/>
            <a:ext cx="10545775" cy="3474720"/>
          </a:xfrm>
          <a:prstGeom prst="rect">
            <a:avLst/>
          </a:prstGeom>
          <a:noFill/>
        </p:spPr>
        <p:txBody>
          <a:bodyPr wrap="square" anchor="t" lIns="36576" rIns="36576" tIns="36576" bIns="36576">
            <a:spAutoFit/>
          </a:bodyPr>
          <a:lstStyle/>
          <a:p>
            <a:pPr>
              <a:lnSpc>
                <a:spcPct val="105000"/>
              </a:lnSpc>
            </a:pPr>
            <a:r>
              <a:rPr sz="2200" b="0" i="1" u="none">
                <a:solidFill>
                  <a:srgbClr val="1C2B3A"/>
                </a:solidFill>
                <a:latin typeface="Barlow"/>
              </a:rPr>
              <a:t>Im Feld Finder steht „N. Falter“ – sprecht es einmal schnell aus, dann wisst ihr, wer im Fundbuch war: das Phantom mit dem Nachtfalter.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 Fundbüro</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1</vt:lpwstr>
  </property>
  <property fmtid="{D5CDD505-2E9C-101B-9397-08002B2CF9AE}" pid="3" name="DD-Art">
    <vt:lpwstr>praesentation</vt:lpwstr>
  </property>
  <property fmtid="{D5CDD505-2E9C-101B-9397-08002B2CF9AE}" pid="4" name="DD-Datenbank">
    <vt:lpwstr>fundbuero</vt:lpwstr>
  </property>
  <property fmtid="{D5CDD505-2E9C-101B-9397-08002B2CF9AE}" pid="5" name="DD-Kuer">
    <vt:lpwstr>nein</vt:lpwstr>
  </property>
</Properties>
</file>