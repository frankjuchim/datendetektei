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DS 5 beginnt mit dem Warm-up (Karten W-A2-05 … 08, 10 min). Danach diese Folie: Akte 3 wird geöffnet – im Lab die Akte für den Kurs freischalten.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Briefing vorlesen lassen (STORY 5.5b). Frage an den Kurs: Was heißt „verdichten“? Woher kennt ihr Kassenbons mit mehreren Zeilen?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Schema gemeinsam lesen: Primärschlüssel unterstrichen, Fremdschlüssel mit ↑. Position hat einen zusammengesetzten Primärschlüssel (BonNr, ProduktNr). Schicht: Beginn gehört zum Schlüssel, weil dieselbe Person mehrmals am selben Stand arbeiten kann.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Vermutungen sammeln, nicht auflösen. Ziel: Unterschied „Zeilen zählen“ (COUNT) vs. „Mengen addieren“ (SUM) anbahnen. Erwartete Ergebniszeilen je Stand: so viele wie Stände mit Bons (7, das Info-Zelt hat keine Kasse).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Fachbegriff „Aggregatfunktion“ an die Tafel. COUNT(Spalte) mit Helfer.Verein (NULL) kurz zeigen.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Eigenes Beispiel (nicht die Lab-Aufgabe zu den Bons). Frage: Warum darf hier keine Spalte Bezeichnung stehen? (Welche Bezeichnung sollte die eine Zeile zeigen?)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Bild vor dem Unplugged nur kurz zeigen oder erst danach zur Sicherung. Kaffeemobil hat die meisten Bons, der Crêpes-Stand die meisten Stück – COUNT und SUM ergeben andere Rangfolgen.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GROUP-BY-Regel prüfen lassen: StandNr und Name stehen in GROUP BY, COUNT und MAX sind Aggregate. Stand.Name allein würde reichen, solange Namen eindeutig sind – nach dem Schlüssel gruppieren ist trotzdem die Regel.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Kopiervorlage 3_Unplugged/DD_A3_Unplugged_GROUP_BY_Karten (Bon-Karten 101–130, eigene Daten). Fächerschilder in vier Raumecken. Erwartete Tafelwerte: siehe Lösung der Kopiervorlage. Bei weniger als 30 Personen Karten mit hoher BonNr weglassen oder doppelt vergeben.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Läuft ≠ richtig. Die Plattform meldet den Regelverstoß (Parser-Hinweis). Bezug zum Unplugged-Schritt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Herumgehen: P3 (Name im SELECT, nicht in GROUP BY) und P4 (COUNT statt SUM) sammeln. Bei Unsicherheit die Sortierfächer aus der Konsole öffnen lassen.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Merkkasten ins Heft. Tafelbild mit den drei Abfragen siehe Lehrerhinweise.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Wie Abi-Ecke AB 3.1. 4 Minuten Einzelarbeit, dann Partner-Check mit der BE-Verteilung von der nächsten Folie.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[NUR LEHRKRAFT] Auch richtig: über Produkt statt Bon verbinden (Produkt.StandNr).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Cliffhanger (STORY 5.5c) und Impuls für DS 6 (HAVING). Nicht auflösen.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DS 6 beginnt mit dem Warm-up (Karten W-A3-01 … 04, 10 min).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STORY 5.6b (gekürzt). Danach Hinweis: Am Ende der Stunde wartet Verhör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Vermutungen festhalten (Tafelrand); Auflösung im Unplugged bzw. bei der Vervielfachung.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Warum kein Alias in HAVING? SELECT wird erst nach HAVING ausgewertet – nach EH steht in HAVING die Aggregatfunktion selbst.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Mit der Zeitlupe am Beamer Schritt für Schritt zeigen: Wie viele Zeilen bleiben nach WHERE, wie viele Fächer nach GROUP BY, wie viele nach HAVING?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Kopiervorlage 3_Unplugged/DD_A3_Unplugged_Zeitlupe_Karten. Bedingungskarten je Team einmal (laminiert). Sicherung: Reihenfolge als Leiste über der Tafel.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Gleichstand an der Schnittkante (P6). Im Lab: A3-E2-05 (kein Gleichstand) und der Cold Case „Gleichstand an der Kante“.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Merksatz: Eine Position, drei Zeilen – jede SUM wird dreimal so groß. Nur verbinden, was die Frage braucht. Bezug zum Impuls („dreimal so hoch“). Im Lab A3-E2-07 „Dreimal zu viel“. Bon 486 ist das Beweisstück der Akte (Kassenbon).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Satzbausteine auch auf AB 3.2 (Beweisstück 5). Seit 2025 im Abitur: „Beschreiben Sie Ihr Vorgehen …“.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Bei jeder Fehldiagnose die Zeitlupe öffnen lassen. AB 3.2 parallel. Verhör 3 im Kurs auf „offen“ stellen.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Merkkasten ins Heft.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Wie Abi-Ecke AB 3.2. Erst schriftlich (4 min), dann zwei Antworten vorlesen und mit den Kernpunkten vergleichen.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[NUR LEHRKRAFT] Typischer Fehler P10: Syntax nacherzählen. P4: „Anzahl Verkäufe“ statt Stück.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[NUR LEHRKRAFT] Tafelbild DS 6. Erst nach der Lab-Phase zeigen (Lösung zu A3-E2-04). Analyse-Schema an dieser Abfrage üben: „Die Abfrage liefert für jede Person …“.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[NUR LEHRKRAFT] Abschluss (STORY 5.6c) erst ganz am Ende: Beweisstück 3 „Kassenbon“ an die Pinnwand. Steckbrief: Jahrgang 1988 bestätigt, kennt Kassensysteme, Verbindung zum TuS. Überleitung zu Akte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3 · DIE STADTFEST-KASSE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229600" cy="128016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5400" b="0" i="0" u="none">
                <a:solidFill>
                  <a:srgbClr val="E8E1D3"/>
                </a:solidFill>
                <a:latin typeface="Barlow Condensed SemiBold"/>
              </a:rPr>
              <a:t>Die Stadtfest-Kasse</a:t>
            </a:r>
          </a:p>
        </p:txBody>
      </p:sp>
      <p:cxnSp>
        <p:nvCxnSpPr>
          <p:cNvPr id="5" name="Roter Faden"/>
          <p:cNvCxnSpPr/>
          <p:nvPr/>
        </p:nvCxnSpPr>
        <p:spPr>
          <a:xfrm>
            <a:off x="548640" y="3291840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84632" y="3227832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1579047" y="3227832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82296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2200" b="0" i="0" u="none">
                <a:solidFill>
                  <a:srgbClr val="BDB6A9"/>
                </a:solidFill>
                <a:latin typeface="Barlow"/>
              </a:rPr>
              <a:t>Akte 3 · DS 5 „Kassensturz“ · DS 6 „Die Statistik lügt nicht“</a:t>
            </a:r>
          </a:p>
        </p:txBody>
      </p:sp>
      <p:pic>
        <p:nvPicPr>
          <p:cNvPr id="9" name="Picture 8" descr="stemp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1463040"/>
            <a:ext cx="2560320" cy="8219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3 · DIE STADTFEST-KASSE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Kassensturz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094415" cy="420624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637215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050" b="1" i="0" u="none" spc="120">
                <a:solidFill>
                  <a:srgbClr val="B3261E"/>
                </a:solidFill>
                <a:latin typeface="IBM Plex Mono"/>
              </a:rPr>
              <a:t>BRIEFING · EDDA LORENZ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40280"/>
            <a:ext cx="10545775" cy="3474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2200" b="0" i="1" u="none">
                <a:solidFill>
                  <a:srgbClr val="1C2B3A"/>
                </a:solidFill>
                <a:latin typeface="Barlow"/>
              </a:rPr>
              <a:t>Frauke Melchers, Kassenwartin des Festausschusses, hat uns alle Kassendaten des Stadtfests gebracht – und eine Zahl: 312,50 € Fehlbetrag. Die Datenbank ist groß: Stände, Helferinnen und Helfer, Schichten, Produkte, Bons und Positionen. Einzelne Zeilen anzuschauen bringt hier nichts; wir müssen verdichten – zählen, summieren, Durchschnitte bilden. Und es gibt eine eiserne Regel: Jede Spalte im SELECT ist entweder aggregiert oder steht im GROUP BY. Gleich sortiert ihr euch selbst in Fächer: Ihr seid die Datensätze.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3 · DIE STADTFEST-KASSE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Die Datenbank Stadtfest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094415" cy="434340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1920240"/>
            <a:ext cx="10545775" cy="477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710" b="0" i="0" u="none">
                <a:solidFill>
                  <a:srgbClr val="1C2B3A"/>
                </a:solidFill>
                <a:latin typeface="IBM Plex Mono"/>
              </a:rPr>
              <a:t>Stand(</a:t>
            </a:r>
            <a:r>
              <a:rPr sz="1710" b="0" i="0" u="sng">
                <a:solidFill>
                  <a:srgbClr val="1C2B3A"/>
                </a:solidFill>
                <a:latin typeface="IBM Plex Mono"/>
              </a:rPr>
              <a:t>StandNr</a:t>
            </a:r>
            <a:r>
              <a:rPr sz="1710" b="0" i="0" u="none">
                <a:solidFill>
                  <a:srgbClr val="1C2B3A"/>
                </a:solidFill>
                <a:latin typeface="IBM Plex Mono"/>
              </a:rPr>
              <a:t>, Name, Art, Platz)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470912"/>
            <a:ext cx="10545775" cy="477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710" b="0" i="0" u="none">
                <a:solidFill>
                  <a:srgbClr val="1C2B3A"/>
                </a:solidFill>
                <a:latin typeface="IBM Plex Mono"/>
              </a:rPr>
              <a:t>Helfer(</a:t>
            </a:r>
            <a:r>
              <a:rPr sz="1710" b="0" i="0" u="sng">
                <a:solidFill>
                  <a:srgbClr val="1C2B3A"/>
                </a:solidFill>
                <a:latin typeface="IBM Plex Mono"/>
              </a:rPr>
              <a:t>HelferNr</a:t>
            </a:r>
            <a:r>
              <a:rPr sz="1710" b="0" i="0" u="none">
                <a:solidFill>
                  <a:srgbClr val="1C2B3A"/>
                </a:solidFill>
                <a:latin typeface="IBM Plex Mono"/>
              </a:rPr>
              <a:t>, Vorname, Nachname, Jahrgang, Verein)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021584"/>
            <a:ext cx="10545775" cy="477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710" b="0" i="0" u="none">
                <a:solidFill>
                  <a:srgbClr val="1C2B3A"/>
                </a:solidFill>
                <a:latin typeface="IBM Plex Mono"/>
              </a:rPr>
              <a:t>Schicht(</a:t>
            </a:r>
            <a:r>
              <a:rPr sz="1710" b="0" i="0" u="sng">
                <a:solidFill>
                  <a:srgbClr val="B3261E"/>
                </a:solidFill>
                <a:latin typeface="IBM Plex Mono"/>
              </a:rPr>
              <a:t>↑</a:t>
            </a:r>
            <a:r>
              <a:rPr sz="1710" b="0" i="0" u="sng">
                <a:solidFill>
                  <a:srgbClr val="1C2B3A"/>
                </a:solidFill>
                <a:latin typeface="IBM Plex Mono"/>
              </a:rPr>
              <a:t>HelferNr, </a:t>
            </a:r>
            <a:r>
              <a:rPr sz="1710" b="0" i="0" u="sng">
                <a:solidFill>
                  <a:srgbClr val="B3261E"/>
                </a:solidFill>
                <a:latin typeface="IBM Plex Mono"/>
              </a:rPr>
              <a:t>↑</a:t>
            </a:r>
            <a:r>
              <a:rPr sz="1710" b="0" i="0" u="sng">
                <a:solidFill>
                  <a:srgbClr val="1C2B3A"/>
                </a:solidFill>
                <a:latin typeface="IBM Plex Mono"/>
              </a:rPr>
              <a:t>StandNr, Beginn</a:t>
            </a:r>
            <a:r>
              <a:rPr sz="1710" b="0" i="0" u="none">
                <a:solidFill>
                  <a:srgbClr val="1C2B3A"/>
                </a:solidFill>
                <a:latin typeface="IBM Plex Mono"/>
              </a:rPr>
              <a:t>, Ende)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572256"/>
            <a:ext cx="10545775" cy="477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710" b="0" i="0" u="none">
                <a:solidFill>
                  <a:srgbClr val="1C2B3A"/>
                </a:solidFill>
                <a:latin typeface="IBM Plex Mono"/>
              </a:rPr>
              <a:t>Produkt(</a:t>
            </a:r>
            <a:r>
              <a:rPr sz="1710" b="0" i="0" u="sng">
                <a:solidFill>
                  <a:srgbClr val="1C2B3A"/>
                </a:solidFill>
                <a:latin typeface="IBM Plex Mono"/>
              </a:rPr>
              <a:t>ProduktNr</a:t>
            </a:r>
            <a:r>
              <a:rPr sz="1710" b="0" i="0" u="none">
                <a:solidFill>
                  <a:srgbClr val="1C2B3A"/>
                </a:solidFill>
                <a:latin typeface="IBM Plex Mono"/>
              </a:rPr>
              <a:t>, Bezeichnung, Preis, </a:t>
            </a:r>
            <a:r>
              <a:rPr sz="1710" b="0" i="0" u="none">
                <a:solidFill>
                  <a:srgbClr val="B3261E"/>
                </a:solidFill>
                <a:latin typeface="IBM Plex Mono"/>
              </a:rPr>
              <a:t>↑</a:t>
            </a:r>
            <a:r>
              <a:rPr sz="1710" b="0" i="0" u="none">
                <a:solidFill>
                  <a:srgbClr val="1C2B3A"/>
                </a:solidFill>
                <a:latin typeface="IBM Plex Mono"/>
              </a:rPr>
              <a:t>StandNr)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122927"/>
            <a:ext cx="10545775" cy="477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710" b="0" i="0" u="none">
                <a:solidFill>
                  <a:srgbClr val="1C2B3A"/>
                </a:solidFill>
                <a:latin typeface="IBM Plex Mono"/>
              </a:rPr>
              <a:t>Bon(</a:t>
            </a:r>
            <a:r>
              <a:rPr sz="1710" b="0" i="0" u="sng">
                <a:solidFill>
                  <a:srgbClr val="1C2B3A"/>
                </a:solidFill>
                <a:latin typeface="IBM Plex Mono"/>
              </a:rPr>
              <a:t>BonNr</a:t>
            </a:r>
            <a:r>
              <a:rPr sz="1710" b="0" i="0" u="none">
                <a:solidFill>
                  <a:srgbClr val="1C2B3A"/>
                </a:solidFill>
                <a:latin typeface="IBM Plex Mono"/>
              </a:rPr>
              <a:t>, </a:t>
            </a:r>
            <a:r>
              <a:rPr sz="1710" b="0" i="0" u="none">
                <a:solidFill>
                  <a:srgbClr val="B3261E"/>
                </a:solidFill>
                <a:latin typeface="IBM Plex Mono"/>
              </a:rPr>
              <a:t>↑</a:t>
            </a:r>
            <a:r>
              <a:rPr sz="1710" b="0" i="0" u="none">
                <a:solidFill>
                  <a:srgbClr val="1C2B3A"/>
                </a:solidFill>
                <a:latin typeface="IBM Plex Mono"/>
              </a:rPr>
              <a:t>StandNr, </a:t>
            </a:r>
            <a:r>
              <a:rPr sz="1710" b="0" i="0" u="none">
                <a:solidFill>
                  <a:srgbClr val="B3261E"/>
                </a:solidFill>
                <a:latin typeface="IBM Plex Mono"/>
              </a:rPr>
              <a:t>↑</a:t>
            </a:r>
            <a:r>
              <a:rPr sz="1710" b="0" i="0" u="none">
                <a:solidFill>
                  <a:srgbClr val="1C2B3A"/>
                </a:solidFill>
                <a:latin typeface="IBM Plex Mono"/>
              </a:rPr>
              <a:t>HelferNr, Zeitpunkt, Zahlart)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673600"/>
            <a:ext cx="10545775" cy="477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710" b="0" i="0" u="none">
                <a:solidFill>
                  <a:srgbClr val="1C2B3A"/>
                </a:solidFill>
                <a:latin typeface="IBM Plex Mono"/>
              </a:rPr>
              <a:t>Position(</a:t>
            </a:r>
            <a:r>
              <a:rPr sz="1710" b="0" i="0" u="sng">
                <a:solidFill>
                  <a:srgbClr val="B3261E"/>
                </a:solidFill>
                <a:latin typeface="IBM Plex Mono"/>
              </a:rPr>
              <a:t>↑</a:t>
            </a:r>
            <a:r>
              <a:rPr sz="1710" b="0" i="0" u="sng">
                <a:solidFill>
                  <a:srgbClr val="1C2B3A"/>
                </a:solidFill>
                <a:latin typeface="IBM Plex Mono"/>
              </a:rPr>
              <a:t>BonNr, </a:t>
            </a:r>
            <a:r>
              <a:rPr sz="1710" b="0" i="0" u="sng">
                <a:solidFill>
                  <a:srgbClr val="B3261E"/>
                </a:solidFill>
                <a:latin typeface="IBM Plex Mono"/>
              </a:rPr>
              <a:t>↑</a:t>
            </a:r>
            <a:r>
              <a:rPr sz="1710" b="0" i="0" u="sng">
                <a:solidFill>
                  <a:srgbClr val="1C2B3A"/>
                </a:solidFill>
                <a:latin typeface="IBM Plex Mono"/>
              </a:rPr>
              <a:t>ProduktNr</a:t>
            </a:r>
            <a:r>
              <a:rPr sz="1710" b="0" i="0" u="none">
                <a:solidFill>
                  <a:srgbClr val="1C2B3A"/>
                </a:solidFill>
                <a:latin typeface="IBM Plex Mono"/>
              </a:rPr>
              <a:t>, Menge)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224272"/>
            <a:ext cx="10545775" cy="393065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 i="0" u="none">
                <a:solidFill>
                  <a:srgbClr val="1C2B3A"/>
                </a:solidFill>
                <a:latin typeface="Barlow"/>
              </a:rPr>
              <a:t>Ein </a:t>
            </a:r>
            <a:r>
              <a:rPr sz="1900" b="1" i="0" u="none">
                <a:solidFill>
                  <a:srgbClr val="1C2B3A"/>
                </a:solidFill>
                <a:latin typeface="Barlow"/>
              </a:rPr>
              <a:t>Bon</a:t>
            </a:r>
            <a:r>
              <a:rPr sz="1900" b="0" i="0" u="none">
                <a:solidFill>
                  <a:srgbClr val="1C2B3A"/>
                </a:solidFill>
                <a:latin typeface="Barlow"/>
              </a:rPr>
              <a:t> hat mehrere </a:t>
            </a:r>
            <a:r>
              <a:rPr sz="1900" b="1" i="0" u="none">
                <a:solidFill>
                  <a:srgbClr val="1C2B3A"/>
                </a:solidFill>
                <a:latin typeface="Barlow"/>
              </a:rPr>
              <a:t>Positionen</a:t>
            </a:r>
            <a:r>
              <a:rPr sz="1900" b="0" i="0" u="none">
                <a:solidFill>
                  <a:srgbClr val="1C2B3A"/>
                </a:solidFill>
                <a:latin typeface="Barlow"/>
              </a:rPr>
              <a:t>; jede Position nennt ein Produkt und eine </a:t>
            </a:r>
            <a:r>
              <a:rPr sz="1900" b="1" i="0" u="none">
                <a:solidFill>
                  <a:srgbClr val="1C2B3A"/>
                </a:solidFill>
                <a:latin typeface="Barlow"/>
              </a:rPr>
              <a:t>Menge</a:t>
            </a:r>
            <a:r>
              <a:rPr sz="1900" b="0" i="0" u="none">
                <a:solidFill>
                  <a:srgbClr val="1C2B3A"/>
                </a:solidFill>
                <a:latin typeface="Barlow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3 · DIE STADTFEST-KASSE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Impuls: Zählen oder summieren?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094415" cy="434340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1920240"/>
            <a:ext cx="10545775" cy="14909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 i="0" u="none">
                <a:solidFill>
                  <a:srgbClr val="1C2B3A"/>
                </a:solidFill>
                <a:latin typeface="Barlow"/>
              </a:rPr>
              <a:t>▸ Wie viele Bons gab es am Stadtfest?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 i="0" u="none">
                <a:solidFill>
                  <a:srgbClr val="1C2B3A"/>
                </a:solidFill>
                <a:latin typeface="Barlow"/>
              </a:rPr>
              <a:t>▸ Wie viele Bratwürste wurden verkauft?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 i="0" u="none">
                <a:solidFill>
                  <a:srgbClr val="1C2B3A"/>
                </a:solidFill>
                <a:latin typeface="Barlow"/>
              </a:rPr>
              <a:t>▸ Ist das dieselbe Art von Zahl?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 i="0" u="none">
                <a:solidFill>
                  <a:srgbClr val="1C2B3A"/>
                </a:solidFill>
                <a:latin typeface="Barlow"/>
              </a:rPr>
              <a:t>▸ Wir wollen die Anzahl der Bons </a:t>
            </a:r>
            <a:r>
              <a:rPr sz="1900" b="1" i="0" u="none">
                <a:solidFill>
                  <a:srgbClr val="1C2B3A"/>
                </a:solidFill>
                <a:latin typeface="Barlow"/>
              </a:rPr>
              <a:t>je Stand</a:t>
            </a:r>
            <a:r>
              <a:rPr sz="1900" b="0" i="0" u="none">
                <a:solidFill>
                  <a:srgbClr val="1C2B3A"/>
                </a:solidFill>
                <a:latin typeface="Barlow"/>
              </a:rPr>
              <a:t>. Wie viele Ergebniszeilen erwartet ihr?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3 · DIE STADTFEST-KASSE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Aggregatfunktionen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5</a:t>
            </a:r>
          </a:p>
        </p:txBody>
      </p:sp>
      <p:graphicFrame>
        <p:nvGraphicFramePr>
          <p:cNvPr id="8" name="Datentabelle"/>
          <p:cNvGraphicFramePr>
            <a:graphicFrameLocks noGrp="1"/>
          </p:cNvGraphicFramePr>
          <p:nvPr/>
        </p:nvGraphicFramePr>
        <p:xfrm>
          <a:off x="548640" y="1691640"/>
          <a:ext cx="11094415" cy="200787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20000"/>
                <a:gridCol w="8574415"/>
              </a:tblGrid>
              <a:tr h="334645">
                <a:tc>
                  <a:txBody>
                    <a:bodyPr/>
                    <a:lstStyle/>
                    <a:p>
                      <a:r>
                        <a:rPr sz="1564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Fachbegriff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64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Bedeutung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r>
                        <a:rPr sz="1530" b="0" i="0" u="none">
                          <a:solidFill>
                            <a:srgbClr val="1C2B3A"/>
                          </a:solidFill>
                          <a:latin typeface="IBM Plex Mono"/>
                        </a:rPr>
                        <a:t>COUNT(*)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Anzahl der Zeilen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r>
                        <a:rPr sz="1530" b="0" i="0" u="none">
                          <a:solidFill>
                            <a:srgbClr val="1C2B3A"/>
                          </a:solidFill>
                          <a:latin typeface="IBM Plex Mono"/>
                        </a:rPr>
                        <a:t>COUNT(Spalte)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Anzahl der Werte ungleich NULL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r>
                        <a:rPr sz="1530" b="0" i="0" u="none">
                          <a:solidFill>
                            <a:srgbClr val="1C2B3A"/>
                          </a:solidFill>
                          <a:latin typeface="IBM Plex Mono"/>
                        </a:rPr>
                        <a:t>SUM(Spalte)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Summe, z. B. verkaufte Stück </a:t>
                      </a:r>
                      <a:r>
                        <a:rPr sz="1530" b="0" i="0" u="none">
                          <a:solidFill>
                            <a:srgbClr val="1C2B3A"/>
                          </a:solidFill>
                          <a:latin typeface="IBM Plex Mono"/>
                        </a:rPr>
                        <a:t>SUM(Menge)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r>
                        <a:rPr sz="1530" b="0" i="0" u="none">
                          <a:solidFill>
                            <a:srgbClr val="1C2B3A"/>
                          </a:solidFill>
                          <a:latin typeface="IBM Plex Mono"/>
                        </a:rPr>
                        <a:t>AVG(Spalte)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Durchschnitt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r>
                        <a:rPr sz="1530" b="0" i="0" u="none">
                          <a:solidFill>
                            <a:srgbClr val="1C2B3A"/>
                          </a:solidFill>
                          <a:latin typeface="IBM Plex Mono"/>
                        </a:rPr>
                        <a:t>MIN</a:t>
                      </a:r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 / </a:t>
                      </a:r>
                      <a:r>
                        <a:rPr sz="1530" b="0" i="0" u="none">
                          <a:solidFill>
                            <a:srgbClr val="1C2B3A"/>
                          </a:solidFill>
                          <a:latin typeface="IBM Plex Mono"/>
                        </a:rPr>
                        <a:t>MAX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kleinster / größter Wert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882390"/>
            <a:ext cx="11094415" cy="37719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 i="0" u="none">
                <a:solidFill>
                  <a:srgbClr val="E8E1D3"/>
                </a:solidFill>
                <a:latin typeface="Barlow"/>
              </a:rPr>
              <a:t>Ohne GROUP BY verdichtet eine Aggregatfunktion die ganze Tabelle zu </a:t>
            </a:r>
            <a:r>
              <a:rPr sz="1800" b="1" i="0" u="none">
                <a:solidFill>
                  <a:srgbClr val="E8E1D3"/>
                </a:solidFill>
                <a:latin typeface="Barlow"/>
              </a:rPr>
              <a:t>einer</a:t>
            </a:r>
            <a:r>
              <a:rPr sz="1800" b="0" i="0" u="none">
                <a:solidFill>
                  <a:srgbClr val="E8E1D3"/>
                </a:solidFill>
                <a:latin typeface="Barlow"/>
              </a:rPr>
              <a:t> Ergebniszeile.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3 · DIE STADTFEST-KASSE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Kennzahlen ohne GROUP BY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6</a:t>
            </a:r>
          </a:p>
        </p:txBody>
      </p:sp>
      <p:sp>
        <p:nvSpPr>
          <p:cNvPr id="8" name="SQL-Hintergrund"/>
          <p:cNvSpPr/>
          <p:nvPr/>
        </p:nvSpPr>
        <p:spPr>
          <a:xfrm>
            <a:off x="548640" y="1691640"/>
            <a:ext cx="6101928" cy="939165"/>
          </a:xfrm>
          <a:prstGeom prst="roundRect">
            <a:avLst>
              <a:gd name="adj" fmla="val 4000"/>
            </a:avLst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SQL"/>
          <p:cNvSpPr txBox="1"/>
          <p:nvPr/>
        </p:nvSpPr>
        <p:spPr>
          <a:xfrm>
            <a:off x="731520" y="1828800"/>
            <a:ext cx="5736168" cy="66484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</a:pPr>
            <a:r>
              <a:rPr sz="1300" i="0">
                <a:solidFill>
                  <a:srgbClr val="F2A65A"/>
                </a:solidFill>
                <a:latin typeface="IBM Plex Mono"/>
              </a:rPr>
              <a:t>SELECT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E6C77A"/>
                </a:solidFill>
                <a:latin typeface="IBM Plex Mono"/>
              </a:rPr>
              <a:t>COUNT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(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*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)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F2A65A"/>
                </a:solidFill>
                <a:latin typeface="IBM Plex Mono"/>
              </a:rPr>
              <a:t>AS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Produkte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E6C77A"/>
                </a:solidFill>
                <a:latin typeface="IBM Plex Mono"/>
              </a:rPr>
              <a:t>MIN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(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Preis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)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F2A65A"/>
                </a:solidFill>
                <a:latin typeface="IBM Plex Mono"/>
              </a:rPr>
              <a:t>AS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Billigste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D8E3D0"/>
                </a:solidFill>
                <a:latin typeface="IBM Plex Mono"/>
              </a:rPr>
              <a:t>       </a:t>
            </a:r>
            <a:r>
              <a:rPr sz="1300" i="0">
                <a:solidFill>
                  <a:srgbClr val="E6C77A"/>
                </a:solidFill>
                <a:latin typeface="IBM Plex Mono"/>
              </a:rPr>
              <a:t>MAX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(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Preis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)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F2A65A"/>
                </a:solidFill>
                <a:latin typeface="IBM Plex Mono"/>
              </a:rPr>
              <a:t>AS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Teuerste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E6C77A"/>
                </a:solidFill>
                <a:latin typeface="IBM Plex Mono"/>
              </a:rPr>
              <a:t>AVG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(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Preis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)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F2A65A"/>
                </a:solidFill>
                <a:latin typeface="IBM Plex Mono"/>
              </a:rPr>
              <a:t>AS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Schnitt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F2A65A"/>
                </a:solidFill>
                <a:latin typeface="IBM Plex Mono"/>
              </a:rPr>
              <a:t>FROM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Produkt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22245"/>
            <a:ext cx="610192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000" b="1" i="0" u="none" spc="120">
                <a:solidFill>
                  <a:srgbClr val="D4B062"/>
                </a:solidFill>
                <a:latin typeface="IBM Plex Mono"/>
              </a:rPr>
              <a:t>ERGEBNIS</a:t>
            </a:r>
          </a:p>
        </p:txBody>
      </p:sp>
      <p:graphicFrame>
        <p:nvGraphicFramePr>
          <p:cNvPr id="11" name="Ergebnistabelle"/>
          <p:cNvGraphicFramePr>
            <a:graphicFrameLocks noGrp="1"/>
          </p:cNvGraphicFramePr>
          <p:nvPr/>
        </p:nvGraphicFramePr>
        <p:xfrm>
          <a:off x="548640" y="3042285"/>
          <a:ext cx="4330596" cy="51181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82649"/>
                <a:gridCol w="1183690"/>
                <a:gridCol w="1082649"/>
                <a:gridCol w="981608"/>
              </a:tblGrid>
              <a:tr h="255905">
                <a:tc>
                  <a:txBody>
                    <a:bodyPr/>
                    <a:lstStyle/>
                    <a:p>
                      <a:r>
                        <a:rPr sz="1196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Produkte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Billigste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Teuerste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Schnitt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</a:tr>
              <a:tr h="255905">
                <a:tc>
                  <a:txBody>
                    <a:bodyPr/>
                    <a:lstStyle/>
                    <a:p>
                      <a:pPr algn="r"/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26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1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6,5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3,35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924888" y="1691640"/>
            <a:ext cx="4718166" cy="75692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924888" y="1691640"/>
            <a:ext cx="73152" cy="756920"/>
          </a:xfrm>
          <a:prstGeom prst="rect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062048" y="1764792"/>
            <a:ext cx="4572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 u="none">
                <a:solidFill>
                  <a:srgbClr val="B3261E"/>
                </a:solidFill>
                <a:latin typeface="Barlow Condensed SemiBol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19248" y="1764792"/>
            <a:ext cx="3986646" cy="6471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600" b="1" i="0" u="none">
                <a:solidFill>
                  <a:srgbClr val="1C2B3A"/>
                </a:solidFill>
                <a:latin typeface="Barlow"/>
              </a:rPr>
              <a:t>FROM</a:t>
            </a:r>
            <a:r>
              <a:rPr sz="1600" b="0" i="0" u="none">
                <a:solidFill>
                  <a:srgbClr val="1C2B3A"/>
                </a:solidFill>
                <a:latin typeface="Barlow"/>
              </a:rPr>
              <a:t> – alle 26 Zeilen der Tabelle Produkt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24888" y="2585720"/>
            <a:ext cx="4718166" cy="75692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924888" y="2585720"/>
            <a:ext cx="73152" cy="756920"/>
          </a:xfrm>
          <a:prstGeom prst="rect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062048" y="2658872"/>
            <a:ext cx="4572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 u="none">
                <a:solidFill>
                  <a:srgbClr val="B3261E"/>
                </a:solidFill>
                <a:latin typeface="Barlow Condensed Semi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9248" y="2658872"/>
            <a:ext cx="3986646" cy="6471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600" b="1" i="0" u="none">
                <a:solidFill>
                  <a:srgbClr val="1C2B3A"/>
                </a:solidFill>
                <a:latin typeface="Barlow"/>
              </a:rPr>
              <a:t>SELECT</a:t>
            </a:r>
            <a:r>
              <a:rPr sz="1600" b="0" i="0" u="none">
                <a:solidFill>
                  <a:srgbClr val="1C2B3A"/>
                </a:solidFill>
                <a:latin typeface="Barlow"/>
              </a:rPr>
              <a:t> – jede Aggregatfunktion verdichtet die Spalte Preis zu einem Wert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24888" y="3479800"/>
            <a:ext cx="4718166" cy="68580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924888" y="3479800"/>
            <a:ext cx="73152" cy="685800"/>
          </a:xfrm>
          <a:prstGeom prst="rect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062048" y="3552952"/>
            <a:ext cx="4572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 u="none">
                <a:solidFill>
                  <a:srgbClr val="B3261E"/>
                </a:solidFill>
                <a:latin typeface="Barlow Condensed SemiBol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9248" y="3552952"/>
            <a:ext cx="3986646" cy="5760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600" b="0" i="0" u="none">
                <a:solidFill>
                  <a:srgbClr val="1C2B3A"/>
                </a:solidFill>
                <a:latin typeface="Barlow"/>
              </a:rPr>
              <a:t>Ergebnis: </a:t>
            </a:r>
            <a:r>
              <a:rPr sz="1600" b="1" i="0" u="none">
                <a:solidFill>
                  <a:srgbClr val="1C2B3A"/>
                </a:solidFill>
                <a:latin typeface="Barlow"/>
              </a:rPr>
              <a:t>eine</a:t>
            </a:r>
            <a:r>
              <a:rPr sz="1600" b="0" i="0" u="none">
                <a:solidFill>
                  <a:srgbClr val="1C2B3A"/>
                </a:solidFill>
                <a:latin typeface="Barlow"/>
              </a:rPr>
              <a:t> Zeile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3 · DIE STADTFEST-KASSE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GROUP BY bildet Fächer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094415" cy="434340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faecher_fol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002" y="1920240"/>
            <a:ext cx="8949690" cy="39776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3 · DIE STADTFEST-KASSE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Beispiel: Sortiment je Stand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8</a:t>
            </a:r>
          </a:p>
        </p:txBody>
      </p:sp>
      <p:sp>
        <p:nvSpPr>
          <p:cNvPr id="8" name="SQL-Hintergrund"/>
          <p:cNvSpPr/>
          <p:nvPr/>
        </p:nvSpPr>
        <p:spPr>
          <a:xfrm>
            <a:off x="548640" y="1691640"/>
            <a:ext cx="6101928" cy="1558290"/>
          </a:xfrm>
          <a:prstGeom prst="roundRect">
            <a:avLst>
              <a:gd name="adj" fmla="val 4000"/>
            </a:avLst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SQL"/>
          <p:cNvSpPr txBox="1"/>
          <p:nvPr/>
        </p:nvSpPr>
        <p:spPr>
          <a:xfrm>
            <a:off x="731520" y="1828800"/>
            <a:ext cx="5736168" cy="128397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</a:pPr>
            <a:r>
              <a:rPr sz="1300" i="0">
                <a:solidFill>
                  <a:srgbClr val="F2A65A"/>
                </a:solidFill>
                <a:latin typeface="IBM Plex Mono"/>
              </a:rPr>
              <a:t>SELECT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Stand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StandNr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Stand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Name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E6C77A"/>
                </a:solidFill>
                <a:latin typeface="IBM Plex Mono"/>
              </a:rPr>
              <a:t>COUNT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(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*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)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F2A65A"/>
                </a:solidFill>
                <a:latin typeface="IBM Plex Mono"/>
              </a:rPr>
              <a:t>AS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Produkte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D8E3D0"/>
                </a:solidFill>
                <a:latin typeface="IBM Plex Mono"/>
              </a:rPr>
              <a:t>       </a:t>
            </a:r>
            <a:r>
              <a:rPr sz="1300" i="0">
                <a:solidFill>
                  <a:srgbClr val="E6C77A"/>
                </a:solidFill>
                <a:latin typeface="IBM Plex Mono"/>
              </a:rPr>
              <a:t>MAX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(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Produkt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Preis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)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F2A65A"/>
                </a:solidFill>
                <a:latin typeface="IBM Plex Mono"/>
              </a:rPr>
              <a:t>AS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Hoechstpreis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F2A65A"/>
                </a:solidFill>
                <a:latin typeface="IBM Plex Mono"/>
              </a:rPr>
              <a:t>FROM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Stand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Produkt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F2A65A"/>
                </a:solidFill>
                <a:latin typeface="IBM Plex Mono"/>
              </a:rPr>
              <a:t>WHERE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Stand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StandNr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=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Produkt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StandNr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F2A65A"/>
                </a:solidFill>
                <a:latin typeface="IBM Plex Mono"/>
              </a:rPr>
              <a:t>GROUP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F2A65A"/>
                </a:solidFill>
                <a:latin typeface="IBM Plex Mono"/>
              </a:rPr>
              <a:t>BY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Stand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StandNr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Stand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Name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F2A65A"/>
                </a:solidFill>
                <a:latin typeface="IBM Plex Mono"/>
              </a:rPr>
              <a:t>ORDER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F2A65A"/>
                </a:solidFill>
                <a:latin typeface="IBM Plex Mono"/>
              </a:rPr>
              <a:t>BY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Produkte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F2A65A"/>
                </a:solidFill>
                <a:latin typeface="IBM Plex Mono"/>
              </a:rPr>
              <a:t>DESC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Stand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StandNr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41370"/>
            <a:ext cx="610192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000" b="1" i="0" u="none" spc="120">
                <a:solidFill>
                  <a:srgbClr val="D4B062"/>
                </a:solidFill>
                <a:latin typeface="IBM Plex Mono"/>
              </a:rPr>
              <a:t>ERGEBNIS</a:t>
            </a:r>
          </a:p>
        </p:txBody>
      </p:sp>
      <p:graphicFrame>
        <p:nvGraphicFramePr>
          <p:cNvPr id="11" name="Ergebnistabelle"/>
          <p:cNvGraphicFramePr>
            <a:graphicFrameLocks noGrp="1"/>
          </p:cNvGraphicFramePr>
          <p:nvPr/>
        </p:nvGraphicFramePr>
        <p:xfrm>
          <a:off x="548640" y="3661410"/>
          <a:ext cx="4936844" cy="127952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81608"/>
                <a:gridCol w="1385773"/>
                <a:gridCol w="1082649"/>
                <a:gridCol w="1486814"/>
              </a:tblGrid>
              <a:tr h="255905">
                <a:tc>
                  <a:txBody>
                    <a:bodyPr/>
                    <a:lstStyle/>
                    <a:p>
                      <a:r>
                        <a:rPr sz="1196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StandNr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Name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Produkte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Hoechstpreis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</a:tr>
              <a:tr h="255905">
                <a:tc>
                  <a:txBody>
                    <a:bodyPr/>
                    <a:lstStyle/>
                    <a:p>
                      <a:pPr algn="r"/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4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Kaffeemobil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6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3,5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255905">
                <a:tc>
                  <a:txBody>
                    <a:bodyPr/>
                    <a:lstStyle/>
                    <a:p>
                      <a:pPr algn="r"/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1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Grillhütte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4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4,5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255905">
                <a:tc>
                  <a:txBody>
                    <a:bodyPr/>
                    <a:lstStyle/>
                    <a:p>
                      <a:pPr algn="r"/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3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Saftbar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4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4,5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255905">
                <a:tc>
                  <a:txBody>
                    <a:bodyPr/>
                    <a:lstStyle/>
                    <a:p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…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…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…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…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924888" y="1691640"/>
            <a:ext cx="4718166" cy="75692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924888" y="1691640"/>
            <a:ext cx="73152" cy="756920"/>
          </a:xfrm>
          <a:prstGeom prst="rect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062048" y="1764792"/>
            <a:ext cx="4572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 u="none">
                <a:solidFill>
                  <a:srgbClr val="B3261E"/>
                </a:solidFill>
                <a:latin typeface="Barlow Condensed SemiBol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19248" y="1764792"/>
            <a:ext cx="3986646" cy="6471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600" b="1" i="0" u="none">
                <a:solidFill>
                  <a:srgbClr val="1C2B3A"/>
                </a:solidFill>
                <a:latin typeface="Barlow"/>
              </a:rPr>
              <a:t>FROM/WHERE</a:t>
            </a:r>
            <a:r>
              <a:rPr sz="1600" b="0" i="0" u="none">
                <a:solidFill>
                  <a:srgbClr val="1C2B3A"/>
                </a:solidFill>
                <a:latin typeface="Barlow"/>
              </a:rPr>
              <a:t> – Stand und Produkt verbinden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24888" y="2585720"/>
            <a:ext cx="4718166" cy="75692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924888" y="2585720"/>
            <a:ext cx="73152" cy="756920"/>
          </a:xfrm>
          <a:prstGeom prst="rect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062048" y="2658872"/>
            <a:ext cx="4572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 u="none">
                <a:solidFill>
                  <a:srgbClr val="B3261E"/>
                </a:solidFill>
                <a:latin typeface="Barlow Condensed Semi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9248" y="2658872"/>
            <a:ext cx="3986646" cy="6471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600" b="1" i="0" u="none">
                <a:solidFill>
                  <a:srgbClr val="1C2B3A"/>
                </a:solidFill>
                <a:latin typeface="Barlow"/>
              </a:rPr>
              <a:t>GROUP BY</a:t>
            </a:r>
            <a:r>
              <a:rPr sz="1600" b="0" i="0" u="none">
                <a:solidFill>
                  <a:srgbClr val="1C2B3A"/>
                </a:solidFill>
                <a:latin typeface="Barlow"/>
              </a:rPr>
              <a:t> – ein Fach je Stand (Schlüssel + Name)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24888" y="3479800"/>
            <a:ext cx="4718166" cy="75692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924888" y="3479800"/>
            <a:ext cx="73152" cy="756920"/>
          </a:xfrm>
          <a:prstGeom prst="rect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062048" y="3552952"/>
            <a:ext cx="4572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 u="none">
                <a:solidFill>
                  <a:srgbClr val="B3261E"/>
                </a:solidFill>
                <a:latin typeface="Barlow Condensed SemiBol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9248" y="3552952"/>
            <a:ext cx="3986646" cy="6471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600" b="1" i="0" u="none">
                <a:solidFill>
                  <a:srgbClr val="1C2B3A"/>
                </a:solidFill>
                <a:latin typeface="Barlow"/>
              </a:rPr>
              <a:t>SELECT</a:t>
            </a:r>
            <a:r>
              <a:rPr sz="1600" b="0" i="0" u="none">
                <a:solidFill>
                  <a:srgbClr val="1C2B3A"/>
                </a:solidFill>
                <a:latin typeface="Barlow"/>
              </a:rPr>
              <a:t> – je Fach Anzahl und Höchstpreis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24888" y="4373880"/>
            <a:ext cx="4718166" cy="68580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924888" y="4373880"/>
            <a:ext cx="73152" cy="685800"/>
          </a:xfrm>
          <a:prstGeom prst="rect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062048" y="4447032"/>
            <a:ext cx="4572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 u="none">
                <a:solidFill>
                  <a:srgbClr val="B3261E"/>
                </a:solidFill>
                <a:latin typeface="Barlow Condensed SemiBol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9248" y="4447032"/>
            <a:ext cx="3986646" cy="5760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600" b="1" i="0" u="none">
                <a:solidFill>
                  <a:srgbClr val="1C2B3A"/>
                </a:solidFill>
                <a:latin typeface="Barlow"/>
              </a:rPr>
              <a:t>ORDER BY</a:t>
            </a:r>
            <a:r>
              <a:rPr sz="1600" b="0" i="0" u="none">
                <a:solidFill>
                  <a:srgbClr val="1C2B3A"/>
                </a:solidFill>
                <a:latin typeface="Barlow"/>
              </a:rPr>
              <a:t> – größtes Sortiment zuerst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3 · DIE STADTFEST-KASSE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Menschliches GROUP BY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094415" cy="434340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637215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050" b="1" i="0" u="none" spc="120">
                <a:solidFill>
                  <a:srgbClr val="2F6B4F"/>
                </a:solidFill>
                <a:latin typeface="IBM Plex Mono"/>
              </a:rPr>
              <a:t>UNPLUGGED · 15 MIN · MATERIAL: 30 BON-KARTEN, 4 FÄCHERSCHILDER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194560"/>
            <a:ext cx="10545775" cy="18408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 i="0" u="none">
                <a:solidFill>
                  <a:srgbClr val="1C2B3A"/>
                </a:solidFill>
                <a:latin typeface="Barlow"/>
              </a:rPr>
              <a:t>1. Jede/r bekommt eine Bon-Karte. </a:t>
            </a:r>
            <a:r>
              <a:rPr sz="1710" b="0" i="0" u="none">
                <a:solidFill>
                  <a:srgbClr val="1C2B3A"/>
                </a:solidFill>
                <a:latin typeface="IBM Plex Mono"/>
              </a:rPr>
              <a:t>SELECT COUNT(*) FROM Bon</a:t>
            </a:r>
            <a:r>
              <a:rPr sz="1900" b="0" i="0" u="none">
                <a:solidFill>
                  <a:srgbClr val="1C2B3A"/>
                </a:solidFill>
                <a:latin typeface="Barlow"/>
              </a:rPr>
              <a:t>: alle stehen auf, eine Person zählt – eine Zahl.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 i="0" u="none">
                <a:solidFill>
                  <a:srgbClr val="1C2B3A"/>
                </a:solidFill>
                <a:latin typeface="Barlow"/>
              </a:rPr>
              <a:t>2. </a:t>
            </a:r>
            <a:r>
              <a:rPr sz="1710" b="0" i="0" u="none">
                <a:solidFill>
                  <a:srgbClr val="1C2B3A"/>
                </a:solidFill>
                <a:latin typeface="IBM Plex Mono"/>
              </a:rPr>
              <a:t>GROUP BY Stand</a:t>
            </a:r>
            <a:r>
              <a:rPr sz="1900" b="0" i="0" u="none">
                <a:solidFill>
                  <a:srgbClr val="1C2B3A"/>
                </a:solidFill>
                <a:latin typeface="Barlow"/>
              </a:rPr>
              <a:t>: alle gehen in die Ecke ihres Standes. Je Fach ein </a:t>
            </a:r>
            <a:r>
              <a:rPr sz="1900" b="1" i="0" u="none">
                <a:solidFill>
                  <a:srgbClr val="1C2B3A"/>
                </a:solidFill>
                <a:latin typeface="Barlow"/>
              </a:rPr>
              <a:t>Zähler</a:t>
            </a:r>
            <a:r>
              <a:rPr sz="1900" b="0" i="0" u="none">
                <a:solidFill>
                  <a:srgbClr val="1C2B3A"/>
                </a:solidFill>
                <a:latin typeface="Barlow"/>
              </a:rPr>
              <a:t> (COUNT) und ein </a:t>
            </a:r>
            <a:r>
              <a:rPr sz="1900" b="1" i="0" u="none">
                <a:solidFill>
                  <a:srgbClr val="1C2B3A"/>
                </a:solidFill>
                <a:latin typeface="Barlow"/>
              </a:rPr>
              <a:t>Summierer</a:t>
            </a:r>
            <a:r>
              <a:rPr sz="1900" b="0" i="0" u="none">
                <a:solidFill>
                  <a:srgbClr val="1C2B3A"/>
                </a:solidFill>
                <a:latin typeface="Barlow"/>
              </a:rPr>
              <a:t> (SUM Betrag) – Ergebnis an die Tafel.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 i="0" u="none">
                <a:solidFill>
                  <a:srgbClr val="1C2B3A"/>
                </a:solidFill>
                <a:latin typeface="Barlow"/>
              </a:rPr>
              <a:t>3. </a:t>
            </a:r>
            <a:r>
              <a:rPr sz="1710" b="0" i="0" u="none">
                <a:solidFill>
                  <a:srgbClr val="1C2B3A"/>
                </a:solidFill>
                <a:latin typeface="IBM Plex Mono"/>
              </a:rPr>
              <a:t>SELECT Stand, Helfer, COUNT(*) … GROUP BY Stand</a:t>
            </a:r>
            <a:r>
              <a:rPr sz="1900" b="0" i="0" u="none">
                <a:solidFill>
                  <a:srgbClr val="1C2B3A"/>
                </a:solidFill>
                <a:latin typeface="Barlow"/>
              </a:rPr>
              <a:t>: Welchen Helfer meldet euer Fach? → GROUP-BY-Regel.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 i="0" u="none">
                <a:solidFill>
                  <a:srgbClr val="1C2B3A"/>
                </a:solidFill>
                <a:latin typeface="Barlow"/>
              </a:rPr>
              <a:t>4. </a:t>
            </a:r>
            <a:r>
              <a:rPr sz="1710" b="0" i="0" u="none">
                <a:solidFill>
                  <a:srgbClr val="1C2B3A"/>
                </a:solidFill>
                <a:latin typeface="IBM Plex Mono"/>
              </a:rPr>
              <a:t>SUM(Menge)</a:t>
            </a:r>
            <a:r>
              <a:rPr sz="1900" b="0" i="0" u="none">
                <a:solidFill>
                  <a:srgbClr val="1C2B3A"/>
                </a:solidFill>
                <a:latin typeface="Barlow"/>
              </a:rPr>
              <a:t> statt </a:t>
            </a:r>
            <a:r>
              <a:rPr sz="1710" b="0" i="0" u="none">
                <a:solidFill>
                  <a:srgbClr val="1C2B3A"/>
                </a:solidFill>
                <a:latin typeface="IBM Plex Mono"/>
              </a:rPr>
              <a:t>COUNT(*)</a:t>
            </a:r>
            <a:r>
              <a:rPr sz="1900" b="0" i="0" u="none">
                <a:solidFill>
                  <a:srgbClr val="1C2B3A"/>
                </a:solidFill>
                <a:latin typeface="Barlow"/>
              </a:rPr>
              <a:t>: Welches Fach gewinnt jetzt?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 i="0" u="none">
                <a:solidFill>
                  <a:srgbClr val="1C2B3A"/>
                </a:solidFill>
                <a:latin typeface="Barlow"/>
              </a:rPr>
              <a:t>5. </a:t>
            </a:r>
            <a:r>
              <a:rPr sz="1710" b="0" i="0" u="none">
                <a:solidFill>
                  <a:srgbClr val="1C2B3A"/>
                </a:solidFill>
                <a:latin typeface="IBM Plex Mono"/>
              </a:rPr>
              <a:t>WHERE Zahlart = 'Karte'</a:t>
            </a:r>
            <a:r>
              <a:rPr sz="1900" b="0" i="0" u="none">
                <a:solidFill>
                  <a:srgbClr val="1C2B3A"/>
                </a:solidFill>
                <a:latin typeface="Barlow"/>
              </a:rPr>
              <a:t>: Barzahler setzen sich </a:t>
            </a:r>
            <a:r>
              <a:rPr sz="1900" b="1" i="0" u="none">
                <a:solidFill>
                  <a:srgbClr val="1C2B3A"/>
                </a:solidFill>
                <a:latin typeface="Barlow"/>
              </a:rPr>
              <a:t>vor</a:t>
            </a:r>
            <a:r>
              <a:rPr sz="1900" b="0" i="0" u="none">
                <a:solidFill>
                  <a:srgbClr val="1C2B3A"/>
                </a:solidFill>
                <a:latin typeface="Barlow"/>
              </a:rPr>
              <a:t> dem Gruppieren.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3 · DIE STADTFEST-KASSE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Die GROUP-BY-Regel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094415" cy="434340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1920240"/>
            <a:ext cx="10545775" cy="69469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1" i="0" u="none">
                <a:solidFill>
                  <a:srgbClr val="1C2B3A"/>
                </a:solidFill>
                <a:latin typeface="Barlow"/>
              </a:rPr>
              <a:t>Jede Spalte im SELECT ist entweder aggregiert oder steht in GROUP BY.</a:t>
            </a:r>
            <a:r>
              <a:rPr sz="1900" b="0" i="0" u="none">
                <a:solidFill>
                  <a:srgbClr val="1C2B3A"/>
                </a:solidFill>
                <a:latin typeface="Barlow"/>
              </a:rPr>
              <a:t> Diese Abfrage läuft in SQLite – trotzdem ist sie falsch:</a:t>
            </a:r>
          </a:p>
        </p:txBody>
      </p:sp>
      <p:sp>
        <p:nvSpPr>
          <p:cNvPr id="10" name="SQL-Hintergrund"/>
          <p:cNvSpPr/>
          <p:nvPr/>
        </p:nvSpPr>
        <p:spPr>
          <a:xfrm>
            <a:off x="822959" y="2688082"/>
            <a:ext cx="10545775" cy="1590040"/>
          </a:xfrm>
          <a:prstGeom prst="roundRect">
            <a:avLst>
              <a:gd name="adj" fmla="val 4000"/>
            </a:avLst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SQL [fehlerhaft]"/>
          <p:cNvSpPr txBox="1"/>
          <p:nvPr/>
        </p:nvSpPr>
        <p:spPr>
          <a:xfrm>
            <a:off x="1005839" y="2825242"/>
            <a:ext cx="10180015" cy="1315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</a:pPr>
            <a:r>
              <a:rPr sz="2000" i="0">
                <a:solidFill>
                  <a:srgbClr val="F2A65A"/>
                </a:solidFill>
                <a:latin typeface="IBM Plex Mono"/>
              </a:rPr>
              <a:t>SELECT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Stand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Name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Produkt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Bezeichnung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E6C77A"/>
                </a:solidFill>
                <a:latin typeface="IBM Plex Mono"/>
              </a:rPr>
              <a:t>COUNT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(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*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)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F2A65A"/>
                </a:solidFill>
                <a:latin typeface="IBM Plex Mono"/>
              </a:rPr>
              <a:t>AS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Produkte</a:t>
            </a:r>
          </a:p>
          <a:p>
            <a:pPr>
              <a:lnSpc>
                <a:spcPct val="100000"/>
              </a:lnSpc>
            </a:pPr>
            <a:r>
              <a:rPr sz="2000" i="0">
                <a:solidFill>
                  <a:srgbClr val="F2A65A"/>
                </a:solidFill>
                <a:latin typeface="IBM Plex Mono"/>
              </a:rPr>
              <a:t>FROM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Stand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Produkt</a:t>
            </a:r>
          </a:p>
          <a:p>
            <a:pPr>
              <a:lnSpc>
                <a:spcPct val="100000"/>
              </a:lnSpc>
            </a:pPr>
            <a:r>
              <a:rPr sz="2000" i="0">
                <a:solidFill>
                  <a:srgbClr val="F2A65A"/>
                </a:solidFill>
                <a:latin typeface="IBM Plex Mono"/>
              </a:rPr>
              <a:t>WHERE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Stand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StandNr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=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Produkt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StandNr</a:t>
            </a:r>
          </a:p>
          <a:p>
            <a:pPr>
              <a:lnSpc>
                <a:spcPct val="100000"/>
              </a:lnSpc>
            </a:pPr>
            <a:r>
              <a:rPr sz="2000" i="0">
                <a:solidFill>
                  <a:srgbClr val="F2A65A"/>
                </a:solidFill>
                <a:latin typeface="IBM Plex Mono"/>
              </a:rPr>
              <a:t>GROUP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F2A65A"/>
                </a:solidFill>
                <a:latin typeface="IBM Plex Mono"/>
              </a:rPr>
              <a:t>BY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Stand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StandNr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Stand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Name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387850"/>
            <a:ext cx="10545775" cy="996315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 i="0" u="none">
                <a:solidFill>
                  <a:srgbClr val="1C2B3A"/>
                </a:solidFill>
                <a:latin typeface="Barlow"/>
              </a:rPr>
              <a:t>Welche Bezeichnung soll das Fach Kaffeemobil melden? Es hat sechs. Und: </a:t>
            </a:r>
            <a:r>
              <a:rPr sz="1900" b="1" i="0" u="none">
                <a:solidFill>
                  <a:srgbClr val="1C2B3A"/>
                </a:solidFill>
                <a:latin typeface="Barlow"/>
              </a:rPr>
              <a:t>nach dem Schlüssel</a:t>
            </a:r>
            <a:r>
              <a:rPr sz="1900" b="0" i="0" u="none">
                <a:solidFill>
                  <a:srgbClr val="1C2B3A"/>
                </a:solidFill>
                <a:latin typeface="Barlow"/>
              </a:rPr>
              <a:t> gruppieren – am Stadtfest halfen zwei Personen mit genau demselben Namen.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3 · DIE STADTFEST-KASSE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Ab ins Lab: Ermittlung 3.1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094415" cy="2926080"/>
          </a:xfrm>
          <a:prstGeom prst="roundRect">
            <a:avLst>
              <a:gd name="adj" fmla="val 4000"/>
            </a:avLst>
          </a:prstGeom>
          <a:solidFill>
            <a:srgbClr val="E2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637215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050" b="1" i="0" u="none" spc="120">
                <a:solidFill>
                  <a:srgbClr val="2C5A85"/>
                </a:solidFill>
                <a:latin typeface="IBM Plex Mono"/>
              </a:rPr>
              <a:t>SPUR IM 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194560"/>
            <a:ext cx="10545775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600" b="0" i="0" u="none">
                <a:solidFill>
                  <a:srgbClr val="1C2B3A"/>
                </a:solidFill>
                <a:latin typeface="Barlow Condensed SemiBold"/>
              </a:rPr>
              <a:t>„Kassensturz“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900" b="1" i="0" u="none">
                <a:solidFill>
                  <a:srgbClr val="1C2B3A"/>
                </a:solidFill>
                <a:latin typeface="Barlow"/>
              </a:rPr>
              <a:t>Aufgaben:</a:t>
            </a:r>
            <a:r>
              <a:rPr sz="1900" b="0" i="0" u="none">
                <a:solidFill>
                  <a:srgbClr val="1C2B3A"/>
                </a:solidFill>
                <a:latin typeface="Barlow"/>
              </a:rPr>
              <a:t> Einstieg A3-E1-04 (Sortierfächer), dann A3-E1-01 … 08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900" b="1" i="0" u="none">
                <a:solidFill>
                  <a:srgbClr val="1C2B3A"/>
                </a:solidFill>
                <a:latin typeface="Barlow"/>
              </a:rPr>
              <a:t>Werkzeug:</a:t>
            </a:r>
            <a:r>
              <a:rPr sz="1900" b="0" i="0" u="none">
                <a:solidFill>
                  <a:srgbClr val="1C2B3A"/>
                </a:solidFill>
                <a:latin typeface="Barlow"/>
              </a:rPr>
              <a:t> Sortierfächer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00600"/>
            <a:ext cx="11094415" cy="71755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700" b="0" i="0" u="none">
                <a:solidFill>
                  <a:srgbClr val="E8E1D3"/>
                </a:solidFill>
                <a:latin typeface="Barlow"/>
              </a:rPr>
              <a:t>▸ AB 3.1 parallel bearbeiten (Aufträge 1–5, Abi-Ecke).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700" b="0" i="0" u="none">
                <a:solidFill>
                  <a:srgbClr val="E8E1D3"/>
                </a:solidFill>
                <a:latin typeface="Barlow"/>
              </a:rPr>
              <a:t>▸ Schnelle: Cold Case „Der stille Stand“ im Lab, „Kartenzahler“ auf dem AB.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3 · DIE STADTFEST-KASSE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Ermittler-Notiz: Aggregation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094415" cy="4343400"/>
          </a:xfrm>
          <a:prstGeom prst="roundRect">
            <a:avLst>
              <a:gd name="adj" fmla="val 4000"/>
            </a:avLst>
          </a:prstGeom>
          <a:solidFill>
            <a:srgbClr val="E2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637215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050" b="1" i="0" u="none" spc="120">
                <a:solidFill>
                  <a:srgbClr val="2C5A85"/>
                </a:solidFill>
                <a:latin typeface="IBM Plex Mono"/>
              </a:rPr>
              <a:t>ERMITTLER-NOTIZ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194560"/>
            <a:ext cx="10545775" cy="19329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b="0" i="0" u="none">
                <a:solidFill>
                  <a:srgbClr val="1C2B3A"/>
                </a:solidFill>
                <a:latin typeface="Barlow"/>
              </a:rPr>
              <a:t>▸ Ohne GROUP BY: genau </a:t>
            </a:r>
            <a:r>
              <a:rPr sz="2000" b="1" i="0" u="none">
                <a:solidFill>
                  <a:srgbClr val="1C2B3A"/>
                </a:solidFill>
                <a:latin typeface="Barlow"/>
              </a:rPr>
              <a:t>eine</a:t>
            </a:r>
            <a:r>
              <a:rPr sz="2000" b="0" i="0" u="none">
                <a:solidFill>
                  <a:srgbClr val="1C2B3A"/>
                </a:solidFill>
                <a:latin typeface="Barlow"/>
              </a:rPr>
              <a:t> Ergebniszeile.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b="0" i="0" u="none">
                <a:solidFill>
                  <a:srgbClr val="1C2B3A"/>
                </a:solidFill>
                <a:latin typeface="Barlow"/>
              </a:rPr>
              <a:t>▸ GROUP BY bildet Fächer – je Fach </a:t>
            </a:r>
            <a:r>
              <a:rPr sz="2000" b="1" i="0" u="none">
                <a:solidFill>
                  <a:srgbClr val="1C2B3A"/>
                </a:solidFill>
                <a:latin typeface="Barlow"/>
              </a:rPr>
              <a:t>eine</a:t>
            </a:r>
            <a:r>
              <a:rPr sz="2000" b="0" i="0" u="none">
                <a:solidFill>
                  <a:srgbClr val="1C2B3A"/>
                </a:solidFill>
                <a:latin typeface="Barlow"/>
              </a:rPr>
              <a:t> Zeile.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b="0" i="0" u="none">
                <a:solidFill>
                  <a:srgbClr val="1C2B3A"/>
                </a:solidFill>
                <a:latin typeface="Barlow"/>
              </a:rPr>
              <a:t>▸ </a:t>
            </a:r>
            <a:r>
              <a:rPr sz="2000" b="1" i="0" u="none">
                <a:solidFill>
                  <a:srgbClr val="1C2B3A"/>
                </a:solidFill>
                <a:latin typeface="Barlow"/>
              </a:rPr>
              <a:t>GROUP-BY-Regel:</a:t>
            </a:r>
            <a:r>
              <a:rPr sz="2000" b="0" i="0" u="none">
                <a:solidFill>
                  <a:srgbClr val="1C2B3A"/>
                </a:solidFill>
                <a:latin typeface="Barlow"/>
              </a:rPr>
              <a:t> jede SELECT-Spalte aggregiert oder in GROUP BY.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b="0" i="0" u="none">
                <a:solidFill>
                  <a:srgbClr val="1C2B3A"/>
                </a:solidFill>
                <a:latin typeface="Barlow"/>
              </a:rPr>
              <a:t>▸ Nach dem </a:t>
            </a:r>
            <a:r>
              <a:rPr sz="2000" b="1" i="0" u="none">
                <a:solidFill>
                  <a:srgbClr val="1C2B3A"/>
                </a:solidFill>
                <a:latin typeface="Barlow"/>
              </a:rPr>
              <a:t>Schlüssel</a:t>
            </a:r>
            <a:r>
              <a:rPr sz="2000" b="0" i="0" u="none">
                <a:solidFill>
                  <a:srgbClr val="1C2B3A"/>
                </a:solidFill>
                <a:latin typeface="Barlow"/>
              </a:rPr>
              <a:t> gruppieren, Namen zusätzlich aufnehmen.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b="0" i="0" u="none">
                <a:solidFill>
                  <a:srgbClr val="1C2B3A"/>
                </a:solidFill>
                <a:latin typeface="Barlow"/>
              </a:rPr>
              <a:t>▸ „Anzahl Bons“ = </a:t>
            </a:r>
            <a:r>
              <a:rPr sz="1800" b="0" i="0" u="none">
                <a:solidFill>
                  <a:srgbClr val="1C2B3A"/>
                </a:solidFill>
                <a:latin typeface="IBM Plex Mono"/>
              </a:rPr>
              <a:t>COUNT(*)</a:t>
            </a:r>
            <a:r>
              <a:rPr sz="2000" b="0" i="0" u="none">
                <a:solidFill>
                  <a:srgbClr val="1C2B3A"/>
                </a:solidFill>
                <a:latin typeface="Barlow"/>
              </a:rPr>
              <a:t> · „verkaufte Stück“ = </a:t>
            </a:r>
            <a:r>
              <a:rPr sz="1800" b="0" i="0" u="none">
                <a:solidFill>
                  <a:srgbClr val="1C2B3A"/>
                </a:solidFill>
                <a:latin typeface="IBM Plex Mono"/>
              </a:rPr>
              <a:t>SUM(Menge)</a:t>
            </a:r>
            <a:r>
              <a:rPr sz="2000" b="0" i="0" u="none">
                <a:solidFill>
                  <a:srgbClr val="1C2B3A"/>
                </a:solidFill>
                <a:latin typeface="Barlow"/>
              </a:rPr>
              <a:t> · </a:t>
            </a:r>
            <a:r>
              <a:rPr sz="1800" b="0" i="0" u="none">
                <a:solidFill>
                  <a:srgbClr val="1C2B3A"/>
                </a:solidFill>
                <a:latin typeface="IBM Plex Mono"/>
              </a:rPr>
              <a:t>COUNT(Spalte)</a:t>
            </a:r>
            <a:r>
              <a:rPr sz="2000" b="0" i="0" u="none">
                <a:solidFill>
                  <a:srgbClr val="1C2B3A"/>
                </a:solidFill>
                <a:latin typeface="Barlow"/>
              </a:rPr>
              <a:t> übersieht NULL.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3 · DIE STADTFEST-KASSE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Abi-Format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094415" cy="434340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 w="25400">
            <a:solidFill>
              <a:srgbClr val="E05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637215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050" b="1" i="0" u="none" spc="120">
                <a:solidFill>
                  <a:srgbClr val="B3261E"/>
                </a:solidFill>
                <a:latin typeface="IBM Plex Mono"/>
              </a:rPr>
              <a:t>ABI-ECKE · OPERATOR ENTWERFEN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194560"/>
            <a:ext cx="10545775" cy="10439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b="0" i="0" u="none">
                <a:solidFill>
                  <a:srgbClr val="1C2B3A"/>
                </a:solidFill>
                <a:latin typeface="Barlow"/>
              </a:rPr>
              <a:t>Gegeben ist die Datenbank Stadtfest. </a:t>
            </a:r>
            <a:r>
              <a:rPr sz="2000" b="1" i="0" u="none">
                <a:solidFill>
                  <a:srgbClr val="1C2B3A"/>
                </a:solidFill>
                <a:latin typeface="Barlow"/>
              </a:rPr>
              <a:t>Entwerfen</a:t>
            </a:r>
            <a:r>
              <a:rPr sz="2000" b="0" i="0" u="none">
                <a:solidFill>
                  <a:srgbClr val="1C2B3A"/>
                </a:solidFill>
                <a:latin typeface="Barlow"/>
              </a:rPr>
              <a:t> Sie eine SQL-Abfrage, die für jeden Stand die Standnummer, den Namen und die Anzahl der dort verkauften Produkte (Stückzahl) ausgibt. [4 BE]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3 · DIE STADTFEST-KASSE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935705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Lösung Abi-Format (DS 5)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Marker Lehrkraft"/>
          <p:cNvSpPr/>
          <p:nvPr/>
        </p:nvSpPr>
        <p:spPr>
          <a:xfrm>
            <a:off x="10042855" y="310896"/>
            <a:ext cx="1600200" cy="310896"/>
          </a:xfrm>
          <a:prstGeom prst="roundRect">
            <a:avLst>
              <a:gd name="adj" fmla="val 4000"/>
            </a:avLst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042855" y="310896"/>
            <a:ext cx="160020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 u="none">
                <a:solidFill>
                  <a:srgbClr val="141B22"/>
                </a:solidFill>
                <a:latin typeface="IBM Plex Mono"/>
              </a:rPr>
              <a:t>NUR LEHRKRAFT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91640"/>
            <a:ext cx="11094415" cy="434340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 w="25400">
            <a:solidFill>
              <a:srgbClr val="5FA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10637215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050" b="1" i="0" u="none" spc="120">
                <a:solidFill>
                  <a:srgbClr val="2F6B4F"/>
                </a:solidFill>
                <a:latin typeface="IBM Plex Mono"/>
              </a:rPr>
              <a:t>LÖSUNG</a:t>
            </a:r>
          </a:p>
        </p:txBody>
      </p:sp>
      <p:sp>
        <p:nvSpPr>
          <p:cNvPr id="12" name="SQL-Hintergrund"/>
          <p:cNvSpPr/>
          <p:nvPr/>
        </p:nvSpPr>
        <p:spPr>
          <a:xfrm>
            <a:off x="822959" y="2194560"/>
            <a:ext cx="10545775" cy="1907540"/>
          </a:xfrm>
          <a:prstGeom prst="roundRect">
            <a:avLst>
              <a:gd name="adj" fmla="val 4000"/>
            </a:avLst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SQL"/>
          <p:cNvSpPr txBox="1"/>
          <p:nvPr/>
        </p:nvSpPr>
        <p:spPr>
          <a:xfrm>
            <a:off x="1005839" y="2331720"/>
            <a:ext cx="10180015" cy="16332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</a:pPr>
            <a:r>
              <a:rPr sz="2000" i="0">
                <a:solidFill>
                  <a:srgbClr val="F2A65A"/>
                </a:solidFill>
                <a:latin typeface="IBM Plex Mono"/>
              </a:rPr>
              <a:t>SELECT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Stand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StandNr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Stand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Name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E6C77A"/>
                </a:solidFill>
                <a:latin typeface="IBM Plex Mono"/>
              </a:rPr>
              <a:t>SUM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(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Position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Menge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)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F2A65A"/>
                </a:solidFill>
                <a:latin typeface="IBM Plex Mono"/>
              </a:rPr>
              <a:t>AS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Stueck</a:t>
            </a:r>
          </a:p>
          <a:p>
            <a:pPr>
              <a:lnSpc>
                <a:spcPct val="100000"/>
              </a:lnSpc>
            </a:pPr>
            <a:r>
              <a:rPr sz="2000" i="0">
                <a:solidFill>
                  <a:srgbClr val="F2A65A"/>
                </a:solidFill>
                <a:latin typeface="IBM Plex Mono"/>
              </a:rPr>
              <a:t>FROM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Stand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Bon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Position</a:t>
            </a:r>
          </a:p>
          <a:p>
            <a:pPr>
              <a:lnSpc>
                <a:spcPct val="100000"/>
              </a:lnSpc>
            </a:pPr>
            <a:r>
              <a:rPr sz="2000" i="0">
                <a:solidFill>
                  <a:srgbClr val="F2A65A"/>
                </a:solidFill>
                <a:latin typeface="IBM Plex Mono"/>
              </a:rPr>
              <a:t>WHERE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Stand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StandNr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=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Bon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StandNr</a:t>
            </a:r>
          </a:p>
          <a:p>
            <a:pPr>
              <a:lnSpc>
                <a:spcPct val="100000"/>
              </a:lnSpc>
            </a:pPr>
            <a:r>
              <a:rPr sz="2000" i="0">
                <a:solidFill>
                  <a:srgbClr val="D8E3D0"/>
                </a:solidFill>
                <a:latin typeface="IBM Plex Mono"/>
              </a:rPr>
              <a:t>  </a:t>
            </a:r>
            <a:r>
              <a:rPr sz="2000" i="0">
                <a:solidFill>
                  <a:srgbClr val="F2A65A"/>
                </a:solidFill>
                <a:latin typeface="IBM Plex Mono"/>
              </a:rPr>
              <a:t>AND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Bon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BonNr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=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Position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BonNr</a:t>
            </a:r>
          </a:p>
          <a:p>
            <a:pPr>
              <a:lnSpc>
                <a:spcPct val="100000"/>
              </a:lnSpc>
            </a:pPr>
            <a:r>
              <a:rPr sz="2000" i="0">
                <a:solidFill>
                  <a:srgbClr val="F2A65A"/>
                </a:solidFill>
                <a:latin typeface="IBM Plex Mono"/>
              </a:rPr>
              <a:t>GROUP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F2A65A"/>
                </a:solidFill>
                <a:latin typeface="IBM Plex Mono"/>
              </a:rPr>
              <a:t>BY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Stand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StandNr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Stand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Name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211828"/>
            <a:ext cx="10545775" cy="6629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 i="0" u="none">
                <a:solidFill>
                  <a:srgbClr val="1C2B3A"/>
                </a:solidFill>
                <a:latin typeface="Barlow"/>
              </a:rPr>
              <a:t>Je 1 BE: Verbund · </a:t>
            </a:r>
            <a:r>
              <a:rPr sz="1620" b="0" i="0" u="none">
                <a:solidFill>
                  <a:srgbClr val="1C2B3A"/>
                </a:solidFill>
                <a:latin typeface="IBM Plex Mono"/>
              </a:rPr>
              <a:t>SUM(Position.Menge)</a:t>
            </a:r>
            <a:r>
              <a:rPr sz="1800" b="0" i="0" u="none">
                <a:solidFill>
                  <a:srgbClr val="1C2B3A"/>
                </a:solidFill>
                <a:latin typeface="Barlow"/>
              </a:rPr>
              <a:t> (nicht COUNT, P4) · GROUP BY nach StandNr und Name (P3) · Ausgabe.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3 · DIE STADTFEST-KASSE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Fallbesprechung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094415" cy="420624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637215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050" b="1" i="0" u="none" spc="120">
                <a:solidFill>
                  <a:srgbClr val="B3261E"/>
                </a:solidFill>
                <a:latin typeface="IBM Plex Mono"/>
              </a:rPr>
              <a:t>BRIEFING · EDDA LORENZ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40280"/>
            <a:ext cx="10545775" cy="3474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2200" b="0" i="1" u="none">
                <a:solidFill>
                  <a:srgbClr val="1C2B3A"/>
                </a:solidFill>
                <a:latin typeface="Barlow"/>
              </a:rPr>
              <a:t>Am Kaffeemobil gibt es Bons voller Positionen – aber auffällig viele davon mit der Menge 0. Wie finden wir nur die auffälligen Gruppen?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3 · DIE STADTFEST-KASSE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229600" cy="128016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5400" b="0" i="0" u="none">
                <a:solidFill>
                  <a:srgbClr val="E8E1D3"/>
                </a:solidFill>
                <a:latin typeface="Barlow Condensed SemiBold"/>
              </a:rPr>
              <a:t>Die Statistik lügt nicht</a:t>
            </a:r>
          </a:p>
        </p:txBody>
      </p:sp>
      <p:cxnSp>
        <p:nvCxnSpPr>
          <p:cNvPr id="5" name="Roter Faden"/>
          <p:cNvCxnSpPr/>
          <p:nvPr/>
        </p:nvCxnSpPr>
        <p:spPr>
          <a:xfrm>
            <a:off x="548640" y="3291840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84632" y="3227832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1579047" y="3227832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82296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2200" b="0" i="0" u="none">
                <a:solidFill>
                  <a:srgbClr val="BDB6A9"/>
                </a:solidFill>
                <a:latin typeface="Barlow"/>
              </a:rPr>
              <a:t>Akte 3 · DS 6 · Ermittlung 3.2</a:t>
            </a:r>
          </a:p>
        </p:txBody>
      </p:sp>
      <p:pic>
        <p:nvPicPr>
          <p:cNvPr id="9" name="Picture 8" descr="stemp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1463040"/>
            <a:ext cx="2560320" cy="82199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3 · DIE STADTFEST-KASSE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Die Statistik lügt nicht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094415" cy="420624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637215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050" b="1" i="0" u="none" spc="120">
                <a:solidFill>
                  <a:srgbClr val="B3261E"/>
                </a:solidFill>
                <a:latin typeface="IBM Plex Mono"/>
              </a:rPr>
              <a:t>BRIEFING · EDDA LORENZ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40280"/>
            <a:ext cx="10545775" cy="3474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2200" b="0" i="1" u="none">
                <a:solidFill>
                  <a:srgbClr val="1C2B3A"/>
                </a:solidFill>
                <a:latin typeface="Barlow"/>
              </a:rPr>
              <a:t>Die Bons mit Menge 0 lassen mir keine Ruhe. Stellt euch vor: Jemand bekommt einen Kaffee, zahlt bar, und die Kasse bucht nichts – so verschwindet Geld, ohne dass die Kasse falsch rechnet. Wir müssen wissen, wann und bei wem: Dazu filtern wir Gruppen mit HAVING. Vorsicht beim Verbinden: Wer Bons, Positionen und Schichten in einen Topf wirft, kann Zeilen vervielfachen – dann lügt die Statistik eben doch. Und weil im Abitur gern eine fertige Abfrage vorgelegt wird, analysiert ihr heute auch Abfragen im Sachzusammenhang.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3 · DIE STADTFEST-KASSE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Impulse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094415" cy="434340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1920240"/>
            <a:ext cx="10545775" cy="79121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 i="0" u="none">
                <a:solidFill>
                  <a:srgbClr val="1C2B3A"/>
                </a:solidFill>
                <a:latin typeface="Barlow"/>
              </a:rPr>
              <a:t>▸ Wie zeigen wir nur Personen mit </a:t>
            </a:r>
            <a:r>
              <a:rPr sz="1900" b="1" i="0" u="none">
                <a:solidFill>
                  <a:srgbClr val="1C2B3A"/>
                </a:solidFill>
                <a:latin typeface="Barlow"/>
              </a:rPr>
              <a:t>mehr als 3</a:t>
            </a:r>
            <a:r>
              <a:rPr sz="1900" b="0" i="0" u="none">
                <a:solidFill>
                  <a:srgbClr val="1C2B3A"/>
                </a:solidFill>
                <a:latin typeface="Barlow"/>
              </a:rPr>
              <a:t> Positionen der Menge 0? Kann das in WHERE stehen?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 i="0" u="none">
                <a:solidFill>
                  <a:srgbClr val="1C2B3A"/>
                </a:solidFill>
                <a:latin typeface="Barlow"/>
              </a:rPr>
              <a:t>▸ Juri hat Bons, Positionen und Schichten verbunden – plötzlich ist der Fehlbetrag </a:t>
            </a:r>
            <a:r>
              <a:rPr sz="1900" b="1" i="0" u="none">
                <a:solidFill>
                  <a:srgbClr val="1C2B3A"/>
                </a:solidFill>
                <a:latin typeface="Barlow"/>
              </a:rPr>
              <a:t>dreimal so hoch</a:t>
            </a:r>
            <a:r>
              <a:rPr sz="1900" b="0" i="0" u="none">
                <a:solidFill>
                  <a:srgbClr val="1C2B3A"/>
                </a:solidFill>
                <a:latin typeface="Barlow"/>
              </a:rPr>
              <a:t>. Was ist passiert?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3 · DIE STADTFEST-KASSE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Die Zeitlupe: Auswertungsreihenfolge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19</a:t>
            </a:r>
          </a:p>
        </p:txBody>
      </p:sp>
      <p:graphicFrame>
        <p:nvGraphicFramePr>
          <p:cNvPr id="8" name="Datentabelle"/>
          <p:cNvGraphicFramePr>
            <a:graphicFrameLocks noGrp="1"/>
          </p:cNvGraphicFramePr>
          <p:nvPr/>
        </p:nvGraphicFramePr>
        <p:xfrm>
          <a:off x="548640" y="1691640"/>
          <a:ext cx="11094415" cy="26771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20000"/>
                <a:gridCol w="8574415"/>
              </a:tblGrid>
              <a:tr h="334645">
                <a:tc>
                  <a:txBody>
                    <a:bodyPr/>
                    <a:lstStyle/>
                    <a:p>
                      <a:r>
                        <a:rPr sz="1564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Fachbegriff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64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Bedeutung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1 FROM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Tabellen holen und verbinden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2 WHERE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Zeilen filtern (vor dem Gruppieren)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3 GROUP BY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Fächer bilden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4 HAVING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Fächer filtern (nach dem Gruppieren)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5 SELECT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Spalten und Aggregate berechnen, Aliase vergeben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6 ORDER BY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sortieren (Alias erlaubt)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7 LIMIT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nach n Zeilen abschneiden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3 · DIE STADTFEST-KASSE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WHERE und HAVING in einer Abfrage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20</a:t>
            </a:r>
          </a:p>
        </p:txBody>
      </p:sp>
      <p:sp>
        <p:nvSpPr>
          <p:cNvPr id="8" name="SQL-Hintergrund"/>
          <p:cNvSpPr/>
          <p:nvPr/>
        </p:nvSpPr>
        <p:spPr>
          <a:xfrm>
            <a:off x="548640" y="1691640"/>
            <a:ext cx="6101928" cy="1844040"/>
          </a:xfrm>
          <a:prstGeom prst="roundRect">
            <a:avLst>
              <a:gd name="adj" fmla="val 4000"/>
            </a:avLst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SQL"/>
          <p:cNvSpPr txBox="1"/>
          <p:nvPr/>
        </p:nvSpPr>
        <p:spPr>
          <a:xfrm>
            <a:off x="731520" y="1828800"/>
            <a:ext cx="5736168" cy="1569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</a:pPr>
            <a:r>
              <a:rPr sz="1200" i="0">
                <a:solidFill>
                  <a:srgbClr val="F2A65A"/>
                </a:solidFill>
                <a:latin typeface="IBM Plex Mono"/>
              </a:rPr>
              <a:t>SELECT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Produkt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Bezeichnung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200" i="0">
                <a:solidFill>
                  <a:srgbClr val="E6C77A"/>
                </a:solidFill>
                <a:latin typeface="IBM Plex Mono"/>
              </a:rPr>
              <a:t>SUM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(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Position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Menge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)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200" i="0">
                <a:solidFill>
                  <a:srgbClr val="F2A65A"/>
                </a:solidFill>
                <a:latin typeface="IBM Plex Mono"/>
              </a:rPr>
              <a:t>AS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Stueck</a:t>
            </a:r>
          </a:p>
          <a:p>
            <a:pPr>
              <a:lnSpc>
                <a:spcPct val="100000"/>
              </a:lnSpc>
            </a:pPr>
            <a:r>
              <a:rPr sz="1200" i="0">
                <a:solidFill>
                  <a:srgbClr val="F2A65A"/>
                </a:solidFill>
                <a:latin typeface="IBM Plex Mono"/>
              </a:rPr>
              <a:t>FROM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Bon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Position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Produkt</a:t>
            </a:r>
          </a:p>
          <a:p>
            <a:pPr>
              <a:lnSpc>
                <a:spcPct val="100000"/>
              </a:lnSpc>
            </a:pPr>
            <a:r>
              <a:rPr sz="1200" i="0">
                <a:solidFill>
                  <a:srgbClr val="F2A65A"/>
                </a:solidFill>
                <a:latin typeface="IBM Plex Mono"/>
              </a:rPr>
              <a:t>WHERE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Bon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BonNr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=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Position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BonNr</a:t>
            </a:r>
          </a:p>
          <a:p>
            <a:pPr>
              <a:lnSpc>
                <a:spcPct val="100000"/>
              </a:lnSpc>
            </a:pPr>
            <a:r>
              <a:rPr sz="1200" i="0">
                <a:solidFill>
                  <a:srgbClr val="D8E3D0"/>
                </a:solidFill>
                <a:latin typeface="IBM Plex Mono"/>
              </a:rPr>
              <a:t>  </a:t>
            </a:r>
            <a:r>
              <a:rPr sz="1200" i="0">
                <a:solidFill>
                  <a:srgbClr val="F2A65A"/>
                </a:solidFill>
                <a:latin typeface="IBM Plex Mono"/>
              </a:rPr>
              <a:t>AND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Position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ProduktNr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=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Produkt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ProduktNr</a:t>
            </a:r>
          </a:p>
          <a:p>
            <a:pPr>
              <a:lnSpc>
                <a:spcPct val="100000"/>
              </a:lnSpc>
            </a:pPr>
            <a:r>
              <a:rPr sz="1200" i="0">
                <a:solidFill>
                  <a:srgbClr val="D8E3D0"/>
                </a:solidFill>
                <a:latin typeface="IBM Plex Mono"/>
              </a:rPr>
              <a:t>  </a:t>
            </a:r>
            <a:r>
              <a:rPr sz="1200" i="0">
                <a:solidFill>
                  <a:srgbClr val="F2A65A"/>
                </a:solidFill>
                <a:latin typeface="IBM Plex Mono"/>
              </a:rPr>
              <a:t>AND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Bon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Zeitpunkt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200" i="0">
                <a:solidFill>
                  <a:srgbClr val="F2A65A"/>
                </a:solidFill>
                <a:latin typeface="IBM Plex Mono"/>
              </a:rPr>
              <a:t>LIKE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200" i="0">
                <a:solidFill>
                  <a:srgbClr val="9BD3A6"/>
                </a:solidFill>
                <a:latin typeface="IBM Plex Mono"/>
              </a:rPr>
              <a:t>'2026-08-28%'</a:t>
            </a:r>
          </a:p>
          <a:p>
            <a:pPr>
              <a:lnSpc>
                <a:spcPct val="100000"/>
              </a:lnSpc>
            </a:pPr>
            <a:r>
              <a:rPr sz="1200" i="0">
                <a:solidFill>
                  <a:srgbClr val="F2A65A"/>
                </a:solidFill>
                <a:latin typeface="IBM Plex Mono"/>
              </a:rPr>
              <a:t>GROUP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200" i="0">
                <a:solidFill>
                  <a:srgbClr val="F2A65A"/>
                </a:solidFill>
                <a:latin typeface="IBM Plex Mono"/>
              </a:rPr>
              <a:t>BY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Produkt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ProduktNr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Produkt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Bezeichnung</a:t>
            </a:r>
          </a:p>
          <a:p>
            <a:pPr>
              <a:lnSpc>
                <a:spcPct val="100000"/>
              </a:lnSpc>
            </a:pPr>
            <a:r>
              <a:rPr sz="1200" i="0">
                <a:solidFill>
                  <a:srgbClr val="F2A65A"/>
                </a:solidFill>
                <a:latin typeface="IBM Plex Mono"/>
              </a:rPr>
              <a:t>HAVING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200" i="0">
                <a:solidFill>
                  <a:srgbClr val="E6C77A"/>
                </a:solidFill>
                <a:latin typeface="IBM Plex Mono"/>
              </a:rPr>
              <a:t>SUM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(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Position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Menge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)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&gt;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=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200" i="0">
                <a:solidFill>
                  <a:srgbClr val="8CC4FF"/>
                </a:solidFill>
                <a:latin typeface="IBM Plex Mono"/>
              </a:rPr>
              <a:t>40</a:t>
            </a:r>
          </a:p>
          <a:p>
            <a:pPr>
              <a:lnSpc>
                <a:spcPct val="100000"/>
              </a:lnSpc>
            </a:pPr>
            <a:r>
              <a:rPr sz="1200" i="0">
                <a:solidFill>
                  <a:srgbClr val="F2A65A"/>
                </a:solidFill>
                <a:latin typeface="IBM Plex Mono"/>
              </a:rPr>
              <a:t>ORDER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200" i="0">
                <a:solidFill>
                  <a:srgbClr val="F2A65A"/>
                </a:solidFill>
                <a:latin typeface="IBM Plex Mono"/>
              </a:rPr>
              <a:t>BY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Stueck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200" i="0">
                <a:solidFill>
                  <a:srgbClr val="F2A65A"/>
                </a:solidFill>
                <a:latin typeface="IBM Plex Mono"/>
              </a:rPr>
              <a:t>DESC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27120"/>
            <a:ext cx="610192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000" b="1" i="0" u="none" spc="120">
                <a:solidFill>
                  <a:srgbClr val="D4B062"/>
                </a:solidFill>
                <a:latin typeface="IBM Plex Mono"/>
              </a:rPr>
              <a:t>ERGEBNIS</a:t>
            </a:r>
          </a:p>
        </p:txBody>
      </p:sp>
      <p:graphicFrame>
        <p:nvGraphicFramePr>
          <p:cNvPr id="11" name="Ergebnistabelle"/>
          <p:cNvGraphicFramePr>
            <a:graphicFrameLocks noGrp="1"/>
          </p:cNvGraphicFramePr>
          <p:nvPr/>
        </p:nvGraphicFramePr>
        <p:xfrm>
          <a:off x="548640" y="3947160"/>
          <a:ext cx="2973628" cy="76771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93061"/>
                <a:gridCol w="880567"/>
              </a:tblGrid>
              <a:tr h="255905">
                <a:tc>
                  <a:txBody>
                    <a:bodyPr/>
                    <a:lstStyle/>
                    <a:p>
                      <a:r>
                        <a:rPr sz="1196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Bezeichnung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Stueck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</a:tr>
              <a:tr h="255905">
                <a:tc>
                  <a:txBody>
                    <a:bodyPr/>
                    <a:lstStyle/>
                    <a:p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Los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67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255905">
                <a:tc>
                  <a:txBody>
                    <a:bodyPr/>
                    <a:lstStyle/>
                    <a:p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Alkoholfreies Bier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47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924888" y="1691640"/>
            <a:ext cx="4718166" cy="75692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924888" y="1691640"/>
            <a:ext cx="73152" cy="756920"/>
          </a:xfrm>
          <a:prstGeom prst="rect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062048" y="1764792"/>
            <a:ext cx="4572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 u="none">
                <a:solidFill>
                  <a:srgbClr val="B3261E"/>
                </a:solidFill>
                <a:latin typeface="Barlow Condensed SemiBol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19248" y="1764792"/>
            <a:ext cx="3986646" cy="6471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600" b="1" i="0" u="none">
                <a:solidFill>
                  <a:srgbClr val="1C2B3A"/>
                </a:solidFill>
                <a:latin typeface="Barlow"/>
              </a:rPr>
              <a:t>WHERE</a:t>
            </a:r>
            <a:r>
              <a:rPr sz="1600" b="0" i="0" u="none">
                <a:solidFill>
                  <a:srgbClr val="1C2B3A"/>
                </a:solidFill>
                <a:latin typeface="Barlow"/>
              </a:rPr>
              <a:t> – nur Bons vom Freitag (Zeilenbedingung)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24888" y="2585720"/>
            <a:ext cx="4718166" cy="68580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924888" y="2585720"/>
            <a:ext cx="73152" cy="685800"/>
          </a:xfrm>
          <a:prstGeom prst="rect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062048" y="2658872"/>
            <a:ext cx="4572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 u="none">
                <a:solidFill>
                  <a:srgbClr val="B3261E"/>
                </a:solidFill>
                <a:latin typeface="Barlow Condensed Semi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9248" y="2658872"/>
            <a:ext cx="3986646" cy="5760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600" b="1" i="0" u="none">
                <a:solidFill>
                  <a:srgbClr val="1C2B3A"/>
                </a:solidFill>
                <a:latin typeface="Barlow"/>
              </a:rPr>
              <a:t>GROUP BY</a:t>
            </a:r>
            <a:r>
              <a:rPr sz="1600" b="0" i="0" u="none">
                <a:solidFill>
                  <a:srgbClr val="1C2B3A"/>
                </a:solidFill>
                <a:latin typeface="Barlow"/>
              </a:rPr>
              <a:t> – ein Fach je Produkt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24888" y="3408680"/>
            <a:ext cx="4718166" cy="75692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924888" y="3408680"/>
            <a:ext cx="73152" cy="756920"/>
          </a:xfrm>
          <a:prstGeom prst="rect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062048" y="3481832"/>
            <a:ext cx="4572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 u="none">
                <a:solidFill>
                  <a:srgbClr val="B3261E"/>
                </a:solidFill>
                <a:latin typeface="Barlow Condensed SemiBol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9248" y="3481832"/>
            <a:ext cx="3986646" cy="6471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600" b="1" i="0" u="none">
                <a:solidFill>
                  <a:srgbClr val="1C2B3A"/>
                </a:solidFill>
                <a:latin typeface="Barlow"/>
              </a:rPr>
              <a:t>HAVING</a:t>
            </a:r>
            <a:r>
              <a:rPr sz="1600" b="0" i="0" u="none">
                <a:solidFill>
                  <a:srgbClr val="1C2B3A"/>
                </a:solidFill>
                <a:latin typeface="Barlow"/>
              </a:rPr>
              <a:t> – nur Fächer mit mindestens 40 Stück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24888" y="4302760"/>
            <a:ext cx="4718166" cy="75692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924888" y="4302760"/>
            <a:ext cx="73152" cy="756920"/>
          </a:xfrm>
          <a:prstGeom prst="rect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062048" y="4375912"/>
            <a:ext cx="4572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 u="none">
                <a:solidFill>
                  <a:srgbClr val="B3261E"/>
                </a:solidFill>
                <a:latin typeface="Barlow Condensed SemiBol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9248" y="4375912"/>
            <a:ext cx="3986646" cy="6471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600" b="1" i="0" u="none">
                <a:solidFill>
                  <a:srgbClr val="1C2B3A"/>
                </a:solidFill>
                <a:latin typeface="Barlow"/>
              </a:rPr>
              <a:t>SELECT/ORDER BY</a:t>
            </a:r>
            <a:r>
              <a:rPr sz="1600" b="0" i="0" u="none">
                <a:solidFill>
                  <a:srgbClr val="1C2B3A"/>
                </a:solidFill>
                <a:latin typeface="Barlow"/>
              </a:rPr>
              <a:t> – Bezeichnung und Stück, meistverkauft zuerst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3 · DIE STADTFEST-KASSE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Menschliche Zeitlupe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094415" cy="434340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637215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050" b="1" i="0" u="none" spc="120">
                <a:solidFill>
                  <a:srgbClr val="2F6B4F"/>
                </a:solidFill>
                <a:latin typeface="IBM Plex Mono"/>
              </a:rPr>
              <a:t>UNPLUGGED · 10 MIN · MATERIAL: 7 KLAUSELKARTEN, 12 BEDINGUNGSKARTEN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194560"/>
            <a:ext cx="10545775" cy="14909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 i="0" u="none">
                <a:solidFill>
                  <a:srgbClr val="1C2B3A"/>
                </a:solidFill>
                <a:latin typeface="Barlow"/>
              </a:rPr>
              <a:t>1. Sieben Freiwillige halten die Klauselkarten in </a:t>
            </a:r>
            <a:r>
              <a:rPr sz="1900" b="1" i="0" u="none">
                <a:solidFill>
                  <a:srgbClr val="1C2B3A"/>
                </a:solidFill>
                <a:latin typeface="Barlow"/>
              </a:rPr>
              <a:t>Schreibreihenfolge</a:t>
            </a:r>
            <a:r>
              <a:rPr sz="1900" b="0" i="0" u="none">
                <a:solidFill>
                  <a:srgbClr val="1C2B3A"/>
                </a:solidFill>
                <a:latin typeface="Barlow"/>
              </a:rPr>
              <a:t> hoch.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 i="0" u="none">
                <a:solidFill>
                  <a:srgbClr val="1C2B3A"/>
                </a:solidFill>
                <a:latin typeface="Barlow"/>
              </a:rPr>
              <a:t>2. Das Plenum sortiert sie in </a:t>
            </a:r>
            <a:r>
              <a:rPr sz="1900" b="1" i="0" u="none">
                <a:solidFill>
                  <a:srgbClr val="1C2B3A"/>
                </a:solidFill>
                <a:latin typeface="Barlow"/>
              </a:rPr>
              <a:t>Auswertungsreihenfolge</a:t>
            </a:r>
            <a:r>
              <a:rPr sz="1900" b="0" i="0" u="none">
                <a:solidFill>
                  <a:srgbClr val="1C2B3A"/>
                </a:solidFill>
                <a:latin typeface="Barlow"/>
              </a:rPr>
              <a:t> um. Impuls: Warum kann WHERE noch nicht wissen, wie viele Bons eine Gruppe hat?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 i="0" u="none">
                <a:solidFill>
                  <a:srgbClr val="1C2B3A"/>
                </a:solidFill>
                <a:latin typeface="Barlow"/>
              </a:rPr>
              <a:t>3. Teams sortieren 12 Bedingungskarten auf zwei Stapel: „vor dem Gruppieren (WHERE)“ / „nach dem Gruppieren (HAVING)“ – Wettlauf.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 i="0" u="none">
                <a:solidFill>
                  <a:srgbClr val="1C2B3A"/>
                </a:solidFill>
                <a:latin typeface="Barlow"/>
              </a:rPr>
              <a:t>4. Auflösung durch die Klausel-Personen; Zusatzfrage: Alias in ORDER BY ja, in HAVING nein – warum?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3 · DIE STADTFEST-KASSE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Top-n mit LIMIT – Vorsicht, Gleichstand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22</a:t>
            </a:r>
          </a:p>
        </p:txBody>
      </p:sp>
      <p:sp>
        <p:nvSpPr>
          <p:cNvPr id="8" name="SQL-Hintergrund"/>
          <p:cNvSpPr/>
          <p:nvPr/>
        </p:nvSpPr>
        <p:spPr>
          <a:xfrm>
            <a:off x="548640" y="1691640"/>
            <a:ext cx="6101928" cy="1463040"/>
          </a:xfrm>
          <a:prstGeom prst="roundRect">
            <a:avLst>
              <a:gd name="adj" fmla="val 4000"/>
            </a:avLst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SQL"/>
          <p:cNvSpPr txBox="1"/>
          <p:nvPr/>
        </p:nvSpPr>
        <p:spPr>
          <a:xfrm>
            <a:off x="731520" y="1828800"/>
            <a:ext cx="5736168" cy="1188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</a:pPr>
            <a:r>
              <a:rPr sz="1200" i="0">
                <a:solidFill>
                  <a:srgbClr val="F2A65A"/>
                </a:solidFill>
                <a:latin typeface="IBM Plex Mono"/>
              </a:rPr>
              <a:t>SELECT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Helfer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HelferNr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Helfer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Vorname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Helfer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Nachname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1200" i="0">
                <a:solidFill>
                  <a:srgbClr val="D8E3D0"/>
                </a:solidFill>
                <a:latin typeface="IBM Plex Mono"/>
              </a:rPr>
              <a:t>       </a:t>
            </a:r>
            <a:r>
              <a:rPr sz="1200" i="0">
                <a:solidFill>
                  <a:srgbClr val="E6C77A"/>
                </a:solidFill>
                <a:latin typeface="IBM Plex Mono"/>
              </a:rPr>
              <a:t>COUNT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(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*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)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200" i="0">
                <a:solidFill>
                  <a:srgbClr val="F2A65A"/>
                </a:solidFill>
                <a:latin typeface="IBM Plex Mono"/>
              </a:rPr>
              <a:t>AS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Schichten</a:t>
            </a:r>
          </a:p>
          <a:p>
            <a:pPr>
              <a:lnSpc>
                <a:spcPct val="100000"/>
              </a:lnSpc>
            </a:pPr>
            <a:r>
              <a:rPr sz="1200" i="0">
                <a:solidFill>
                  <a:srgbClr val="F2A65A"/>
                </a:solidFill>
                <a:latin typeface="IBM Plex Mono"/>
              </a:rPr>
              <a:t>FROM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Helfer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Schicht</a:t>
            </a:r>
          </a:p>
          <a:p>
            <a:pPr>
              <a:lnSpc>
                <a:spcPct val="100000"/>
              </a:lnSpc>
            </a:pPr>
            <a:r>
              <a:rPr sz="1200" i="0">
                <a:solidFill>
                  <a:srgbClr val="F2A65A"/>
                </a:solidFill>
                <a:latin typeface="IBM Plex Mono"/>
              </a:rPr>
              <a:t>WHERE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Helfer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HelferNr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=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Schicht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HelferNr</a:t>
            </a:r>
          </a:p>
          <a:p>
            <a:pPr>
              <a:lnSpc>
                <a:spcPct val="100000"/>
              </a:lnSpc>
            </a:pPr>
            <a:r>
              <a:rPr sz="1200" i="0">
                <a:solidFill>
                  <a:srgbClr val="F2A65A"/>
                </a:solidFill>
                <a:latin typeface="IBM Plex Mono"/>
              </a:rPr>
              <a:t>GROUP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200" i="0">
                <a:solidFill>
                  <a:srgbClr val="F2A65A"/>
                </a:solidFill>
                <a:latin typeface="IBM Plex Mono"/>
              </a:rPr>
              <a:t>BY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Helfer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HelferNr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Helfer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Vorname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Helfer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Nachname</a:t>
            </a:r>
          </a:p>
          <a:p>
            <a:pPr>
              <a:lnSpc>
                <a:spcPct val="100000"/>
              </a:lnSpc>
            </a:pPr>
            <a:r>
              <a:rPr sz="1200" i="0">
                <a:solidFill>
                  <a:srgbClr val="F2A65A"/>
                </a:solidFill>
                <a:latin typeface="IBM Plex Mono"/>
              </a:rPr>
              <a:t>ORDER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200" i="0">
                <a:solidFill>
                  <a:srgbClr val="F2A65A"/>
                </a:solidFill>
                <a:latin typeface="IBM Plex Mono"/>
              </a:rPr>
              <a:t>BY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Schichten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200" i="0">
                <a:solidFill>
                  <a:srgbClr val="F2A65A"/>
                </a:solidFill>
                <a:latin typeface="IBM Plex Mono"/>
              </a:rPr>
              <a:t>DESC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Helfer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HelferNr</a:t>
            </a:r>
            <a:r>
              <a:rPr sz="1200" i="0">
                <a:solidFill>
                  <a:srgbClr val="D8E3D0"/>
                </a:solidFill>
                <a:latin typeface="IBM Plex Mono"/>
              </a:rPr>
              <a:t>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610192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000" b="1" i="0" u="none" spc="120">
                <a:solidFill>
                  <a:srgbClr val="D4B062"/>
                </a:solidFill>
                <a:latin typeface="IBM Plex Mono"/>
              </a:rPr>
              <a:t>ERGEBNIS</a:t>
            </a:r>
          </a:p>
        </p:txBody>
      </p:sp>
      <p:graphicFrame>
        <p:nvGraphicFramePr>
          <p:cNvPr id="11" name="Ergebnistabelle"/>
          <p:cNvGraphicFramePr>
            <a:graphicFrameLocks noGrp="1"/>
          </p:cNvGraphicFramePr>
          <p:nvPr/>
        </p:nvGraphicFramePr>
        <p:xfrm>
          <a:off x="548640" y="3566160"/>
          <a:ext cx="4330596" cy="179133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82649"/>
                <a:gridCol w="981608"/>
                <a:gridCol w="1082649"/>
                <a:gridCol w="1183690"/>
              </a:tblGrid>
              <a:tr h="255905">
                <a:tc>
                  <a:txBody>
                    <a:bodyPr/>
                    <a:lstStyle/>
                    <a:p>
                      <a:r>
                        <a:rPr sz="1196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HelferNr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Vorname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Nachname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Schichten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</a:tr>
              <a:tr h="255905">
                <a:tc>
                  <a:txBody>
                    <a:bodyPr/>
                    <a:lstStyle/>
                    <a:p>
                      <a:pPr algn="r"/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33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Enno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Kolthoff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4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255905">
                <a:tc>
                  <a:txBody>
                    <a:bodyPr/>
                    <a:lstStyle/>
                    <a:p>
                      <a:pPr algn="r"/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35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Arne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Thölken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4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255905">
                <a:tc>
                  <a:txBody>
                    <a:bodyPr/>
                    <a:lstStyle/>
                    <a:p>
                      <a:pPr algn="r"/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40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Mats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Vosgerau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4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255905">
                <a:tc>
                  <a:txBody>
                    <a:bodyPr/>
                    <a:lstStyle/>
                    <a:p>
                      <a:pPr algn="r"/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51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Ida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Rohlfs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4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255905">
                <a:tc>
                  <a:txBody>
                    <a:bodyPr/>
                    <a:lstStyle/>
                    <a:p>
                      <a:pPr algn="r"/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1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Pauline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Hedden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3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255905">
                <a:tc>
                  <a:txBody>
                    <a:bodyPr/>
                    <a:lstStyle/>
                    <a:p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…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…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…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…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924888" y="1691640"/>
            <a:ext cx="4718166" cy="75692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924888" y="1691640"/>
            <a:ext cx="73152" cy="756920"/>
          </a:xfrm>
          <a:prstGeom prst="rect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062048" y="1764792"/>
            <a:ext cx="4572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 u="none">
                <a:solidFill>
                  <a:srgbClr val="B3261E"/>
                </a:solidFill>
                <a:latin typeface="Barlow Condensed SemiBol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19248" y="1764792"/>
            <a:ext cx="3986646" cy="6471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440" b="0" i="0" u="none">
                <a:solidFill>
                  <a:srgbClr val="1C2B3A"/>
                </a:solidFill>
                <a:latin typeface="IBM Plex Mono"/>
              </a:rPr>
              <a:t>ORDER BY … DESC LIMIT 3</a:t>
            </a:r>
            <a:r>
              <a:rPr sz="1600" b="0" i="0" u="none">
                <a:solidFill>
                  <a:srgbClr val="1C2B3A"/>
                </a:solidFill>
                <a:latin typeface="Barlow"/>
              </a:rPr>
              <a:t> – die „drei fleißigsten“ Personen?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24888" y="2585720"/>
            <a:ext cx="4718166" cy="68580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924888" y="2585720"/>
            <a:ext cx="73152" cy="685800"/>
          </a:xfrm>
          <a:prstGeom prst="rect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062048" y="2658872"/>
            <a:ext cx="4572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 u="none">
                <a:solidFill>
                  <a:srgbClr val="B3261E"/>
                </a:solidFill>
                <a:latin typeface="Barlow Condensed Semi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9248" y="2658872"/>
            <a:ext cx="3986646" cy="5760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600" b="0" i="0" u="none">
                <a:solidFill>
                  <a:srgbClr val="1C2B3A"/>
                </a:solidFill>
                <a:latin typeface="Barlow"/>
              </a:rPr>
              <a:t>Vier Personen haben je 4 Schichten.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24888" y="3408680"/>
            <a:ext cx="4718166" cy="75692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924888" y="3408680"/>
            <a:ext cx="73152" cy="756920"/>
          </a:xfrm>
          <a:prstGeom prst="rect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062048" y="3481832"/>
            <a:ext cx="4572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 u="none">
                <a:solidFill>
                  <a:srgbClr val="B3261E"/>
                </a:solidFill>
                <a:latin typeface="Barlow Condensed SemiBol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9248" y="3481832"/>
            <a:ext cx="3986646" cy="6471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440" b="0" i="0" u="none">
                <a:solidFill>
                  <a:srgbClr val="1C2B3A"/>
                </a:solidFill>
                <a:latin typeface="IBM Plex Mono"/>
              </a:rPr>
              <a:t>LIMIT 3</a:t>
            </a:r>
            <a:r>
              <a:rPr sz="1600" b="0" i="0" u="none">
                <a:solidFill>
                  <a:srgbClr val="1C2B3A"/>
                </a:solidFill>
                <a:latin typeface="Barlow"/>
              </a:rPr>
              <a:t> schneidet eine davon willkürlich ab.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24888" y="4302760"/>
            <a:ext cx="4718166" cy="75692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924888" y="4302760"/>
            <a:ext cx="73152" cy="756920"/>
          </a:xfrm>
          <a:prstGeom prst="rect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062048" y="4375912"/>
            <a:ext cx="4572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 u="none">
                <a:solidFill>
                  <a:srgbClr val="B3261E"/>
                </a:solidFill>
                <a:latin typeface="Barlow Condensed SemiBol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9248" y="4375912"/>
            <a:ext cx="3986646" cy="6471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600" b="0" i="0" u="none">
                <a:solidFill>
                  <a:srgbClr val="1C2B3A"/>
                </a:solidFill>
                <a:latin typeface="Barlow"/>
              </a:rPr>
              <a:t>Besser: „alle mit mindestens 4 Schichten“ (</a:t>
            </a:r>
            <a:r>
              <a:rPr sz="1440" b="0" i="0" u="none">
                <a:solidFill>
                  <a:srgbClr val="1C2B3A"/>
                </a:solidFill>
                <a:latin typeface="IBM Plex Mono"/>
              </a:rPr>
              <a:t>HAVING COUNT(*) &gt;= 4</a:t>
            </a:r>
            <a:r>
              <a:rPr sz="1600" b="0" i="0" u="none">
                <a:solidFill>
                  <a:srgbClr val="1C2B3A"/>
                </a:solidFill>
                <a:latin typeface="Barlow"/>
              </a:rPr>
              <a:t>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3 · DIE STADTFEST-KASSE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Vervielfachung im Verbund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094415" cy="434340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1920240"/>
            <a:ext cx="10545775" cy="996315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 i="0" u="none">
                <a:solidFill>
                  <a:srgbClr val="1C2B3A"/>
                </a:solidFill>
                <a:latin typeface="Barlow"/>
              </a:rPr>
              <a:t>Bon 486 hat </a:t>
            </a:r>
            <a:r>
              <a:rPr sz="1900" b="1" i="0" u="none">
                <a:solidFill>
                  <a:srgbClr val="1C2B3A"/>
                </a:solidFill>
                <a:latin typeface="Barlow"/>
              </a:rPr>
              <a:t>eine</a:t>
            </a:r>
            <a:r>
              <a:rPr sz="1900" b="0" i="0" u="none">
                <a:solidFill>
                  <a:srgbClr val="1C2B3A"/>
                </a:solidFill>
                <a:latin typeface="Barlow"/>
              </a:rPr>
              <a:t> Position (Kaffee, Menge 0). Wird Schicht nur über den Stand verbunden, passt jede Schicht des Kaffeemobils ab 21 Uhr – aus einer Position werden </a:t>
            </a:r>
            <a:r>
              <a:rPr sz="1900" b="1" i="0" u="none">
                <a:solidFill>
                  <a:srgbClr val="1C2B3A"/>
                </a:solidFill>
                <a:latin typeface="Barlow"/>
              </a:rPr>
              <a:t>drei Zeilen</a:t>
            </a:r>
            <a:r>
              <a:rPr sz="1900" b="0" i="0" u="none">
                <a:solidFill>
                  <a:srgbClr val="1C2B3A"/>
                </a:solidFill>
                <a:latin typeface="Barlow"/>
              </a:rPr>
              <a:t>:</a:t>
            </a:r>
          </a:p>
        </p:txBody>
      </p:sp>
      <p:sp>
        <p:nvSpPr>
          <p:cNvPr id="10" name="SQL-Hintergrund"/>
          <p:cNvSpPr/>
          <p:nvPr/>
        </p:nvSpPr>
        <p:spPr>
          <a:xfrm>
            <a:off x="822959" y="2989707"/>
            <a:ext cx="10545775" cy="2320290"/>
          </a:xfrm>
          <a:prstGeom prst="roundRect">
            <a:avLst>
              <a:gd name="adj" fmla="val 4000"/>
            </a:avLst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SQL"/>
          <p:cNvSpPr txBox="1"/>
          <p:nvPr/>
        </p:nvSpPr>
        <p:spPr>
          <a:xfrm>
            <a:off x="1005839" y="3126867"/>
            <a:ext cx="10180015" cy="204597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</a:pPr>
            <a:r>
              <a:rPr sz="1800" i="0">
                <a:solidFill>
                  <a:srgbClr val="F2A65A"/>
                </a:solidFill>
                <a:latin typeface="IBM Plex Mono"/>
              </a:rPr>
              <a:t>SELECT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Bon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BonNr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Position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ProduktNr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Schicht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HelferNr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Schicht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Beginn</a:t>
            </a:r>
          </a:p>
          <a:p>
            <a:pPr>
              <a:lnSpc>
                <a:spcPct val="100000"/>
              </a:lnSpc>
            </a:pPr>
            <a:r>
              <a:rPr sz="1800" i="0">
                <a:solidFill>
                  <a:srgbClr val="F2A65A"/>
                </a:solidFill>
                <a:latin typeface="IBM Plex Mono"/>
              </a:rPr>
              <a:t>FROM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Bon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Position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Schicht</a:t>
            </a:r>
          </a:p>
          <a:p>
            <a:pPr>
              <a:lnSpc>
                <a:spcPct val="100000"/>
              </a:lnSpc>
            </a:pPr>
            <a:r>
              <a:rPr sz="1800" i="0">
                <a:solidFill>
                  <a:srgbClr val="F2A65A"/>
                </a:solidFill>
                <a:latin typeface="IBM Plex Mono"/>
              </a:rPr>
              <a:t>WHERE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Bon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BonNr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=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Position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BonNr</a:t>
            </a:r>
          </a:p>
          <a:p>
            <a:pPr>
              <a:lnSpc>
                <a:spcPct val="100000"/>
              </a:lnSpc>
            </a:pPr>
            <a:r>
              <a:rPr sz="1800" i="0">
                <a:solidFill>
                  <a:srgbClr val="D8E3D0"/>
                </a:solidFill>
                <a:latin typeface="IBM Plex Mono"/>
              </a:rPr>
              <a:t>  </a:t>
            </a:r>
            <a:r>
              <a:rPr sz="1800" i="0">
                <a:solidFill>
                  <a:srgbClr val="F2A65A"/>
                </a:solidFill>
                <a:latin typeface="IBM Plex Mono"/>
              </a:rPr>
              <a:t>AND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Bon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StandNr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=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Schicht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StandNr</a:t>
            </a:r>
          </a:p>
          <a:p>
            <a:pPr>
              <a:lnSpc>
                <a:spcPct val="100000"/>
              </a:lnSpc>
            </a:pPr>
            <a:r>
              <a:rPr sz="1800" i="0">
                <a:solidFill>
                  <a:srgbClr val="D8E3D0"/>
                </a:solidFill>
                <a:latin typeface="IBM Plex Mono"/>
              </a:rPr>
              <a:t>  </a:t>
            </a:r>
            <a:r>
              <a:rPr sz="1800" i="0">
                <a:solidFill>
                  <a:srgbClr val="F2A65A"/>
                </a:solidFill>
                <a:latin typeface="IBM Plex Mono"/>
              </a:rPr>
              <a:t>AND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Bon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BonNr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=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800" i="0">
                <a:solidFill>
                  <a:srgbClr val="8CC4FF"/>
                </a:solidFill>
                <a:latin typeface="IBM Plex Mono"/>
              </a:rPr>
              <a:t>486</a:t>
            </a:r>
          </a:p>
          <a:p>
            <a:pPr>
              <a:lnSpc>
                <a:spcPct val="100000"/>
              </a:lnSpc>
            </a:pPr>
            <a:r>
              <a:rPr sz="1800" i="0">
                <a:solidFill>
                  <a:srgbClr val="D8E3D0"/>
                </a:solidFill>
                <a:latin typeface="IBM Plex Mono"/>
              </a:rPr>
              <a:t>  </a:t>
            </a:r>
            <a:r>
              <a:rPr sz="1800" i="0">
                <a:solidFill>
                  <a:srgbClr val="F2A65A"/>
                </a:solidFill>
                <a:latin typeface="IBM Plex Mono"/>
              </a:rPr>
              <a:t>AND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Schicht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Beginn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&gt;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=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800" i="0">
                <a:solidFill>
                  <a:srgbClr val="9BD3A6"/>
                </a:solidFill>
                <a:latin typeface="IBM Plex Mono"/>
              </a:rPr>
              <a:t>'2026-08-29 21:00'</a:t>
            </a:r>
          </a:p>
          <a:p>
            <a:pPr>
              <a:lnSpc>
                <a:spcPct val="100000"/>
              </a:lnSpc>
            </a:pPr>
            <a:r>
              <a:rPr sz="1800" i="0">
                <a:solidFill>
                  <a:srgbClr val="F2A65A"/>
                </a:solidFill>
                <a:latin typeface="IBM Plex Mono"/>
              </a:rPr>
              <a:t>ORDER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800" i="0">
                <a:solidFill>
                  <a:srgbClr val="F2A65A"/>
                </a:solidFill>
                <a:latin typeface="IBM Plex Mono"/>
              </a:rPr>
              <a:t>BY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Schicht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Beginn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;</a:t>
            </a:r>
          </a:p>
        </p:txBody>
      </p:sp>
      <p:graphicFrame>
        <p:nvGraphicFramePr>
          <p:cNvPr id="12" name="Ergebnistabelle"/>
          <p:cNvGraphicFramePr>
            <a:graphicFrameLocks noGrp="1"/>
          </p:cNvGraphicFramePr>
          <p:nvPr/>
        </p:nvGraphicFramePr>
        <p:xfrm>
          <a:off x="822959" y="5419725"/>
          <a:ext cx="5822898" cy="1259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96112"/>
                <a:gridCol w="1393545"/>
                <a:gridCol w="1269187"/>
                <a:gridCol w="2264054"/>
              </a:tblGrid>
              <a:tr h="314960">
                <a:tc>
                  <a:txBody>
                    <a:bodyPr/>
                    <a:lstStyle/>
                    <a:p>
                      <a:r>
                        <a:rPr sz="1472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BonNr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72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ProduktNr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72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HelferNr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72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Beginn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algn="r"/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486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11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7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2026-08-29 21:00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algn="r"/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486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11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23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2026-08-29 22:00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algn="r"/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486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11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7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2026-08-29 23:00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3 · DIE STADTFEST-KASSE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Abfragen analysieren und Vorgehen beschreiben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094415" cy="434340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1920240"/>
            <a:ext cx="10545775" cy="13893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1" i="0" u="none">
                <a:solidFill>
                  <a:srgbClr val="1C2B3A"/>
                </a:solidFill>
                <a:latin typeface="Barlow"/>
              </a:rPr>
              <a:t>Analyse im Sachzusammenhang:</a:t>
            </a:r>
            <a:r>
              <a:rPr sz="1900" b="0" i="0" u="none">
                <a:solidFill>
                  <a:srgbClr val="1C2B3A"/>
                </a:solidFill>
                <a:latin typeface="Barlow"/>
              </a:rPr>
              <a:t> „Die Abfrage liefert für jede/jeden … die/den …, berücksichtigt werden nur …, ausgegeben werden nur Gruppen, die …, sortiert nach …“ – nicht: „wählt aus und gruppiert“.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1" i="0" u="none">
                <a:solidFill>
                  <a:srgbClr val="1C2B3A"/>
                </a:solidFill>
                <a:latin typeface="Barlow"/>
              </a:rPr>
              <a:t>Vorgehen in Worten: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82772"/>
            <a:ext cx="10545775" cy="219074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 i="0" u="none">
                <a:solidFill>
                  <a:srgbClr val="1C2B3A"/>
                </a:solidFill>
                <a:latin typeface="Barlow"/>
              </a:rPr>
              <a:t>1. Tabellen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 i="0" u="none">
                <a:solidFill>
                  <a:srgbClr val="1C2B3A"/>
                </a:solidFill>
                <a:latin typeface="Barlow"/>
              </a:rPr>
              <a:t>2. Verbund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 i="0" u="none">
                <a:solidFill>
                  <a:srgbClr val="1C2B3A"/>
                </a:solidFill>
                <a:latin typeface="Barlow"/>
              </a:rPr>
              <a:t>3. Zeilenfilter (WHERE)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 i="0" u="none">
                <a:solidFill>
                  <a:srgbClr val="1C2B3A"/>
                </a:solidFill>
                <a:latin typeface="Barlow"/>
              </a:rPr>
              <a:t>4. Gruppierung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 i="0" u="none">
                <a:solidFill>
                  <a:srgbClr val="1C2B3A"/>
                </a:solidFill>
                <a:latin typeface="Barlow"/>
              </a:rPr>
              <a:t>5. Gruppenfilter (HAVING)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 i="0" u="none">
                <a:solidFill>
                  <a:srgbClr val="1C2B3A"/>
                </a:solidFill>
                <a:latin typeface="Barlow"/>
              </a:rPr>
              <a:t>6. Sortierung/Begrenzung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3 · DIE STADTFEST-KASSE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Ab ins Lab: Ermittlung 3.2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094415" cy="2926080"/>
          </a:xfrm>
          <a:prstGeom prst="roundRect">
            <a:avLst>
              <a:gd name="adj" fmla="val 4000"/>
            </a:avLst>
          </a:prstGeom>
          <a:solidFill>
            <a:srgbClr val="E2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637215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050" b="1" i="0" u="none" spc="120">
                <a:solidFill>
                  <a:srgbClr val="2C5A85"/>
                </a:solidFill>
                <a:latin typeface="IBM Plex Mono"/>
              </a:rPr>
              <a:t>SPUR IM 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194560"/>
            <a:ext cx="10545775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600" b="0" i="0" u="none">
                <a:solidFill>
                  <a:srgbClr val="1C2B3A"/>
                </a:solidFill>
                <a:latin typeface="Barlow Condensed SemiBold"/>
              </a:rPr>
              <a:t>„Die Statistik lügt nicht“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900" b="1" i="0" u="none">
                <a:solidFill>
                  <a:srgbClr val="1C2B3A"/>
                </a:solidFill>
                <a:latin typeface="Barlow"/>
              </a:rPr>
              <a:t>Aufgaben:</a:t>
            </a:r>
            <a:r>
              <a:rPr sz="1900" b="0" i="0" u="none">
                <a:solidFill>
                  <a:srgbClr val="1C2B3A"/>
                </a:solidFill>
                <a:latin typeface="Barlow"/>
              </a:rPr>
              <a:t> A3-E2-01 … 08 · Cold Case A3-E2-CC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900" b="1" i="0" u="none">
                <a:solidFill>
                  <a:srgbClr val="1C2B3A"/>
                </a:solidFill>
                <a:latin typeface="Barlow"/>
              </a:rPr>
              <a:t>Werkzeug:</a:t>
            </a:r>
            <a:r>
              <a:rPr sz="1900" b="0" i="0" u="none">
                <a:solidFill>
                  <a:srgbClr val="1C2B3A"/>
                </a:solidFill>
                <a:latin typeface="Barlow"/>
              </a:rPr>
              <a:t> Zeitlupe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00600"/>
            <a:ext cx="11094415" cy="71755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700" b="0" i="0" u="none">
                <a:solidFill>
                  <a:srgbClr val="E8E1D3"/>
                </a:solidFill>
                <a:latin typeface="Barlow"/>
              </a:rPr>
              <a:t>▸ 06 und 08: Analyse in eigenen Worten – die Antwort bleibt auf deinem Gerät.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700" b="0" i="0" u="none">
                <a:solidFill>
                  <a:srgbClr val="E8E1D3"/>
                </a:solidFill>
                <a:latin typeface="Barlow"/>
              </a:rPr>
              <a:t>▸ Danach: Verhör 3 · Schulkiosk (20 min, gesiezt, wie im Abitur).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3 · DIE STADTFEST-KASSE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Ermittler-Notiz: WHERE, HAVING, LIMIT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094415" cy="4343400"/>
          </a:xfrm>
          <a:prstGeom prst="roundRect">
            <a:avLst>
              <a:gd name="adj" fmla="val 4000"/>
            </a:avLst>
          </a:prstGeom>
          <a:solidFill>
            <a:srgbClr val="E2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637215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050" b="1" i="0" u="none" spc="120">
                <a:solidFill>
                  <a:srgbClr val="2C5A85"/>
                </a:solidFill>
                <a:latin typeface="IBM Plex Mono"/>
              </a:rPr>
              <a:t>ERMITTLER-NOTIZ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194560"/>
            <a:ext cx="10545775" cy="19329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b="0" i="0" u="none">
                <a:solidFill>
                  <a:srgbClr val="1C2B3A"/>
                </a:solidFill>
                <a:latin typeface="Barlow"/>
              </a:rPr>
              <a:t>▸ FROM → WHERE → GROUP BY → HAVING → SELECT → ORDER BY → LIMIT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b="0" i="0" u="none">
                <a:solidFill>
                  <a:srgbClr val="1C2B3A"/>
                </a:solidFill>
                <a:latin typeface="Barlow"/>
              </a:rPr>
              <a:t>▸ WHERE filtert </a:t>
            </a:r>
            <a:r>
              <a:rPr sz="2000" b="1" i="0" u="none">
                <a:solidFill>
                  <a:srgbClr val="1C2B3A"/>
                </a:solidFill>
                <a:latin typeface="Barlow"/>
              </a:rPr>
              <a:t>Zeilen vorher</a:t>
            </a:r>
            <a:r>
              <a:rPr sz="2000" b="0" i="0" u="none">
                <a:solidFill>
                  <a:srgbClr val="1C2B3A"/>
                </a:solidFill>
                <a:latin typeface="Barlow"/>
              </a:rPr>
              <a:t>, HAVING filtert </a:t>
            </a:r>
            <a:r>
              <a:rPr sz="2000" b="1" i="0" u="none">
                <a:solidFill>
                  <a:srgbClr val="1C2B3A"/>
                </a:solidFill>
                <a:latin typeface="Barlow"/>
              </a:rPr>
              <a:t>Fächer nachher</a:t>
            </a:r>
            <a:r>
              <a:rPr sz="2000" b="0" i="0" u="none">
                <a:solidFill>
                  <a:srgbClr val="1C2B3A"/>
                </a:solidFill>
                <a:latin typeface="Barlow"/>
              </a:rPr>
              <a:t> – Aggregat wiederholen, kein Alias.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b="0" i="0" u="none">
                <a:solidFill>
                  <a:srgbClr val="1C2B3A"/>
                </a:solidFill>
                <a:latin typeface="Barlow"/>
              </a:rPr>
              <a:t>▸ Top-n mit LIMIT nur eindeutig ohne Gleichstand an Platz n.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b="0" i="0" u="none">
                <a:solidFill>
                  <a:srgbClr val="1C2B3A"/>
                </a:solidFill>
                <a:latin typeface="Barlow"/>
              </a:rPr>
              <a:t>▸ Vervielfachung: nur Tabellen verbinden, die die Frage braucht.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b="0" i="0" u="none">
                <a:solidFill>
                  <a:srgbClr val="1C2B3A"/>
                </a:solidFill>
                <a:latin typeface="Barlow"/>
              </a:rPr>
              <a:t>▸ Analyse: Information im Sachzusammenhang, nicht Syntax nacherzählen.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3 · DIE STADTFEST-KASSE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Abi-Format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094415" cy="434340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 w="25400">
            <a:solidFill>
              <a:srgbClr val="E05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637215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050" b="1" i="0" u="none" spc="120">
                <a:solidFill>
                  <a:srgbClr val="B3261E"/>
                </a:solidFill>
                <a:latin typeface="IBM Plex Mono"/>
              </a:rPr>
              <a:t>ABI-ECKE · OPERATOR ANALYSIEREN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194560"/>
            <a:ext cx="10545775" cy="726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b="1" i="0" u="none">
                <a:solidFill>
                  <a:srgbClr val="1C2B3A"/>
                </a:solidFill>
                <a:latin typeface="Barlow"/>
              </a:rPr>
              <a:t>Analysieren</a:t>
            </a:r>
            <a:r>
              <a:rPr sz="2000" b="0" i="0" u="none">
                <a:solidFill>
                  <a:srgbClr val="1C2B3A"/>
                </a:solidFill>
                <a:latin typeface="Barlow"/>
              </a:rPr>
              <a:t> Sie die Abfrage, indem Sie beschreiben, welche Informationen sie im Sachzusammenhang liefert. [4 BE]</a:t>
            </a:r>
          </a:p>
        </p:txBody>
      </p:sp>
      <p:sp>
        <p:nvSpPr>
          <p:cNvPr id="11" name="SQL-Hintergrund"/>
          <p:cNvSpPr/>
          <p:nvPr/>
        </p:nvSpPr>
        <p:spPr>
          <a:xfrm>
            <a:off x="822959" y="2994152"/>
            <a:ext cx="10545775" cy="2860040"/>
          </a:xfrm>
          <a:prstGeom prst="roundRect">
            <a:avLst>
              <a:gd name="adj" fmla="val 4000"/>
            </a:avLst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QL"/>
          <p:cNvSpPr txBox="1"/>
          <p:nvPr/>
        </p:nvSpPr>
        <p:spPr>
          <a:xfrm>
            <a:off x="1005839" y="3131311"/>
            <a:ext cx="10180015" cy="2585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</a:pPr>
            <a:r>
              <a:rPr sz="2000" i="0">
                <a:solidFill>
                  <a:srgbClr val="F2A65A"/>
                </a:solidFill>
                <a:latin typeface="IBM Plex Mono"/>
              </a:rPr>
              <a:t>SELECT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Produkt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Bezeichnung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E6C77A"/>
                </a:solidFill>
                <a:latin typeface="IBM Plex Mono"/>
              </a:rPr>
              <a:t>SUM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(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Position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Menge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)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F2A65A"/>
                </a:solidFill>
                <a:latin typeface="IBM Plex Mono"/>
              </a:rPr>
              <a:t>AS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Stueck</a:t>
            </a:r>
          </a:p>
          <a:p>
            <a:pPr>
              <a:lnSpc>
                <a:spcPct val="100000"/>
              </a:lnSpc>
            </a:pPr>
            <a:r>
              <a:rPr sz="2000" i="0">
                <a:solidFill>
                  <a:srgbClr val="F2A65A"/>
                </a:solidFill>
                <a:latin typeface="IBM Plex Mono"/>
              </a:rPr>
              <a:t>FROM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Bon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Produkt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Position</a:t>
            </a:r>
          </a:p>
          <a:p>
            <a:pPr>
              <a:lnSpc>
                <a:spcPct val="100000"/>
              </a:lnSpc>
            </a:pPr>
            <a:r>
              <a:rPr sz="2000" i="0">
                <a:solidFill>
                  <a:srgbClr val="F2A65A"/>
                </a:solidFill>
                <a:latin typeface="IBM Plex Mono"/>
              </a:rPr>
              <a:t>WHERE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Bon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BonNr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=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Position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BonNr</a:t>
            </a:r>
          </a:p>
          <a:p>
            <a:pPr>
              <a:lnSpc>
                <a:spcPct val="100000"/>
              </a:lnSpc>
            </a:pPr>
            <a:r>
              <a:rPr sz="2000" i="0">
                <a:solidFill>
                  <a:srgbClr val="D8E3D0"/>
                </a:solidFill>
                <a:latin typeface="IBM Plex Mono"/>
              </a:rPr>
              <a:t>  </a:t>
            </a:r>
            <a:r>
              <a:rPr sz="2000" i="0">
                <a:solidFill>
                  <a:srgbClr val="F2A65A"/>
                </a:solidFill>
                <a:latin typeface="IBM Plex Mono"/>
              </a:rPr>
              <a:t>AND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Position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ProduktNr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=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Produkt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ProduktNr</a:t>
            </a:r>
          </a:p>
          <a:p>
            <a:pPr>
              <a:lnSpc>
                <a:spcPct val="100000"/>
              </a:lnSpc>
            </a:pPr>
            <a:r>
              <a:rPr sz="2000" i="0">
                <a:solidFill>
                  <a:srgbClr val="D8E3D0"/>
                </a:solidFill>
                <a:latin typeface="IBM Plex Mono"/>
              </a:rPr>
              <a:t>  </a:t>
            </a:r>
            <a:r>
              <a:rPr sz="2000" i="0">
                <a:solidFill>
                  <a:srgbClr val="F2A65A"/>
                </a:solidFill>
                <a:latin typeface="IBM Plex Mono"/>
              </a:rPr>
              <a:t>AND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Bon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Zeitpunkt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F2A65A"/>
                </a:solidFill>
                <a:latin typeface="IBM Plex Mono"/>
              </a:rPr>
              <a:t>LIKE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9BD3A6"/>
                </a:solidFill>
                <a:latin typeface="IBM Plex Mono"/>
              </a:rPr>
              <a:t>'2026-08-29%'</a:t>
            </a:r>
          </a:p>
          <a:p>
            <a:pPr>
              <a:lnSpc>
                <a:spcPct val="100000"/>
              </a:lnSpc>
            </a:pPr>
            <a:r>
              <a:rPr sz="2000" i="0">
                <a:solidFill>
                  <a:srgbClr val="F2A65A"/>
                </a:solidFill>
                <a:latin typeface="IBM Plex Mono"/>
              </a:rPr>
              <a:t>GROUP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F2A65A"/>
                </a:solidFill>
                <a:latin typeface="IBM Plex Mono"/>
              </a:rPr>
              <a:t>BY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Produkt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ProduktNr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Produkt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Bezeichnung</a:t>
            </a:r>
          </a:p>
          <a:p>
            <a:pPr>
              <a:lnSpc>
                <a:spcPct val="100000"/>
              </a:lnSpc>
            </a:pPr>
            <a:r>
              <a:rPr sz="2000" i="0">
                <a:solidFill>
                  <a:srgbClr val="F2A65A"/>
                </a:solidFill>
                <a:latin typeface="IBM Plex Mono"/>
              </a:rPr>
              <a:t>HAVING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E6C77A"/>
                </a:solidFill>
                <a:latin typeface="IBM Plex Mono"/>
              </a:rPr>
              <a:t>SUM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(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Position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Menge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)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&gt;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8CC4FF"/>
                </a:solidFill>
                <a:latin typeface="IBM Plex Mono"/>
              </a:rPr>
              <a:t>50</a:t>
            </a:r>
          </a:p>
          <a:p>
            <a:pPr>
              <a:lnSpc>
                <a:spcPct val="100000"/>
              </a:lnSpc>
            </a:pPr>
            <a:r>
              <a:rPr sz="2000" i="0">
                <a:solidFill>
                  <a:srgbClr val="F2A65A"/>
                </a:solidFill>
                <a:latin typeface="IBM Plex Mono"/>
              </a:rPr>
              <a:t>ORDER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F2A65A"/>
                </a:solidFill>
                <a:latin typeface="IBM Plex Mono"/>
              </a:rPr>
              <a:t>BY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Stueck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F2A65A"/>
                </a:solidFill>
                <a:latin typeface="IBM Plex Mono"/>
              </a:rPr>
              <a:t>DESC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3 · DIE STADTFEST-KASSE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935705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Lösung Abi-Format (DS 6)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Marker Lehrkraft"/>
          <p:cNvSpPr/>
          <p:nvPr/>
        </p:nvSpPr>
        <p:spPr>
          <a:xfrm>
            <a:off x="10042855" y="310896"/>
            <a:ext cx="1600200" cy="310896"/>
          </a:xfrm>
          <a:prstGeom prst="roundRect">
            <a:avLst>
              <a:gd name="adj" fmla="val 4000"/>
            </a:avLst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042855" y="310896"/>
            <a:ext cx="160020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 u="none">
                <a:solidFill>
                  <a:srgbClr val="141B22"/>
                </a:solidFill>
                <a:latin typeface="IBM Plex Mono"/>
              </a:rPr>
              <a:t>NUR LEHRKRAFT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91640"/>
            <a:ext cx="11094415" cy="434340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 w="25400">
            <a:solidFill>
              <a:srgbClr val="5FA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10637215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050" b="1" i="0" u="none" spc="120">
                <a:solidFill>
                  <a:srgbClr val="2F6B4F"/>
                </a:solidFill>
                <a:latin typeface="IBM Plex Mono"/>
              </a:rPr>
              <a:t>LÖSUNG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194560"/>
            <a:ext cx="10545775" cy="94869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 i="0" u="none">
                <a:solidFill>
                  <a:srgbClr val="1C2B3A"/>
                </a:solidFill>
                <a:latin typeface="Barlow"/>
              </a:rPr>
              <a:t>Die Abfrage liefert für jedes </a:t>
            </a:r>
            <a:r>
              <a:rPr sz="1800" b="1" i="0" u="none">
                <a:solidFill>
                  <a:srgbClr val="1C2B3A"/>
                </a:solidFill>
                <a:latin typeface="Barlow"/>
              </a:rPr>
              <a:t>Produkt</a:t>
            </a:r>
            <a:r>
              <a:rPr sz="1800" b="0" i="0" u="none">
                <a:solidFill>
                  <a:srgbClr val="1C2B3A"/>
                </a:solidFill>
                <a:latin typeface="Barlow"/>
              </a:rPr>
              <a:t>, das am </a:t>
            </a:r>
            <a:r>
              <a:rPr sz="1800" b="1" i="0" u="none">
                <a:solidFill>
                  <a:srgbClr val="1C2B3A"/>
                </a:solidFill>
                <a:latin typeface="Barlow"/>
              </a:rPr>
              <a:t>Samstag, 29.08.</a:t>
            </a:r>
            <a:r>
              <a:rPr sz="1800" b="0" i="0" u="none">
                <a:solidFill>
                  <a:srgbClr val="1C2B3A"/>
                </a:solidFill>
                <a:latin typeface="Barlow"/>
              </a:rPr>
              <a:t>, verkauft wurde, die Bezeichnung und die </a:t>
            </a:r>
            <a:r>
              <a:rPr sz="1800" b="1" i="0" u="none">
                <a:solidFill>
                  <a:srgbClr val="1C2B3A"/>
                </a:solidFill>
                <a:latin typeface="Barlow"/>
              </a:rPr>
              <a:t>verkaufte Stückzahl</a:t>
            </a:r>
            <a:r>
              <a:rPr sz="1800" b="0" i="0" u="none">
                <a:solidFill>
                  <a:srgbClr val="1C2B3A"/>
                </a:solidFill>
                <a:latin typeface="Barlow"/>
              </a:rPr>
              <a:t> dieses Tages – nur Produkte mit </a:t>
            </a:r>
            <a:r>
              <a:rPr sz="1800" b="1" i="0" u="none">
                <a:solidFill>
                  <a:srgbClr val="1C2B3A"/>
                </a:solidFill>
                <a:latin typeface="Barlow"/>
              </a:rPr>
              <a:t>mehr als 50</a:t>
            </a:r>
            <a:r>
              <a:rPr sz="1800" b="0" i="0" u="none">
                <a:solidFill>
                  <a:srgbClr val="1C2B3A"/>
                </a:solidFill>
                <a:latin typeface="Barlow"/>
              </a:rPr>
              <a:t> Stück, das meistverkaufte zuerst.</a:t>
            </a:r>
          </a:p>
        </p:txBody>
      </p:sp>
      <p:graphicFrame>
        <p:nvGraphicFramePr>
          <p:cNvPr id="13" name="Datentabelle"/>
          <p:cNvGraphicFramePr>
            <a:graphicFrameLocks noGrp="1"/>
          </p:cNvGraphicFramePr>
          <p:nvPr/>
        </p:nvGraphicFramePr>
        <p:xfrm>
          <a:off x="822959" y="3216402"/>
          <a:ext cx="2662732" cy="1259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42262"/>
                <a:gridCol w="1020470"/>
              </a:tblGrid>
              <a:tr h="314960">
                <a:tc>
                  <a:txBody>
                    <a:bodyPr/>
                    <a:lstStyle/>
                    <a:p>
                      <a:r>
                        <a:rPr sz="1472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Bezeichnung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72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Stueck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Los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100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Currywurst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56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Kaffee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51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822959" y="4585970"/>
            <a:ext cx="10545775" cy="37719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 i="0" u="none">
                <a:solidFill>
                  <a:srgbClr val="1C2B3A"/>
                </a:solidFill>
                <a:latin typeface="Barlow"/>
              </a:rPr>
              <a:t>Je 1 BE: je Produkt + Stückzahl · Samstag · mehr als 50 · absteigend.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3 · DIE STADTFEST-KASSE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935705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Fallbesprechung: die auffällige Schicht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Marker Lehrkraft"/>
          <p:cNvSpPr/>
          <p:nvPr/>
        </p:nvSpPr>
        <p:spPr>
          <a:xfrm>
            <a:off x="10042855" y="310896"/>
            <a:ext cx="1600200" cy="310896"/>
          </a:xfrm>
          <a:prstGeom prst="roundRect">
            <a:avLst>
              <a:gd name="adj" fmla="val 4000"/>
            </a:avLst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042855" y="310896"/>
            <a:ext cx="160020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 u="none">
                <a:solidFill>
                  <a:srgbClr val="141B22"/>
                </a:solidFill>
                <a:latin typeface="IBM Plex Mono"/>
              </a:rPr>
              <a:t>NUR LEHRKRAFT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91640"/>
            <a:ext cx="11094415" cy="434340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 w="25400">
            <a:solidFill>
              <a:srgbClr val="5FA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10637215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050" b="1" i="0" u="none" spc="120">
                <a:solidFill>
                  <a:srgbClr val="2F6B4F"/>
                </a:solidFill>
                <a:latin typeface="IBM Plex Mono"/>
              </a:rPr>
              <a:t>LÖSUNG</a:t>
            </a:r>
          </a:p>
        </p:txBody>
      </p:sp>
      <p:sp>
        <p:nvSpPr>
          <p:cNvPr id="12" name="SQL-Hintergrund"/>
          <p:cNvSpPr/>
          <p:nvPr/>
        </p:nvSpPr>
        <p:spPr>
          <a:xfrm>
            <a:off x="822959" y="2194560"/>
            <a:ext cx="10545775" cy="2463165"/>
          </a:xfrm>
          <a:prstGeom prst="roundRect">
            <a:avLst>
              <a:gd name="adj" fmla="val 4000"/>
            </a:avLst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SQL"/>
          <p:cNvSpPr txBox="1"/>
          <p:nvPr/>
        </p:nvSpPr>
        <p:spPr>
          <a:xfrm>
            <a:off x="1005839" y="2331720"/>
            <a:ext cx="10180015" cy="218884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</a:pPr>
            <a:r>
              <a:rPr sz="1500" i="0">
                <a:solidFill>
                  <a:srgbClr val="F2A65A"/>
                </a:solidFill>
                <a:latin typeface="IBM Plex Mono"/>
              </a:rPr>
              <a:t>SELECT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Helfer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HelferNr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Helfer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Vorname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Helfer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Nachname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500" i="0">
                <a:solidFill>
                  <a:srgbClr val="E6C77A"/>
                </a:solidFill>
                <a:latin typeface="IBM Plex Mono"/>
              </a:rPr>
              <a:t>COUNT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(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*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)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500" i="0">
                <a:solidFill>
                  <a:srgbClr val="F2A65A"/>
                </a:solidFill>
                <a:latin typeface="IBM Plex Mono"/>
              </a:rPr>
              <a:t>AS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NullPositionen</a:t>
            </a:r>
          </a:p>
          <a:p>
            <a:pPr>
              <a:lnSpc>
                <a:spcPct val="100000"/>
              </a:lnSpc>
            </a:pPr>
            <a:r>
              <a:rPr sz="1500" i="0">
                <a:solidFill>
                  <a:srgbClr val="F2A65A"/>
                </a:solidFill>
                <a:latin typeface="IBM Plex Mono"/>
              </a:rPr>
              <a:t>FROM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Bon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Position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Helfer</a:t>
            </a:r>
          </a:p>
          <a:p>
            <a:pPr>
              <a:lnSpc>
                <a:spcPct val="100000"/>
              </a:lnSpc>
            </a:pPr>
            <a:r>
              <a:rPr sz="1500" i="0">
                <a:solidFill>
                  <a:srgbClr val="F2A65A"/>
                </a:solidFill>
                <a:latin typeface="IBM Plex Mono"/>
              </a:rPr>
              <a:t>WHERE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Bon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BonNr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=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Position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BonNr</a:t>
            </a:r>
          </a:p>
          <a:p>
            <a:pPr>
              <a:lnSpc>
                <a:spcPct val="100000"/>
              </a:lnSpc>
            </a:pPr>
            <a:r>
              <a:rPr sz="1500" i="0">
                <a:solidFill>
                  <a:srgbClr val="D8E3D0"/>
                </a:solidFill>
                <a:latin typeface="IBM Plex Mono"/>
              </a:rPr>
              <a:t>  </a:t>
            </a:r>
            <a:r>
              <a:rPr sz="1500" i="0">
                <a:solidFill>
                  <a:srgbClr val="F2A65A"/>
                </a:solidFill>
                <a:latin typeface="IBM Plex Mono"/>
              </a:rPr>
              <a:t>AND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Bon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HelferNr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=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Helfer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HelferNr</a:t>
            </a:r>
          </a:p>
          <a:p>
            <a:pPr>
              <a:lnSpc>
                <a:spcPct val="100000"/>
              </a:lnSpc>
            </a:pPr>
            <a:r>
              <a:rPr sz="1500" i="0">
                <a:solidFill>
                  <a:srgbClr val="D8E3D0"/>
                </a:solidFill>
                <a:latin typeface="IBM Plex Mono"/>
              </a:rPr>
              <a:t>  </a:t>
            </a:r>
            <a:r>
              <a:rPr sz="1500" i="0">
                <a:solidFill>
                  <a:srgbClr val="F2A65A"/>
                </a:solidFill>
                <a:latin typeface="IBM Plex Mono"/>
              </a:rPr>
              <a:t>AND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Position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Menge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=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500" i="0">
                <a:solidFill>
                  <a:srgbClr val="8CC4FF"/>
                </a:solidFill>
                <a:latin typeface="IBM Plex Mono"/>
              </a:rPr>
              <a:t>0</a:t>
            </a:r>
          </a:p>
          <a:p>
            <a:pPr>
              <a:lnSpc>
                <a:spcPct val="100000"/>
              </a:lnSpc>
            </a:pPr>
            <a:r>
              <a:rPr sz="1500" i="0">
                <a:solidFill>
                  <a:srgbClr val="D8E3D0"/>
                </a:solidFill>
                <a:latin typeface="IBM Plex Mono"/>
              </a:rPr>
              <a:t>  </a:t>
            </a:r>
            <a:r>
              <a:rPr sz="1500" i="0">
                <a:solidFill>
                  <a:srgbClr val="F2A65A"/>
                </a:solidFill>
                <a:latin typeface="IBM Plex Mono"/>
              </a:rPr>
              <a:t>AND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Bon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Zeitpunkt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500" i="0">
                <a:solidFill>
                  <a:srgbClr val="F2A65A"/>
                </a:solidFill>
                <a:latin typeface="IBM Plex Mono"/>
              </a:rPr>
              <a:t>BETWEEN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500" i="0">
                <a:solidFill>
                  <a:srgbClr val="9BD3A6"/>
                </a:solidFill>
                <a:latin typeface="IBM Plex Mono"/>
              </a:rPr>
              <a:t>'2026-08-29 00:00'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500" i="0">
                <a:solidFill>
                  <a:srgbClr val="F2A65A"/>
                </a:solidFill>
                <a:latin typeface="IBM Plex Mono"/>
              </a:rPr>
              <a:t>AND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500" i="0">
                <a:solidFill>
                  <a:srgbClr val="9BD3A6"/>
                </a:solidFill>
                <a:latin typeface="IBM Plex Mono"/>
              </a:rPr>
              <a:t>'2026-08-29 23:59'</a:t>
            </a:r>
          </a:p>
          <a:p>
            <a:pPr>
              <a:lnSpc>
                <a:spcPct val="100000"/>
              </a:lnSpc>
            </a:pPr>
            <a:r>
              <a:rPr sz="1500" i="0">
                <a:solidFill>
                  <a:srgbClr val="F2A65A"/>
                </a:solidFill>
                <a:latin typeface="IBM Plex Mono"/>
              </a:rPr>
              <a:t>GROUP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500" i="0">
                <a:solidFill>
                  <a:srgbClr val="F2A65A"/>
                </a:solidFill>
                <a:latin typeface="IBM Plex Mono"/>
              </a:rPr>
              <a:t>BY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Helfer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HelferNr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Helfer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Vorname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Helfer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Nachname</a:t>
            </a:r>
          </a:p>
          <a:p>
            <a:pPr>
              <a:lnSpc>
                <a:spcPct val="100000"/>
              </a:lnSpc>
            </a:pPr>
            <a:r>
              <a:rPr sz="1500" i="0">
                <a:solidFill>
                  <a:srgbClr val="F2A65A"/>
                </a:solidFill>
                <a:latin typeface="IBM Plex Mono"/>
              </a:rPr>
              <a:t>HAVING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500" i="0">
                <a:solidFill>
                  <a:srgbClr val="E6C77A"/>
                </a:solidFill>
                <a:latin typeface="IBM Plex Mono"/>
              </a:rPr>
              <a:t>COUNT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(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*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)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&gt;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500" i="0">
                <a:solidFill>
                  <a:srgbClr val="8CC4FF"/>
                </a:solidFill>
                <a:latin typeface="IBM Plex Mono"/>
              </a:rPr>
              <a:t>3</a:t>
            </a:r>
          </a:p>
          <a:p>
            <a:pPr>
              <a:lnSpc>
                <a:spcPct val="100000"/>
              </a:lnSpc>
            </a:pPr>
            <a:r>
              <a:rPr sz="1500" i="0">
                <a:solidFill>
                  <a:srgbClr val="F2A65A"/>
                </a:solidFill>
                <a:latin typeface="IBM Plex Mono"/>
              </a:rPr>
              <a:t>ORDER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500" i="0">
                <a:solidFill>
                  <a:srgbClr val="F2A65A"/>
                </a:solidFill>
                <a:latin typeface="IBM Plex Mono"/>
              </a:rPr>
              <a:t>BY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NullPositionen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500" i="0">
                <a:solidFill>
                  <a:srgbClr val="F2A65A"/>
                </a:solidFill>
                <a:latin typeface="IBM Plex Mono"/>
              </a:rPr>
              <a:t>DESC</a:t>
            </a:r>
            <a:r>
              <a:rPr sz="1500" i="0">
                <a:solidFill>
                  <a:srgbClr val="D8E3D0"/>
                </a:solidFill>
                <a:latin typeface="IBM Plex Mono"/>
              </a:rPr>
              <a:t>;</a:t>
            </a:r>
          </a:p>
        </p:txBody>
      </p:sp>
      <p:graphicFrame>
        <p:nvGraphicFramePr>
          <p:cNvPr id="14" name="Ergebnistabelle"/>
          <p:cNvGraphicFramePr>
            <a:graphicFrameLocks noGrp="1"/>
          </p:cNvGraphicFramePr>
          <p:nvPr/>
        </p:nvGraphicFramePr>
        <p:xfrm>
          <a:off x="822959" y="4767453"/>
          <a:ext cx="5698539" cy="629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69187"/>
                <a:gridCol w="1144828"/>
                <a:gridCol w="1269187"/>
                <a:gridCol w="2015337"/>
              </a:tblGrid>
              <a:tr h="314960">
                <a:tc>
                  <a:txBody>
                    <a:bodyPr/>
                    <a:lstStyle/>
                    <a:p>
                      <a:r>
                        <a:rPr sz="1472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HelferNr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72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Vorname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72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Nachname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72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NullPositionen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algn="r"/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23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Nora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Falter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110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3 · DIE STADTFEST-KASSE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935705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Fallbesprechung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Marker Lehrkraft"/>
          <p:cNvSpPr/>
          <p:nvPr/>
        </p:nvSpPr>
        <p:spPr>
          <a:xfrm>
            <a:off x="10042855" y="310896"/>
            <a:ext cx="1600200" cy="310896"/>
          </a:xfrm>
          <a:prstGeom prst="roundRect">
            <a:avLst>
              <a:gd name="adj" fmla="val 4000"/>
            </a:avLst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042855" y="310896"/>
            <a:ext cx="160020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 u="none">
                <a:solidFill>
                  <a:srgbClr val="141B22"/>
                </a:solidFill>
                <a:latin typeface="IBM Plex Mono"/>
              </a:rPr>
              <a:t>NUR LEHRKRAFT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91640"/>
            <a:ext cx="11094415" cy="420624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10637215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050" b="1" i="0" u="none" spc="120">
                <a:solidFill>
                  <a:srgbClr val="B3261E"/>
                </a:solidFill>
                <a:latin typeface="IBM Plex Mono"/>
              </a:rPr>
              <a:t>BRIEFING · EDDA LORENZ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240280"/>
            <a:ext cx="10545775" cy="3474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2200" b="0" i="1" u="none">
                <a:solidFill>
                  <a:srgbClr val="1C2B3A"/>
                </a:solidFill>
                <a:latin typeface="Barlow"/>
              </a:rPr>
              <a:t>Die Schicht von 22 bis 23 Uhr am Kaffeemobil hatte Helferin Nr. 23 – Nora Falter, Jahrgang 1988, gemeldet über den TuS Weserstedt. Und beim TuS stimmt seit Monaten die Beitragsliste nicht.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Die Stadtfest-Kasse</dc:title>
  <dc:subject/>
  <dc:creator>Datendetektei Weserstedt</dc:creator>
  <cp:keywords/>
  <dc:description>generated using python-pptx</dc:description>
  <cp:lastModifiedBy>Datendetektei Weserstedt</cp:lastModifiedBy>
  <cp:revision>1</cp:revision>
  <dcterms:created xsi:type="dcterms:W3CDTF">2013-01-27T09:14:16Z</dcterms:created>
  <dcterms:modified xsi:type="dcterms:W3CDTF">2013-01-27T09:15:58Z</dcterms:modified>
  <cp:category/>
  <dc:language>de-DE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D-Akte">
    <vt:lpwstr>3</vt:lpwstr>
  </property>
  <property fmtid="{D5CDD505-2E9C-101B-9397-08002B2CF9AE}" pid="3" name="DD-Art">
    <vt:lpwstr>praesentation</vt:lpwstr>
  </property>
  <property fmtid="{D5CDD505-2E9C-101B-9397-08002B2CF9AE}" pid="4" name="DD-Datenbank">
    <vt:lpwstr>stadtfest</vt:lpwstr>
  </property>
  <property fmtid="{D5CDD505-2E9C-101B-9397-08002B2CF9AE}" pid="5" name="DD-Kuer">
    <vt:lpwstr>nein</vt:lpwstr>
  </property>
</Properties>
</file>