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Der Bauplan steht – jetzt wird gebaut. Aus dem ER-Modell wird ein Relationenschema, also die Tabellen der Datenbank. Dafür gibt es eine Grundregel und fünf Regeln für die Beziehungstypen. Nach diesem Video kannst du jede davon anwenden und – genauso wichtig fürs Abitur – begründen.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Grundregel R1: Jeder Entitätstyp wird eine Relation, seine Attribute werden Spalten, das Schlüsselattribut wird Primärschlüssel – unterstrichen. Jetzt die erste Beziehungsregel, R2 für 1 zu n. Der Fremdschlüssel kommt auf die n-Seite. Tier bekommt also einen Fremdschlüssel GehegeNr, mit Pfeil. Begründung: Jedes Tier lebt in genau einem Gehege, also steht in jeder Tier-Zeile genau ein Wert. Andersherum müsste ein Gehege eine ganze Liste von Tieren speichern – das passt nicht in eine Zelle.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 R3 für n zu m. Hier passt ein Fremdschlüssel auf keine Seite: Ein Helfer betreut mehrere Tiere, ein Tier hat mehrere Helfer. Deshalb entsteht eine eigene Relation, benannt nach dem Beziehungstyp: betreut. Sie enthält beide Fremdschlüssel, und zusammen bilden sie den Primärschlüssel – beide unterstrichen. Das Beziehungsattribut Seit kommt mit in diese Relation. Und wenn dasselbe Paar mehrmals vorkommen könnte, nimmst du ein weiteres Attribut, etwa ein Datum, mit in den Schlüssel.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 R4 für 1 zu 1: Ein Tier trägt genau einen Chip, ein Chip gehört zu genau einem Tier. Hier passt der Fremdschlüssel auf jede der beiden Seiten. Üblich ist die Seite, die später entsteht – der Chip wird einem Tier eingesetzt, das es schon gibt. Also bekommt Chip den Fremdschlüssel TierNr. Man könnte die beiden Relationen auch zusammenlegen. Wichtig ist, dass du deine Entscheidung begründest.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 R5 für rekursive Beziehungen. Es gelten dieselben Regeln wie bei 1 zu n und n zu m – nur zeigt der Fremdschlüssel auf die eigene Relation. Bei stammtAb, eins zu n, bekommt Tier einen Fremdschlüssel. Er kann nicht TierNr heißen, die gibt es schon. Deshalb benennst du ihn nach seiner Rolle: MutterNr. Wäre die Beziehung n zu m, entstünde eine eigene Relation mit zwei Fremdschlüsseln auf Tier. Abfragen dazu nutzen dieselbe Tabelle zweimal mit Aliasen, wie unten: Jungtier und Mutter.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letzte Regel, R6, für ternäre Beziehungen. Sie bekommen immer eine eigene Relation mit drei Fremdschlüsseln – einen für jeden beteiligten Entitätstyp. Der Schlüssel besteht zunächst aus diesen dreien. Aber Vorsicht: Kann dieselbe Interessentin dasselbe Tier mit demselben Helfer mehrmals kennenlernen? Natürlich. Dann reichen die drei nicht, und das Datum muss mit in den Schlüssel. Genau diese Überlegung wird im Abitur gern abgefragt.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alle Regeln auf einen Blick. R1: Entitätstyp wird Relation. R2: Bei 1 zu n kommt der Fremdschlüssel auf die n-Seite. R3: n zu m bekommt eine eigene Relation. R4: Bei 1 zu 1 auf eine Seite. R5: Rekursiv wie R2 oder R3, mit Fremdschlüsseln auf die eigene Relation. R6: Ternär bekommt eine eigene Relation mit drei Fremdschlüsseln. Beziehungsattribute wandern immer dorthin, wo der Fremdschlüssel bzw. die neue Relation steht.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Hier das Futter-Modell aus dem letzten Video: Lieferant liefert Futtersorte, Tier frisst Futtersorte mit einer Tagesmenge. Erstelle dazu das Relationenschema in Kurzschreibweise. Welche Regel gilt bei liefert, welche bei frisst? Halte das Video 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liefert ist 1 zu n, also Regel R2: Futtersorte bekommt den Fremdschlüssel LieferantNr. frisst ist n zu m, also Regel R3: eine eigene Relation frisst mit TierNr und SorteNr als gemeinsamem Primärschlüssel und der Tagesmenge. Oben das Ganze in der Schema-Werkbank der Datendetektei. Häufige Fehler: der Fremdschlüssel beim Lieferanten statt bei der Futtersorte oder die Tagesmenge beim Tier.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Abitur kommt auch die Rückrichtung vor: Aus einem Schema soll ein ER-Modell werden. Eine Relation mit eigenem Schlüssel wird ein Entitätstyp. Ein Fremdschlüssel in so einer Relation ist eine 1-zu-n-Beziehung – das n steht auf der Seite des Fremdschlüssels. Besteht der Schlüssel einer Relation aus zwei Fremdschlüsseln, war es eine n-zu-m-Beziehung, bei drei eine ternäre. Und die übrigen Attribute dieser Relation sind Beziehungsattribute.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Fallen bei der Überführung gehören zu P9: der Fremdschlüssel auf der falschen Seite, eine n-zu-m-Beziehung ohne eigene Relation, oder ein unvollständiger Schlüssel in der Beziehungsrelation. Und bei rekursiven Beziehungen P7: Benenne den Fremdschlüssel nach seiner Rolle, also MutterNr, nicht TierNr2.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Entitätstyp wird Relation. Bei 1 zu n kommt der Fremdschlüssel auf die n-Seite. n zu m bekommt eine eigene Relation mit beiden Fremdschlüsseln als Schlüssel. Bei 1 zu 1 entscheidest du dich begründet für eine Seite. Rekursiv zeigt der Fremdschlüssel auf die eigene Relation und heißt nach seiner Rolle, und ternär bekommt eine eigene Relation mit drei Fremdschlüsseln.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ins Lab! In Ermittlung 5.3 baust du aus dem Bauplan der Detektei die Datenbank – in der Schema-Werkbank, und zum Schluss verbindest du eine Tabelle mit sich selbst. Und vor der Prüfung lohnt sich Video 7: der Abi-Check mit allen zehn Fallen und den Operatoren.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6</a:t>
            </a:r>
          </a:p>
        </p:txBody>
      </p:sp>
      <p:sp>
        <p:nvSpPr>
          <p:cNvPr id="5" name="TextBox 4"/>
          <p:cNvSpPr txBox="1"/>
          <p:nvPr/>
        </p:nvSpPr>
        <p:spPr>
          <a:xfrm>
            <a:off x="548640" y="1371600"/>
            <a:ext cx="7772400" cy="1231392"/>
          </a:xfrm>
          <a:prstGeom prst="rect">
            <a:avLst/>
          </a:prstGeom>
          <a:noFill/>
        </p:spPr>
        <p:txBody>
          <a:bodyPr wrap="square" lIns="27432" rIns="27432" tIns="27432" bIns="27432" anchor="t">
            <a:spAutoFit/>
          </a:bodyPr>
          <a:lstStyle/>
          <a:p>
            <a:pPr>
              <a:lnSpc>
                <a:spcPct val="105000"/>
              </a:lnSpc>
              <a:spcAft>
                <a:spcPts val="400"/>
              </a:spcAft>
            </a:pPr>
            <a:r>
              <a:rPr sz="4000" b="0" i="0" u="none">
                <a:solidFill>
                  <a:srgbClr val="E8E1D3"/>
                </a:solidFill>
                <a:latin typeface="Barlow Condensed SemiBold"/>
              </a:rPr>
              <a:t>Vom ER-Modell zum Relationenschema in 5 Regeln</a:t>
            </a:r>
          </a:p>
        </p:txBody>
      </p:sp>
      <p:cxnSp>
        <p:nvCxnSpPr>
          <p:cNvPr id="6" name="Roter Faden"/>
          <p:cNvCxnSpPr/>
          <p:nvPr/>
        </p:nvCxnSpPr>
        <p:spPr>
          <a:xfrm>
            <a:off x="548640" y="274015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923032"/>
            <a:ext cx="7772400" cy="103327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Entitätstypen werden Relationen – und fünf Regeln für 1:n, n:m, 1:1, rekursive und ternäre Beziehungstypen, mit Begründung</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5 · DS 11 · eA · 8–10 min</a:t>
            </a:r>
          </a:p>
        </p:txBody>
      </p:sp>
      <p:pic>
        <p:nvPicPr>
          <p:cNvPr id="11" name="Picture 10" descr="stempel.png"/>
          <p:cNvPicPr>
            <a:picLocks noChangeAspect="1"/>
          </p:cNvPicPr>
          <p:nvPr/>
        </p:nvPicPr>
        <p:blipFill>
          <a:blip r:embed="rId3"/>
          <a:stretch>
            <a:fillRect/>
          </a:stretch>
        </p:blipFill>
        <p:spPr>
          <a:xfrm>
            <a:off x="8869680" y="1051560"/>
            <a:ext cx="2773375" cy="98571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Grundregel R1 und Regel R2: 1:n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pic>
        <p:nvPicPr>
          <p:cNvPr id="8" name="Bild er_1n" descr="er_1n.png"/>
          <p:cNvPicPr>
            <a:picLocks noChangeAspect="1"/>
          </p:cNvPicPr>
          <p:nvPr/>
        </p:nvPicPr>
        <p:blipFill>
          <a:blip r:embed="rId3"/>
          <a:stretch>
            <a:fillRect/>
          </a:stretch>
        </p:blipFill>
        <p:spPr>
          <a:xfrm>
            <a:off x="1674454" y="1691640"/>
            <a:ext cx="8842785" cy="1737360"/>
          </a:xfrm>
          <a:prstGeom prst="rect">
            <a:avLst/>
          </a:prstGeom>
          <a:ln w="9525">
            <a:solidFill>
              <a:srgbClr val="BDB6A9"/>
            </a:solidFill>
          </a:ln>
        </p:spPr>
      </p:pic>
      <p:sp>
        <p:nvSpPr>
          <p:cNvPr id="9" name="Rounded Rectangle 8"/>
          <p:cNvSpPr/>
          <p:nvPr/>
        </p:nvSpPr>
        <p:spPr>
          <a:xfrm>
            <a:off x="548640" y="3566160"/>
            <a:ext cx="7772400" cy="127997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675887"/>
            <a:ext cx="7406640" cy="109709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RELATIONENSCHEMA</a:t>
            </a:r>
          </a:p>
          <a:p>
            <a:pPr>
              <a:lnSpc>
                <a:spcPct val="105000"/>
              </a:lnSpc>
              <a:spcAft>
                <a:spcPts val="500"/>
              </a:spcAft>
            </a:pPr>
            <a:r>
              <a:rPr sz="1748" b="0" i="0" u="none">
                <a:solidFill>
                  <a:srgbClr val="1C2B3A"/>
                </a:solidFill>
                <a:latin typeface="IBM Plex Mono"/>
              </a:rPr>
              <a:t>Gehege(</a:t>
            </a:r>
            <a:r>
              <a:rPr sz="1748" b="0" i="0" u="sng">
                <a:solidFill>
                  <a:srgbClr val="1C2B3A"/>
                </a:solidFill>
                <a:latin typeface="IBM Plex Mono"/>
              </a:rPr>
              <a:t>GehegeNr</a:t>
            </a:r>
            <a:r>
              <a:rPr sz="1748" b="0" i="0" u="none">
                <a:solidFill>
                  <a:srgbClr val="1C2B3A"/>
                </a:solidFill>
                <a:latin typeface="IBM Plex Mono"/>
              </a:rPr>
              <a:t>, Bereich)</a:t>
            </a:r>
          </a:p>
          <a:p>
            <a:pPr>
              <a:lnSpc>
                <a:spcPct val="105000"/>
              </a:lnSpc>
              <a:spcAft>
                <a:spcPts val="500"/>
              </a:spcAft>
            </a:pPr>
            <a:r>
              <a:rPr sz="1748" b="0" i="0" u="none">
                <a:solidFill>
                  <a:srgbClr val="1C2B3A"/>
                </a:solidFill>
                <a:latin typeface="IBM Plex Mono"/>
              </a:rPr>
              <a:t>Tier(</a:t>
            </a:r>
            <a:r>
              <a:rPr sz="1748" b="0" i="0" u="sng">
                <a:solidFill>
                  <a:srgbClr val="1C2B3A"/>
                </a:solidFill>
                <a:latin typeface="IBM Plex Mono"/>
              </a:rPr>
              <a:t>TierNr</a:t>
            </a:r>
            <a:r>
              <a:rPr sz="1748" b="0" i="0" u="none">
                <a:solidFill>
                  <a:srgbClr val="1C2B3A"/>
                </a:solidFill>
                <a:latin typeface="IBM Plex Mono"/>
              </a:rPr>
              <a:t>, Name, Art, </a:t>
            </a:r>
            <a:r>
              <a:rPr sz="1748" b="0" i="0" u="none">
                <a:solidFill>
                  <a:srgbClr val="B3261E"/>
                </a:solidFill>
                <a:latin typeface="IBM Plex Mono"/>
              </a:rPr>
              <a:t>↑</a:t>
            </a:r>
            <a:r>
              <a:rPr sz="1748" b="0" i="0" u="none">
                <a:solidFill>
                  <a:srgbClr val="1C2B3A"/>
                </a:solidFill>
                <a:latin typeface="IBM Plex Mono"/>
              </a:rPr>
              <a:t>GehegeNr)</a:t>
            </a:r>
          </a:p>
        </p:txBody>
      </p:sp>
      <p:sp>
        <p:nvSpPr>
          <p:cNvPr id="11" name="Rounded Rectangle 10"/>
          <p:cNvSpPr/>
          <p:nvPr/>
        </p:nvSpPr>
        <p:spPr>
          <a:xfrm>
            <a:off x="548640" y="4955865"/>
            <a:ext cx="7772400" cy="1213104"/>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955865"/>
            <a:ext cx="73152" cy="1213104"/>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 y="504730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BEGRÜNDUNG R2</a:t>
            </a:r>
          </a:p>
        </p:txBody>
      </p:sp>
      <p:sp>
        <p:nvSpPr>
          <p:cNvPr id="14" name="TextBox 13"/>
          <p:cNvSpPr txBox="1"/>
          <p:nvPr/>
        </p:nvSpPr>
        <p:spPr>
          <a:xfrm>
            <a:off x="822959" y="5413065"/>
            <a:ext cx="7360920" cy="710184"/>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Jedes Tier lebt in </a:t>
            </a:r>
            <a:r>
              <a:rPr sz="1700" b="1" i="0" u="none">
                <a:solidFill>
                  <a:srgbClr val="1C2B3A"/>
                </a:solidFill>
                <a:latin typeface="Barlow"/>
              </a:rPr>
              <a:t>genau einem</a:t>
            </a:r>
            <a:r>
              <a:rPr sz="1700" b="0" i="0" u="none">
                <a:solidFill>
                  <a:srgbClr val="1C2B3A"/>
                </a:solidFill>
                <a:latin typeface="Barlow"/>
              </a:rPr>
              <a:t> Gehege → </a:t>
            </a:r>
            <a:r>
              <a:rPr sz="1700" b="1" i="0" u="none">
                <a:solidFill>
                  <a:srgbClr val="1C2B3A"/>
                </a:solidFill>
                <a:latin typeface="Barlow"/>
              </a:rPr>
              <a:t>ein</a:t>
            </a:r>
            <a:r>
              <a:rPr sz="1700" b="0" i="0" u="none">
                <a:solidFill>
                  <a:srgbClr val="1C2B3A"/>
                </a:solidFill>
                <a:latin typeface="Barlow"/>
              </a:rPr>
              <a:t> Wert je Tier-Zeile. Umgekehrt bräuchte ein Gehege eine Liste von Tieren – das geht nicht.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Regel R3: n:m bekommt eine eigene Relation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pic>
        <p:nvPicPr>
          <p:cNvPr id="8" name="Bild er_nm" descr="er_nm.png"/>
          <p:cNvPicPr>
            <a:picLocks noChangeAspect="1"/>
          </p:cNvPicPr>
          <p:nvPr/>
        </p:nvPicPr>
        <p:blipFill>
          <a:blip r:embed="rId3"/>
          <a:stretch>
            <a:fillRect/>
          </a:stretch>
        </p:blipFill>
        <p:spPr>
          <a:xfrm>
            <a:off x="3776986" y="1691640"/>
            <a:ext cx="4637722" cy="1463040"/>
          </a:xfrm>
          <a:prstGeom prst="rect">
            <a:avLst/>
          </a:prstGeom>
          <a:ln w="9525">
            <a:solidFill>
              <a:srgbClr val="BDB6A9"/>
            </a:solidFill>
          </a:ln>
        </p:spPr>
      </p:pic>
      <p:sp>
        <p:nvSpPr>
          <p:cNvPr id="9" name="Rounded Rectangle 8"/>
          <p:cNvSpPr/>
          <p:nvPr/>
        </p:nvSpPr>
        <p:spPr>
          <a:xfrm>
            <a:off x="548640" y="3291840"/>
            <a:ext cx="7772400" cy="15525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401568"/>
            <a:ext cx="7406640" cy="136970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RELATIONENSCHEMA</a:t>
            </a:r>
          </a:p>
          <a:p>
            <a:pPr>
              <a:lnSpc>
                <a:spcPct val="105000"/>
              </a:lnSpc>
              <a:spcAft>
                <a:spcPts val="500"/>
              </a:spcAft>
            </a:pPr>
            <a:r>
              <a:rPr sz="1573" b="0" i="0" u="none">
                <a:solidFill>
                  <a:srgbClr val="1C2B3A"/>
                </a:solidFill>
                <a:latin typeface="IBM Plex Mono"/>
              </a:rPr>
              <a:t>Helfer(</a:t>
            </a:r>
            <a:r>
              <a:rPr sz="1573" b="0" i="0" u="sng">
                <a:solidFill>
                  <a:srgbClr val="1C2B3A"/>
                </a:solidFill>
                <a:latin typeface="IBM Plex Mono"/>
              </a:rPr>
              <a:t>HelferNr</a:t>
            </a:r>
            <a:r>
              <a:rPr sz="1573" b="0" i="0" u="none">
                <a:solidFill>
                  <a:srgbClr val="1C2B3A"/>
                </a:solidFill>
                <a:latin typeface="IBM Plex Mono"/>
              </a:rPr>
              <a:t>, Name)</a:t>
            </a:r>
          </a:p>
          <a:p>
            <a:pPr>
              <a:lnSpc>
                <a:spcPct val="105000"/>
              </a:lnSpc>
              <a:spcAft>
                <a:spcPts val="500"/>
              </a:spcAft>
            </a:pPr>
            <a:r>
              <a:rPr sz="1573" b="0" i="0" u="none">
                <a:solidFill>
                  <a:srgbClr val="1C2B3A"/>
                </a:solidFill>
                <a:latin typeface="IBM Plex Mono"/>
              </a:rPr>
              <a:t>Tier(</a:t>
            </a:r>
            <a:r>
              <a:rPr sz="1573" b="0" i="0" u="sng">
                <a:solidFill>
                  <a:srgbClr val="1C2B3A"/>
                </a:solidFill>
                <a:latin typeface="IBM Plex Mono"/>
              </a:rPr>
              <a:t>TierNr</a:t>
            </a:r>
            <a:r>
              <a:rPr sz="1573" b="0" i="0" u="none">
                <a:solidFill>
                  <a:srgbClr val="1C2B3A"/>
                </a:solidFill>
                <a:latin typeface="IBM Plex Mono"/>
              </a:rPr>
              <a:t>, Name)</a:t>
            </a:r>
          </a:p>
          <a:p>
            <a:pPr>
              <a:lnSpc>
                <a:spcPct val="105000"/>
              </a:lnSpc>
              <a:spcAft>
                <a:spcPts val="500"/>
              </a:spcAft>
            </a:pPr>
            <a:r>
              <a:rPr sz="1573" b="0" i="0" u="none">
                <a:solidFill>
                  <a:srgbClr val="1C2B3A"/>
                </a:solidFill>
                <a:latin typeface="IBM Plex Mono"/>
              </a:rPr>
              <a:t>betreut(</a:t>
            </a:r>
            <a:r>
              <a:rPr sz="1573" b="0" i="0" u="sng">
                <a:solidFill>
                  <a:srgbClr val="B3261E"/>
                </a:solidFill>
                <a:latin typeface="IBM Plex Mono"/>
              </a:rPr>
              <a:t>↑</a:t>
            </a:r>
            <a:r>
              <a:rPr sz="1573" b="0" i="0" u="sng">
                <a:solidFill>
                  <a:srgbClr val="1C2B3A"/>
                </a:solidFill>
                <a:latin typeface="IBM Plex Mono"/>
              </a:rPr>
              <a:t>HelferNr, </a:t>
            </a:r>
            <a:r>
              <a:rPr sz="1573" b="0" i="0" u="sng">
                <a:solidFill>
                  <a:srgbClr val="B3261E"/>
                </a:solidFill>
                <a:latin typeface="IBM Plex Mono"/>
              </a:rPr>
              <a:t>↑</a:t>
            </a:r>
            <a:r>
              <a:rPr sz="1573" b="0" i="0" u="sng">
                <a:solidFill>
                  <a:srgbClr val="1C2B3A"/>
                </a:solidFill>
                <a:latin typeface="IBM Plex Mono"/>
              </a:rPr>
              <a:t>TierNr</a:t>
            </a:r>
            <a:r>
              <a:rPr sz="1573" b="0" i="0" u="none">
                <a:solidFill>
                  <a:srgbClr val="1C2B3A"/>
                </a:solidFill>
                <a:latin typeface="IBM Plex Mono"/>
              </a:rPr>
              <a:t>, Seit)</a:t>
            </a:r>
          </a:p>
        </p:txBody>
      </p:sp>
      <p:sp>
        <p:nvSpPr>
          <p:cNvPr id="11" name="Rounded Rectangle 10"/>
          <p:cNvSpPr/>
          <p:nvPr/>
        </p:nvSpPr>
        <p:spPr>
          <a:xfrm>
            <a:off x="548640" y="4954155"/>
            <a:ext cx="7772400" cy="116128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4954155"/>
            <a:ext cx="73152" cy="116128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 y="504559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BEGRÜNDUNG R3</a:t>
            </a:r>
          </a:p>
        </p:txBody>
      </p:sp>
      <p:sp>
        <p:nvSpPr>
          <p:cNvPr id="14" name="TextBox 13"/>
          <p:cNvSpPr txBox="1"/>
          <p:nvPr/>
        </p:nvSpPr>
        <p:spPr>
          <a:xfrm>
            <a:off x="822959" y="5411355"/>
            <a:ext cx="7360920" cy="658368"/>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Barlow"/>
              </a:rPr>
              <a:t>Auf </a:t>
            </a:r>
            <a:r>
              <a:rPr sz="1530" b="1" i="0" u="none">
                <a:solidFill>
                  <a:srgbClr val="1C2B3A"/>
                </a:solidFill>
                <a:latin typeface="Barlow"/>
              </a:rPr>
              <a:t>keiner</a:t>
            </a:r>
            <a:r>
              <a:rPr sz="1530" b="0" i="0" u="none">
                <a:solidFill>
                  <a:srgbClr val="1C2B3A"/>
                </a:solidFill>
                <a:latin typeface="Barlow"/>
              </a:rPr>
              <a:t> Seite passt ein einzelner Wert. Das Paar der beiden Fremdschlüssel ist der Schlüssel; „Seit“ wandert mit in die neue Relation.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Regel R4: 1:1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7772400" cy="127997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801368"/>
            <a:ext cx="7406640" cy="109709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TIER 1 — TRAEGT — 1 CHIP</a:t>
            </a:r>
          </a:p>
          <a:p>
            <a:pPr>
              <a:lnSpc>
                <a:spcPct val="105000"/>
              </a:lnSpc>
              <a:spcAft>
                <a:spcPts val="500"/>
              </a:spcAft>
            </a:pPr>
            <a:r>
              <a:rPr sz="1748" b="0" i="0" u="none">
                <a:solidFill>
                  <a:srgbClr val="1C2B3A"/>
                </a:solidFill>
                <a:latin typeface="IBM Plex Mono"/>
              </a:rPr>
              <a:t>Tier(</a:t>
            </a:r>
            <a:r>
              <a:rPr sz="1748" b="0" i="0" u="sng">
                <a:solidFill>
                  <a:srgbClr val="1C2B3A"/>
                </a:solidFill>
                <a:latin typeface="IBM Plex Mono"/>
              </a:rPr>
              <a:t>TierNr</a:t>
            </a:r>
            <a:r>
              <a:rPr sz="1748" b="0" i="0" u="none">
                <a:solidFill>
                  <a:srgbClr val="1C2B3A"/>
                </a:solidFill>
                <a:latin typeface="IBM Plex Mono"/>
              </a:rPr>
              <a:t>, Name)</a:t>
            </a:r>
          </a:p>
          <a:p>
            <a:pPr>
              <a:lnSpc>
                <a:spcPct val="105000"/>
              </a:lnSpc>
              <a:spcAft>
                <a:spcPts val="500"/>
              </a:spcAft>
            </a:pPr>
            <a:r>
              <a:rPr sz="1748" b="0" i="0" u="none">
                <a:solidFill>
                  <a:srgbClr val="1C2B3A"/>
                </a:solidFill>
                <a:latin typeface="IBM Plex Mono"/>
              </a:rPr>
              <a:t>Chip(</a:t>
            </a:r>
            <a:r>
              <a:rPr sz="1748" b="0" i="0" u="sng">
                <a:solidFill>
                  <a:srgbClr val="1C2B3A"/>
                </a:solidFill>
                <a:latin typeface="IBM Plex Mono"/>
              </a:rPr>
              <a:t>ChipNr</a:t>
            </a:r>
            <a:r>
              <a:rPr sz="1748" b="0" i="0" u="none">
                <a:solidFill>
                  <a:srgbClr val="1C2B3A"/>
                </a:solidFill>
                <a:latin typeface="IBM Plex Mono"/>
              </a:rPr>
              <a:t>, Hersteller, </a:t>
            </a:r>
            <a:r>
              <a:rPr sz="1748" b="0" i="0" u="none">
                <a:solidFill>
                  <a:srgbClr val="B3261E"/>
                </a:solidFill>
                <a:latin typeface="IBM Plex Mono"/>
              </a:rPr>
              <a:t>↑</a:t>
            </a:r>
            <a:r>
              <a:rPr sz="1748" b="0" i="0" u="none">
                <a:solidFill>
                  <a:srgbClr val="1C2B3A"/>
                </a:solidFill>
                <a:latin typeface="IBM Plex Mono"/>
              </a:rPr>
              <a:t>TierNr)</a:t>
            </a:r>
          </a:p>
        </p:txBody>
      </p:sp>
      <p:sp>
        <p:nvSpPr>
          <p:cNvPr id="10" name="Rounded Rectangle 9"/>
          <p:cNvSpPr/>
          <p:nvPr/>
        </p:nvSpPr>
        <p:spPr>
          <a:xfrm>
            <a:off x="548640" y="3081345"/>
            <a:ext cx="7772400" cy="219151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3081345"/>
            <a:ext cx="73152" cy="219151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317278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BEGRÜNDUNG R4</a:t>
            </a:r>
          </a:p>
        </p:txBody>
      </p:sp>
      <p:sp>
        <p:nvSpPr>
          <p:cNvPr id="13" name="TextBox 12"/>
          <p:cNvSpPr txBox="1"/>
          <p:nvPr/>
        </p:nvSpPr>
        <p:spPr>
          <a:xfrm>
            <a:off x="822959" y="3538545"/>
            <a:ext cx="7360920" cy="1688591"/>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Beide Seiten haben je </a:t>
            </a:r>
            <a:r>
              <a:rPr sz="1700" b="1" i="0" u="none">
                <a:solidFill>
                  <a:srgbClr val="1C2B3A"/>
                </a:solidFill>
                <a:latin typeface="Barlow"/>
              </a:rPr>
              <a:t>einen</a:t>
            </a:r>
            <a:r>
              <a:rPr sz="1700" b="0" i="0" u="none">
                <a:solidFill>
                  <a:srgbClr val="1C2B3A"/>
                </a:solidFill>
                <a:latin typeface="Barlow"/>
              </a:rPr>
              <a:t> Partner → der Fremdschlüssel passt auf </a:t>
            </a:r>
            <a:r>
              <a:rPr sz="1700" b="1" i="0" u="none">
                <a:solidFill>
                  <a:srgbClr val="1C2B3A"/>
                </a:solidFill>
                <a:latin typeface="Barlow"/>
              </a:rPr>
              <a:t>eine</a:t>
            </a:r>
            <a:r>
              <a:rPr sz="1700" b="0" i="0" u="none">
                <a:solidFill>
                  <a:srgbClr val="1C2B3A"/>
                </a:solidFill>
                <a:latin typeface="Barlow"/>
              </a:rPr>
              <a:t> Seite.</a:t>
            </a:r>
          </a:p>
          <a:p>
            <a:pPr>
              <a:lnSpc>
                <a:spcPct val="105000"/>
              </a:lnSpc>
              <a:spcAft>
                <a:spcPts val="300"/>
              </a:spcAft>
            </a:pPr>
            <a:r>
              <a:rPr sz="1700" b="0" i="0" u="none">
                <a:solidFill>
                  <a:srgbClr val="1C2B3A"/>
                </a:solidFill>
                <a:latin typeface="Barlow"/>
              </a:rPr>
              <a:t>Meist dorthin, wo das Objekt später entsteht (der Chip wird einem vorhandenen Tier eingesetzt).</a:t>
            </a:r>
          </a:p>
          <a:p>
            <a:pPr>
              <a:lnSpc>
                <a:spcPct val="105000"/>
              </a:lnSpc>
              <a:spcAft>
                <a:spcPts val="300"/>
              </a:spcAft>
            </a:pPr>
            <a:r>
              <a:rPr sz="1700" b="0" i="0" u="none">
                <a:solidFill>
                  <a:srgbClr val="1C2B3A"/>
                </a:solidFill>
                <a:latin typeface="Barlow"/>
              </a:rPr>
              <a:t>Alternative: beide Relationen zusammenlegen.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Regel R5: rekursiv – der Fremdschlüssel zeigt auf die eigene Relation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pic>
        <p:nvPicPr>
          <p:cNvPr id="8" name="Bild er_rek" descr="er_rek.png"/>
          <p:cNvPicPr>
            <a:picLocks noChangeAspect="1"/>
          </p:cNvPicPr>
          <p:nvPr/>
        </p:nvPicPr>
        <p:blipFill>
          <a:blip r:embed="rId3"/>
          <a:stretch>
            <a:fillRect/>
          </a:stretch>
        </p:blipFill>
        <p:spPr>
          <a:xfrm>
            <a:off x="8047681" y="1691640"/>
            <a:ext cx="1742752" cy="2240279"/>
          </a:xfrm>
          <a:prstGeom prst="rect">
            <a:avLst/>
          </a:prstGeom>
          <a:ln w="9525">
            <a:solidFill>
              <a:srgbClr val="BDB6A9"/>
            </a:solidFill>
          </a:ln>
        </p:spPr>
      </p:pic>
      <p:sp>
        <p:nvSpPr>
          <p:cNvPr id="9" name="Rounded Rectangle 8"/>
          <p:cNvSpPr/>
          <p:nvPr/>
        </p:nvSpPr>
        <p:spPr>
          <a:xfrm>
            <a:off x="548640" y="1691640"/>
            <a:ext cx="5372100" cy="120316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801368"/>
            <a:ext cx="5006340" cy="102028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TIER STAMMTAB TIER (1:N)</a:t>
            </a:r>
          </a:p>
          <a:p>
            <a:pPr>
              <a:lnSpc>
                <a:spcPct val="105000"/>
              </a:lnSpc>
              <a:spcAft>
                <a:spcPts val="500"/>
              </a:spcAft>
            </a:pPr>
            <a:r>
              <a:rPr sz="1748" b="0" i="0" u="none">
                <a:solidFill>
                  <a:srgbClr val="1C2B3A"/>
                </a:solidFill>
                <a:latin typeface="IBM Plex Mono"/>
              </a:rPr>
              <a:t>Tier(</a:t>
            </a:r>
            <a:r>
              <a:rPr sz="1748" b="0" i="0" u="sng">
                <a:solidFill>
                  <a:srgbClr val="1C2B3A"/>
                </a:solidFill>
                <a:latin typeface="IBM Plex Mono"/>
              </a:rPr>
              <a:t>TierNr</a:t>
            </a:r>
            <a:r>
              <a:rPr sz="1748" b="0" i="0" u="none">
                <a:solidFill>
                  <a:srgbClr val="1C2B3A"/>
                </a:solidFill>
                <a:latin typeface="IBM Plex Mono"/>
              </a:rPr>
              <a:t>, Name, Geburtsjahr, </a:t>
            </a:r>
            <a:r>
              <a:rPr sz="1748" b="0" i="0" u="none">
                <a:solidFill>
                  <a:srgbClr val="B3261E"/>
                </a:solidFill>
                <a:latin typeface="IBM Plex Mono"/>
              </a:rPr>
              <a:t>↑</a:t>
            </a:r>
            <a:r>
              <a:rPr sz="1748" b="0" i="0" u="none">
                <a:solidFill>
                  <a:srgbClr val="1C2B3A"/>
                </a:solidFill>
                <a:latin typeface="IBM Plex Mono"/>
              </a:rPr>
              <a:t>MutterNr)</a:t>
            </a:r>
          </a:p>
        </p:txBody>
      </p:sp>
      <p:sp>
        <p:nvSpPr>
          <p:cNvPr id="11" name="TextBox 10"/>
          <p:cNvSpPr txBox="1"/>
          <p:nvPr/>
        </p:nvSpPr>
        <p:spPr>
          <a:xfrm>
            <a:off x="548640" y="3004535"/>
            <a:ext cx="537210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D4B062"/>
                </a:solidFill>
                <a:latin typeface="IBM Plex Mono"/>
              </a:rPr>
              <a:t>VERBUND DER TABELLE MIT SICH SELBST (ZWEI ALIASE)</a:t>
            </a:r>
          </a:p>
        </p:txBody>
      </p:sp>
      <p:sp>
        <p:nvSpPr>
          <p:cNvPr id="12" name="SQL-Hintergrund"/>
          <p:cNvSpPr/>
          <p:nvPr/>
        </p:nvSpPr>
        <p:spPr>
          <a:xfrm>
            <a:off x="548640" y="3315431"/>
            <a:ext cx="5372100"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db=keine]"/>
          <p:cNvSpPr txBox="1"/>
          <p:nvPr/>
        </p:nvSpPr>
        <p:spPr>
          <a:xfrm>
            <a:off x="731520" y="3452591"/>
            <a:ext cx="5006340"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j</a:t>
            </a:r>
            <a:r>
              <a:rPr sz="1500" i="0">
                <a:solidFill>
                  <a:srgbClr val="D8E3D0"/>
                </a:solidFill>
                <a:latin typeface="IBM Plex Mono"/>
              </a:rPr>
              <a:t>.</a:t>
            </a:r>
            <a:r>
              <a:rPr sz="1500" i="0">
                <a:solidFill>
                  <a:srgbClr val="D8E3D0"/>
                </a:solidFill>
                <a:latin typeface="IBM Plex Mono"/>
              </a:rPr>
              <a:t>Name</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Jungtier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m</a:t>
            </a:r>
            <a:r>
              <a:rPr sz="1500" i="0">
                <a:solidFill>
                  <a:srgbClr val="D8E3D0"/>
                </a:solidFill>
                <a:latin typeface="IBM Plex Mono"/>
              </a:rPr>
              <a:t>.</a:t>
            </a:r>
            <a:r>
              <a:rPr sz="1500" i="0">
                <a:solidFill>
                  <a:srgbClr val="D8E3D0"/>
                </a:solidFill>
                <a:latin typeface="IBM Plex Mono"/>
              </a:rPr>
              <a:t>Name</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Mutter</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Tier</a:t>
            </a:r>
            <a:r>
              <a:rPr sz="1500" i="0">
                <a:solidFill>
                  <a:srgbClr val="D8E3D0"/>
                </a:solidFill>
                <a:latin typeface="IBM Plex Mono"/>
              </a:rPr>
              <a:t> </a:t>
            </a:r>
            <a:r>
              <a:rPr sz="1500" i="0">
                <a:solidFill>
                  <a:srgbClr val="D8E3D0"/>
                </a:solidFill>
                <a:latin typeface="IBM Plex Mono"/>
              </a:rPr>
              <a:t>j</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Tier</a:t>
            </a:r>
            <a:r>
              <a:rPr sz="1500" i="0">
                <a:solidFill>
                  <a:srgbClr val="D8E3D0"/>
                </a:solidFill>
                <a:latin typeface="IBM Plex Mono"/>
              </a:rPr>
              <a:t> </a:t>
            </a:r>
            <a:r>
              <a:rPr sz="1500" i="0">
                <a:solidFill>
                  <a:srgbClr val="D8E3D0"/>
                </a:solidFill>
                <a:latin typeface="IBM Plex Mono"/>
              </a:rPr>
              <a:t>m</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j</a:t>
            </a:r>
            <a:r>
              <a:rPr sz="1500" i="0">
                <a:solidFill>
                  <a:srgbClr val="D8E3D0"/>
                </a:solidFill>
                <a:latin typeface="IBM Plex Mono"/>
              </a:rPr>
              <a:t>.</a:t>
            </a:r>
            <a:r>
              <a:rPr sz="1500" i="0">
                <a:solidFill>
                  <a:srgbClr val="D8E3D0"/>
                </a:solidFill>
                <a:latin typeface="IBM Plex Mono"/>
              </a:rPr>
              <a:t>MutterNr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m</a:t>
            </a:r>
            <a:r>
              <a:rPr sz="1500" i="0">
                <a:solidFill>
                  <a:srgbClr val="D8E3D0"/>
                </a:solidFill>
                <a:latin typeface="IBM Plex Mono"/>
              </a:rPr>
              <a:t>.</a:t>
            </a:r>
            <a:r>
              <a:rPr sz="1500" i="0">
                <a:solidFill>
                  <a:srgbClr val="D8E3D0"/>
                </a:solidFill>
                <a:latin typeface="IBM Plex Mono"/>
              </a:rPr>
              <a:t>TierNr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Regel R6: ternär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6035040" y="1691640"/>
            <a:ext cx="5608015" cy="1572767"/>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BEGRÜNDUNG R6</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Eigene Relation mit </a:t>
            </a:r>
            <a:r>
              <a:rPr sz="1700" b="1" i="0" u="none">
                <a:solidFill>
                  <a:srgbClr val="1C2B3A"/>
                </a:solidFill>
                <a:latin typeface="Barlow"/>
              </a:rPr>
              <a:t>drei</a:t>
            </a:r>
            <a:r>
              <a:rPr sz="1700" b="0" i="0" u="none">
                <a:solidFill>
                  <a:srgbClr val="1C2B3A"/>
                </a:solidFill>
                <a:latin typeface="Barlow"/>
              </a:rPr>
              <a:t> Fremdschlüsseln.</a:t>
            </a:r>
          </a:p>
          <a:p>
            <a:pPr>
              <a:lnSpc>
                <a:spcPct val="105000"/>
              </a:lnSpc>
              <a:spcAft>
                <a:spcPts val="300"/>
              </a:spcAft>
            </a:pPr>
            <a:r>
              <a:rPr sz="1700" b="0" i="0" u="none">
                <a:solidFill>
                  <a:srgbClr val="1C2B3A"/>
                </a:solidFill>
                <a:latin typeface="Barlow"/>
              </a:rPr>
              <a:t>Dasselbe Trio kann sich mehrmals treffen → </a:t>
            </a:r>
            <a:r>
              <a:rPr sz="1700" b="1" i="0" u="none">
                <a:solidFill>
                  <a:srgbClr val="1C2B3A"/>
                </a:solidFill>
                <a:latin typeface="Barlow"/>
              </a:rPr>
              <a:t>Datum</a:t>
            </a:r>
            <a:r>
              <a:rPr sz="1700" b="0" i="0" u="none">
                <a:solidFill>
                  <a:srgbClr val="1C2B3A"/>
                </a:solidFill>
                <a:latin typeface="Barlow"/>
              </a:rPr>
              <a:t> gehört in den Schlüssel.</a:t>
            </a:r>
          </a:p>
        </p:txBody>
      </p:sp>
      <p:pic>
        <p:nvPicPr>
          <p:cNvPr id="12" name="Bild er_ter" descr="er_ter.png"/>
          <p:cNvPicPr>
            <a:picLocks noChangeAspect="1"/>
          </p:cNvPicPr>
          <p:nvPr/>
        </p:nvPicPr>
        <p:blipFill>
          <a:blip r:embed="rId3"/>
          <a:stretch>
            <a:fillRect/>
          </a:stretch>
        </p:blipFill>
        <p:spPr>
          <a:xfrm>
            <a:off x="1140068" y="1691640"/>
            <a:ext cx="4029222" cy="2194560"/>
          </a:xfrm>
          <a:prstGeom prst="rect">
            <a:avLst/>
          </a:prstGeom>
          <a:ln w="9525">
            <a:solidFill>
              <a:srgbClr val="BDB6A9"/>
            </a:solidFill>
          </a:ln>
        </p:spPr>
      </p:pic>
      <p:sp>
        <p:nvSpPr>
          <p:cNvPr id="13" name="Rounded Rectangle 12"/>
          <p:cNvSpPr/>
          <p:nvPr/>
        </p:nvSpPr>
        <p:spPr>
          <a:xfrm>
            <a:off x="548640" y="3977639"/>
            <a:ext cx="5212080" cy="120316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4087368"/>
            <a:ext cx="4846320" cy="102028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a:t>
            </a:r>
          </a:p>
          <a:p>
            <a:pPr>
              <a:lnSpc>
                <a:spcPct val="105000"/>
              </a:lnSpc>
              <a:spcAft>
                <a:spcPts val="500"/>
              </a:spcAft>
            </a:pPr>
            <a:r>
              <a:rPr sz="1748" b="0" i="0" u="none">
                <a:solidFill>
                  <a:srgbClr val="1C2B3A"/>
                </a:solidFill>
                <a:latin typeface="IBM Plex Mono"/>
              </a:rPr>
              <a:t>lerntKennen(</a:t>
            </a:r>
            <a:r>
              <a:rPr sz="1748" b="0" i="0" u="sng">
                <a:solidFill>
                  <a:srgbClr val="B3261E"/>
                </a:solidFill>
                <a:latin typeface="IBM Plex Mono"/>
              </a:rPr>
              <a:t>↑</a:t>
            </a:r>
            <a:r>
              <a:rPr sz="1748" b="0" i="0" u="sng">
                <a:solidFill>
                  <a:srgbClr val="1C2B3A"/>
                </a:solidFill>
                <a:latin typeface="IBM Plex Mono"/>
              </a:rPr>
              <a:t>InteressentNr, </a:t>
            </a:r>
            <a:r>
              <a:rPr sz="1748" b="0" i="0" u="sng">
                <a:solidFill>
                  <a:srgbClr val="B3261E"/>
                </a:solidFill>
                <a:latin typeface="IBM Plex Mono"/>
              </a:rPr>
              <a:t>↑</a:t>
            </a:r>
            <a:r>
              <a:rPr sz="1748" b="0" i="0" u="sng">
                <a:solidFill>
                  <a:srgbClr val="1C2B3A"/>
                </a:solidFill>
                <a:latin typeface="IBM Plex Mono"/>
              </a:rPr>
              <a:t>TierNr, </a:t>
            </a:r>
            <a:r>
              <a:rPr sz="1748" b="0" i="0" u="sng">
                <a:solidFill>
                  <a:srgbClr val="B3261E"/>
                </a:solidFill>
                <a:latin typeface="IBM Plex Mono"/>
              </a:rPr>
              <a:t>↑</a:t>
            </a:r>
            <a:r>
              <a:rPr sz="1748" b="0" i="0" u="sng">
                <a:solidFill>
                  <a:srgbClr val="1C2B3A"/>
                </a:solidFill>
                <a:latin typeface="IBM Plex Mono"/>
              </a:rPr>
              <a:t>HelferNr, Datum</a:t>
            </a:r>
            <a:r>
              <a:rPr sz="1748" b="0" i="0" u="none">
                <a:solidFill>
                  <a:srgbClr val="1C2B3A"/>
                </a:solidFill>
                <a:latin typeface="IBM Plex Mono"/>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Regeln im Überblick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TextBox 7"/>
          <p:cNvSpPr txBox="1"/>
          <p:nvPr/>
        </p:nvSpPr>
        <p:spPr>
          <a:xfrm>
            <a:off x="548640" y="1691640"/>
            <a:ext cx="777240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DIE REGELN IM ÜBERBLICK</a:t>
            </a:r>
          </a:p>
        </p:txBody>
      </p:sp>
      <p:graphicFrame>
        <p:nvGraphicFramePr>
          <p:cNvPr id="9" name="Datentabelle"/>
          <p:cNvGraphicFramePr>
            <a:graphicFrameLocks noGrp="1"/>
          </p:cNvGraphicFramePr>
          <p:nvPr/>
        </p:nvGraphicFramePr>
        <p:xfrm>
          <a:off x="548640" y="1984248"/>
          <a:ext cx="7772399" cy="2204720"/>
        </p:xfrm>
        <a:graphic>
          <a:graphicData uri="http://schemas.openxmlformats.org/drawingml/2006/table">
            <a:tbl>
              <a:tblPr firstRow="1">
                <a:tableStyleId>{5C22544A-7EE6-4342-B048-85BDC9FD1C3A}</a:tableStyleId>
              </a:tblPr>
              <a:tblGrid>
                <a:gridCol w="1290326"/>
                <a:gridCol w="2325397"/>
                <a:gridCol w="4156676"/>
              </a:tblGrid>
              <a:tr h="314960">
                <a:tc>
                  <a:txBody>
                    <a:bodyPr/>
                    <a:lstStyle/>
                    <a:p>
                      <a:r>
                        <a:rPr sz="1472" b="1" i="0" u="none">
                          <a:solidFill>
                            <a:srgbClr val="1C2B3A"/>
                          </a:solidFill>
                          <a:latin typeface="IBM Plex Mono"/>
                        </a:rPr>
                        <a:t>Regel</a:t>
                      </a:r>
                    </a:p>
                  </a:txBody>
                  <a:tcPr marL="54864" marR="54864" marT="18288" marB="18288">
                    <a:solidFill>
                      <a:srgbClr val="EBE2D2"/>
                    </a:solidFill>
                  </a:tcPr>
                </a:tc>
                <a:tc>
                  <a:txBody>
                    <a:bodyPr/>
                    <a:lstStyle/>
                    <a:p>
                      <a:r>
                        <a:rPr sz="1472" b="1" i="0" u="none">
                          <a:solidFill>
                            <a:srgbClr val="1C2B3A"/>
                          </a:solidFill>
                          <a:latin typeface="IBM Plex Mono"/>
                        </a:rPr>
                        <a:t>ER-Modell</a:t>
                      </a:r>
                    </a:p>
                  </a:txBody>
                  <a:tcPr marL="54864" marR="54864" marT="18288" marB="18288">
                    <a:solidFill>
                      <a:srgbClr val="EBE2D2"/>
                    </a:solidFill>
                  </a:tcPr>
                </a:tc>
                <a:tc>
                  <a:txBody>
                    <a:bodyPr/>
                    <a:lstStyle/>
                    <a:p>
                      <a:r>
                        <a:rPr sz="1472" b="1" i="0" u="none">
                          <a:solidFill>
                            <a:srgbClr val="1C2B3A"/>
                          </a:solidFill>
                          <a:latin typeface="IBM Plex Mono"/>
                        </a:rPr>
                        <a:t>Relationenschema</a:t>
                      </a:r>
                    </a:p>
                  </a:txBody>
                  <a:tcPr marL="54864" marR="54864" marT="18288" marB="18288">
                    <a:solidFill>
                      <a:srgbClr val="EBE2D2"/>
                    </a:solidFill>
                  </a:tcPr>
                </a:tc>
              </a:tr>
              <a:tr h="314960">
                <a:tc>
                  <a:txBody>
                    <a:bodyPr/>
                    <a:lstStyle/>
                    <a:p>
                      <a:r>
                        <a:rPr sz="1600" b="0" i="0" u="none">
                          <a:solidFill>
                            <a:srgbClr val="1C2B3A"/>
                          </a:solidFill>
                          <a:latin typeface="Barlow"/>
                        </a:rPr>
                        <a:t>R1 Entitätstyp</a:t>
                      </a:r>
                    </a:p>
                  </a:txBody>
                  <a:tcPr marL="54864" marR="54864" marT="18288" marB="18288">
                    <a:solidFill>
                      <a:srgbClr val="FFFDF8"/>
                    </a:solidFill>
                  </a:tcPr>
                </a:tc>
                <a:tc>
                  <a:txBody>
                    <a:bodyPr/>
                    <a:lstStyle/>
                    <a:p>
                      <a:r>
                        <a:rPr sz="1600" b="0" i="0" u="none">
                          <a:solidFill>
                            <a:srgbClr val="1C2B3A"/>
                          </a:solidFill>
                          <a:latin typeface="Barlow"/>
                        </a:rPr>
                        <a:t>Tier mit Schlüssel TierNr</a:t>
                      </a:r>
                    </a:p>
                  </a:txBody>
                  <a:tcPr marL="54864" marR="54864" marT="18288" marB="18288">
                    <a:solidFill>
                      <a:srgbClr val="FFFDF8"/>
                    </a:solidFill>
                  </a:tcPr>
                </a:tc>
                <a:tc>
                  <a:txBody>
                    <a:bodyPr/>
                    <a:lstStyle/>
                    <a:p>
                      <a:r>
                        <a:rPr sz="1600" b="0" i="0" u="none">
                          <a:solidFill>
                            <a:srgbClr val="1C2B3A"/>
                          </a:solidFill>
                          <a:latin typeface="Barlow"/>
                        </a:rPr>
                        <a:t>Tier(TierNr, …) – Schlüssel wird PK</a:t>
                      </a:r>
                    </a:p>
                  </a:txBody>
                  <a:tcPr marL="54864" marR="54864" marT="18288" marB="18288">
                    <a:solidFill>
                      <a:srgbClr val="FFFDF8"/>
                    </a:solidFill>
                  </a:tcPr>
                </a:tc>
              </a:tr>
              <a:tr h="314960">
                <a:tc>
                  <a:txBody>
                    <a:bodyPr/>
                    <a:lstStyle/>
                    <a:p>
                      <a:r>
                        <a:rPr sz="1600" b="0" i="0" u="none">
                          <a:solidFill>
                            <a:srgbClr val="1C2B3A"/>
                          </a:solidFill>
                          <a:latin typeface="Barlow"/>
                        </a:rPr>
                        <a:t>R2 1:n</a:t>
                      </a:r>
                    </a:p>
                  </a:txBody>
                  <a:tcPr marL="54864" marR="54864" marT="18288" marB="18288">
                    <a:solidFill>
                      <a:srgbClr val="FFFDF8"/>
                    </a:solidFill>
                  </a:tcPr>
                </a:tc>
                <a:tc>
                  <a:txBody>
                    <a:bodyPr/>
                    <a:lstStyle/>
                    <a:p>
                      <a:r>
                        <a:rPr sz="1600" b="0" i="0" u="none">
                          <a:solidFill>
                            <a:srgbClr val="1C2B3A"/>
                          </a:solidFill>
                          <a:latin typeface="Barlow"/>
                        </a:rPr>
                        <a:t>Gehege 1 — lebtIn — n Tier</a:t>
                      </a:r>
                    </a:p>
                  </a:txBody>
                  <a:tcPr marL="54864" marR="54864" marT="18288" marB="18288">
                    <a:solidFill>
                      <a:srgbClr val="FFFDF8"/>
                    </a:solidFill>
                  </a:tcPr>
                </a:tc>
                <a:tc>
                  <a:txBody>
                    <a:bodyPr/>
                    <a:lstStyle/>
                    <a:p>
                      <a:r>
                        <a:rPr sz="1600" b="0" i="0" u="none">
                          <a:solidFill>
                            <a:srgbClr val="1C2B3A"/>
                          </a:solidFill>
                          <a:latin typeface="Barlow"/>
                        </a:rPr>
                        <a:t>FK auf der n-Seite: Tier(…, </a:t>
                      </a:r>
                      <a:r>
                        <a:rPr sz="1600" b="0" i="0" u="none">
                          <a:solidFill>
                            <a:srgbClr val="B3261E"/>
                          </a:solidFill>
                          <a:latin typeface="IBM Plex Mono"/>
                        </a:rPr>
                        <a:t>↑</a:t>
                      </a:r>
                      <a:r>
                        <a:rPr sz="1600" b="0" i="0" u="none">
                          <a:solidFill>
                            <a:srgbClr val="1C2B3A"/>
                          </a:solidFill>
                          <a:latin typeface="Barlow"/>
                        </a:rPr>
                        <a:t>GehegeNr)</a:t>
                      </a:r>
                    </a:p>
                  </a:txBody>
                  <a:tcPr marL="54864" marR="54864" marT="18288" marB="18288">
                    <a:solidFill>
                      <a:srgbClr val="FFFDF8"/>
                    </a:solidFill>
                  </a:tcPr>
                </a:tc>
              </a:tr>
              <a:tr h="314960">
                <a:tc>
                  <a:txBody>
                    <a:bodyPr/>
                    <a:lstStyle/>
                    <a:p>
                      <a:r>
                        <a:rPr sz="1600" b="0" i="0" u="none">
                          <a:solidFill>
                            <a:srgbClr val="1C2B3A"/>
                          </a:solidFill>
                          <a:latin typeface="Barlow"/>
                        </a:rPr>
                        <a:t>R3 n:m</a:t>
                      </a:r>
                    </a:p>
                  </a:txBody>
                  <a:tcPr marL="54864" marR="54864" marT="18288" marB="18288">
                    <a:solidFill>
                      <a:srgbClr val="FFFDF8"/>
                    </a:solidFill>
                  </a:tcPr>
                </a:tc>
                <a:tc>
                  <a:txBody>
                    <a:bodyPr/>
                    <a:lstStyle/>
                    <a:p>
                      <a:r>
                        <a:rPr sz="1600" b="0" i="0" u="none">
                          <a:solidFill>
                            <a:srgbClr val="1C2B3A"/>
                          </a:solidFill>
                          <a:latin typeface="Barlow"/>
                        </a:rPr>
                        <a:t>Helfer n — betreut — m Tier</a:t>
                      </a:r>
                    </a:p>
                  </a:txBody>
                  <a:tcPr marL="54864" marR="54864" marT="18288" marB="18288">
                    <a:solidFill>
                      <a:srgbClr val="FFFDF8"/>
                    </a:solidFill>
                  </a:tcPr>
                </a:tc>
                <a:tc>
                  <a:txBody>
                    <a:bodyPr/>
                    <a:lstStyle/>
                    <a:p>
                      <a:r>
                        <a:rPr sz="1600" b="0" i="0" u="none">
                          <a:solidFill>
                            <a:srgbClr val="1C2B3A"/>
                          </a:solidFill>
                          <a:latin typeface="Barlow"/>
                        </a:rPr>
                        <a:t>eigene Relation: betreut(</a:t>
                      </a:r>
                      <a:r>
                        <a:rPr sz="1600" b="0" i="0" u="none">
                          <a:solidFill>
                            <a:srgbClr val="B3261E"/>
                          </a:solidFill>
                          <a:latin typeface="IBM Plex Mono"/>
                        </a:rPr>
                        <a:t>↑</a:t>
                      </a:r>
                      <a:r>
                        <a:rPr sz="1600" b="0" i="0" u="none">
                          <a:solidFill>
                            <a:srgbClr val="1C2B3A"/>
                          </a:solidFill>
                          <a:latin typeface="Barlow"/>
                        </a:rPr>
                        <a:t>HelferNr, </a:t>
                      </a:r>
                      <a:r>
                        <a:rPr sz="1600" b="0" i="0" u="none">
                          <a:solidFill>
                            <a:srgbClr val="B3261E"/>
                          </a:solidFill>
                          <a:latin typeface="IBM Plex Mono"/>
                        </a:rPr>
                        <a:t>↑</a:t>
                      </a:r>
                      <a:r>
                        <a:rPr sz="1600" b="0" i="0" u="none">
                          <a:solidFill>
                            <a:srgbClr val="1C2B3A"/>
                          </a:solidFill>
                          <a:latin typeface="Barlow"/>
                        </a:rPr>
                        <a:t>TierNr, Seit)</a:t>
                      </a:r>
                    </a:p>
                  </a:txBody>
                  <a:tcPr marL="54864" marR="54864" marT="18288" marB="18288">
                    <a:solidFill>
                      <a:srgbClr val="FFFDF8"/>
                    </a:solidFill>
                  </a:tcPr>
                </a:tc>
              </a:tr>
              <a:tr h="314960">
                <a:tc>
                  <a:txBody>
                    <a:bodyPr/>
                    <a:lstStyle/>
                    <a:p>
                      <a:r>
                        <a:rPr sz="1600" b="0" i="0" u="none">
                          <a:solidFill>
                            <a:srgbClr val="1C2B3A"/>
                          </a:solidFill>
                          <a:latin typeface="Barlow"/>
                        </a:rPr>
                        <a:t>R4 1:1</a:t>
                      </a:r>
                    </a:p>
                  </a:txBody>
                  <a:tcPr marL="54864" marR="54864" marT="18288" marB="18288">
                    <a:solidFill>
                      <a:srgbClr val="FFFDF8"/>
                    </a:solidFill>
                  </a:tcPr>
                </a:tc>
                <a:tc>
                  <a:txBody>
                    <a:bodyPr/>
                    <a:lstStyle/>
                    <a:p>
                      <a:r>
                        <a:rPr sz="1600" b="0" i="0" u="none">
                          <a:solidFill>
                            <a:srgbClr val="1C2B3A"/>
                          </a:solidFill>
                          <a:latin typeface="Barlow"/>
                        </a:rPr>
                        <a:t>Tier 1 — traegt — 1 Chip</a:t>
                      </a:r>
                    </a:p>
                  </a:txBody>
                  <a:tcPr marL="54864" marR="54864" marT="18288" marB="18288">
                    <a:solidFill>
                      <a:srgbClr val="FFFDF8"/>
                    </a:solidFill>
                  </a:tcPr>
                </a:tc>
                <a:tc>
                  <a:txBody>
                    <a:bodyPr/>
                    <a:lstStyle/>
                    <a:p>
                      <a:r>
                        <a:rPr sz="1600" b="0" i="0" u="none">
                          <a:solidFill>
                            <a:srgbClr val="1C2B3A"/>
                          </a:solidFill>
                          <a:latin typeface="Barlow"/>
                        </a:rPr>
                        <a:t>FK auf einer Seite: Chip(…, </a:t>
                      </a:r>
                      <a:r>
                        <a:rPr sz="1600" b="0" i="0" u="none">
                          <a:solidFill>
                            <a:srgbClr val="B3261E"/>
                          </a:solidFill>
                          <a:latin typeface="IBM Plex Mono"/>
                        </a:rPr>
                        <a:t>↑</a:t>
                      </a:r>
                      <a:r>
                        <a:rPr sz="1600" b="0" i="0" u="none">
                          <a:solidFill>
                            <a:srgbClr val="1C2B3A"/>
                          </a:solidFill>
                          <a:latin typeface="Barlow"/>
                        </a:rPr>
                        <a:t>TierNr)</a:t>
                      </a:r>
                    </a:p>
                  </a:txBody>
                  <a:tcPr marL="54864" marR="54864" marT="18288" marB="18288">
                    <a:solidFill>
                      <a:srgbClr val="FFFDF8"/>
                    </a:solidFill>
                  </a:tcPr>
                </a:tc>
              </a:tr>
              <a:tr h="314960">
                <a:tc>
                  <a:txBody>
                    <a:bodyPr/>
                    <a:lstStyle/>
                    <a:p>
                      <a:r>
                        <a:rPr sz="1600" b="0" i="0" u="none">
                          <a:solidFill>
                            <a:srgbClr val="1C2B3A"/>
                          </a:solidFill>
                          <a:latin typeface="Barlow"/>
                        </a:rPr>
                        <a:t>R5 rekursiv</a:t>
                      </a:r>
                    </a:p>
                  </a:txBody>
                  <a:tcPr marL="54864" marR="54864" marT="18288" marB="18288">
                    <a:solidFill>
                      <a:srgbClr val="FFFDF8"/>
                    </a:solidFill>
                  </a:tcPr>
                </a:tc>
                <a:tc>
                  <a:txBody>
                    <a:bodyPr/>
                    <a:lstStyle/>
                    <a:p>
                      <a:r>
                        <a:rPr sz="1600" b="0" i="0" u="none">
                          <a:solidFill>
                            <a:srgbClr val="1C2B3A"/>
                          </a:solidFill>
                          <a:latin typeface="Barlow"/>
                        </a:rPr>
                        <a:t>Tier stammtAb Tier (1:n)</a:t>
                      </a:r>
                    </a:p>
                  </a:txBody>
                  <a:tcPr marL="54864" marR="54864" marT="18288" marB="18288">
                    <a:solidFill>
                      <a:srgbClr val="FFFDF8"/>
                    </a:solidFill>
                  </a:tcPr>
                </a:tc>
                <a:tc>
                  <a:txBody>
                    <a:bodyPr/>
                    <a:lstStyle/>
                    <a:p>
                      <a:r>
                        <a:rPr sz="1600" b="0" i="0" u="none">
                          <a:solidFill>
                            <a:srgbClr val="1C2B3A"/>
                          </a:solidFill>
                          <a:latin typeface="Barlow"/>
                        </a:rPr>
                        <a:t>FK auf die eigene Relation: Tier(…, </a:t>
                      </a:r>
                      <a:r>
                        <a:rPr sz="1600" b="0" i="0" u="none">
                          <a:solidFill>
                            <a:srgbClr val="B3261E"/>
                          </a:solidFill>
                          <a:latin typeface="IBM Plex Mono"/>
                        </a:rPr>
                        <a:t>↑</a:t>
                      </a:r>
                      <a:r>
                        <a:rPr sz="1600" b="0" i="0" u="none">
                          <a:solidFill>
                            <a:srgbClr val="1C2B3A"/>
                          </a:solidFill>
                          <a:latin typeface="Barlow"/>
                        </a:rPr>
                        <a:t>MutterNr)</a:t>
                      </a:r>
                    </a:p>
                  </a:txBody>
                  <a:tcPr marL="54864" marR="54864" marT="18288" marB="18288">
                    <a:solidFill>
                      <a:srgbClr val="FFFDF8"/>
                    </a:solidFill>
                  </a:tcPr>
                </a:tc>
              </a:tr>
              <a:tr h="314960">
                <a:tc>
                  <a:txBody>
                    <a:bodyPr/>
                    <a:lstStyle/>
                    <a:p>
                      <a:r>
                        <a:rPr sz="1600" b="0" i="0" u="none">
                          <a:solidFill>
                            <a:srgbClr val="1C2B3A"/>
                          </a:solidFill>
                          <a:latin typeface="Barlow"/>
                        </a:rPr>
                        <a:t>R6 ternär</a:t>
                      </a:r>
                    </a:p>
                  </a:txBody>
                  <a:tcPr marL="54864" marR="54864" marT="18288" marB="18288">
                    <a:solidFill>
                      <a:srgbClr val="FFFDF8"/>
                    </a:solidFill>
                  </a:tcPr>
                </a:tc>
                <a:tc>
                  <a:txBody>
                    <a:bodyPr/>
                    <a:lstStyle/>
                    <a:p>
                      <a:r>
                        <a:rPr sz="1600" b="0" i="0" u="none">
                          <a:solidFill>
                            <a:srgbClr val="1C2B3A"/>
                          </a:solidFill>
                          <a:latin typeface="Barlow"/>
                        </a:rPr>
                        <a:t>Interessent, Tier, Helfer</a:t>
                      </a:r>
                    </a:p>
                  </a:txBody>
                  <a:tcPr marL="54864" marR="54864" marT="18288" marB="18288">
                    <a:solidFill>
                      <a:srgbClr val="FFFDF8"/>
                    </a:solidFill>
                  </a:tcPr>
                </a:tc>
                <a:tc>
                  <a:txBody>
                    <a:bodyPr/>
                    <a:lstStyle/>
                    <a:p>
                      <a:r>
                        <a:rPr sz="1600" b="0" i="0" u="none">
                          <a:solidFill>
                            <a:srgbClr val="1C2B3A"/>
                          </a:solidFill>
                          <a:latin typeface="Barlow"/>
                        </a:rPr>
                        <a:t>eigene Relation mit drei FKs (+ Datum)</a:t>
                      </a:r>
                    </a:p>
                  </a:txBody>
                  <a:tcPr marL="54864" marR="54864" marT="18288" marB="18288">
                    <a:solidFill>
                      <a:srgbClr val="FFFD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pic>
        <p:nvPicPr>
          <p:cNvPr id="8" name="Bild er_pause" descr="er_pause.png"/>
          <p:cNvPicPr>
            <a:picLocks noChangeAspect="1"/>
          </p:cNvPicPr>
          <p:nvPr/>
        </p:nvPicPr>
        <p:blipFill>
          <a:blip r:embed="rId3"/>
          <a:stretch>
            <a:fillRect/>
          </a:stretch>
        </p:blipFill>
        <p:spPr>
          <a:xfrm>
            <a:off x="548640" y="1691640"/>
            <a:ext cx="11094415" cy="2210651"/>
          </a:xfrm>
          <a:prstGeom prst="rect">
            <a:avLst/>
          </a:prstGeom>
          <a:ln w="9525">
            <a:solidFill>
              <a:srgbClr val="BDB6A9"/>
            </a:solidFill>
          </a:ln>
        </p:spPr>
      </p:pic>
      <p:sp>
        <p:nvSpPr>
          <p:cNvPr id="9" name="Pause"/>
          <p:cNvSpPr/>
          <p:nvPr/>
        </p:nvSpPr>
        <p:spPr>
          <a:xfrm>
            <a:off x="548640" y="4039451"/>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4039451"/>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1" name="TextBox 10"/>
          <p:cNvSpPr txBox="1"/>
          <p:nvPr/>
        </p:nvSpPr>
        <p:spPr>
          <a:xfrm>
            <a:off x="548640" y="4606379"/>
            <a:ext cx="7772400" cy="987552"/>
          </a:xfrm>
          <a:prstGeom prst="rect">
            <a:avLst/>
          </a:prstGeom>
          <a:noFill/>
        </p:spPr>
        <p:txBody>
          <a:bodyPr wrap="square" lIns="27432" rIns="27432" tIns="27432" bIns="27432">
            <a:spAutoFit/>
          </a:bodyPr>
          <a:lstStyle/>
          <a:p>
            <a:pPr>
              <a:lnSpc>
                <a:spcPct val="105000"/>
              </a:lnSpc>
              <a:spcAft>
                <a:spcPts val="400"/>
              </a:spcAft>
            </a:pPr>
            <a:r>
              <a:rPr sz="2000" b="1" i="0" u="none">
                <a:solidFill>
                  <a:srgbClr val="E8E1D3"/>
                </a:solidFill>
                <a:latin typeface="Barlow"/>
              </a:rPr>
              <a:t>Erstelle</a:t>
            </a:r>
            <a:r>
              <a:rPr sz="2000" b="0" i="0" u="none">
                <a:solidFill>
                  <a:srgbClr val="E8E1D3"/>
                </a:solidFill>
                <a:latin typeface="Barlow"/>
              </a:rPr>
              <a:t> zu dem ER-Modell aus Video 5 das Relationenschema in Kurzschreibweise – mit Primärschlüsseln (unterstrichen) und Fremdschlüsseln (</a:t>
            </a:r>
            <a:r>
              <a:rPr sz="2000" b="0" i="0" u="none">
                <a:solidFill>
                  <a:srgbClr val="E0574F"/>
                </a:solidFill>
                <a:latin typeface="IBM Plex Mono"/>
              </a:rPr>
              <a:t>↑</a:t>
            </a:r>
            <a:r>
              <a:rPr sz="2000" b="0" i="0" u="none">
                <a:solidFill>
                  <a:srgbClr val="E8E1D3"/>
                </a:solidFill>
                <a:latin typeface="Barlow"/>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pic>
        <p:nvPicPr>
          <p:cNvPr id="8" name="Bild werkbank_loesung" descr="werkbank_loesung.png"/>
          <p:cNvPicPr>
            <a:picLocks noChangeAspect="1"/>
          </p:cNvPicPr>
          <p:nvPr/>
        </p:nvPicPr>
        <p:blipFill>
          <a:blip r:embed="rId3"/>
          <a:stretch>
            <a:fillRect/>
          </a:stretch>
        </p:blipFill>
        <p:spPr>
          <a:xfrm>
            <a:off x="3141632" y="1691640"/>
            <a:ext cx="5908430" cy="1920240"/>
          </a:xfrm>
          <a:prstGeom prst="rect">
            <a:avLst/>
          </a:prstGeom>
          <a:ln w="9525">
            <a:solidFill>
              <a:srgbClr val="BDB6A9"/>
            </a:solidFill>
          </a:ln>
        </p:spPr>
      </p:pic>
      <p:sp>
        <p:nvSpPr>
          <p:cNvPr id="9" name="Rounded Rectangle 8"/>
          <p:cNvSpPr/>
          <p:nvPr/>
        </p:nvSpPr>
        <p:spPr>
          <a:xfrm>
            <a:off x="548640" y="3749039"/>
            <a:ext cx="7772400" cy="199302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58768"/>
            <a:ext cx="7406640" cy="1810146"/>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RELATIONENSCHEMA</a:t>
            </a:r>
          </a:p>
          <a:p>
            <a:pPr>
              <a:lnSpc>
                <a:spcPct val="105000"/>
              </a:lnSpc>
              <a:spcAft>
                <a:spcPts val="500"/>
              </a:spcAft>
            </a:pPr>
            <a:r>
              <a:rPr sz="1748" b="0" i="0" u="none">
                <a:solidFill>
                  <a:srgbClr val="1C2B3A"/>
                </a:solidFill>
                <a:latin typeface="IBM Plex Mono"/>
              </a:rPr>
              <a:t>Lieferant(</a:t>
            </a:r>
            <a:r>
              <a:rPr sz="1748" b="0" i="0" u="sng">
                <a:solidFill>
                  <a:srgbClr val="1C2B3A"/>
                </a:solidFill>
                <a:latin typeface="IBM Plex Mono"/>
              </a:rPr>
              <a:t>LieferantNr</a:t>
            </a:r>
            <a:r>
              <a:rPr sz="1748" b="0" i="0" u="none">
                <a:solidFill>
                  <a:srgbClr val="1C2B3A"/>
                </a:solidFill>
                <a:latin typeface="IBM Plex Mono"/>
              </a:rPr>
              <a:t>, Firma)</a:t>
            </a:r>
          </a:p>
          <a:p>
            <a:pPr>
              <a:lnSpc>
                <a:spcPct val="105000"/>
              </a:lnSpc>
              <a:spcAft>
                <a:spcPts val="500"/>
              </a:spcAft>
            </a:pPr>
            <a:r>
              <a:rPr sz="1748" b="0" i="0" u="none">
                <a:solidFill>
                  <a:srgbClr val="1C2B3A"/>
                </a:solidFill>
                <a:latin typeface="IBM Plex Mono"/>
              </a:rPr>
              <a:t>Futtersorte(</a:t>
            </a:r>
            <a:r>
              <a:rPr sz="1748" b="0" i="0" u="sng">
                <a:solidFill>
                  <a:srgbClr val="1C2B3A"/>
                </a:solidFill>
                <a:latin typeface="IBM Plex Mono"/>
              </a:rPr>
              <a:t>SorteNr</a:t>
            </a:r>
            <a:r>
              <a:rPr sz="1748" b="0" i="0" u="none">
                <a:solidFill>
                  <a:srgbClr val="1C2B3A"/>
                </a:solidFill>
                <a:latin typeface="IBM Plex Mono"/>
              </a:rPr>
              <a:t>, Bezeichnung, </a:t>
            </a:r>
            <a:r>
              <a:rPr sz="1748" b="0" i="0" u="none">
                <a:solidFill>
                  <a:srgbClr val="B3261E"/>
                </a:solidFill>
                <a:latin typeface="IBM Plex Mono"/>
              </a:rPr>
              <a:t>↑</a:t>
            </a:r>
            <a:r>
              <a:rPr sz="1748" b="0" i="0" u="none">
                <a:solidFill>
                  <a:srgbClr val="1C2B3A"/>
                </a:solidFill>
                <a:latin typeface="IBM Plex Mono"/>
              </a:rPr>
              <a:t>LieferantNr)</a:t>
            </a:r>
          </a:p>
          <a:p>
            <a:pPr>
              <a:lnSpc>
                <a:spcPct val="105000"/>
              </a:lnSpc>
              <a:spcAft>
                <a:spcPts val="500"/>
              </a:spcAft>
            </a:pPr>
            <a:r>
              <a:rPr sz="1748" b="0" i="0" u="none">
                <a:solidFill>
                  <a:srgbClr val="1C2B3A"/>
                </a:solidFill>
                <a:latin typeface="IBM Plex Mono"/>
              </a:rPr>
              <a:t>Tier(</a:t>
            </a:r>
            <a:r>
              <a:rPr sz="1748" b="0" i="0" u="sng">
                <a:solidFill>
                  <a:srgbClr val="1C2B3A"/>
                </a:solidFill>
                <a:latin typeface="IBM Plex Mono"/>
              </a:rPr>
              <a:t>TierNr</a:t>
            </a:r>
            <a:r>
              <a:rPr sz="1748" b="0" i="0" u="none">
                <a:solidFill>
                  <a:srgbClr val="1C2B3A"/>
                </a:solidFill>
                <a:latin typeface="IBM Plex Mono"/>
              </a:rPr>
              <a:t>, Name)</a:t>
            </a:r>
          </a:p>
          <a:p>
            <a:pPr>
              <a:lnSpc>
                <a:spcPct val="105000"/>
              </a:lnSpc>
              <a:spcAft>
                <a:spcPts val="500"/>
              </a:spcAft>
            </a:pPr>
            <a:r>
              <a:rPr sz="1748" b="0" i="0" u="none">
                <a:solidFill>
                  <a:srgbClr val="1C2B3A"/>
                </a:solidFill>
                <a:latin typeface="IBM Plex Mono"/>
              </a:rPr>
              <a:t>frisst(</a:t>
            </a:r>
            <a:r>
              <a:rPr sz="1748" b="0" i="0" u="sng">
                <a:solidFill>
                  <a:srgbClr val="B3261E"/>
                </a:solidFill>
                <a:latin typeface="IBM Plex Mono"/>
              </a:rPr>
              <a:t>↑</a:t>
            </a:r>
            <a:r>
              <a:rPr sz="1748" b="0" i="0" u="sng">
                <a:solidFill>
                  <a:srgbClr val="1C2B3A"/>
                </a:solidFill>
                <a:latin typeface="IBM Plex Mono"/>
              </a:rPr>
              <a:t>TierNr, </a:t>
            </a:r>
            <a:r>
              <a:rPr sz="1748" b="0" i="0" u="sng">
                <a:solidFill>
                  <a:srgbClr val="B3261E"/>
                </a:solidFill>
                <a:latin typeface="IBM Plex Mono"/>
              </a:rPr>
              <a:t>↑</a:t>
            </a:r>
            <a:r>
              <a:rPr sz="1748" b="0" i="0" u="sng">
                <a:solidFill>
                  <a:srgbClr val="1C2B3A"/>
                </a:solidFill>
                <a:latin typeface="IBM Plex Mono"/>
              </a:rPr>
              <a:t>SorteNr</a:t>
            </a:r>
            <a:r>
              <a:rPr sz="1748" b="0" i="0" u="none">
                <a:solidFill>
                  <a:srgbClr val="1C2B3A"/>
                </a:solidFill>
                <a:latin typeface="IBM Plex Mono"/>
              </a:rPr>
              <a:t>, Tagesmenge)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Rückrichtung: vom Schema zum ER-Modell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548640" y="1691640"/>
            <a:ext cx="777240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728216"/>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1</a:t>
            </a:r>
          </a:p>
        </p:txBody>
      </p:sp>
      <p:sp>
        <p:nvSpPr>
          <p:cNvPr id="11" name="TextBox 10"/>
          <p:cNvSpPr txBox="1"/>
          <p:nvPr/>
        </p:nvSpPr>
        <p:spPr>
          <a:xfrm>
            <a:off x="1097280" y="1746504"/>
            <a:ext cx="7132320" cy="457200"/>
          </a:xfrm>
          <a:prstGeom prst="rect">
            <a:avLst/>
          </a:prstGeom>
          <a:noFill/>
        </p:spPr>
        <p:txBody>
          <a:bodyPr wrap="square" lIns="27432" rIns="27432" tIns="27432" bIns="27432" anchor="ctr">
            <a:spAutoFit/>
          </a:bodyPr>
          <a:lstStyle/>
          <a:p>
            <a:pPr>
              <a:lnSpc>
                <a:spcPct val="105000"/>
              </a:lnSpc>
              <a:spcAft>
                <a:spcPts val="400"/>
              </a:spcAft>
            </a:pPr>
            <a:r>
              <a:rPr sz="1600" b="0" i="0" u="none">
                <a:solidFill>
                  <a:srgbClr val="1C2B3A"/>
                </a:solidFill>
                <a:latin typeface="Barlow"/>
              </a:rPr>
              <a:t>Relation mit </a:t>
            </a:r>
            <a:r>
              <a:rPr sz="1600" b="1" i="0" u="none">
                <a:solidFill>
                  <a:srgbClr val="1C2B3A"/>
                </a:solidFill>
                <a:latin typeface="Barlow"/>
              </a:rPr>
              <a:t>eigenem</a:t>
            </a:r>
            <a:r>
              <a:rPr sz="1600" b="0" i="0" u="none">
                <a:solidFill>
                  <a:srgbClr val="1C2B3A"/>
                </a:solidFill>
                <a:latin typeface="Barlow"/>
              </a:rPr>
              <a:t> Schlüssel → Entitätstyp</a:t>
            </a:r>
          </a:p>
        </p:txBody>
      </p:sp>
      <p:sp>
        <p:nvSpPr>
          <p:cNvPr id="12" name="Rounded Rectangle 11"/>
          <p:cNvSpPr/>
          <p:nvPr/>
        </p:nvSpPr>
        <p:spPr>
          <a:xfrm>
            <a:off x="548640" y="2350008"/>
            <a:ext cx="7772400" cy="70713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350008"/>
            <a:ext cx="64008" cy="707136"/>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386584"/>
            <a:ext cx="457200" cy="633984"/>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2</a:t>
            </a:r>
          </a:p>
        </p:txBody>
      </p:sp>
      <p:sp>
        <p:nvSpPr>
          <p:cNvPr id="15" name="TextBox 14"/>
          <p:cNvSpPr txBox="1"/>
          <p:nvPr/>
        </p:nvSpPr>
        <p:spPr>
          <a:xfrm>
            <a:off x="1097280" y="2404872"/>
            <a:ext cx="7132320" cy="615696"/>
          </a:xfrm>
          <a:prstGeom prst="rect">
            <a:avLst/>
          </a:prstGeom>
          <a:noFill/>
        </p:spPr>
        <p:txBody>
          <a:bodyPr wrap="square" lIns="27432" rIns="27432" tIns="27432" bIns="27432" anchor="ctr">
            <a:spAutoFit/>
          </a:bodyPr>
          <a:lstStyle/>
          <a:p>
            <a:pPr>
              <a:lnSpc>
                <a:spcPct val="105000"/>
              </a:lnSpc>
              <a:spcAft>
                <a:spcPts val="400"/>
              </a:spcAft>
            </a:pPr>
            <a:r>
              <a:rPr sz="1600" b="0" i="0" u="none">
                <a:solidFill>
                  <a:srgbClr val="1C2B3A"/>
                </a:solidFill>
                <a:latin typeface="Barlow"/>
              </a:rPr>
              <a:t>Fremdschlüssel in einer Entitäts-Relation → </a:t>
            </a:r>
            <a:r>
              <a:rPr sz="1600" b="1" i="0" u="none">
                <a:solidFill>
                  <a:srgbClr val="1C2B3A"/>
                </a:solidFill>
                <a:latin typeface="Barlow"/>
              </a:rPr>
              <a:t>1:n</a:t>
            </a:r>
            <a:r>
              <a:rPr sz="1600" b="0" i="0" u="none">
                <a:solidFill>
                  <a:srgbClr val="1C2B3A"/>
                </a:solidFill>
                <a:latin typeface="Barlow"/>
              </a:rPr>
              <a:t> (n auf der Seite des Fremdschlüssels)</a:t>
            </a:r>
          </a:p>
        </p:txBody>
      </p:sp>
      <p:sp>
        <p:nvSpPr>
          <p:cNvPr id="16" name="Rounded Rectangle 15"/>
          <p:cNvSpPr/>
          <p:nvPr/>
        </p:nvSpPr>
        <p:spPr>
          <a:xfrm>
            <a:off x="548640" y="3166872"/>
            <a:ext cx="777240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3166872"/>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203448"/>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3</a:t>
            </a:r>
          </a:p>
        </p:txBody>
      </p:sp>
      <p:sp>
        <p:nvSpPr>
          <p:cNvPr id="19" name="TextBox 18"/>
          <p:cNvSpPr txBox="1"/>
          <p:nvPr/>
        </p:nvSpPr>
        <p:spPr>
          <a:xfrm>
            <a:off x="1097280" y="3221736"/>
            <a:ext cx="7132320" cy="457200"/>
          </a:xfrm>
          <a:prstGeom prst="rect">
            <a:avLst/>
          </a:prstGeom>
          <a:noFill/>
        </p:spPr>
        <p:txBody>
          <a:bodyPr wrap="square" lIns="27432" rIns="27432" tIns="27432" bIns="27432" anchor="ctr">
            <a:spAutoFit/>
          </a:bodyPr>
          <a:lstStyle/>
          <a:p>
            <a:pPr>
              <a:lnSpc>
                <a:spcPct val="105000"/>
              </a:lnSpc>
              <a:spcAft>
                <a:spcPts val="400"/>
              </a:spcAft>
            </a:pPr>
            <a:r>
              <a:rPr sz="1600" b="0" i="0" u="none">
                <a:solidFill>
                  <a:srgbClr val="1C2B3A"/>
                </a:solidFill>
                <a:latin typeface="Barlow"/>
              </a:rPr>
              <a:t>Schlüssel aus </a:t>
            </a:r>
            <a:r>
              <a:rPr sz="1600" b="1" i="0" u="none">
                <a:solidFill>
                  <a:srgbClr val="1C2B3A"/>
                </a:solidFill>
                <a:latin typeface="Barlow"/>
              </a:rPr>
              <a:t>zwei</a:t>
            </a:r>
            <a:r>
              <a:rPr sz="1600" b="0" i="0" u="none">
                <a:solidFill>
                  <a:srgbClr val="1C2B3A"/>
                </a:solidFill>
                <a:latin typeface="Barlow"/>
              </a:rPr>
              <a:t> Fremdschlüsseln → </a:t>
            </a:r>
            <a:r>
              <a:rPr sz="1600" b="1" i="0" u="none">
                <a:solidFill>
                  <a:srgbClr val="1C2B3A"/>
                </a:solidFill>
                <a:latin typeface="Barlow"/>
              </a:rPr>
              <a:t>n:m</a:t>
            </a:r>
            <a:r>
              <a:rPr sz="1600" b="0" i="0" u="none">
                <a:solidFill>
                  <a:srgbClr val="1C2B3A"/>
                </a:solidFill>
                <a:latin typeface="Barlow"/>
              </a:rPr>
              <a:t>, aus drei → ternär</a:t>
            </a:r>
          </a:p>
        </p:txBody>
      </p:sp>
      <p:sp>
        <p:nvSpPr>
          <p:cNvPr id="20" name="Rounded Rectangle 19"/>
          <p:cNvSpPr/>
          <p:nvPr/>
        </p:nvSpPr>
        <p:spPr>
          <a:xfrm>
            <a:off x="548640" y="3825240"/>
            <a:ext cx="777240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3825240"/>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861816"/>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4</a:t>
            </a:r>
          </a:p>
        </p:txBody>
      </p:sp>
      <p:sp>
        <p:nvSpPr>
          <p:cNvPr id="23" name="TextBox 22"/>
          <p:cNvSpPr txBox="1"/>
          <p:nvPr/>
        </p:nvSpPr>
        <p:spPr>
          <a:xfrm>
            <a:off x="1097280" y="3880104"/>
            <a:ext cx="7132320" cy="457200"/>
          </a:xfrm>
          <a:prstGeom prst="rect">
            <a:avLst/>
          </a:prstGeom>
          <a:noFill/>
        </p:spPr>
        <p:txBody>
          <a:bodyPr wrap="square" lIns="27432" rIns="27432" tIns="27432" bIns="27432" anchor="ctr">
            <a:spAutoFit/>
          </a:bodyPr>
          <a:lstStyle/>
          <a:p>
            <a:pPr>
              <a:lnSpc>
                <a:spcPct val="105000"/>
              </a:lnSpc>
              <a:spcAft>
                <a:spcPts val="400"/>
              </a:spcAft>
            </a:pPr>
            <a:r>
              <a:rPr sz="1600" b="0" i="0" u="none">
                <a:solidFill>
                  <a:srgbClr val="1C2B3A"/>
                </a:solidFill>
                <a:latin typeface="Barlow"/>
              </a:rPr>
              <a:t>übrige Attribute dieser Relation → </a:t>
            </a:r>
            <a:r>
              <a:rPr sz="1600" b="1" i="0" u="none">
                <a:solidFill>
                  <a:srgbClr val="1C2B3A"/>
                </a:solidFill>
                <a:latin typeface="Barlow"/>
              </a:rPr>
              <a:t>Beziehungsattribute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Fallen bei der Überführung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9"/>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1" name="TextBox 10"/>
          <p:cNvSpPr txBox="1"/>
          <p:nvPr/>
        </p:nvSpPr>
        <p:spPr>
          <a:xfrm>
            <a:off x="1508760" y="1783080"/>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Fremdschlüssel auf der falschen Seite</a:t>
            </a:r>
          </a:p>
          <a:p>
            <a:pPr>
              <a:lnSpc>
                <a:spcPct val="105000"/>
              </a:lnSpc>
              <a:spcAft>
                <a:spcPts val="400"/>
              </a:spcAft>
            </a:pPr>
            <a:r>
              <a:rPr sz="1600" b="0" i="0" u="none">
                <a:solidFill>
                  <a:srgbClr val="1C2B3A"/>
                </a:solidFill>
                <a:latin typeface="Barlow"/>
              </a:rPr>
              <a:t>Bei 1:n immer auf die n-Seite – sonst bräuchte eine Zelle mehrere Werte.</a:t>
            </a:r>
          </a:p>
        </p:txBody>
      </p:sp>
      <p:sp>
        <p:nvSpPr>
          <p:cNvPr id="12" name="Rounded Rectangle 11"/>
          <p:cNvSpPr/>
          <p:nvPr/>
        </p:nvSpPr>
        <p:spPr>
          <a:xfrm>
            <a:off x="548640" y="274624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9"/>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5" name="TextBox 14"/>
          <p:cNvSpPr txBox="1"/>
          <p:nvPr/>
        </p:nvSpPr>
        <p:spPr>
          <a:xfrm>
            <a:off x="1508760" y="283768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n:m ohne eigene Relation</a:t>
            </a:r>
          </a:p>
          <a:p>
            <a:pPr>
              <a:lnSpc>
                <a:spcPct val="105000"/>
              </a:lnSpc>
              <a:spcAft>
                <a:spcPts val="400"/>
              </a:spcAft>
            </a:pPr>
            <a:r>
              <a:rPr sz="1600" b="0" i="0" u="none">
                <a:solidFill>
                  <a:srgbClr val="1C2B3A"/>
                </a:solidFill>
                <a:latin typeface="Barlow"/>
              </a:rPr>
              <a:t>Ein Fremdschlüssel in einer der beiden Relationen reicht bei n:m nie.</a:t>
            </a:r>
          </a:p>
        </p:txBody>
      </p:sp>
      <p:sp>
        <p:nvSpPr>
          <p:cNvPr id="16" name="Rounded Rectangle 15"/>
          <p:cNvSpPr/>
          <p:nvPr/>
        </p:nvSpPr>
        <p:spPr>
          <a:xfrm>
            <a:off x="548640" y="3800856"/>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9"/>
          <p:cNvSpPr/>
          <p:nvPr/>
        </p:nvSpPr>
        <p:spPr>
          <a:xfrm>
            <a:off x="685800" y="393801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95630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9" name="TextBox 18"/>
          <p:cNvSpPr txBox="1"/>
          <p:nvPr/>
        </p:nvSpPr>
        <p:spPr>
          <a:xfrm>
            <a:off x="1508760" y="3892296"/>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Schlüssel der Beziehungsrelation</a:t>
            </a:r>
          </a:p>
          <a:p>
            <a:pPr>
              <a:lnSpc>
                <a:spcPct val="105000"/>
              </a:lnSpc>
              <a:spcAft>
                <a:spcPts val="400"/>
              </a:spcAft>
            </a:pPr>
            <a:r>
              <a:rPr sz="1600" b="0" i="0" u="none">
                <a:solidFill>
                  <a:srgbClr val="1C2B3A"/>
                </a:solidFill>
                <a:latin typeface="Barlow"/>
              </a:rPr>
              <a:t>Beide (bzw. drei) Fremdschlüssel unterstreichen; bei Mehrfachvorkommen ein Attribut ergänzen.</a:t>
            </a:r>
          </a:p>
        </p:txBody>
      </p:sp>
      <p:sp>
        <p:nvSpPr>
          <p:cNvPr id="20" name="Rounded Rectangle 19"/>
          <p:cNvSpPr/>
          <p:nvPr/>
        </p:nvSpPr>
        <p:spPr>
          <a:xfrm>
            <a:off x="548640" y="4855464"/>
            <a:ext cx="7772400" cy="701040"/>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alle P7"/>
          <p:cNvSpPr/>
          <p:nvPr/>
        </p:nvSpPr>
        <p:spPr>
          <a:xfrm>
            <a:off x="685800" y="4992624"/>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010912"/>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P7</a:t>
            </a:r>
          </a:p>
        </p:txBody>
      </p:sp>
      <p:sp>
        <p:nvSpPr>
          <p:cNvPr id="23" name="TextBox 22"/>
          <p:cNvSpPr txBox="1"/>
          <p:nvPr/>
        </p:nvSpPr>
        <p:spPr>
          <a:xfrm>
            <a:off x="1508760" y="4946904"/>
            <a:ext cx="6675120" cy="56387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Fremdschlüssel unklar benannt</a:t>
            </a:r>
          </a:p>
          <a:p>
            <a:pPr>
              <a:lnSpc>
                <a:spcPct val="105000"/>
              </a:lnSpc>
              <a:spcAft>
                <a:spcPts val="400"/>
              </a:spcAft>
            </a:pPr>
            <a:r>
              <a:rPr sz="1600" b="0" i="0" u="none">
                <a:solidFill>
                  <a:srgbClr val="1C2B3A"/>
                </a:solidFill>
                <a:latin typeface="Barlow"/>
              </a:rPr>
              <a:t>Bei rekursiven Beziehungen nach der Rolle: MutterNr statt TierNr2.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3657599"/>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3657599"/>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3154679"/>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R1: Entitätstyp → Relation, Schlüsselattribut → Primärschlüssel.</a:t>
            </a:r>
          </a:p>
          <a:p>
            <a:pPr>
              <a:lnSpc>
                <a:spcPct val="105000"/>
              </a:lnSpc>
              <a:spcAft>
                <a:spcPts val="300"/>
              </a:spcAft>
            </a:pPr>
            <a:r>
              <a:rPr sz="2100" b="1">
                <a:solidFill>
                  <a:srgbClr val="2C5A85"/>
                </a:solidFill>
                <a:latin typeface="Barlow"/>
              </a:rPr>
              <a:t>▸  </a:t>
            </a:r>
            <a:r>
              <a:rPr sz="2100" b="0" i="0" u="none">
                <a:solidFill>
                  <a:srgbClr val="1C2B3A"/>
                </a:solidFill>
                <a:latin typeface="Barlow"/>
              </a:rPr>
              <a:t>R2: 1:n → Fremdschlüssel auf die n-Seite.</a:t>
            </a:r>
          </a:p>
          <a:p>
            <a:pPr>
              <a:lnSpc>
                <a:spcPct val="105000"/>
              </a:lnSpc>
              <a:spcAft>
                <a:spcPts val="300"/>
              </a:spcAft>
            </a:pPr>
            <a:r>
              <a:rPr sz="2100" b="1">
                <a:solidFill>
                  <a:srgbClr val="2C5A85"/>
                </a:solidFill>
                <a:latin typeface="Barlow"/>
              </a:rPr>
              <a:t>▸  </a:t>
            </a:r>
            <a:r>
              <a:rPr sz="2100" b="0" i="0" u="none">
                <a:solidFill>
                  <a:srgbClr val="1C2B3A"/>
                </a:solidFill>
                <a:latin typeface="Barlow"/>
              </a:rPr>
              <a:t>R3: n:m → eigene Relation, Schlüssel aus beiden Fremdschlüsseln.</a:t>
            </a:r>
          </a:p>
          <a:p>
            <a:pPr>
              <a:lnSpc>
                <a:spcPct val="105000"/>
              </a:lnSpc>
              <a:spcAft>
                <a:spcPts val="300"/>
              </a:spcAft>
            </a:pPr>
            <a:r>
              <a:rPr sz="2100" b="1">
                <a:solidFill>
                  <a:srgbClr val="2C5A85"/>
                </a:solidFill>
                <a:latin typeface="Barlow"/>
              </a:rPr>
              <a:t>▸  </a:t>
            </a:r>
            <a:r>
              <a:rPr sz="2100" b="0" i="0" u="none">
                <a:solidFill>
                  <a:srgbClr val="1C2B3A"/>
                </a:solidFill>
                <a:latin typeface="Barlow"/>
              </a:rPr>
              <a:t>R4: 1:1 → Fremdschlüssel auf eine Seite (begründen).</a:t>
            </a:r>
          </a:p>
          <a:p>
            <a:pPr>
              <a:lnSpc>
                <a:spcPct val="105000"/>
              </a:lnSpc>
              <a:spcAft>
                <a:spcPts val="300"/>
              </a:spcAft>
            </a:pPr>
            <a:r>
              <a:rPr sz="2100" b="1">
                <a:solidFill>
                  <a:srgbClr val="2C5A85"/>
                </a:solidFill>
                <a:latin typeface="Barlow"/>
              </a:rPr>
              <a:t>▸  </a:t>
            </a:r>
            <a:r>
              <a:rPr sz="2100" b="0" i="0" u="none">
                <a:solidFill>
                  <a:srgbClr val="1C2B3A"/>
                </a:solidFill>
                <a:latin typeface="Barlow"/>
              </a:rPr>
              <a:t>R5/R6: rekursiv → FK auf die eigene Relation (Rollenname); ternär → eigene Relation mit drei FKs.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6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7772400" cy="1243584"/>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243584"/>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740663"/>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5.3 „Vom Plan zur Datenbank“</a:t>
            </a:r>
            <a:r>
              <a:rPr sz="1800" b="0" i="0" u="none">
                <a:solidFill>
                  <a:srgbClr val="1C2B3A"/>
                </a:solidFill>
                <a:latin typeface="Barlow"/>
              </a:rPr>
              <a:t> · A5-E3-01 … 08 · Werkzeug: Schema-Werkbank, Verbund einer Tabelle mit sich selbst</a:t>
            </a:r>
          </a:p>
        </p:txBody>
      </p:sp>
      <p:sp>
        <p:nvSpPr>
          <p:cNvPr id="12" name="Rounded Rectangle 11"/>
          <p:cNvSpPr/>
          <p:nvPr/>
        </p:nvSpPr>
        <p:spPr>
          <a:xfrm>
            <a:off x="548640" y="3044952"/>
            <a:ext cx="7772400" cy="1673351"/>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044952"/>
            <a:ext cx="73152" cy="1673351"/>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13639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3502152"/>
            <a:ext cx="7360920" cy="1170431"/>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5.3 „Vom Plan zur Datenbank“</a:t>
            </a:r>
          </a:p>
          <a:p>
            <a:pPr>
              <a:lnSpc>
                <a:spcPct val="105000"/>
              </a:lnSpc>
              <a:spcAft>
                <a:spcPts val="300"/>
              </a:spcAft>
            </a:pPr>
            <a:r>
              <a:rPr sz="1700" b="1">
                <a:solidFill>
                  <a:srgbClr val="58626D"/>
                </a:solidFill>
                <a:latin typeface="Barlow"/>
              </a:rPr>
              <a:t>▸  </a:t>
            </a:r>
            <a:r>
              <a:rPr sz="1700" b="0" i="0" u="none">
                <a:solidFill>
                  <a:srgbClr val="1C2B3A"/>
                </a:solidFill>
                <a:latin typeface="Barlow"/>
              </a:rPr>
              <a:t>Verhör 5 nach Freischaltung durch die Lehrkraft</a:t>
            </a:r>
          </a:p>
          <a:p>
            <a:pPr>
              <a:lnSpc>
                <a:spcPct val="105000"/>
              </a:lnSpc>
              <a:spcAft>
                <a:spcPts val="300"/>
              </a:spcAft>
            </a:pPr>
            <a:r>
              <a:rPr sz="1700" b="1">
                <a:solidFill>
                  <a:srgbClr val="58626D"/>
                </a:solidFill>
                <a:latin typeface="Barlow"/>
              </a:rPr>
              <a:t>▸  </a:t>
            </a:r>
            <a:r>
              <a:rPr sz="1700" b="0" i="0" u="none">
                <a:solidFill>
                  <a:srgbClr val="1C2B3A"/>
                </a:solidFill>
                <a:latin typeface="Barlow"/>
              </a:rPr>
              <a:t>Schema-Werkbank frei zum Üben: /werkzeug/werkbank</a:t>
            </a:r>
          </a:p>
        </p:txBody>
      </p:sp>
      <p:sp>
        <p:nvSpPr>
          <p:cNvPr id="16" name="Rounded Rectangle 15"/>
          <p:cNvSpPr/>
          <p:nvPr/>
        </p:nvSpPr>
        <p:spPr>
          <a:xfrm>
            <a:off x="548640" y="4828032"/>
            <a:ext cx="7772400" cy="1213104"/>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828032"/>
            <a:ext cx="73152" cy="1213104"/>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91947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285232"/>
            <a:ext cx="7360920" cy="710184"/>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7 (optional) – Abi-Check Datenbanken: 10 Fallen und die Operatoren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Vom ER-Modell zum Relationenschema in 5 Regeln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5</vt:lpwstr>
  </property>
  <property fmtid="{D5CDD505-2E9C-101B-9397-08002B2CF9AE}" pid="3" name="DD-Art">
    <vt:lpwstr>video</vt:lpwstr>
  </property>
  <property fmtid="{D5CDD505-2E9C-101B-9397-08002B2CF9AE}" pid="4" name="DD-Datenbank">
    <vt:lpwstr>keine</vt:lpwstr>
  </property>
  <property fmtid="{D5CDD505-2E9C-101B-9397-08002B2CF9AE}" pid="5" name="DD-Kamera-Zone">
    <vt:lpwstr>ja</vt:lpwstr>
  </property>
  <property fmtid="{D5CDD505-2E9C-101B-9397-08002B2CF9AE}" pid="6" name="DD-Kuer">
    <vt:lpwstr>nein</vt:lpwstr>
  </property>
  <property fmtid="{D5CDD505-2E9C-101B-9397-08002B2CF9AE}" pid="7" name="DD-Video">
    <vt:lpwstr>6</vt:lpwstr>
  </property>
  <property fmtid="{D5CDD505-2E9C-101B-9397-08002B2CF9AE}" pid="8" name="DD-Video-Quelle">
    <vt:lpwstr>c57a93aaaeca5788005b009eca40482b3a61126feb2f75ac945971f95797ae59</vt:lpwstr>
  </property>
</Properties>
</file>