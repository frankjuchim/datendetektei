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Eine Tabelle allein verrät selten den Täter. Die Spur führt fast immer über mehrere Tabellen – im Abitur aber ganz ohne JOIN. Du schreibst einfach FROM a, b und eine Bedingung im WHERE. Nach diesem Video weißt du, was dabei im Hintergrund passiert, und du kannst zwei und drei Tabellen sicher verbinden.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bleiben beim Schachturnier aus Video 1. Neben der Tabelle Spieler gibt es die Tabelle Verein mit drei Vereinen. In Spieler steht nur die VereinNr – der Pfeil zeigt: Das ist ein Fremdschlüssel. Er verweist auf den Primärschlüssel VereinNr in der Tabelle Verein. Imke hat die VereinNr 1, sie spielt also beim SK Weserspringer. Den Vereinsnamen findest du aber nur in der anderen Tabelle. Genau dafür brauchst du den Verbund.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passiert, wenn du einfach beide Tabellen in FROM schreibst? Die Datenbank kombiniert jede Zeile von Spieler mit jeder Zeile von Verein. Das heißt Kreuzprodukt: zehn mal drei gleich dreißig Zeilen. Imke steht plötzlich bei allen drei Vereinen – nur eine Kombination stimmt. Fehlt die Verbundbedingung, ist das Falle P2. Im Abitur erkennst du sie oft daran, dass Zahlen viel zu groß werden.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kommt die Verbundbedingung ins WHERE: Spieler.VereinNr gleich Verein.VereinNr. Von den dreißig Paaren bleiben nur die, bei denen Fremdschlüssel und Primärschlüssel übereinstimmen – acht Zeilen, jede Person mit ihrem richtigen Verein. Weil VereinNr in beiden Tabellen vorkommt, schreibst du den Tabellennamen davor. Und schau, wer fehlt: Keno und Levke. Ihr Fremdschlüssel ist NULL, also finden sie keinen Partner und fallen im Verbund heraus.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Bild groß zeigen; optional live im Gastmodus vorführen (Werkzeug Spurenbrett, Eisdiele).]</a:t>
            </a:r>
          </a:p>
          <a:p/>
          <a:p>
            <a:r>
              <a:t>So sieht das im Spurenbrett der Datendetektei aus – hier mit der Eisdiele aus dem Gastmodus. Links ein paar Sorten, rechts ein paar Verkäufe. Ohne Bedingung spannt das Spurenbrett einen Faden von jeder Sorte zu jedem Verkauf: das Kreuzprodukt. Mit der Bedingung Sorte.SorteNr gleich Verkauf.SorteNr fallen alle Fäden ab, die nicht passen. Übrig bleibt genau der Verbund. Probier es selbst aus, das Spurenbrett gibt es auch im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Oft liegen die gesuchten Daten weiter auseinander. Hier das ganze Schema unseres Turniers: Verein, Spieler, Turnier und Partie. Angenommen, du willst wissen, wer beim Pokal mit Weiß gespielt hat. Die Turnierbezeichnung steht in Turnier, der Name in Spieler – direkt verbunden sind die beiden nicht. Der Weg führt über Partie: Turnier zu Partie über TurnierNr, Partie zu Spieler über WeissNr. Faustregel: Bei n Tabellen brauchst du n minus eine Verbundbedingung.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so sieht die Abfrage aus. In FROM stehen alle drei Tabellen. Im WHERE zuerst die zwei Verbundbedingungen: Turnier.TurnierNr gleich Partie.TurnierNr und Partie.WeissNr gleich Spieler.SpielerNr. Danach, mit AND angehängt, die eigentliche Frage: nur Turnier 2, der Pokal. Ergebnis: sechs Partien. Achte auf die zweite Bedingung – der Fremdschlüssel heißt WeissNr, der Primärschlüssel SpielerNr. Die Namen müssen nicht gleich sein, entscheidend ist, worauf der Fremdschlüssel verweist.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der Klassiker, der im Abitur gern vorkommt: Partie hat zwei Fremdschlüssel auf dieselbe Tabelle – WeissNr und SchwarzNr. Wenn du beide Namen sehen willst, brauchst du die Tabelle Spieler zweimal. Dafür gibst du ihr in FROM zwei Aliase: Spieler w und Spieler s – im Abitur-Stil ohne AS. Jetzt verbindest du WeissNr mit w.SpielerNr und SchwarzNr mit s.SpielerNr. Ergebnis für Runde 1 des Pokals: Fenja gegen Keno, Levke gegen Tomke, Arne gegen Imke.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Gesucht sind alle, die beim Frühjahrsblitz in Runde 3 mit Schwarz gespielt haben, mit Vor- und Nachname und dem Namen ihres Vereins. Überleg zuerst: Welche Tabellen brauchst du, wie viele Verbundbedingungen, und welcher Fremdschlüssel steht für Schwarz? Halte das Video an und schreib die Abfrage auf.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drei Tabellen – Partie, Spieler und Verein – also zwei Verbundbedingungen. Partie.SchwarzNr gleich Spieler.SpielerNr und Spieler.VereinNr gleich Verein.VereinNr. Dazu TurnierNr gleich 1 und Runde gleich 3. Ergebnis: vier Personen. Wer die zweite Verbundbedingung vergisst, bekommt zwölf Zeilen, weil jede Person mit allen drei Vereinen kombiniert wird. Und wer WeissNr statt SchwarzNr nimmt, findet die falschen Leute.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Fallen gehören zum Verbund. P2: Die Verbundbedingung fehlt, du gehst über den falschen Fremdschlüssel – oder du verbindest so viele Tabellen, dass sich Zeilen vervielfachen und Summen falsch werden. P7: Mehrdeutige Spaltennamen. Unten siehst du VereinNr gleich VereinNr ohne Präfix – die Datenbank weiß nicht, welche gemeint ist, und meldet einen Fehler. Und denk dran: Ein Fremdschlüssel darf anders heißen als der Primärschlüssel.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FROM a, b bildet das Kreuzprodukt, erst das WHERE macht daraus den Verbund. Die Verbundbedingung lautet Fremdschlüssel gleich Primärschlüssel, immer mit Präfix. Bei n Tabellen brauchst du n minus eine Verbundbedingung. Zeigen zwei Fremdschlüssel auf dieselbe Tabelle, nimmst du sie zweimal mit Alias. Und Zeilen mit NULL im Fremdschlüssel fallen heraus.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ins Lab! In Akte 2 folgst du der Spur der Räder – mit dem Spurenbrett in Ermittlung 2.1 und den Nachtfahrten in 2.2. Im nächsten Video geht es ums Zählen und Summieren: GROUP BY und HAVING, so wie im Abitur. Bis dann!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2</a:t>
            </a:r>
          </a:p>
        </p:txBody>
      </p:sp>
      <p:sp>
        <p:nvSpPr>
          <p:cNvPr id="5" name="TextBox 4"/>
          <p:cNvSpPr txBox="1"/>
          <p:nvPr/>
        </p:nvSpPr>
        <p:spPr>
          <a:xfrm>
            <a:off x="548640" y="1371600"/>
            <a:ext cx="7772400" cy="1231392"/>
          </a:xfrm>
          <a:prstGeom prst="rect">
            <a:avLst/>
          </a:prstGeom>
          <a:noFill/>
        </p:spPr>
        <p:txBody>
          <a:bodyPr wrap="square" lIns="27432" rIns="27432" tIns="27432" bIns="27432" anchor="t">
            <a:spAutoFit/>
          </a:bodyPr>
          <a:lstStyle/>
          <a:p>
            <a:pPr>
              <a:lnSpc>
                <a:spcPct val="105000"/>
              </a:lnSpc>
              <a:spcAft>
                <a:spcPts val="400"/>
              </a:spcAft>
            </a:pPr>
            <a:r>
              <a:rPr sz="4000" b="0" i="0" u="none">
                <a:solidFill>
                  <a:srgbClr val="E8E1D3"/>
                </a:solidFill>
                <a:latin typeface="Barlow Condensed SemiBold"/>
              </a:rPr>
              <a:t>Verbund ohne JOIN: Wie FROM a, b WHERE funktioniert</a:t>
            </a:r>
          </a:p>
        </p:txBody>
      </p:sp>
      <p:cxnSp>
        <p:nvCxnSpPr>
          <p:cNvPr id="6" name="Roter Faden"/>
          <p:cNvCxnSpPr/>
          <p:nvPr/>
        </p:nvCxnSpPr>
        <p:spPr>
          <a:xfrm>
            <a:off x="548640" y="274015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92303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Vom Kreuzprodukt zum Verbund – mit zwei, drei Tabellen und zwei Fremdschlüsseln auf dieselbe Tabelle</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2 · DS 3–4 · 8–10 min</a:t>
            </a:r>
          </a:p>
        </p:txBody>
      </p:sp>
      <p:pic>
        <p:nvPicPr>
          <p:cNvPr id="11" name="Picture 10" descr="stempel.png"/>
          <p:cNvPicPr>
            <a:picLocks noChangeAspect="1"/>
          </p:cNvPicPr>
          <p:nvPr/>
        </p:nvPicPr>
        <p:blipFill>
          <a:blip r:embed="rId3"/>
          <a:stretch>
            <a:fillRect/>
          </a:stretch>
        </p:blipFill>
        <p:spPr>
          <a:xfrm>
            <a:off x="8869680" y="1051560"/>
            <a:ext cx="2773375" cy="9533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Zwei Tabellen, ein Schlüssel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6035040" y="1691640"/>
            <a:ext cx="5608015" cy="183184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83184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FREMDSCHLÜSSEL</a:t>
            </a:r>
          </a:p>
        </p:txBody>
      </p:sp>
      <p:sp>
        <p:nvSpPr>
          <p:cNvPr id="11" name="TextBox 10"/>
          <p:cNvSpPr txBox="1"/>
          <p:nvPr/>
        </p:nvSpPr>
        <p:spPr>
          <a:xfrm>
            <a:off x="6309359" y="2148840"/>
            <a:ext cx="5196535" cy="1328928"/>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IBM Plex Mono"/>
              </a:rPr>
              <a:t>Spieler.VereinNr</a:t>
            </a:r>
            <a:r>
              <a:rPr sz="1700" b="0" i="0" u="none">
                <a:solidFill>
                  <a:srgbClr val="1C2B3A"/>
                </a:solidFill>
                <a:latin typeface="Barlow"/>
              </a:rPr>
              <a:t> (</a:t>
            </a:r>
            <a:r>
              <a:rPr sz="1700" b="0" i="0" u="none">
                <a:solidFill>
                  <a:srgbClr val="B3261E"/>
                </a:solidFill>
                <a:latin typeface="IBM Plex Mono"/>
              </a:rPr>
              <a:t>↑</a:t>
            </a:r>
            <a:r>
              <a:rPr sz="1700" b="0" i="0" u="none">
                <a:solidFill>
                  <a:srgbClr val="1C2B3A"/>
                </a:solidFill>
                <a:latin typeface="Barlow"/>
              </a:rPr>
              <a:t>) verweist auf den Primärschlüssel </a:t>
            </a:r>
            <a:r>
              <a:rPr sz="1530" b="0" i="0" u="none">
                <a:solidFill>
                  <a:srgbClr val="1C2B3A"/>
                </a:solidFill>
                <a:latin typeface="IBM Plex Mono"/>
              </a:rPr>
              <a:t>Verein.VereinNr</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Imke hat VereinNr 1 → SK Weserspringer. Keno und Levke: NULL, kein Verein.</a:t>
            </a:r>
          </a:p>
        </p:txBody>
      </p:sp>
      <p:sp>
        <p:nvSpPr>
          <p:cNvPr id="12" name="Rounded Rectangle 11"/>
          <p:cNvSpPr/>
          <p:nvPr/>
        </p:nvSpPr>
        <p:spPr>
          <a:xfrm>
            <a:off x="548640" y="1691640"/>
            <a:ext cx="5212080" cy="183940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31520" y="1801368"/>
            <a:ext cx="4846320" cy="165652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KURZSCHREIBWEISE</a:t>
            </a:r>
          </a:p>
          <a:p>
            <a:pPr>
              <a:lnSpc>
                <a:spcPct val="105000"/>
              </a:lnSpc>
              <a:spcAft>
                <a:spcPts val="500"/>
              </a:spcAft>
            </a:pPr>
            <a:r>
              <a:rPr sz="1748" b="0" i="0" u="none">
                <a:solidFill>
                  <a:srgbClr val="1C2B3A"/>
                </a:solidFill>
                <a:latin typeface="IBM Plex Mono"/>
              </a:rPr>
              <a:t>Verein(</a:t>
            </a:r>
            <a:r>
              <a:rPr sz="1748" b="0" i="0" u="sng">
                <a:solidFill>
                  <a:srgbClr val="1C2B3A"/>
                </a:solidFill>
                <a:latin typeface="IBM Plex Mono"/>
              </a:rPr>
              <a:t>VereinNr</a:t>
            </a:r>
            <a:r>
              <a:rPr sz="1748" b="0" i="0" u="none">
                <a:solidFill>
                  <a:srgbClr val="1C2B3A"/>
                </a:solidFill>
                <a:latin typeface="IBM Plex Mono"/>
              </a:rPr>
              <a:t>, Name, Ort)</a:t>
            </a:r>
          </a:p>
          <a:p>
            <a:pPr>
              <a:lnSpc>
                <a:spcPct val="105000"/>
              </a:lnSpc>
              <a:spcAft>
                <a:spcPts val="500"/>
              </a:spcAft>
            </a:pPr>
            <a:r>
              <a:rPr sz="1748" b="0" i="0" u="none">
                <a:solidFill>
                  <a:srgbClr val="1C2B3A"/>
                </a:solidFill>
                <a:latin typeface="IBM Plex Mono"/>
              </a:rPr>
              <a:t>Spieler(</a:t>
            </a:r>
            <a:r>
              <a:rPr sz="1748" b="0" i="0" u="sng">
                <a:solidFill>
                  <a:srgbClr val="1C2B3A"/>
                </a:solidFill>
                <a:latin typeface="IBM Plex Mono"/>
              </a:rPr>
              <a:t>SpielerNr</a:t>
            </a:r>
            <a:r>
              <a:rPr sz="1748" b="0" i="0" u="none">
                <a:solidFill>
                  <a:srgbClr val="1C2B3A"/>
                </a:solidFill>
                <a:latin typeface="IBM Plex Mono"/>
              </a:rPr>
              <a:t>, Vorname, Nachname, Jahrgang, Wertung, </a:t>
            </a:r>
            <a:r>
              <a:rPr sz="1748" b="0" i="0" u="none">
                <a:solidFill>
                  <a:srgbClr val="B3261E"/>
                </a:solidFill>
                <a:latin typeface="IBM Plex Mono"/>
              </a:rPr>
              <a:t>↑</a:t>
            </a:r>
            <a:r>
              <a:rPr sz="1748" b="0" i="0" u="none">
                <a:solidFill>
                  <a:srgbClr val="1C2B3A"/>
                </a:solidFill>
                <a:latin typeface="IBM Plex Mono"/>
              </a:rPr>
              <a:t>VereinNr)</a:t>
            </a:r>
          </a:p>
        </p:txBody>
      </p:sp>
      <p:sp>
        <p:nvSpPr>
          <p:cNvPr id="14" name="TextBox 13"/>
          <p:cNvSpPr txBox="1"/>
          <p:nvPr/>
        </p:nvSpPr>
        <p:spPr>
          <a:xfrm>
            <a:off x="548640" y="3640775"/>
            <a:ext cx="5212080" cy="274320"/>
          </a:xfrm>
          <a:prstGeom prst="rect">
            <a:avLst/>
          </a:prstGeom>
          <a:noFill/>
        </p:spPr>
        <p:txBody>
          <a:bodyPr wrap="square" lIns="27432" rIns="27432" tIns="27432" bIns="27432">
            <a:spAutoFit/>
          </a:bodyPr>
          <a:lstStyle/>
          <a:p>
            <a:pPr>
              <a:lnSpc>
                <a:spcPct val="105000"/>
              </a:lnSpc>
              <a:spcAft>
                <a:spcPts val="400"/>
              </a:spcAft>
            </a:pPr>
            <a:r>
              <a:rPr sz="1100" b="1" i="0" u="none">
                <a:solidFill>
                  <a:srgbClr val="D4B062"/>
                </a:solidFill>
                <a:latin typeface="IBM Plex Mono"/>
              </a:rPr>
              <a:t>TABELLE VEREIN</a:t>
            </a:r>
          </a:p>
        </p:txBody>
      </p:sp>
      <p:graphicFrame>
        <p:nvGraphicFramePr>
          <p:cNvPr id="15" name="Datentabelle"/>
          <p:cNvGraphicFramePr>
            <a:graphicFrameLocks noGrp="1"/>
          </p:cNvGraphicFramePr>
          <p:nvPr/>
        </p:nvGraphicFramePr>
        <p:xfrm>
          <a:off x="548640" y="3933383"/>
          <a:ext cx="5136642" cy="1181100"/>
        </p:xfrm>
        <a:graphic>
          <a:graphicData uri="http://schemas.openxmlformats.org/drawingml/2006/table">
            <a:tbl>
              <a:tblPr firstRow="1">
                <a:tableStyleId>{5C22544A-7EE6-4342-B048-85BDC9FD1C3A}</a:tableStyleId>
              </a:tblPr>
              <a:tblGrid>
                <a:gridCol w="1207008"/>
                <a:gridCol w="2489454"/>
                <a:gridCol w="1440180"/>
              </a:tblGrid>
              <a:tr h="295275">
                <a:tc>
                  <a:txBody>
                    <a:bodyPr/>
                    <a:lstStyle/>
                    <a:p>
                      <a:r>
                        <a:rPr sz="1380" b="1" i="0" u="sng">
                          <a:solidFill>
                            <a:srgbClr val="1C2B3A"/>
                          </a:solidFill>
                          <a:latin typeface="IBM Plex Mono"/>
                        </a:rPr>
                        <a:t>VereinNr</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c>
                  <a:txBody>
                    <a:bodyPr/>
                    <a:lstStyle/>
                    <a:p>
                      <a:r>
                        <a:rPr sz="1380" b="1" i="0" u="none">
                          <a:solidFill>
                            <a:srgbClr val="1C2B3A"/>
                          </a:solidFill>
                          <a:latin typeface="IBM Plex Mono"/>
                        </a:rPr>
                        <a:t>Ort</a:t>
                      </a:r>
                    </a:p>
                  </a:txBody>
                  <a:tcPr marL="54864" marR="54864" marT="18288" marB="18288">
                    <a:solidFill>
                      <a:srgbClr val="EBE2D2"/>
                    </a:solidFill>
                  </a:tcPr>
                </a:tc>
              </a:tr>
              <a:tr h="295275">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c>
                  <a:txBody>
                    <a:bodyPr/>
                    <a:lstStyle/>
                    <a:p>
                      <a:r>
                        <a:rPr sz="1500" b="0" i="0" u="none">
                          <a:solidFill>
                            <a:srgbClr val="1C2B3A"/>
                          </a:solidFill>
                          <a:latin typeface="Barlow"/>
                        </a:rPr>
                        <a:t>Weserstedt</a:t>
                      </a:r>
                    </a:p>
                  </a:txBody>
                  <a:tcPr marL="54864" marR="54864" marT="18288" marB="18288">
                    <a:solidFill>
                      <a:srgbClr val="FFFDF8"/>
                    </a:solidFill>
                  </a:tcPr>
                </a:tc>
              </a:tr>
              <a:tr h="295275">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c>
                  <a:txBody>
                    <a:bodyPr/>
                    <a:lstStyle/>
                    <a:p>
                      <a:r>
                        <a:rPr sz="1500" b="0" i="0" u="none">
                          <a:solidFill>
                            <a:srgbClr val="1C2B3A"/>
                          </a:solidFill>
                          <a:latin typeface="Barlow"/>
                        </a:rPr>
                        <a:t>Weserstedt</a:t>
                      </a:r>
                    </a:p>
                  </a:txBody>
                  <a:tcPr marL="54864" marR="54864" marT="18288" marB="18288">
                    <a:solidFill>
                      <a:srgbClr val="FFFDF8"/>
                    </a:solidFill>
                  </a:tcPr>
                </a:tc>
              </a:tr>
              <a:tr h="295275">
                <a:tc>
                  <a:txBody>
                    <a:bodyPr/>
                    <a:lstStyle/>
                    <a:p>
                      <a:pPr algn="r"/>
                      <a:r>
                        <a:rPr sz="1500" b="0" i="0" u="none">
                          <a:solidFill>
                            <a:srgbClr val="1C2B3A"/>
                          </a:solidFill>
                          <a:latin typeface="Barlow"/>
                        </a:rPr>
                        <a:t>3</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c>
                  <a:txBody>
                    <a:bodyPr/>
                    <a:lstStyle/>
                    <a:p>
                      <a:r>
                        <a:rPr sz="1500" b="0" i="0" u="none">
                          <a:solidFill>
                            <a:srgbClr val="1C2B3A"/>
                          </a:solidFill>
                          <a:latin typeface="Barlow"/>
                        </a:rPr>
                        <a:t>Moorbach</a:t>
                      </a:r>
                    </a:p>
                  </a:txBody>
                  <a:tcPr marL="54864" marR="54864" marT="18288" marB="18288">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Schritt 1: FROM a, b bildet das Kreuzprodukt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6035040" y="1691640"/>
            <a:ext cx="5608015" cy="1572767"/>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JEDE MIT JEDEM</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10 Spieler × 3 Vereine = </a:t>
            </a:r>
            <a:r>
              <a:rPr sz="1700" b="1" i="0" u="none">
                <a:solidFill>
                  <a:srgbClr val="1C2B3A"/>
                </a:solidFill>
                <a:latin typeface="Barlow"/>
              </a:rPr>
              <a:t>30 Zeilen</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Imke steht bei allen drei Vereinen – zwei davon sind falsch.</a:t>
            </a:r>
          </a:p>
        </p:txBody>
      </p:sp>
      <p:sp>
        <p:nvSpPr>
          <p:cNvPr id="12" name="TextBox 11"/>
          <p:cNvSpPr txBox="1"/>
          <p:nvPr/>
        </p:nvSpPr>
        <p:spPr>
          <a:xfrm>
            <a:off x="548640" y="1691640"/>
            <a:ext cx="521208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OHNE VERBUNDBEDINGUNG · FALLE P2</a:t>
            </a:r>
          </a:p>
        </p:txBody>
      </p:sp>
      <p:sp>
        <p:nvSpPr>
          <p:cNvPr id="13" name="SQL-Hintergrund"/>
          <p:cNvSpPr/>
          <p:nvPr/>
        </p:nvSpPr>
        <p:spPr>
          <a:xfrm>
            <a:off x="548640" y="2002536"/>
            <a:ext cx="5212080" cy="85979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QL [fehlerhaft]"/>
          <p:cNvSpPr txBox="1"/>
          <p:nvPr/>
        </p:nvSpPr>
        <p:spPr>
          <a:xfrm>
            <a:off x="731520" y="2139696"/>
            <a:ext cx="4846320" cy="585470"/>
          </a:xfrm>
          <a:prstGeom prst="rect">
            <a:avLst/>
          </a:prstGeom>
          <a:noFill/>
        </p:spPr>
        <p:txBody>
          <a:bodyPr wrap="square" lIns="18288" rIns="18288" tIns="18288" bIns="18288">
            <a:spAutoFit/>
          </a:bodyPr>
          <a:lstStyle/>
          <a:p>
            <a:pPr>
              <a:lnSpc>
                <a:spcPct val="100000"/>
              </a:lnSpc>
            </a:pPr>
            <a:r>
              <a:rPr sz="1700" i="0">
                <a:solidFill>
                  <a:srgbClr val="F2A65A"/>
                </a:solidFill>
                <a:latin typeface="IBM Plex Mono"/>
              </a:rPr>
              <a:t>SELECT</a:t>
            </a:r>
            <a:r>
              <a:rPr sz="1700" i="0">
                <a:solidFill>
                  <a:srgbClr val="D8E3D0"/>
                </a:solidFill>
                <a:latin typeface="IBM Plex Mono"/>
              </a:rPr>
              <a:t> </a:t>
            </a:r>
            <a:r>
              <a:rPr sz="1700" i="0">
                <a:solidFill>
                  <a:srgbClr val="D8E3D0"/>
                </a:solidFill>
                <a:latin typeface="IBM Plex Mono"/>
              </a:rPr>
              <a:t>Spieler</a:t>
            </a:r>
            <a:r>
              <a:rPr sz="1700" i="0">
                <a:solidFill>
                  <a:srgbClr val="D8E3D0"/>
                </a:solidFill>
                <a:latin typeface="IBM Plex Mono"/>
              </a:rPr>
              <a:t>.</a:t>
            </a:r>
            <a:r>
              <a:rPr sz="1700" i="0">
                <a:solidFill>
                  <a:srgbClr val="D8E3D0"/>
                </a:solidFill>
                <a:latin typeface="IBM Plex Mono"/>
              </a:rPr>
              <a:t>Vorname</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Verein</a:t>
            </a:r>
            <a:r>
              <a:rPr sz="1700" i="0">
                <a:solidFill>
                  <a:srgbClr val="D8E3D0"/>
                </a:solidFill>
                <a:latin typeface="IBM Plex Mono"/>
              </a:rPr>
              <a:t>.</a:t>
            </a:r>
            <a:r>
              <a:rPr sz="1700" i="0">
                <a:solidFill>
                  <a:srgbClr val="D8E3D0"/>
                </a:solidFill>
                <a:latin typeface="IBM Plex Mono"/>
              </a:rPr>
              <a:t>Name</a:t>
            </a:r>
          </a:p>
          <a:p>
            <a:pPr>
              <a:lnSpc>
                <a:spcPct val="100000"/>
              </a:lnSpc>
            </a:pPr>
            <a:r>
              <a:rPr sz="1700" i="0">
                <a:solidFill>
                  <a:srgbClr val="F2A65A"/>
                </a:solidFill>
                <a:latin typeface="IBM Plex Mono"/>
              </a:rPr>
              <a:t>FROM</a:t>
            </a:r>
            <a:r>
              <a:rPr sz="1700" i="0">
                <a:solidFill>
                  <a:srgbClr val="D8E3D0"/>
                </a:solidFill>
                <a:latin typeface="IBM Plex Mono"/>
              </a:rPr>
              <a:t> </a:t>
            </a:r>
            <a:r>
              <a:rPr sz="1700" i="0">
                <a:solidFill>
                  <a:srgbClr val="D8E3D0"/>
                </a:solidFill>
                <a:latin typeface="IBM Plex Mono"/>
              </a:rPr>
              <a:t>Spieler</a:t>
            </a:r>
            <a:r>
              <a:rPr sz="1700" i="0">
                <a:solidFill>
                  <a:srgbClr val="D8E3D0"/>
                </a:solidFill>
                <a:latin typeface="IBM Plex Mono"/>
              </a:rPr>
              <a:t>,</a:t>
            </a:r>
            <a:r>
              <a:rPr sz="1700" i="0">
                <a:solidFill>
                  <a:srgbClr val="D8E3D0"/>
                </a:solidFill>
                <a:latin typeface="IBM Plex Mono"/>
              </a:rPr>
              <a:t> </a:t>
            </a:r>
            <a:r>
              <a:rPr sz="1700" i="0">
                <a:solidFill>
                  <a:srgbClr val="D8E3D0"/>
                </a:solidFill>
                <a:latin typeface="IBM Plex Mono"/>
              </a:rPr>
              <a:t>Verein</a:t>
            </a:r>
          </a:p>
        </p:txBody>
      </p:sp>
      <p:sp>
        <p:nvSpPr>
          <p:cNvPr id="15" name="Rectangle 14"/>
          <p:cNvSpPr/>
          <p:nvPr/>
        </p:nvSpPr>
        <p:spPr>
          <a:xfrm>
            <a:off x="548640" y="2002536"/>
            <a:ext cx="64008" cy="85979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 y="2935478"/>
            <a:ext cx="5212080"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6 ZEILEN (Ausschnitt)</a:t>
            </a:r>
          </a:p>
        </p:txBody>
      </p:sp>
      <p:graphicFrame>
        <p:nvGraphicFramePr>
          <p:cNvPr id="17" name="Ergebnistabelle"/>
          <p:cNvGraphicFramePr>
            <a:graphicFrameLocks noGrp="1"/>
          </p:cNvGraphicFramePr>
          <p:nvPr/>
        </p:nvGraphicFramePr>
        <p:xfrm>
          <a:off x="548640" y="3246374"/>
          <a:ext cx="3579876" cy="2362200"/>
        </p:xfrm>
        <a:graphic>
          <a:graphicData uri="http://schemas.openxmlformats.org/drawingml/2006/table">
            <a:tbl>
              <a:tblPr firstRow="1">
                <a:tableStyleId>{5C22544A-7EE6-4342-B048-85BDC9FD1C3A}</a:tableStyleId>
              </a:tblPr>
              <a:tblGrid>
                <a:gridCol w="1090422"/>
                <a:gridCol w="2489454"/>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a:t>
                      </a:r>
                    </a:p>
                  </a:txBody>
                  <a:tcPr marL="54864" marR="54864" marT="18288" marB="18288">
                    <a:solidFill>
                      <a:srgbClr val="FFFDF8"/>
                    </a:solidFill>
                  </a:tcPr>
                </a:tc>
                <a:tc>
                  <a:txBody>
                    <a:bodyPr/>
                    <a:lstStyle/>
                    <a:p>
                      <a:r>
                        <a:rPr sz="1500" b="0" i="0" u="none">
                          <a:solidFill>
                            <a:srgbClr val="1C2B3A"/>
                          </a:solidFill>
                          <a:latin typeface="Barlow"/>
                        </a:rPr>
                        <a:t>…</a:t>
                      </a:r>
                    </a:p>
                  </a:txBody>
                  <a:tcPr marL="54864" marR="54864" marT="18288" marB="18288">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Schritt 2: Fremdschlüssel = Primärschlüssel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7338059" y="1691640"/>
            <a:ext cx="4304995" cy="2217420"/>
          </a:xfrm>
          <a:prstGeom prst="roundRect">
            <a:avLst>
              <a:gd name="adj" fmla="val 4000"/>
            </a:avLst>
          </a:prstGeom>
          <a:solidFill>
            <a:srgbClr val="E0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38059" y="1691640"/>
            <a:ext cx="73152" cy="2217420"/>
          </a:xfrm>
          <a:prstGeom prst="rect">
            <a:avLst/>
          </a:prstGeom>
          <a:solidFill>
            <a:srgbClr val="2F6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12379" y="1783080"/>
            <a:ext cx="38935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F6B4F"/>
                </a:solidFill>
                <a:latin typeface="IBM Plex Mono"/>
              </a:rPr>
              <a:t>VERBUNDBEDINGUNG</a:t>
            </a:r>
          </a:p>
        </p:txBody>
      </p:sp>
      <p:sp>
        <p:nvSpPr>
          <p:cNvPr id="11" name="TextBox 10"/>
          <p:cNvSpPr txBox="1"/>
          <p:nvPr/>
        </p:nvSpPr>
        <p:spPr>
          <a:xfrm>
            <a:off x="7612379" y="2148840"/>
            <a:ext cx="3893515" cy="1714499"/>
          </a:xfrm>
          <a:prstGeom prst="rect">
            <a:avLst/>
          </a:prstGeom>
          <a:noFill/>
        </p:spPr>
        <p:txBody>
          <a:bodyPr wrap="square" lIns="27432" rIns="27432" tIns="27432" bIns="27432">
            <a:spAutoFit/>
          </a:bodyPr>
          <a:lstStyle/>
          <a:p>
            <a:pPr>
              <a:lnSpc>
                <a:spcPct val="105000"/>
              </a:lnSpc>
              <a:spcAft>
                <a:spcPts val="300"/>
              </a:spcAft>
            </a:pPr>
            <a:r>
              <a:rPr sz="1445" b="0" i="0" u="none">
                <a:solidFill>
                  <a:srgbClr val="1C2B3A"/>
                </a:solidFill>
                <a:latin typeface="Barlow"/>
              </a:rPr>
              <a:t>Nur Paare, bei denen FK und PK </a:t>
            </a:r>
            <a:r>
              <a:rPr sz="1445" b="1" i="0" u="none">
                <a:solidFill>
                  <a:srgbClr val="1C2B3A"/>
                </a:solidFill>
                <a:latin typeface="Barlow"/>
              </a:rPr>
              <a:t>übereinstimmen</a:t>
            </a:r>
            <a:r>
              <a:rPr sz="1445" b="0" i="0" u="none">
                <a:solidFill>
                  <a:srgbClr val="1C2B3A"/>
                </a:solidFill>
                <a:latin typeface="Barlow"/>
              </a:rPr>
              <a:t>.</a:t>
            </a:r>
          </a:p>
          <a:p>
            <a:pPr>
              <a:lnSpc>
                <a:spcPct val="105000"/>
              </a:lnSpc>
              <a:spcAft>
                <a:spcPts val="300"/>
              </a:spcAft>
            </a:pPr>
            <a:r>
              <a:rPr sz="1445" b="0" i="0" u="none">
                <a:solidFill>
                  <a:srgbClr val="1C2B3A"/>
                </a:solidFill>
                <a:latin typeface="Barlow"/>
              </a:rPr>
              <a:t>Präfix </a:t>
            </a:r>
            <a:r>
              <a:rPr sz="1300" b="0" i="0" u="none">
                <a:solidFill>
                  <a:srgbClr val="1C2B3A"/>
                </a:solidFill>
                <a:latin typeface="IBM Plex Mono"/>
              </a:rPr>
              <a:t>Tabelle.Spalte</a:t>
            </a:r>
            <a:r>
              <a:rPr sz="1445" b="0" i="0" u="none">
                <a:solidFill>
                  <a:srgbClr val="1C2B3A"/>
                </a:solidFill>
                <a:latin typeface="Barlow"/>
              </a:rPr>
              <a:t>, weil VereinNr in beiden Tabellen vorkommt.</a:t>
            </a:r>
          </a:p>
          <a:p>
            <a:pPr>
              <a:lnSpc>
                <a:spcPct val="105000"/>
              </a:lnSpc>
              <a:spcAft>
                <a:spcPts val="300"/>
              </a:spcAft>
            </a:pPr>
            <a:r>
              <a:rPr sz="1445" b="0" i="0" u="none">
                <a:solidFill>
                  <a:srgbClr val="1C2B3A"/>
                </a:solidFill>
                <a:latin typeface="Barlow"/>
              </a:rPr>
              <a:t>Keno und Levke fehlen: NULL findet keinen Partner.</a:t>
            </a:r>
          </a:p>
        </p:txBody>
      </p:sp>
      <p:sp>
        <p:nvSpPr>
          <p:cNvPr id="12" name="SQL-Hintergrund"/>
          <p:cNvSpPr/>
          <p:nvPr/>
        </p:nvSpPr>
        <p:spPr>
          <a:xfrm>
            <a:off x="548640" y="1691640"/>
            <a:ext cx="6515099" cy="10344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6149339" cy="760095"/>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Vorname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Nachname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r>
              <a:rPr sz="1500" i="0">
                <a:solidFill>
                  <a:srgbClr val="D8E3D0"/>
                </a:solidFill>
                <a:latin typeface="IBM Plex Mono"/>
              </a:rPr>
              <a:t>.</a:t>
            </a:r>
            <a:r>
              <a:rPr sz="1500" i="0">
                <a:solidFill>
                  <a:srgbClr val="D8E3D0"/>
                </a:solidFill>
                <a:latin typeface="IBM Plex Mono"/>
              </a:rPr>
              <a:t>Name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VereinNr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r>
              <a:rPr sz="1500" i="0">
                <a:solidFill>
                  <a:srgbClr val="D8E3D0"/>
                </a:solidFill>
                <a:latin typeface="IBM Plex Mono"/>
              </a:rPr>
              <a:t>.</a:t>
            </a:r>
            <a:r>
              <a:rPr sz="1500" i="0">
                <a:solidFill>
                  <a:srgbClr val="D8E3D0"/>
                </a:solidFill>
                <a:latin typeface="IBM Plex Mono"/>
              </a:rPr>
              <a:t>VereinNr</a:t>
            </a:r>
          </a:p>
        </p:txBody>
      </p:sp>
      <p:sp>
        <p:nvSpPr>
          <p:cNvPr id="14" name="TextBox 13"/>
          <p:cNvSpPr txBox="1"/>
          <p:nvPr/>
        </p:nvSpPr>
        <p:spPr>
          <a:xfrm>
            <a:off x="548640" y="2799207"/>
            <a:ext cx="651509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8 ZEILEN</a:t>
            </a:r>
          </a:p>
        </p:txBody>
      </p:sp>
      <p:graphicFrame>
        <p:nvGraphicFramePr>
          <p:cNvPr id="15" name="Ergebnistabelle"/>
          <p:cNvGraphicFramePr>
            <a:graphicFrameLocks noGrp="1"/>
          </p:cNvGraphicFramePr>
          <p:nvPr/>
        </p:nvGraphicFramePr>
        <p:xfrm>
          <a:off x="548640" y="3110103"/>
          <a:ext cx="4786884" cy="2657475"/>
        </p:xfrm>
        <a:graphic>
          <a:graphicData uri="http://schemas.openxmlformats.org/drawingml/2006/table">
            <a:tbl>
              <a:tblPr firstRow="1">
                <a:tableStyleId>{5C22544A-7EE6-4342-B048-85BDC9FD1C3A}</a:tableStyleId>
              </a:tblPr>
              <a:tblGrid>
                <a:gridCol w="1090422"/>
                <a:gridCol w="1207008"/>
                <a:gridCol w="2489454"/>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r>
              <a:tr h="295275">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r h="295275">
                <a:tc>
                  <a:txBody>
                    <a:bodyPr/>
                    <a:lstStyle/>
                    <a:p>
                      <a:r>
                        <a:rPr sz="1500" b="0" i="0" u="none">
                          <a:solidFill>
                            <a:srgbClr val="1C2B3A"/>
                          </a:solidFill>
                          <a:latin typeface="Barlow"/>
                        </a:rPr>
                        <a:t>Mats</a:t>
                      </a:r>
                    </a:p>
                  </a:txBody>
                  <a:tcPr marL="54864" marR="54864" marT="18288" marB="18288">
                    <a:solidFill>
                      <a:srgbClr val="FFFDF8"/>
                    </a:solidFill>
                  </a:tcPr>
                </a:tc>
                <a:tc>
                  <a:txBody>
                    <a:bodyPr/>
                    <a:lstStyle/>
                    <a:p>
                      <a:r>
                        <a:rPr sz="1500" b="0" i="0" u="none">
                          <a:solidFill>
                            <a:srgbClr val="1C2B3A"/>
                          </a:solidFill>
                          <a:latin typeface="Barlow"/>
                        </a:rPr>
                        <a:t>Okafor</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r h="295275">
                <a:tc>
                  <a:txBody>
                    <a:bodyPr/>
                    <a:lstStyle/>
                    <a:p>
                      <a:r>
                        <a:rPr sz="1500" b="0" i="0" u="none">
                          <a:solidFill>
                            <a:srgbClr val="1C2B3A"/>
                          </a:solidFill>
                          <a:latin typeface="Barlow"/>
                        </a:rPr>
                        <a:t>Fenja</a:t>
                      </a:r>
                    </a:p>
                  </a:txBody>
                  <a:tcPr marL="54864" marR="54864" marT="18288" marB="18288">
                    <a:solidFill>
                      <a:srgbClr val="FFFDF8"/>
                    </a:solidFill>
                  </a:tcPr>
                </a:tc>
                <a:tc>
                  <a:txBody>
                    <a:bodyPr/>
                    <a:lstStyle/>
                    <a:p>
                      <a:r>
                        <a:rPr sz="1500" b="0" i="0" u="none">
                          <a:solidFill>
                            <a:srgbClr val="1C2B3A"/>
                          </a:solidFill>
                          <a:latin typeface="Barlow"/>
                        </a:rPr>
                        <a:t>Harjes</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Joris</a:t>
                      </a:r>
                    </a:p>
                  </a:txBody>
                  <a:tcPr marL="54864" marR="54864" marT="18288" marB="18288">
                    <a:solidFill>
                      <a:srgbClr val="FFFDF8"/>
                    </a:solidFill>
                  </a:tcPr>
                </a:tc>
                <a:tc>
                  <a:txBody>
                    <a:bodyPr/>
                    <a:lstStyle/>
                    <a:p>
                      <a:r>
                        <a:rPr sz="1500" b="0" i="0" u="none">
                          <a:solidFill>
                            <a:srgbClr val="1C2B3A"/>
                          </a:solidFill>
                          <a:latin typeface="Barlow"/>
                        </a:rPr>
                        <a:t>Kampen</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Smilla</a:t>
                      </a:r>
                    </a:p>
                  </a:txBody>
                  <a:tcPr marL="54864" marR="54864" marT="18288" marB="18288">
                    <a:solidFill>
                      <a:srgbClr val="FFFDF8"/>
                    </a:solidFill>
                  </a:tcPr>
                </a:tc>
                <a:tc>
                  <a:txBody>
                    <a:bodyPr/>
                    <a:lstStyle/>
                    <a:p>
                      <a:r>
                        <a:rPr sz="1500" b="0" i="0" u="none">
                          <a:solidFill>
                            <a:srgbClr val="1C2B3A"/>
                          </a:solidFill>
                          <a:latin typeface="Barlow"/>
                        </a:rPr>
                        <a:t>Onken</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r>
              <a:tr h="295275">
                <a:tc>
                  <a:txBody>
                    <a:bodyPr/>
                    <a:lstStyle/>
                    <a:p>
                      <a:r>
                        <a:rPr sz="1500" b="0" i="0" u="none">
                          <a:solidFill>
                            <a:srgbClr val="1C2B3A"/>
                          </a:solidFill>
                          <a:latin typeface="Barlow"/>
                        </a:rPr>
                        <a:t>Tomke</a:t>
                      </a:r>
                    </a:p>
                  </a:txBody>
                  <a:tcPr marL="54864" marR="54864" marT="18288" marB="18288">
                    <a:solidFill>
                      <a:srgbClr val="FFFDF8"/>
                    </a:solidFill>
                  </a:tcPr>
                </a:tc>
                <a:tc>
                  <a:txBody>
                    <a:bodyPr/>
                    <a:lstStyle/>
                    <a:p>
                      <a:r>
                        <a:rPr sz="1500" b="0" i="0" u="none">
                          <a:solidFill>
                            <a:srgbClr val="1C2B3A"/>
                          </a:solidFill>
                          <a:latin typeface="Barlow"/>
                        </a:rPr>
                        <a:t>Saathoff</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r h="295275">
                <a:tc>
                  <a:txBody>
                    <a:bodyPr/>
                    <a:lstStyle/>
                    <a:p>
                      <a:r>
                        <a:rPr sz="1500" b="0" i="0" u="none">
                          <a:solidFill>
                            <a:srgbClr val="1C2B3A"/>
                          </a:solidFill>
                          <a:latin typeface="Barlow"/>
                        </a:rPr>
                        <a:t>Arne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Im Spurenbrett: Fäden, die passen, bleiben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7589520" y="1691640"/>
            <a:ext cx="4053535" cy="209092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209092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EISDIELE (GASTMODUS)</a:t>
            </a:r>
          </a:p>
        </p:txBody>
      </p:sp>
      <p:sp>
        <p:nvSpPr>
          <p:cNvPr id="11" name="TextBox 10"/>
          <p:cNvSpPr txBox="1"/>
          <p:nvPr/>
        </p:nvSpPr>
        <p:spPr>
          <a:xfrm>
            <a:off x="7863840" y="2148840"/>
            <a:ext cx="3642055" cy="1588008"/>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4 Sorten × 6 Verkäufe = 24 Fäden.</a:t>
            </a:r>
          </a:p>
          <a:p>
            <a:pPr>
              <a:lnSpc>
                <a:spcPct val="105000"/>
              </a:lnSpc>
              <a:spcAft>
                <a:spcPts val="300"/>
              </a:spcAft>
            </a:pPr>
            <a:r>
              <a:rPr sz="1700" b="0" i="0" u="none">
                <a:solidFill>
                  <a:srgbClr val="1C2B3A"/>
                </a:solidFill>
                <a:latin typeface="Barlow"/>
              </a:rPr>
              <a:t>Bedingung </a:t>
            </a:r>
            <a:r>
              <a:rPr sz="1530" b="0" i="0" u="none">
                <a:solidFill>
                  <a:srgbClr val="1C2B3A"/>
                </a:solidFill>
                <a:latin typeface="IBM Plex Mono"/>
              </a:rPr>
              <a:t>Sorte.SorteNr = Verkauf.SorteNr</a:t>
            </a:r>
            <a:r>
              <a:rPr sz="1700" b="0" i="0" u="none">
                <a:solidFill>
                  <a:srgbClr val="1C2B3A"/>
                </a:solidFill>
                <a:latin typeface="Barlow"/>
              </a:rPr>
              <a:t> → 3 Fäden bleiben; Karten ohne Faden fehlen im Ergebnis.</a:t>
            </a:r>
          </a:p>
        </p:txBody>
      </p:sp>
      <p:pic>
        <p:nvPicPr>
          <p:cNvPr id="12" name="Bild spurenbrett" descr="spurenbrett.png"/>
          <p:cNvPicPr>
            <a:picLocks noChangeAspect="1"/>
          </p:cNvPicPr>
          <p:nvPr/>
        </p:nvPicPr>
        <p:blipFill>
          <a:blip r:embed="rId3"/>
          <a:stretch>
            <a:fillRect/>
          </a:stretch>
        </p:blipFill>
        <p:spPr>
          <a:xfrm>
            <a:off x="548640" y="1691640"/>
            <a:ext cx="6766560" cy="4556706"/>
          </a:xfrm>
          <a:prstGeom prst="rect">
            <a:avLst/>
          </a:prstGeom>
          <a:ln w="9525">
            <a:solidFill>
              <a:srgbClr val="BDB6A9"/>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Drei Tabellen: der Weg durchs Schema</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548640" y="1691640"/>
            <a:ext cx="7772400" cy="238462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1801368"/>
            <a:ext cx="7406640" cy="2201747"/>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RELATIONENSCHEMA SCHACHTURNIER</a:t>
            </a:r>
          </a:p>
          <a:p>
            <a:pPr>
              <a:lnSpc>
                <a:spcPct val="105000"/>
              </a:lnSpc>
              <a:spcAft>
                <a:spcPts val="500"/>
              </a:spcAft>
            </a:pPr>
            <a:r>
              <a:rPr sz="1573" b="0" i="0" u="none">
                <a:solidFill>
                  <a:srgbClr val="1C2B3A"/>
                </a:solidFill>
                <a:latin typeface="IBM Plex Mono"/>
              </a:rPr>
              <a:t>Verein(</a:t>
            </a:r>
            <a:r>
              <a:rPr sz="1573" b="0" i="0" u="sng">
                <a:solidFill>
                  <a:srgbClr val="1C2B3A"/>
                </a:solidFill>
                <a:latin typeface="IBM Plex Mono"/>
              </a:rPr>
              <a:t>VereinNr</a:t>
            </a:r>
            <a:r>
              <a:rPr sz="1573" b="0" i="0" u="none">
                <a:solidFill>
                  <a:srgbClr val="1C2B3A"/>
                </a:solidFill>
                <a:latin typeface="IBM Plex Mono"/>
              </a:rPr>
              <a:t>, Name, Ort)</a:t>
            </a:r>
          </a:p>
          <a:p>
            <a:pPr>
              <a:lnSpc>
                <a:spcPct val="105000"/>
              </a:lnSpc>
              <a:spcAft>
                <a:spcPts val="500"/>
              </a:spcAft>
            </a:pPr>
            <a:r>
              <a:rPr sz="1573" b="0" i="0" u="none">
                <a:solidFill>
                  <a:srgbClr val="1C2B3A"/>
                </a:solidFill>
                <a:latin typeface="IBM Plex Mono"/>
              </a:rPr>
              <a:t>Spieler(</a:t>
            </a:r>
            <a:r>
              <a:rPr sz="1573" b="0" i="0" u="sng">
                <a:solidFill>
                  <a:srgbClr val="1C2B3A"/>
                </a:solidFill>
                <a:latin typeface="IBM Plex Mono"/>
              </a:rPr>
              <a:t>SpielerNr</a:t>
            </a:r>
            <a:r>
              <a:rPr sz="1573" b="0" i="0" u="none">
                <a:solidFill>
                  <a:srgbClr val="1C2B3A"/>
                </a:solidFill>
                <a:latin typeface="IBM Plex Mono"/>
              </a:rPr>
              <a:t>, Vorname, Nachname, Jahrgang, Wertung, </a:t>
            </a:r>
            <a:r>
              <a:rPr sz="1573" b="0" i="0" u="none">
                <a:solidFill>
                  <a:srgbClr val="B3261E"/>
                </a:solidFill>
                <a:latin typeface="IBM Plex Mono"/>
              </a:rPr>
              <a:t>↑</a:t>
            </a:r>
            <a:r>
              <a:rPr sz="1573" b="0" i="0" u="none">
                <a:solidFill>
                  <a:srgbClr val="1C2B3A"/>
                </a:solidFill>
                <a:latin typeface="IBM Plex Mono"/>
              </a:rPr>
              <a:t>VereinNr)</a:t>
            </a:r>
          </a:p>
          <a:p>
            <a:pPr>
              <a:lnSpc>
                <a:spcPct val="105000"/>
              </a:lnSpc>
              <a:spcAft>
                <a:spcPts val="500"/>
              </a:spcAft>
            </a:pPr>
            <a:r>
              <a:rPr sz="1573" b="0" i="0" u="none">
                <a:solidFill>
                  <a:srgbClr val="1C2B3A"/>
                </a:solidFill>
                <a:latin typeface="IBM Plex Mono"/>
              </a:rPr>
              <a:t>Turnier(</a:t>
            </a:r>
            <a:r>
              <a:rPr sz="1573" b="0" i="0" u="sng">
                <a:solidFill>
                  <a:srgbClr val="1C2B3A"/>
                </a:solidFill>
                <a:latin typeface="IBM Plex Mono"/>
              </a:rPr>
              <a:t>TurnierNr</a:t>
            </a:r>
            <a:r>
              <a:rPr sz="1573" b="0" i="0" u="none">
                <a:solidFill>
                  <a:srgbClr val="1C2B3A"/>
                </a:solidFill>
                <a:latin typeface="IBM Plex Mono"/>
              </a:rPr>
              <a:t>, Bezeichnung, Datum, Ort)</a:t>
            </a:r>
          </a:p>
          <a:p>
            <a:pPr>
              <a:lnSpc>
                <a:spcPct val="105000"/>
              </a:lnSpc>
              <a:spcAft>
                <a:spcPts val="500"/>
              </a:spcAft>
            </a:pPr>
            <a:r>
              <a:rPr sz="1573" b="0" i="0" u="none">
                <a:solidFill>
                  <a:srgbClr val="1C2B3A"/>
                </a:solidFill>
                <a:latin typeface="IBM Plex Mono"/>
              </a:rPr>
              <a:t>Partie(</a:t>
            </a:r>
            <a:r>
              <a:rPr sz="1573" b="0" i="0" u="sng">
                <a:solidFill>
                  <a:srgbClr val="1C2B3A"/>
                </a:solidFill>
                <a:latin typeface="IBM Plex Mono"/>
              </a:rPr>
              <a:t>PartieNr</a:t>
            </a:r>
            <a:r>
              <a:rPr sz="1573" b="0" i="0" u="none">
                <a:solidFill>
                  <a:srgbClr val="1C2B3A"/>
                </a:solidFill>
                <a:latin typeface="IBM Plex Mono"/>
              </a:rPr>
              <a:t>, </a:t>
            </a:r>
            <a:r>
              <a:rPr sz="1573" b="0" i="0" u="none">
                <a:solidFill>
                  <a:srgbClr val="B3261E"/>
                </a:solidFill>
                <a:latin typeface="IBM Plex Mono"/>
              </a:rPr>
              <a:t>↑</a:t>
            </a:r>
            <a:r>
              <a:rPr sz="1573" b="0" i="0" u="none">
                <a:solidFill>
                  <a:srgbClr val="1C2B3A"/>
                </a:solidFill>
                <a:latin typeface="IBM Plex Mono"/>
              </a:rPr>
              <a:t>TurnierNr, Runde, </a:t>
            </a:r>
            <a:r>
              <a:rPr sz="1573" b="0" i="0" u="none">
                <a:solidFill>
                  <a:srgbClr val="B3261E"/>
                </a:solidFill>
                <a:latin typeface="IBM Plex Mono"/>
              </a:rPr>
              <a:t>↑</a:t>
            </a:r>
            <a:r>
              <a:rPr sz="1573" b="0" i="0" u="none">
                <a:solidFill>
                  <a:srgbClr val="1C2B3A"/>
                </a:solidFill>
                <a:latin typeface="IBM Plex Mono"/>
              </a:rPr>
              <a:t>WeissNr, </a:t>
            </a:r>
            <a:r>
              <a:rPr sz="1573" b="0" i="0" u="none">
                <a:solidFill>
                  <a:srgbClr val="B3261E"/>
                </a:solidFill>
                <a:latin typeface="IBM Plex Mono"/>
              </a:rPr>
              <a:t>↑</a:t>
            </a:r>
            <a:r>
              <a:rPr sz="1573" b="0" i="0" u="none">
                <a:solidFill>
                  <a:srgbClr val="1C2B3A"/>
                </a:solidFill>
                <a:latin typeface="IBM Plex Mono"/>
              </a:rPr>
              <a:t>SchwarzNr, Ergebnis)</a:t>
            </a:r>
          </a:p>
        </p:txBody>
      </p:sp>
      <p:sp>
        <p:nvSpPr>
          <p:cNvPr id="10" name="Rounded Rectangle 9"/>
          <p:cNvSpPr/>
          <p:nvPr/>
        </p:nvSpPr>
        <p:spPr>
          <a:xfrm>
            <a:off x="548640" y="4185995"/>
            <a:ext cx="777240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48640" y="4185995"/>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5800" y="4222571"/>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1</a:t>
            </a:r>
          </a:p>
        </p:txBody>
      </p:sp>
      <p:sp>
        <p:nvSpPr>
          <p:cNvPr id="13" name="TextBox 12"/>
          <p:cNvSpPr txBox="1"/>
          <p:nvPr/>
        </p:nvSpPr>
        <p:spPr>
          <a:xfrm>
            <a:off x="1097280" y="4240859"/>
            <a:ext cx="7132320" cy="457200"/>
          </a:xfrm>
          <a:prstGeom prst="rect">
            <a:avLst/>
          </a:prstGeom>
          <a:noFill/>
        </p:spPr>
        <p:txBody>
          <a:bodyPr wrap="square" lIns="27432" rIns="27432" tIns="27432" bIns="27432" anchor="ctr">
            <a:spAutoFit/>
          </a:bodyPr>
          <a:lstStyle/>
          <a:p>
            <a:pPr>
              <a:lnSpc>
                <a:spcPct val="105000"/>
              </a:lnSpc>
              <a:spcAft>
                <a:spcPts val="400"/>
              </a:spcAft>
            </a:pPr>
            <a:r>
              <a:rPr sz="1440" b="0" i="0" u="none">
                <a:solidFill>
                  <a:srgbClr val="1C2B3A"/>
                </a:solidFill>
                <a:latin typeface="Barlow"/>
              </a:rPr>
              <a:t>Welche Spalten brauche ich – in welchen Tabellen stehen sie?</a:t>
            </a:r>
          </a:p>
        </p:txBody>
      </p:sp>
      <p:sp>
        <p:nvSpPr>
          <p:cNvPr id="14" name="Rounded Rectangle 13"/>
          <p:cNvSpPr/>
          <p:nvPr/>
        </p:nvSpPr>
        <p:spPr>
          <a:xfrm>
            <a:off x="548640" y="4844363"/>
            <a:ext cx="7772400" cy="658368"/>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8640" y="4844363"/>
            <a:ext cx="64008" cy="658368"/>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4880939"/>
            <a:ext cx="457200" cy="585216"/>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2</a:t>
            </a:r>
          </a:p>
        </p:txBody>
      </p:sp>
      <p:sp>
        <p:nvSpPr>
          <p:cNvPr id="17" name="TextBox 16"/>
          <p:cNvSpPr txBox="1"/>
          <p:nvPr/>
        </p:nvSpPr>
        <p:spPr>
          <a:xfrm>
            <a:off x="1097280" y="4899227"/>
            <a:ext cx="7132320" cy="566928"/>
          </a:xfrm>
          <a:prstGeom prst="rect">
            <a:avLst/>
          </a:prstGeom>
          <a:noFill/>
        </p:spPr>
        <p:txBody>
          <a:bodyPr wrap="square" lIns="27432" rIns="27432" tIns="27432" bIns="27432" anchor="ctr">
            <a:spAutoFit/>
          </a:bodyPr>
          <a:lstStyle/>
          <a:p>
            <a:pPr>
              <a:lnSpc>
                <a:spcPct val="105000"/>
              </a:lnSpc>
              <a:spcAft>
                <a:spcPts val="400"/>
              </a:spcAft>
            </a:pPr>
            <a:r>
              <a:rPr sz="1440" b="0" i="0" u="none">
                <a:solidFill>
                  <a:srgbClr val="1C2B3A"/>
                </a:solidFill>
                <a:latin typeface="Barlow"/>
              </a:rPr>
              <a:t>Weg suchen: über Fremdschlüssel von Tabelle zu Tabelle (Turnier → Partie → Spieler)</a:t>
            </a:r>
          </a:p>
        </p:txBody>
      </p:sp>
      <p:sp>
        <p:nvSpPr>
          <p:cNvPr id="18" name="Rounded Rectangle 17"/>
          <p:cNvSpPr/>
          <p:nvPr/>
        </p:nvSpPr>
        <p:spPr>
          <a:xfrm>
            <a:off x="548640" y="5612459"/>
            <a:ext cx="7772400" cy="548640"/>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8640" y="5612459"/>
            <a:ext cx="64008" cy="5486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649035"/>
            <a:ext cx="457200" cy="475488"/>
          </a:xfrm>
          <a:prstGeom prst="rect">
            <a:avLst/>
          </a:prstGeom>
          <a:noFill/>
        </p:spPr>
        <p:txBody>
          <a:bodyPr wrap="square" lIns="27432" rIns="27432" tIns="27432" bIns="27432">
            <a:spAutoFit/>
          </a:bodyPr>
          <a:lstStyle/>
          <a:p>
            <a:pPr>
              <a:lnSpc>
                <a:spcPct val="105000"/>
              </a:lnSpc>
              <a:spcAft>
                <a:spcPts val="400"/>
              </a:spcAft>
            </a:pPr>
            <a:r>
              <a:rPr sz="2200" b="0" i="0" u="none">
                <a:solidFill>
                  <a:srgbClr val="B3261E"/>
                </a:solidFill>
                <a:latin typeface="Barlow Condensed SemiBold"/>
              </a:rPr>
              <a:t>3</a:t>
            </a:r>
          </a:p>
        </p:txBody>
      </p:sp>
      <p:sp>
        <p:nvSpPr>
          <p:cNvPr id="21" name="TextBox 20"/>
          <p:cNvSpPr txBox="1"/>
          <p:nvPr/>
        </p:nvSpPr>
        <p:spPr>
          <a:xfrm>
            <a:off x="1097280" y="5667323"/>
            <a:ext cx="7132320" cy="457200"/>
          </a:xfrm>
          <a:prstGeom prst="rect">
            <a:avLst/>
          </a:prstGeom>
          <a:noFill/>
        </p:spPr>
        <p:txBody>
          <a:bodyPr wrap="square" lIns="27432" rIns="27432" tIns="27432" bIns="27432" anchor="ctr">
            <a:spAutoFit/>
          </a:bodyPr>
          <a:lstStyle/>
          <a:p>
            <a:pPr>
              <a:lnSpc>
                <a:spcPct val="105000"/>
              </a:lnSpc>
              <a:spcAft>
                <a:spcPts val="400"/>
              </a:spcAft>
            </a:pPr>
            <a:r>
              <a:rPr sz="1440" b="0" i="0" u="none">
                <a:solidFill>
                  <a:srgbClr val="1C2B3A"/>
                </a:solidFill>
                <a:latin typeface="Barlow"/>
              </a:rPr>
              <a:t>Je Übergang eine Verbundbedingung: </a:t>
            </a:r>
            <a:r>
              <a:rPr sz="1440" b="1" i="0" u="none">
                <a:solidFill>
                  <a:srgbClr val="1C2B3A"/>
                </a:solidFill>
                <a:latin typeface="Barlow"/>
              </a:rPr>
              <a:t>n Tabellen → n − 1 Bedingungen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Drei Tabellen in einer Abfrage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8321040" y="1691640"/>
            <a:ext cx="3322015" cy="221742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0" y="1691640"/>
            <a:ext cx="73152" cy="221742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0" y="1783080"/>
            <a:ext cx="2910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AUFBAU DES WHERE</a:t>
            </a:r>
          </a:p>
        </p:txBody>
      </p:sp>
      <p:sp>
        <p:nvSpPr>
          <p:cNvPr id="11" name="TextBox 10"/>
          <p:cNvSpPr txBox="1"/>
          <p:nvPr/>
        </p:nvSpPr>
        <p:spPr>
          <a:xfrm>
            <a:off x="8595360" y="2148840"/>
            <a:ext cx="2910535" cy="1714499"/>
          </a:xfrm>
          <a:prstGeom prst="rect">
            <a:avLst/>
          </a:prstGeom>
          <a:noFill/>
        </p:spPr>
        <p:txBody>
          <a:bodyPr wrap="square" lIns="27432" rIns="27432" tIns="27432" bIns="27432">
            <a:spAutoFit/>
          </a:bodyPr>
          <a:lstStyle/>
          <a:p>
            <a:pPr>
              <a:lnSpc>
                <a:spcPct val="105000"/>
              </a:lnSpc>
              <a:spcAft>
                <a:spcPts val="300"/>
              </a:spcAft>
            </a:pPr>
            <a:r>
              <a:rPr sz="1445" b="1">
                <a:solidFill>
                  <a:srgbClr val="2C5A85"/>
                </a:solidFill>
                <a:latin typeface="Barlow"/>
              </a:rPr>
              <a:t>▸  </a:t>
            </a:r>
            <a:r>
              <a:rPr sz="1445" b="0" i="0" u="none">
                <a:solidFill>
                  <a:srgbClr val="1C2B3A"/>
                </a:solidFill>
                <a:latin typeface="Barlow"/>
              </a:rPr>
              <a:t>zwei Verbundbedingungen (3 Tabellen)</a:t>
            </a:r>
          </a:p>
          <a:p>
            <a:pPr>
              <a:lnSpc>
                <a:spcPct val="105000"/>
              </a:lnSpc>
              <a:spcAft>
                <a:spcPts val="300"/>
              </a:spcAft>
            </a:pPr>
            <a:r>
              <a:rPr sz="1445" b="1">
                <a:solidFill>
                  <a:srgbClr val="2C5A85"/>
                </a:solidFill>
                <a:latin typeface="Barlow"/>
              </a:rPr>
              <a:t>▸  </a:t>
            </a:r>
            <a:r>
              <a:rPr sz="1445" b="0" i="0" u="none">
                <a:solidFill>
                  <a:srgbClr val="1C2B3A"/>
                </a:solidFill>
                <a:latin typeface="Barlow"/>
              </a:rPr>
              <a:t>dann die Fachbedingung: nur der Pokal</a:t>
            </a:r>
          </a:p>
          <a:p>
            <a:pPr>
              <a:lnSpc>
                <a:spcPct val="105000"/>
              </a:lnSpc>
              <a:spcAft>
                <a:spcPts val="300"/>
              </a:spcAft>
            </a:pPr>
            <a:r>
              <a:rPr sz="1445" b="1">
                <a:solidFill>
                  <a:srgbClr val="2C5A85"/>
                </a:solidFill>
                <a:latin typeface="Barlow"/>
              </a:rPr>
              <a:t>▸  </a:t>
            </a:r>
            <a:r>
              <a:rPr sz="1445" b="0" i="0" u="none">
                <a:solidFill>
                  <a:srgbClr val="1C2B3A"/>
                </a:solidFill>
                <a:latin typeface="Barlow"/>
              </a:rPr>
              <a:t>FK </a:t>
            </a:r>
            <a:r>
              <a:rPr sz="1300" b="0" i="0" u="none">
                <a:solidFill>
                  <a:srgbClr val="1C2B3A"/>
                </a:solidFill>
                <a:latin typeface="IBM Plex Mono"/>
              </a:rPr>
              <a:t>WeissNr</a:t>
            </a:r>
            <a:r>
              <a:rPr sz="1445" b="0" i="0" u="none">
                <a:solidFill>
                  <a:srgbClr val="1C2B3A"/>
                </a:solidFill>
                <a:latin typeface="Barlow"/>
              </a:rPr>
              <a:t> heißt anders als PK </a:t>
            </a:r>
            <a:r>
              <a:rPr sz="1300" b="0" i="0" u="none">
                <a:solidFill>
                  <a:srgbClr val="1C2B3A"/>
                </a:solidFill>
                <a:latin typeface="IBM Plex Mono"/>
              </a:rPr>
              <a:t>SpielerNr</a:t>
            </a:r>
          </a:p>
        </p:txBody>
      </p:sp>
      <p:sp>
        <p:nvSpPr>
          <p:cNvPr id="12" name="SQL-Hintergrund"/>
          <p:cNvSpPr/>
          <p:nvPr/>
        </p:nvSpPr>
        <p:spPr>
          <a:xfrm>
            <a:off x="548640" y="1691640"/>
            <a:ext cx="7498079" cy="1351915"/>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7132319" cy="1077595"/>
          </a:xfrm>
          <a:prstGeom prst="rect">
            <a:avLst/>
          </a:prstGeom>
          <a:noFill/>
        </p:spPr>
        <p:txBody>
          <a:bodyPr wrap="square" lIns="18288" rIns="18288" tIns="18288" bIns="18288">
            <a:spAutoFit/>
          </a:bodyPr>
          <a:lstStyle/>
          <a:p>
            <a:pPr>
              <a:lnSpc>
                <a:spcPct val="100000"/>
              </a:lnSpc>
            </a:pPr>
            <a:r>
              <a:rPr sz="1300" i="0">
                <a:solidFill>
                  <a:srgbClr val="F2A65A"/>
                </a:solidFill>
                <a:latin typeface="IBM Plex Mono"/>
              </a:rPr>
              <a:t>SELECT</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Bezeichnung</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Runde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Spieler</a:t>
            </a:r>
            <a:r>
              <a:rPr sz="1300" i="0">
                <a:solidFill>
                  <a:srgbClr val="D8E3D0"/>
                </a:solidFill>
                <a:latin typeface="IBM Plex Mono"/>
              </a:rPr>
              <a:t>.</a:t>
            </a:r>
            <a:r>
              <a:rPr sz="1300" i="0">
                <a:solidFill>
                  <a:srgbClr val="D8E3D0"/>
                </a:solidFill>
                <a:latin typeface="IBM Plex Mono"/>
              </a:rPr>
              <a:t>Nachname</a:t>
            </a:r>
            <a:r>
              <a:rPr sz="1300" i="0">
                <a:solidFill>
                  <a:srgbClr val="D8E3D0"/>
                </a:solidFill>
                <a:latin typeface="IBM Plex Mono"/>
              </a:rPr>
              <a:t> </a:t>
            </a:r>
            <a:r>
              <a:rPr sz="1300" i="0">
                <a:solidFill>
                  <a:srgbClr val="F2A65A"/>
                </a:solidFill>
                <a:latin typeface="IBM Plex Mono"/>
              </a:rPr>
              <a:t>AS</a:t>
            </a:r>
            <a:r>
              <a:rPr sz="1300" i="0">
                <a:solidFill>
                  <a:srgbClr val="D8E3D0"/>
                </a:solidFill>
                <a:latin typeface="IBM Plex Mono"/>
              </a:rPr>
              <a:t> </a:t>
            </a:r>
            <a:r>
              <a:rPr sz="1300" i="0">
                <a:solidFill>
                  <a:srgbClr val="D8E3D0"/>
                </a:solidFill>
                <a:latin typeface="IBM Plex Mono"/>
              </a:rPr>
              <a:t>Weiss</a:t>
            </a:r>
          </a:p>
          <a:p>
            <a:pPr>
              <a:lnSpc>
                <a:spcPct val="100000"/>
              </a:lnSpc>
            </a:pPr>
            <a:r>
              <a:rPr sz="1300" i="0">
                <a:solidFill>
                  <a:srgbClr val="F2A65A"/>
                </a:solidFill>
                <a:latin typeface="IBM Plex Mono"/>
              </a:rPr>
              <a:t>FROM</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Spieler</a:t>
            </a:r>
          </a:p>
          <a:p>
            <a:pPr>
              <a:lnSpc>
                <a:spcPct val="100000"/>
              </a:lnSpc>
            </a:pPr>
            <a:r>
              <a:rPr sz="1300" i="0">
                <a:solidFill>
                  <a:srgbClr val="F2A65A"/>
                </a:solidFill>
                <a:latin typeface="IBM Plex Mono"/>
              </a:rPr>
              <a:t>WHERE</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TurnierNr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TurnierNr</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Partie</a:t>
            </a:r>
            <a:r>
              <a:rPr sz="1300" i="0">
                <a:solidFill>
                  <a:srgbClr val="D8E3D0"/>
                </a:solidFill>
                <a:latin typeface="IBM Plex Mono"/>
              </a:rPr>
              <a:t>.</a:t>
            </a:r>
            <a:r>
              <a:rPr sz="1300" i="0">
                <a:solidFill>
                  <a:srgbClr val="D8E3D0"/>
                </a:solidFill>
                <a:latin typeface="IBM Plex Mono"/>
              </a:rPr>
              <a:t>WeissNr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D8E3D0"/>
                </a:solidFill>
                <a:latin typeface="IBM Plex Mono"/>
              </a:rPr>
              <a:t>Spieler</a:t>
            </a:r>
            <a:r>
              <a:rPr sz="1300" i="0">
                <a:solidFill>
                  <a:srgbClr val="D8E3D0"/>
                </a:solidFill>
                <a:latin typeface="IBM Plex Mono"/>
              </a:rPr>
              <a:t>.</a:t>
            </a:r>
            <a:r>
              <a:rPr sz="1300" i="0">
                <a:solidFill>
                  <a:srgbClr val="D8E3D0"/>
                </a:solidFill>
                <a:latin typeface="IBM Plex Mono"/>
              </a:rPr>
              <a:t>SpielerNr</a:t>
            </a:r>
          </a:p>
          <a:p>
            <a:pPr>
              <a:lnSpc>
                <a:spcPct val="100000"/>
              </a:lnSpc>
            </a:pPr>
            <a:r>
              <a:rPr sz="1300" i="0">
                <a:solidFill>
                  <a:srgbClr val="D8E3D0"/>
                </a:solidFill>
                <a:latin typeface="IBM Plex Mono"/>
              </a:rPr>
              <a:t>  </a:t>
            </a:r>
            <a:r>
              <a:rPr sz="1300" i="0">
                <a:solidFill>
                  <a:srgbClr val="F2A65A"/>
                </a:solidFill>
                <a:latin typeface="IBM Plex Mono"/>
              </a:rPr>
              <a:t>AND</a:t>
            </a:r>
            <a:r>
              <a:rPr sz="1300" i="0">
                <a:solidFill>
                  <a:srgbClr val="D8E3D0"/>
                </a:solidFill>
                <a:latin typeface="IBM Plex Mono"/>
              </a:rPr>
              <a:t> </a:t>
            </a:r>
            <a:r>
              <a:rPr sz="1300" i="0">
                <a:solidFill>
                  <a:srgbClr val="D8E3D0"/>
                </a:solidFill>
                <a:latin typeface="IBM Plex Mono"/>
              </a:rPr>
              <a:t>Turnier</a:t>
            </a:r>
            <a:r>
              <a:rPr sz="1300" i="0">
                <a:solidFill>
                  <a:srgbClr val="D8E3D0"/>
                </a:solidFill>
                <a:latin typeface="IBM Plex Mono"/>
              </a:rPr>
              <a:t>.</a:t>
            </a:r>
            <a:r>
              <a:rPr sz="1300" i="0">
                <a:solidFill>
                  <a:srgbClr val="D8E3D0"/>
                </a:solidFill>
                <a:latin typeface="IBM Plex Mono"/>
              </a:rPr>
              <a:t>TurnierNr</a:t>
            </a:r>
            <a:r>
              <a:rPr sz="1300" i="0">
                <a:solidFill>
                  <a:srgbClr val="D8E3D0"/>
                </a:solidFill>
                <a:latin typeface="IBM Plex Mono"/>
              </a:rPr>
              <a:t> </a:t>
            </a:r>
            <a:r>
              <a:rPr sz="1300" i="0">
                <a:solidFill>
                  <a:srgbClr val="D8E3D0"/>
                </a:solidFill>
                <a:latin typeface="IBM Plex Mono"/>
              </a:rPr>
              <a:t>=</a:t>
            </a:r>
            <a:r>
              <a:rPr sz="1300" i="0">
                <a:solidFill>
                  <a:srgbClr val="D8E3D0"/>
                </a:solidFill>
                <a:latin typeface="IBM Plex Mono"/>
              </a:rPr>
              <a:t> </a:t>
            </a:r>
            <a:r>
              <a:rPr sz="1300" i="0">
                <a:solidFill>
                  <a:srgbClr val="8CC4FF"/>
                </a:solidFill>
                <a:latin typeface="IBM Plex Mono"/>
              </a:rPr>
              <a:t>2</a:t>
            </a:r>
          </a:p>
        </p:txBody>
      </p:sp>
      <p:sp>
        <p:nvSpPr>
          <p:cNvPr id="14" name="TextBox 13"/>
          <p:cNvSpPr txBox="1"/>
          <p:nvPr/>
        </p:nvSpPr>
        <p:spPr>
          <a:xfrm>
            <a:off x="548640" y="3116707"/>
            <a:ext cx="749807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6 ZEILEN</a:t>
            </a:r>
          </a:p>
        </p:txBody>
      </p:sp>
      <p:graphicFrame>
        <p:nvGraphicFramePr>
          <p:cNvPr id="15" name="Ergebnistabelle"/>
          <p:cNvGraphicFramePr>
            <a:graphicFrameLocks noGrp="1"/>
          </p:cNvGraphicFramePr>
          <p:nvPr/>
        </p:nvGraphicFramePr>
        <p:xfrm>
          <a:off x="548640" y="3427603"/>
          <a:ext cx="4437126" cy="2066925"/>
        </p:xfrm>
        <a:graphic>
          <a:graphicData uri="http://schemas.openxmlformats.org/drawingml/2006/table">
            <a:tbl>
              <a:tblPr firstRow="1">
                <a:tableStyleId>{5C22544A-7EE6-4342-B048-85BDC9FD1C3A}</a:tableStyleId>
              </a:tblPr>
              <a:tblGrid>
                <a:gridCol w="2372868"/>
                <a:gridCol w="857250"/>
                <a:gridCol w="1207008"/>
              </a:tblGrid>
              <a:tr h="295275">
                <a:tc>
                  <a:txBody>
                    <a:bodyPr/>
                    <a:lstStyle/>
                    <a:p>
                      <a:r>
                        <a:rPr sz="1380" b="1" i="0" u="none">
                          <a:solidFill>
                            <a:srgbClr val="1C2B3A"/>
                          </a:solidFill>
                          <a:latin typeface="IBM Plex Mono"/>
                        </a:rPr>
                        <a:t>Bezeichnung</a:t>
                      </a:r>
                    </a:p>
                  </a:txBody>
                  <a:tcPr marL="54864" marR="54864" marT="18288" marB="18288">
                    <a:solidFill>
                      <a:srgbClr val="EBE2D2"/>
                    </a:solidFill>
                  </a:tcPr>
                </a:tc>
                <a:tc>
                  <a:txBody>
                    <a:bodyPr/>
                    <a:lstStyle/>
                    <a:p>
                      <a:r>
                        <a:rPr sz="1380" b="1" i="0" u="none">
                          <a:solidFill>
                            <a:srgbClr val="1C2B3A"/>
                          </a:solidFill>
                          <a:latin typeface="IBM Plex Mono"/>
                        </a:rPr>
                        <a:t>Runde</a:t>
                      </a:r>
                    </a:p>
                  </a:txBody>
                  <a:tcPr marL="54864" marR="54864" marT="18288" marB="18288">
                    <a:solidFill>
                      <a:srgbClr val="EBE2D2"/>
                    </a:solidFill>
                  </a:tcPr>
                </a:tc>
                <a:tc>
                  <a:txBody>
                    <a:bodyPr/>
                    <a:lstStyle/>
                    <a:p>
                      <a:r>
                        <a:rPr sz="1380" b="1" i="0" u="none">
                          <a:solidFill>
                            <a:srgbClr val="1C2B3A"/>
                          </a:solidFill>
                          <a:latin typeface="IBM Plex Mono"/>
                        </a:rPr>
                        <a:t>Weiss</a:t>
                      </a:r>
                    </a:p>
                  </a:txBody>
                  <a:tcPr marL="54864" marR="54864" marT="18288" marB="18288">
                    <a:solidFill>
                      <a:srgbClr val="EBE2D2"/>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Harjes</a:t>
                      </a:r>
                    </a:p>
                  </a:txBody>
                  <a:tcPr marL="54864" marR="54864" marT="18288" marB="18288">
                    <a:solidFill>
                      <a:srgbClr val="FFFDF8"/>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Wilms</a:t>
                      </a:r>
                    </a:p>
                  </a:txBody>
                  <a:tcPr marL="54864" marR="54864" marT="18288" marB="18288">
                    <a:solidFill>
                      <a:srgbClr val="FFFDF8"/>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1</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Uphoff</a:t>
                      </a:r>
                    </a:p>
                  </a:txBody>
                  <a:tcPr marL="54864" marR="54864" marT="18288" marB="18288">
                    <a:solidFill>
                      <a:srgbClr val="FFFDF8"/>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Saathoff</a:t>
                      </a:r>
                    </a:p>
                  </a:txBody>
                  <a:tcPr marL="54864" marR="54864" marT="18288" marB="18288">
                    <a:solidFill>
                      <a:srgbClr val="FFFDF8"/>
                    </a:solidFill>
                  </a:tcPr>
                </a:tc>
              </a:tr>
              <a:tr h="295275">
                <a:tc>
                  <a:txBody>
                    <a:bodyPr/>
                    <a:lstStyle/>
                    <a:p>
                      <a:r>
                        <a:rPr sz="1500" b="0" i="0" u="none">
                          <a:solidFill>
                            <a:srgbClr val="1C2B3A"/>
                          </a:solidFill>
                          <a:latin typeface="Barlow"/>
                        </a:rPr>
                        <a:t>Weserbrücken-Pokal</a:t>
                      </a:r>
                    </a:p>
                  </a:txBody>
                  <a:tcPr marL="54864" marR="54864" marT="18288" marB="18288">
                    <a:solidFill>
                      <a:srgbClr val="FFFDF8"/>
                    </a:solidFill>
                  </a:tcPr>
                </a:tc>
                <a:tc>
                  <a:txBody>
                    <a:bodyPr/>
                    <a:lstStyle/>
                    <a:p>
                      <a:pPr algn="r"/>
                      <a:r>
                        <a:rPr sz="1500" b="0" i="0" u="none">
                          <a:solidFill>
                            <a:srgbClr val="1C2B3A"/>
                          </a:solidFill>
                          <a:latin typeface="Barlow"/>
                        </a:rPr>
                        <a:t>2</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Zwei Fremdschlüssel auf dieselbe Tabelle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Rounded Rectangle 7"/>
          <p:cNvSpPr/>
          <p:nvPr/>
        </p:nvSpPr>
        <p:spPr>
          <a:xfrm>
            <a:off x="8321040" y="1691640"/>
            <a:ext cx="3322015" cy="202615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0" y="1691640"/>
            <a:ext cx="73152" cy="202615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95360" y="1783080"/>
            <a:ext cx="2910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SPIELER ZWEIMAL</a:t>
            </a:r>
          </a:p>
        </p:txBody>
      </p:sp>
      <p:sp>
        <p:nvSpPr>
          <p:cNvPr id="11" name="TextBox 10"/>
          <p:cNvSpPr txBox="1"/>
          <p:nvPr/>
        </p:nvSpPr>
        <p:spPr>
          <a:xfrm>
            <a:off x="8595360" y="2148840"/>
            <a:ext cx="2910535" cy="1523237"/>
          </a:xfrm>
          <a:prstGeom prst="rect">
            <a:avLst/>
          </a:prstGeom>
          <a:noFill/>
        </p:spPr>
        <p:txBody>
          <a:bodyPr wrap="square" lIns="27432" rIns="27432" tIns="27432" bIns="27432">
            <a:spAutoFit/>
          </a:bodyPr>
          <a:lstStyle/>
          <a:p>
            <a:pPr>
              <a:lnSpc>
                <a:spcPct val="105000"/>
              </a:lnSpc>
              <a:spcAft>
                <a:spcPts val="300"/>
              </a:spcAft>
            </a:pPr>
            <a:r>
              <a:rPr sz="1453" b="0" i="0" u="none">
                <a:solidFill>
                  <a:srgbClr val="1C2B3A"/>
                </a:solidFill>
                <a:latin typeface="IBM Plex Mono"/>
              </a:rPr>
              <a:t>Spieler w</a:t>
            </a:r>
            <a:r>
              <a:rPr sz="1614" b="0" i="0" u="none">
                <a:solidFill>
                  <a:srgbClr val="1C2B3A"/>
                </a:solidFill>
                <a:latin typeface="Barlow"/>
              </a:rPr>
              <a:t> und </a:t>
            </a:r>
            <a:r>
              <a:rPr sz="1453" b="0" i="0" u="none">
                <a:solidFill>
                  <a:srgbClr val="1C2B3A"/>
                </a:solidFill>
                <a:latin typeface="IBM Plex Mono"/>
              </a:rPr>
              <a:t>Spieler s</a:t>
            </a:r>
            <a:r>
              <a:rPr sz="1614" b="0" i="0" u="none">
                <a:solidFill>
                  <a:srgbClr val="1C2B3A"/>
                </a:solidFill>
                <a:latin typeface="Barlow"/>
              </a:rPr>
              <a:t>: dieselbe Tabelle mit zwei Aliasen (ohne AS).</a:t>
            </a:r>
          </a:p>
          <a:p>
            <a:pPr>
              <a:lnSpc>
                <a:spcPct val="105000"/>
              </a:lnSpc>
              <a:spcAft>
                <a:spcPts val="300"/>
              </a:spcAft>
            </a:pPr>
            <a:r>
              <a:rPr sz="1614" b="0" i="0" u="none">
                <a:solidFill>
                  <a:srgbClr val="1C2B3A"/>
                </a:solidFill>
                <a:latin typeface="Barlow"/>
              </a:rPr>
              <a:t>Jeder Fremdschlüssel bekommt seine eigene Kopie.</a:t>
            </a:r>
          </a:p>
        </p:txBody>
      </p:sp>
      <p:sp>
        <p:nvSpPr>
          <p:cNvPr id="12" name="SQL-Hintergrund"/>
          <p:cNvSpPr/>
          <p:nvPr/>
        </p:nvSpPr>
        <p:spPr>
          <a:xfrm>
            <a:off x="548640" y="1691640"/>
            <a:ext cx="7498079" cy="1653539"/>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7132319" cy="1379219"/>
          </a:xfrm>
          <a:prstGeom prst="rect">
            <a:avLst/>
          </a:prstGeom>
          <a:noFill/>
        </p:spPr>
        <p:txBody>
          <a:bodyPr wrap="square" lIns="18288" rIns="18288" tIns="18288" bIns="18288">
            <a:spAutoFit/>
          </a:bodyPr>
          <a:lstStyle/>
          <a:p>
            <a:pPr>
              <a:lnSpc>
                <a:spcPct val="100000"/>
              </a:lnSpc>
            </a:pPr>
            <a:r>
              <a:rPr sz="1400" i="0">
                <a:solidFill>
                  <a:srgbClr val="F2A65A"/>
                </a:solidFill>
                <a:latin typeface="IBM Plex Mono"/>
              </a:rPr>
              <a:t>SELECT</a:t>
            </a:r>
            <a:r>
              <a:rPr sz="1400" i="0">
                <a:solidFill>
                  <a:srgbClr val="D8E3D0"/>
                </a:solidFill>
                <a:latin typeface="IBM Plex Mono"/>
              </a:rPr>
              <a:t> </a:t>
            </a:r>
            <a:r>
              <a:rPr sz="1400" i="0">
                <a:solidFill>
                  <a:srgbClr val="D8E3D0"/>
                </a:solidFill>
                <a:latin typeface="IBM Plex Mono"/>
              </a:rPr>
              <a:t>w</a:t>
            </a:r>
            <a:r>
              <a:rPr sz="1400" i="0">
                <a:solidFill>
                  <a:srgbClr val="D8E3D0"/>
                </a:solidFill>
                <a:latin typeface="IBM Plex Mono"/>
              </a:rPr>
              <a:t>.</a:t>
            </a:r>
            <a:r>
              <a:rPr sz="1400" i="0">
                <a:solidFill>
                  <a:srgbClr val="D8E3D0"/>
                </a:solidFill>
                <a:latin typeface="IBM Plex Mono"/>
              </a:rPr>
              <a:t>Vorname</a:t>
            </a:r>
            <a:r>
              <a:rPr sz="1400" i="0">
                <a:solidFill>
                  <a:srgbClr val="D8E3D0"/>
                </a:solidFill>
                <a:latin typeface="IBM Plex Mono"/>
              </a:rPr>
              <a:t> </a:t>
            </a:r>
            <a:r>
              <a:rPr sz="1400" i="0">
                <a:solidFill>
                  <a:srgbClr val="F2A65A"/>
                </a:solidFill>
                <a:latin typeface="IBM Plex Mono"/>
              </a:rPr>
              <a:t>AS</a:t>
            </a:r>
            <a:r>
              <a:rPr sz="1400" i="0">
                <a:solidFill>
                  <a:srgbClr val="D8E3D0"/>
                </a:solidFill>
                <a:latin typeface="IBM Plex Mono"/>
              </a:rPr>
              <a:t> </a:t>
            </a:r>
            <a:r>
              <a:rPr sz="1400" i="0">
                <a:solidFill>
                  <a:srgbClr val="D8E3D0"/>
                </a:solidFill>
                <a:latin typeface="IBM Plex Mono"/>
              </a:rPr>
              <a:t>Weiss</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s</a:t>
            </a:r>
            <a:r>
              <a:rPr sz="1400" i="0">
                <a:solidFill>
                  <a:srgbClr val="D8E3D0"/>
                </a:solidFill>
                <a:latin typeface="IBM Plex Mono"/>
              </a:rPr>
              <a:t>.</a:t>
            </a:r>
            <a:r>
              <a:rPr sz="1400" i="0">
                <a:solidFill>
                  <a:srgbClr val="D8E3D0"/>
                </a:solidFill>
                <a:latin typeface="IBM Plex Mono"/>
              </a:rPr>
              <a:t>Vorname</a:t>
            </a:r>
            <a:r>
              <a:rPr sz="1400" i="0">
                <a:solidFill>
                  <a:srgbClr val="D8E3D0"/>
                </a:solidFill>
                <a:latin typeface="IBM Plex Mono"/>
              </a:rPr>
              <a:t> </a:t>
            </a:r>
            <a:r>
              <a:rPr sz="1400" i="0">
                <a:solidFill>
                  <a:srgbClr val="F2A65A"/>
                </a:solidFill>
                <a:latin typeface="IBM Plex Mono"/>
              </a:rPr>
              <a:t>AS</a:t>
            </a:r>
            <a:r>
              <a:rPr sz="1400" i="0">
                <a:solidFill>
                  <a:srgbClr val="D8E3D0"/>
                </a:solidFill>
                <a:latin typeface="IBM Plex Mono"/>
              </a:rPr>
              <a:t> </a:t>
            </a:r>
            <a:r>
              <a:rPr sz="1400" i="0">
                <a:solidFill>
                  <a:srgbClr val="D8E3D0"/>
                </a:solidFill>
                <a:latin typeface="IBM Plex Mono"/>
              </a:rPr>
              <a:t>Schwarz</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Ergebnis</a:t>
            </a:r>
          </a:p>
          <a:p>
            <a:pPr>
              <a:lnSpc>
                <a:spcPct val="100000"/>
              </a:lnSpc>
            </a:pPr>
            <a:r>
              <a:rPr sz="1400" i="0">
                <a:solidFill>
                  <a:srgbClr val="F2A65A"/>
                </a:solidFill>
                <a:latin typeface="IBM Plex Mono"/>
              </a:rPr>
              <a:t>FROM</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Spieler</a:t>
            </a:r>
            <a:r>
              <a:rPr sz="1400" i="0">
                <a:solidFill>
                  <a:srgbClr val="D8E3D0"/>
                </a:solidFill>
                <a:latin typeface="IBM Plex Mono"/>
              </a:rPr>
              <a:t> </a:t>
            </a:r>
            <a:r>
              <a:rPr sz="1400" i="0">
                <a:solidFill>
                  <a:srgbClr val="D8E3D0"/>
                </a:solidFill>
                <a:latin typeface="IBM Plex Mono"/>
              </a:rPr>
              <a:t>w</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Spieler</a:t>
            </a:r>
            <a:r>
              <a:rPr sz="1400" i="0">
                <a:solidFill>
                  <a:srgbClr val="D8E3D0"/>
                </a:solidFill>
                <a:latin typeface="IBM Plex Mono"/>
              </a:rPr>
              <a:t> </a:t>
            </a:r>
            <a:r>
              <a:rPr sz="1400" i="0">
                <a:solidFill>
                  <a:srgbClr val="D8E3D0"/>
                </a:solidFill>
                <a:latin typeface="IBM Plex Mono"/>
              </a:rPr>
              <a:t>s</a:t>
            </a:r>
          </a:p>
          <a:p>
            <a:pPr>
              <a:lnSpc>
                <a:spcPct val="100000"/>
              </a:lnSpc>
            </a:pPr>
            <a:r>
              <a:rPr sz="1400" i="0">
                <a:solidFill>
                  <a:srgbClr val="F2A65A"/>
                </a:solidFill>
                <a:latin typeface="IBM Plex Mono"/>
              </a:rPr>
              <a:t>WHERE</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WeissNr</a:t>
            </a:r>
            <a:r>
              <a:rPr sz="1400" i="0">
                <a:solidFill>
                  <a:srgbClr val="D8E3D0"/>
                </a:solidFill>
                <a:latin typeface="IBM Plex Mono"/>
              </a:rPr>
              <a:t> </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w</a:t>
            </a:r>
            <a:r>
              <a:rPr sz="1400" i="0">
                <a:solidFill>
                  <a:srgbClr val="D8E3D0"/>
                </a:solidFill>
                <a:latin typeface="IBM Plex Mono"/>
              </a:rPr>
              <a:t>.</a:t>
            </a:r>
            <a:r>
              <a:rPr sz="1400" i="0">
                <a:solidFill>
                  <a:srgbClr val="D8E3D0"/>
                </a:solidFill>
                <a:latin typeface="IBM Plex Mono"/>
              </a:rPr>
              <a:t>SpielerNr</a:t>
            </a:r>
          </a:p>
          <a:p>
            <a:pPr>
              <a:lnSpc>
                <a:spcPct val="100000"/>
              </a:lnSpc>
            </a:pPr>
            <a:r>
              <a:rPr sz="1400" i="0">
                <a:solidFill>
                  <a:srgbClr val="D8E3D0"/>
                </a:solidFill>
                <a:latin typeface="IBM Plex Mono"/>
              </a:rPr>
              <a:t>  </a:t>
            </a:r>
            <a:r>
              <a:rPr sz="1400" i="0">
                <a:solidFill>
                  <a:srgbClr val="F2A65A"/>
                </a:solidFill>
                <a:latin typeface="IBM Plex Mono"/>
              </a:rPr>
              <a:t>AND</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SchwarzNr</a:t>
            </a:r>
            <a:r>
              <a:rPr sz="1400" i="0">
                <a:solidFill>
                  <a:srgbClr val="D8E3D0"/>
                </a:solidFill>
                <a:latin typeface="IBM Plex Mono"/>
              </a:rPr>
              <a:t> </a:t>
            </a:r>
            <a:r>
              <a:rPr sz="1400" i="0">
                <a:solidFill>
                  <a:srgbClr val="D8E3D0"/>
                </a:solidFill>
                <a:latin typeface="IBM Plex Mono"/>
              </a:rPr>
              <a:t>=</a:t>
            </a:r>
            <a:r>
              <a:rPr sz="1400" i="0">
                <a:solidFill>
                  <a:srgbClr val="D8E3D0"/>
                </a:solidFill>
                <a:latin typeface="IBM Plex Mono"/>
              </a:rPr>
              <a:t> </a:t>
            </a:r>
            <a:r>
              <a:rPr sz="1400" i="0">
                <a:solidFill>
                  <a:srgbClr val="D8E3D0"/>
                </a:solidFill>
                <a:latin typeface="IBM Plex Mono"/>
              </a:rPr>
              <a:t>s</a:t>
            </a:r>
            <a:r>
              <a:rPr sz="1400" i="0">
                <a:solidFill>
                  <a:srgbClr val="D8E3D0"/>
                </a:solidFill>
                <a:latin typeface="IBM Plex Mono"/>
              </a:rPr>
              <a:t>.</a:t>
            </a:r>
            <a:r>
              <a:rPr sz="1400" i="0">
                <a:solidFill>
                  <a:srgbClr val="D8E3D0"/>
                </a:solidFill>
                <a:latin typeface="IBM Plex Mono"/>
              </a:rPr>
              <a:t>SpielerNr</a:t>
            </a:r>
          </a:p>
          <a:p>
            <a:pPr>
              <a:lnSpc>
                <a:spcPct val="100000"/>
              </a:lnSpc>
            </a:pPr>
            <a:r>
              <a:rPr sz="1400" i="0">
                <a:solidFill>
                  <a:srgbClr val="D8E3D0"/>
                </a:solidFill>
                <a:latin typeface="IBM Plex Mono"/>
              </a:rPr>
              <a:t>  </a:t>
            </a:r>
            <a:r>
              <a:rPr sz="1400" i="0">
                <a:solidFill>
                  <a:srgbClr val="F2A65A"/>
                </a:solidFill>
                <a:latin typeface="IBM Plex Mono"/>
              </a:rPr>
              <a:t>AND</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TurnierNr</a:t>
            </a:r>
            <a:r>
              <a:rPr sz="1400" i="0">
                <a:solidFill>
                  <a:srgbClr val="D8E3D0"/>
                </a:solidFill>
                <a:latin typeface="IBM Plex Mono"/>
              </a:rPr>
              <a:t> </a:t>
            </a:r>
            <a:r>
              <a:rPr sz="1400" i="0">
                <a:solidFill>
                  <a:srgbClr val="D8E3D0"/>
                </a:solidFill>
                <a:latin typeface="IBM Plex Mono"/>
              </a:rPr>
              <a:t>=</a:t>
            </a:r>
            <a:r>
              <a:rPr sz="1400" i="0">
                <a:solidFill>
                  <a:srgbClr val="D8E3D0"/>
                </a:solidFill>
                <a:latin typeface="IBM Plex Mono"/>
              </a:rPr>
              <a:t> </a:t>
            </a:r>
            <a:r>
              <a:rPr sz="1400" i="0">
                <a:solidFill>
                  <a:srgbClr val="8CC4FF"/>
                </a:solidFill>
                <a:latin typeface="IBM Plex Mono"/>
              </a:rPr>
              <a:t>2</a:t>
            </a:r>
          </a:p>
          <a:p>
            <a:pPr>
              <a:lnSpc>
                <a:spcPct val="100000"/>
              </a:lnSpc>
            </a:pPr>
            <a:r>
              <a:rPr sz="1400" i="0">
                <a:solidFill>
                  <a:srgbClr val="D8E3D0"/>
                </a:solidFill>
                <a:latin typeface="IBM Plex Mono"/>
              </a:rPr>
              <a:t>  </a:t>
            </a:r>
            <a:r>
              <a:rPr sz="1400" i="0">
                <a:solidFill>
                  <a:srgbClr val="F2A65A"/>
                </a:solidFill>
                <a:latin typeface="IBM Plex Mono"/>
              </a:rPr>
              <a:t>AND</a:t>
            </a:r>
            <a:r>
              <a:rPr sz="1400" i="0">
                <a:solidFill>
                  <a:srgbClr val="D8E3D0"/>
                </a:solidFill>
                <a:latin typeface="IBM Plex Mono"/>
              </a:rPr>
              <a:t> </a:t>
            </a:r>
            <a:r>
              <a:rPr sz="1400" i="0">
                <a:solidFill>
                  <a:srgbClr val="D8E3D0"/>
                </a:solidFill>
                <a:latin typeface="IBM Plex Mono"/>
              </a:rPr>
              <a:t>Partie</a:t>
            </a:r>
            <a:r>
              <a:rPr sz="1400" i="0">
                <a:solidFill>
                  <a:srgbClr val="D8E3D0"/>
                </a:solidFill>
                <a:latin typeface="IBM Plex Mono"/>
              </a:rPr>
              <a:t>.</a:t>
            </a:r>
            <a:r>
              <a:rPr sz="1400" i="0">
                <a:solidFill>
                  <a:srgbClr val="D8E3D0"/>
                </a:solidFill>
                <a:latin typeface="IBM Plex Mono"/>
              </a:rPr>
              <a:t>Runde</a:t>
            </a:r>
            <a:r>
              <a:rPr sz="1400" i="0">
                <a:solidFill>
                  <a:srgbClr val="D8E3D0"/>
                </a:solidFill>
                <a:latin typeface="IBM Plex Mono"/>
              </a:rPr>
              <a:t> </a:t>
            </a:r>
            <a:r>
              <a:rPr sz="1400" i="0">
                <a:solidFill>
                  <a:srgbClr val="D8E3D0"/>
                </a:solidFill>
                <a:latin typeface="IBM Plex Mono"/>
              </a:rPr>
              <a:t>=</a:t>
            </a:r>
            <a:r>
              <a:rPr sz="1400" i="0">
                <a:solidFill>
                  <a:srgbClr val="D8E3D0"/>
                </a:solidFill>
                <a:latin typeface="IBM Plex Mono"/>
              </a:rPr>
              <a:t> </a:t>
            </a:r>
            <a:r>
              <a:rPr sz="1400" i="0">
                <a:solidFill>
                  <a:srgbClr val="8CC4FF"/>
                </a:solidFill>
                <a:latin typeface="IBM Plex Mono"/>
              </a:rPr>
              <a:t>1</a:t>
            </a:r>
          </a:p>
        </p:txBody>
      </p:sp>
      <p:sp>
        <p:nvSpPr>
          <p:cNvPr id="14" name="TextBox 13"/>
          <p:cNvSpPr txBox="1"/>
          <p:nvPr/>
        </p:nvSpPr>
        <p:spPr>
          <a:xfrm>
            <a:off x="548640" y="3418332"/>
            <a:ext cx="749807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3 ZEILEN</a:t>
            </a:r>
          </a:p>
        </p:txBody>
      </p:sp>
      <p:graphicFrame>
        <p:nvGraphicFramePr>
          <p:cNvPr id="15" name="Ergebnistabelle"/>
          <p:cNvGraphicFramePr>
            <a:graphicFrameLocks noGrp="1"/>
          </p:cNvGraphicFramePr>
          <p:nvPr/>
        </p:nvGraphicFramePr>
        <p:xfrm>
          <a:off x="548640" y="3729228"/>
          <a:ext cx="3154680" cy="1181100"/>
        </p:xfrm>
        <a:graphic>
          <a:graphicData uri="http://schemas.openxmlformats.org/drawingml/2006/table">
            <a:tbl>
              <a:tblPr firstRow="1">
                <a:tableStyleId>{5C22544A-7EE6-4342-B048-85BDC9FD1C3A}</a:tableStyleId>
              </a:tblPr>
              <a:tblGrid>
                <a:gridCol w="857250"/>
                <a:gridCol w="1090422"/>
                <a:gridCol w="1207008"/>
              </a:tblGrid>
              <a:tr h="295275">
                <a:tc>
                  <a:txBody>
                    <a:bodyPr/>
                    <a:lstStyle/>
                    <a:p>
                      <a:r>
                        <a:rPr sz="1380" b="1" i="0" u="none">
                          <a:solidFill>
                            <a:srgbClr val="1C2B3A"/>
                          </a:solidFill>
                          <a:latin typeface="IBM Plex Mono"/>
                        </a:rPr>
                        <a:t>Weiss</a:t>
                      </a:r>
                    </a:p>
                  </a:txBody>
                  <a:tcPr marL="54864" marR="54864" marT="18288" marB="18288">
                    <a:solidFill>
                      <a:srgbClr val="EBE2D2"/>
                    </a:solidFill>
                  </a:tcPr>
                </a:tc>
                <a:tc>
                  <a:txBody>
                    <a:bodyPr/>
                    <a:lstStyle/>
                    <a:p>
                      <a:r>
                        <a:rPr sz="1380" b="1" i="0" u="none">
                          <a:solidFill>
                            <a:srgbClr val="1C2B3A"/>
                          </a:solidFill>
                          <a:latin typeface="IBM Plex Mono"/>
                        </a:rPr>
                        <a:t>Schwarz</a:t>
                      </a:r>
                    </a:p>
                  </a:txBody>
                  <a:tcPr marL="54864" marR="54864" marT="18288" marB="18288">
                    <a:solidFill>
                      <a:srgbClr val="EBE2D2"/>
                    </a:solidFill>
                  </a:tcPr>
                </a:tc>
                <a:tc>
                  <a:txBody>
                    <a:bodyPr/>
                    <a:lstStyle/>
                    <a:p>
                      <a:r>
                        <a:rPr sz="1380" b="1" i="0" u="none">
                          <a:solidFill>
                            <a:srgbClr val="1C2B3A"/>
                          </a:solidFill>
                          <a:latin typeface="IBM Plex Mono"/>
                        </a:rPr>
                        <a:t>Ergebnis</a:t>
                      </a:r>
                    </a:p>
                  </a:txBody>
                  <a:tcPr marL="54864" marR="54864" marT="18288" marB="18288">
                    <a:solidFill>
                      <a:srgbClr val="EBE2D2"/>
                    </a:solidFill>
                  </a:tcPr>
                </a:tc>
              </a:tr>
              <a:tr h="295275">
                <a:tc>
                  <a:txBody>
                    <a:bodyPr/>
                    <a:lstStyle/>
                    <a:p>
                      <a:r>
                        <a:rPr sz="1500" b="0" i="0" u="none">
                          <a:solidFill>
                            <a:srgbClr val="1C2B3A"/>
                          </a:solidFill>
                          <a:latin typeface="Barlow"/>
                        </a:rPr>
                        <a:t>Fenja</a:t>
                      </a:r>
                    </a:p>
                  </a:txBody>
                  <a:tcPr marL="54864" marR="54864" marT="18288" marB="18288">
                    <a:solidFill>
                      <a:srgbClr val="FFFDF8"/>
                    </a:solidFill>
                  </a:tcPr>
                </a:tc>
                <a:tc>
                  <a:txBody>
                    <a:bodyPr/>
                    <a:lstStyle/>
                    <a:p>
                      <a:r>
                        <a:rPr sz="1500" b="0" i="0" u="none">
                          <a:solidFill>
                            <a:srgbClr val="1C2B3A"/>
                          </a:solidFill>
                          <a:latin typeface="Barlow"/>
                        </a:rPr>
                        <a:t>Keno</a:t>
                      </a:r>
                    </a:p>
                  </a:txBody>
                  <a:tcPr marL="54864" marR="54864" marT="18288" marB="18288">
                    <a:solidFill>
                      <a:srgbClr val="FFFDF8"/>
                    </a:solidFill>
                  </a:tcPr>
                </a:tc>
                <a:tc>
                  <a:txBody>
                    <a:bodyPr/>
                    <a:lstStyle/>
                    <a:p>
                      <a:r>
                        <a:rPr sz="1500" b="0" i="0" u="none">
                          <a:solidFill>
                            <a:srgbClr val="1C2B3A"/>
                          </a:solidFill>
                          <a:latin typeface="Barlow"/>
                        </a:rPr>
                        <a:t>1-0</a:t>
                      </a:r>
                    </a:p>
                  </a:txBody>
                  <a:tcPr marL="54864" marR="54864" marT="18288" marB="18288">
                    <a:solidFill>
                      <a:srgbClr val="FFFDF8"/>
                    </a:solidFill>
                  </a:tcPr>
                </a:tc>
              </a:tr>
              <a:tr h="295275">
                <a:tc>
                  <a:txBody>
                    <a:bodyPr/>
                    <a:lstStyle/>
                    <a:p>
                      <a:r>
                        <a:rPr sz="1500" b="0" i="0" u="none">
                          <a:solidFill>
                            <a:srgbClr val="1C2B3A"/>
                          </a:solidFill>
                          <a:latin typeface="Barlow"/>
                        </a:rPr>
                        <a:t>Levke</a:t>
                      </a:r>
                    </a:p>
                  </a:txBody>
                  <a:tcPr marL="54864" marR="54864" marT="18288" marB="18288">
                    <a:solidFill>
                      <a:srgbClr val="FFFDF8"/>
                    </a:solidFill>
                  </a:tcPr>
                </a:tc>
                <a:tc>
                  <a:txBody>
                    <a:bodyPr/>
                    <a:lstStyle/>
                    <a:p>
                      <a:r>
                        <a:rPr sz="1500" b="0" i="0" u="none">
                          <a:solidFill>
                            <a:srgbClr val="1C2B3A"/>
                          </a:solidFill>
                          <a:latin typeface="Barlow"/>
                        </a:rPr>
                        <a:t>Tomke</a:t>
                      </a:r>
                    </a:p>
                  </a:txBody>
                  <a:tcPr marL="54864" marR="54864" marT="18288" marB="18288">
                    <a:solidFill>
                      <a:srgbClr val="FFFDF8"/>
                    </a:solidFill>
                  </a:tcPr>
                </a:tc>
                <a:tc>
                  <a:txBody>
                    <a:bodyPr/>
                    <a:lstStyle/>
                    <a:p>
                      <a:r>
                        <a:rPr sz="1500" b="0" i="0" u="none">
                          <a:solidFill>
                            <a:srgbClr val="1C2B3A"/>
                          </a:solidFill>
                          <a:latin typeface="Barlow"/>
                        </a:rPr>
                        <a:t>0-1</a:t>
                      </a:r>
                    </a:p>
                  </a:txBody>
                  <a:tcPr marL="54864" marR="54864" marT="18288" marB="18288">
                    <a:solidFill>
                      <a:srgbClr val="FFFDF8"/>
                    </a:solidFill>
                  </a:tcPr>
                </a:tc>
              </a:tr>
              <a:tr h="295275">
                <a:tc>
                  <a:txBody>
                    <a:bodyPr/>
                    <a:lstStyle/>
                    <a:p>
                      <a:r>
                        <a:rPr sz="1500" b="0" i="0" u="none">
                          <a:solidFill>
                            <a:srgbClr val="1C2B3A"/>
                          </a:solidFill>
                          <a:latin typeface="Barlow"/>
                        </a:rPr>
                        <a:t>Arne</a:t>
                      </a:r>
                    </a:p>
                  </a:txBody>
                  <a:tcPr marL="54864" marR="54864" marT="18288" marB="18288">
                    <a:solidFill>
                      <a:srgbClr val="FFFDF8"/>
                    </a:solidFill>
                  </a:tcPr>
                </a:tc>
                <a:tc>
                  <a:txBody>
                    <a:bodyPr/>
                    <a:lstStyle/>
                    <a:p>
                      <a:r>
                        <a:rPr sz="1500" b="0" i="0" u="none">
                          <a:solidFill>
                            <a:srgbClr val="1C2B3A"/>
                          </a:solidFill>
                          <a:latin typeface="Barlow"/>
                        </a:rPr>
                        <a:t>Imke</a:t>
                      </a:r>
                    </a:p>
                  </a:txBody>
                  <a:tcPr marL="54864" marR="54864" marT="18288" marB="18288">
                    <a:solidFill>
                      <a:srgbClr val="FFFDF8"/>
                    </a:solidFill>
                  </a:tcPr>
                </a:tc>
                <a:tc>
                  <a:txBody>
                    <a:bodyPr/>
                    <a:lstStyle/>
                    <a:p>
                      <a:r>
                        <a:rPr sz="1500" b="0" i="0" u="none">
                          <a:solidFill>
                            <a:srgbClr val="1C2B3A"/>
                          </a:solidFill>
                          <a:latin typeface="Barlow"/>
                        </a:rPr>
                        <a:t>remis</a:t>
                      </a:r>
                    </a:p>
                  </a:txBody>
                  <a:tcPr marL="54864" marR="54864" marT="18288" marB="18288">
                    <a:solidFill>
                      <a:srgbClr val="FFFD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6035040" y="1691640"/>
            <a:ext cx="5608015" cy="157276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57276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TIPP</a:t>
            </a:r>
          </a:p>
        </p:txBody>
      </p:sp>
      <p:sp>
        <p:nvSpPr>
          <p:cNvPr id="11" name="TextBox 10"/>
          <p:cNvSpPr txBox="1"/>
          <p:nvPr/>
        </p:nvSpPr>
        <p:spPr>
          <a:xfrm>
            <a:off x="6309359" y="2148840"/>
            <a:ext cx="5196535" cy="106984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Wie viele Tabellen – und wie viele Verbundbedingungen?</a:t>
            </a:r>
          </a:p>
          <a:p>
            <a:pPr>
              <a:lnSpc>
                <a:spcPct val="105000"/>
              </a:lnSpc>
              <a:spcAft>
                <a:spcPts val="300"/>
              </a:spcAft>
            </a:pPr>
            <a:r>
              <a:rPr sz="1700" b="0" i="0" u="none">
                <a:solidFill>
                  <a:srgbClr val="1C2B3A"/>
                </a:solidFill>
                <a:latin typeface="Barlow"/>
              </a:rPr>
              <a:t>Welcher Fremdschlüssel steht für Schwarz?</a:t>
            </a:r>
          </a:p>
        </p:txBody>
      </p:sp>
      <p:sp>
        <p:nvSpPr>
          <p:cNvPr id="12"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4" name="TextBox 13"/>
          <p:cNvSpPr txBox="1"/>
          <p:nvPr/>
        </p:nvSpPr>
        <p:spPr>
          <a:xfrm>
            <a:off x="548640" y="2258568"/>
            <a:ext cx="5212080" cy="1292352"/>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Gesucht: Vorname und Nachname aller, die beim </a:t>
            </a:r>
            <a:r>
              <a:rPr sz="2000" b="1" i="0" u="none">
                <a:solidFill>
                  <a:srgbClr val="E8E1D3"/>
                </a:solidFill>
                <a:latin typeface="Barlow"/>
              </a:rPr>
              <a:t>Frühjahrsblitz (TurnierNr 1)</a:t>
            </a:r>
            <a:r>
              <a:rPr sz="2000" b="0" i="0" u="none">
                <a:solidFill>
                  <a:srgbClr val="E8E1D3"/>
                </a:solidFill>
                <a:latin typeface="Barlow"/>
              </a:rPr>
              <a:t> in </a:t>
            </a:r>
            <a:r>
              <a:rPr sz="2000" b="1" i="0" u="none">
                <a:solidFill>
                  <a:srgbClr val="E8E1D3"/>
                </a:solidFill>
                <a:latin typeface="Barlow"/>
              </a:rPr>
              <a:t>Runde 3 mit Schwarz</a:t>
            </a:r>
            <a:r>
              <a:rPr sz="2000" b="0" i="0" u="none">
                <a:solidFill>
                  <a:srgbClr val="E8E1D3"/>
                </a:solidFill>
                <a:latin typeface="Barlow"/>
              </a:rPr>
              <a:t> gespielt haben – dazu der </a:t>
            </a:r>
            <a:r>
              <a:rPr sz="2000" b="1" i="0" u="none">
                <a:solidFill>
                  <a:srgbClr val="E8E1D3"/>
                </a:solidFill>
                <a:latin typeface="Barlow"/>
              </a:rPr>
              <a:t>Name ihres Vereins</a:t>
            </a:r>
            <a:r>
              <a:rPr sz="2000" b="0" i="0" u="none">
                <a:solidFill>
                  <a:srgbClr val="E8E1D3"/>
                </a:solidFill>
                <a:latin typeface="Barlow"/>
              </a:rPr>
              <a:t>.</a:t>
            </a:r>
          </a:p>
        </p:txBody>
      </p:sp>
      <p:sp>
        <p:nvSpPr>
          <p:cNvPr id="15" name="Rounded Rectangle 14"/>
          <p:cNvSpPr/>
          <p:nvPr/>
        </p:nvSpPr>
        <p:spPr>
          <a:xfrm>
            <a:off x="548640" y="3587496"/>
            <a:ext cx="5212080" cy="2462753"/>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3697224"/>
            <a:ext cx="4846320" cy="2279873"/>
          </a:xfrm>
          <a:prstGeom prst="rect">
            <a:avLst/>
          </a:prstGeom>
          <a:noFill/>
        </p:spPr>
        <p:txBody>
          <a:bodyPr wrap="square" lIns="27432" rIns="27432" tIns="27432" bIns="27432">
            <a:spAutoFit/>
          </a:bodyPr>
          <a:lstStyle/>
          <a:p>
            <a:pPr>
              <a:lnSpc>
                <a:spcPct val="105000"/>
              </a:lnSpc>
              <a:spcAft>
                <a:spcPts val="500"/>
              </a:spcAft>
            </a:pPr>
            <a:r>
              <a:rPr sz="1748" b="0" i="0" u="none">
                <a:solidFill>
                  <a:srgbClr val="1C2B3A"/>
                </a:solidFill>
                <a:latin typeface="IBM Plex Mono"/>
              </a:rPr>
              <a:t>Spieler(</a:t>
            </a:r>
            <a:r>
              <a:rPr sz="1748" b="0" i="0" u="sng">
                <a:solidFill>
                  <a:srgbClr val="1C2B3A"/>
                </a:solidFill>
                <a:latin typeface="IBM Plex Mono"/>
              </a:rPr>
              <a:t>SpielerNr</a:t>
            </a:r>
            <a:r>
              <a:rPr sz="1748" b="0" i="0" u="none">
                <a:solidFill>
                  <a:srgbClr val="1C2B3A"/>
                </a:solidFill>
                <a:latin typeface="IBM Plex Mono"/>
              </a:rPr>
              <a:t>, Vorname, Nachname, Jahrgang, Wertung, </a:t>
            </a:r>
            <a:r>
              <a:rPr sz="1748" b="0" i="0" u="none">
                <a:solidFill>
                  <a:srgbClr val="B3261E"/>
                </a:solidFill>
                <a:latin typeface="IBM Plex Mono"/>
              </a:rPr>
              <a:t>↑</a:t>
            </a:r>
            <a:r>
              <a:rPr sz="1748" b="0" i="0" u="none">
                <a:solidFill>
                  <a:srgbClr val="1C2B3A"/>
                </a:solidFill>
                <a:latin typeface="IBM Plex Mono"/>
              </a:rPr>
              <a:t>VereinNr)</a:t>
            </a:r>
          </a:p>
          <a:p>
            <a:pPr>
              <a:lnSpc>
                <a:spcPct val="105000"/>
              </a:lnSpc>
              <a:spcAft>
                <a:spcPts val="500"/>
              </a:spcAft>
            </a:pPr>
            <a:r>
              <a:rPr sz="1748" b="0" i="0" u="none">
                <a:solidFill>
                  <a:srgbClr val="1C2B3A"/>
                </a:solidFill>
                <a:latin typeface="IBM Plex Mono"/>
              </a:rPr>
              <a:t>Partie(</a:t>
            </a:r>
            <a:r>
              <a:rPr sz="1748" b="0" i="0" u="sng">
                <a:solidFill>
                  <a:srgbClr val="1C2B3A"/>
                </a:solidFill>
                <a:latin typeface="IBM Plex Mono"/>
              </a:rPr>
              <a:t>PartieNr</a:t>
            </a:r>
            <a:r>
              <a:rPr sz="1748" b="0" i="0" u="none">
                <a:solidFill>
                  <a:srgbClr val="1C2B3A"/>
                </a:solidFill>
                <a:latin typeface="IBM Plex Mono"/>
              </a:rPr>
              <a:t>, </a:t>
            </a:r>
            <a:r>
              <a:rPr sz="1748" b="0" i="0" u="none">
                <a:solidFill>
                  <a:srgbClr val="B3261E"/>
                </a:solidFill>
                <a:latin typeface="IBM Plex Mono"/>
              </a:rPr>
              <a:t>↑</a:t>
            </a:r>
            <a:r>
              <a:rPr sz="1748" b="0" i="0" u="none">
                <a:solidFill>
                  <a:srgbClr val="1C2B3A"/>
                </a:solidFill>
                <a:latin typeface="IBM Plex Mono"/>
              </a:rPr>
              <a:t>TurnierNr, Runde, </a:t>
            </a:r>
            <a:r>
              <a:rPr sz="1748" b="0" i="0" u="none">
                <a:solidFill>
                  <a:srgbClr val="B3261E"/>
                </a:solidFill>
                <a:latin typeface="IBM Plex Mono"/>
              </a:rPr>
              <a:t>↑</a:t>
            </a:r>
            <a:r>
              <a:rPr sz="1748" b="0" i="0" u="none">
                <a:solidFill>
                  <a:srgbClr val="1C2B3A"/>
                </a:solidFill>
                <a:latin typeface="IBM Plex Mono"/>
              </a:rPr>
              <a:t>WeissNr, </a:t>
            </a:r>
            <a:r>
              <a:rPr sz="1748" b="0" i="0" u="none">
                <a:solidFill>
                  <a:srgbClr val="B3261E"/>
                </a:solidFill>
                <a:latin typeface="IBM Plex Mono"/>
              </a:rPr>
              <a:t>↑</a:t>
            </a:r>
            <a:r>
              <a:rPr sz="1748" b="0" i="0" u="none">
                <a:solidFill>
                  <a:srgbClr val="1C2B3A"/>
                </a:solidFill>
                <a:latin typeface="IBM Plex Mono"/>
              </a:rPr>
              <a:t>SchwarzNr, Ergebnis)</a:t>
            </a:r>
          </a:p>
          <a:p>
            <a:pPr>
              <a:lnSpc>
                <a:spcPct val="105000"/>
              </a:lnSpc>
              <a:spcAft>
                <a:spcPts val="500"/>
              </a:spcAft>
            </a:pPr>
            <a:r>
              <a:rPr sz="1748" b="0" i="0" u="none">
                <a:solidFill>
                  <a:srgbClr val="1C2B3A"/>
                </a:solidFill>
                <a:latin typeface="IBM Plex Mono"/>
              </a:rPr>
              <a:t>Verein(</a:t>
            </a:r>
            <a:r>
              <a:rPr sz="1748" b="0" i="0" u="sng">
                <a:solidFill>
                  <a:srgbClr val="1C2B3A"/>
                </a:solidFill>
                <a:latin typeface="IBM Plex Mono"/>
              </a:rPr>
              <a:t>VereinNr</a:t>
            </a:r>
            <a:r>
              <a:rPr sz="1748" b="0" i="0" u="none">
                <a:solidFill>
                  <a:srgbClr val="1C2B3A"/>
                </a:solidFill>
                <a:latin typeface="IBM Plex Mono"/>
              </a:rPr>
              <a:t>, Name, 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7338059" y="1691640"/>
            <a:ext cx="4304995" cy="2061972"/>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38059" y="1691640"/>
            <a:ext cx="73152" cy="206197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12379" y="1783080"/>
            <a:ext cx="389351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TYPISCHE FEHLER</a:t>
            </a:r>
          </a:p>
        </p:txBody>
      </p:sp>
      <p:sp>
        <p:nvSpPr>
          <p:cNvPr id="11" name="TextBox 10"/>
          <p:cNvSpPr txBox="1"/>
          <p:nvPr/>
        </p:nvSpPr>
        <p:spPr>
          <a:xfrm>
            <a:off x="7612379" y="2148840"/>
            <a:ext cx="3893515" cy="1559051"/>
          </a:xfrm>
          <a:prstGeom prst="rect">
            <a:avLst/>
          </a:prstGeom>
          <a:noFill/>
        </p:spPr>
        <p:txBody>
          <a:bodyPr wrap="square" lIns="27432" rIns="27432" tIns="27432" bIns="27432">
            <a:spAutoFit/>
          </a:bodyPr>
          <a:lstStyle/>
          <a:p>
            <a:pPr>
              <a:lnSpc>
                <a:spcPct val="105000"/>
              </a:lnSpc>
              <a:spcAft>
                <a:spcPts val="300"/>
              </a:spcAft>
            </a:pPr>
            <a:r>
              <a:rPr sz="1530" b="1">
                <a:solidFill>
                  <a:srgbClr val="B3261E"/>
                </a:solidFill>
                <a:latin typeface="Barlow"/>
              </a:rPr>
              <a:t>▸  </a:t>
            </a:r>
            <a:r>
              <a:rPr sz="1377" b="0" i="0" u="none">
                <a:solidFill>
                  <a:srgbClr val="1C2B3A"/>
                </a:solidFill>
                <a:latin typeface="IBM Plex Mono"/>
              </a:rPr>
              <a:t>WeissNr</a:t>
            </a:r>
            <a:r>
              <a:rPr sz="1530" b="0" i="0" u="none">
                <a:solidFill>
                  <a:srgbClr val="1C2B3A"/>
                </a:solidFill>
                <a:latin typeface="Barlow"/>
              </a:rPr>
              <a:t> statt </a:t>
            </a:r>
            <a:r>
              <a:rPr sz="1377" b="0" i="0" u="none">
                <a:solidFill>
                  <a:srgbClr val="1C2B3A"/>
                </a:solidFill>
                <a:latin typeface="IBM Plex Mono"/>
              </a:rPr>
              <a:t>SchwarzNr</a:t>
            </a:r>
            <a:r>
              <a:rPr sz="1530" b="0" i="0" u="none">
                <a:solidFill>
                  <a:srgbClr val="1C2B3A"/>
                </a:solidFill>
                <a:latin typeface="Barlow"/>
              </a:rPr>
              <a:t> – falscher FK-Pfad (P2)</a:t>
            </a:r>
          </a:p>
          <a:p>
            <a:pPr>
              <a:lnSpc>
                <a:spcPct val="105000"/>
              </a:lnSpc>
              <a:spcAft>
                <a:spcPts val="300"/>
              </a:spcAft>
            </a:pPr>
            <a:r>
              <a:rPr sz="1530" b="1">
                <a:solidFill>
                  <a:srgbClr val="B3261E"/>
                </a:solidFill>
                <a:latin typeface="Barlow"/>
              </a:rPr>
              <a:t>▸  </a:t>
            </a:r>
            <a:r>
              <a:rPr sz="1530" b="0" i="0" u="none">
                <a:solidFill>
                  <a:srgbClr val="1C2B3A"/>
                </a:solidFill>
                <a:latin typeface="Barlow"/>
              </a:rPr>
              <a:t>Verbund zu Verein vergessen → 12 statt 4 Zeilen (P2)</a:t>
            </a:r>
          </a:p>
          <a:p>
            <a:pPr>
              <a:lnSpc>
                <a:spcPct val="105000"/>
              </a:lnSpc>
              <a:spcAft>
                <a:spcPts val="300"/>
              </a:spcAft>
            </a:pPr>
            <a:r>
              <a:rPr sz="1530" b="1">
                <a:solidFill>
                  <a:srgbClr val="B3261E"/>
                </a:solidFill>
                <a:latin typeface="Barlow"/>
              </a:rPr>
              <a:t>▸  </a:t>
            </a:r>
            <a:r>
              <a:rPr sz="1377" b="0" i="0" u="none">
                <a:solidFill>
                  <a:srgbClr val="1C2B3A"/>
                </a:solidFill>
                <a:latin typeface="IBM Plex Mono"/>
              </a:rPr>
              <a:t>VereinNr</a:t>
            </a:r>
            <a:r>
              <a:rPr sz="1530" b="0" i="0" u="none">
                <a:solidFill>
                  <a:srgbClr val="1C2B3A"/>
                </a:solidFill>
                <a:latin typeface="Barlow"/>
              </a:rPr>
              <a:t> ohne Präfix → mehrdeutig (P7)</a:t>
            </a:r>
          </a:p>
        </p:txBody>
      </p:sp>
      <p:sp>
        <p:nvSpPr>
          <p:cNvPr id="12" name="SQL-Hintergrund"/>
          <p:cNvSpPr/>
          <p:nvPr/>
        </p:nvSpPr>
        <p:spPr>
          <a:xfrm>
            <a:off x="548640" y="1691640"/>
            <a:ext cx="6515099" cy="174879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p:cNvSpPr txBox="1"/>
          <p:nvPr/>
        </p:nvSpPr>
        <p:spPr>
          <a:xfrm>
            <a:off x="731520" y="1828800"/>
            <a:ext cx="6149339" cy="1474470"/>
          </a:xfrm>
          <a:prstGeom prst="rect">
            <a:avLst/>
          </a:prstGeom>
          <a:noFill/>
        </p:spPr>
        <p:txBody>
          <a:bodyPr wrap="square" lIns="18288" rIns="18288" tIns="18288" bIns="18288">
            <a:spAutoFit/>
          </a:bodyPr>
          <a:lstStyle/>
          <a:p>
            <a:pPr>
              <a:lnSpc>
                <a:spcPct val="100000"/>
              </a:lnSpc>
            </a:pPr>
            <a:r>
              <a:rPr sz="1500" i="0">
                <a:solidFill>
                  <a:srgbClr val="F2A65A"/>
                </a:solidFill>
                <a:latin typeface="IBM Plex Mono"/>
              </a:rPr>
              <a:t>SELECT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Vorname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Nachname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r>
              <a:rPr sz="1500" i="0">
                <a:solidFill>
                  <a:srgbClr val="D8E3D0"/>
                </a:solidFill>
                <a:latin typeface="IBM Plex Mono"/>
              </a:rPr>
              <a:t>.</a:t>
            </a:r>
            <a:r>
              <a:rPr sz="1500" i="0">
                <a:solidFill>
                  <a:srgbClr val="D8E3D0"/>
                </a:solidFill>
                <a:latin typeface="IBM Plex Mono"/>
              </a:rPr>
              <a:t>Name</a:t>
            </a:r>
          </a:p>
          <a:p>
            <a:pPr>
              <a:lnSpc>
                <a:spcPct val="100000"/>
              </a:lnSpc>
            </a:pPr>
            <a:r>
              <a:rPr sz="1500" i="0">
                <a:solidFill>
                  <a:srgbClr val="F2A65A"/>
                </a:solidFill>
                <a:latin typeface="IBM Plex Mono"/>
              </a:rPr>
              <a:t>FROM</a:t>
            </a:r>
            <a:r>
              <a:rPr sz="1500" i="0">
                <a:solidFill>
                  <a:srgbClr val="D8E3D0"/>
                </a:solidFill>
                <a:latin typeface="IBM Plex Mono"/>
              </a:rPr>
              <a:t> </a:t>
            </a:r>
            <a:r>
              <a:rPr sz="1500" i="0">
                <a:solidFill>
                  <a:srgbClr val="D8E3D0"/>
                </a:solidFill>
                <a:latin typeface="IBM Plex Mono"/>
              </a:rPr>
              <a:t>Partie</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p>
          <a:p>
            <a:pPr>
              <a:lnSpc>
                <a:spcPct val="100000"/>
              </a:lnSpc>
            </a:pPr>
            <a:r>
              <a:rPr sz="1500" i="0">
                <a:solidFill>
                  <a:srgbClr val="F2A65A"/>
                </a:solidFill>
                <a:latin typeface="IBM Plex Mono"/>
              </a:rPr>
              <a:t>WHERE</a:t>
            </a:r>
            <a:r>
              <a:rPr sz="1500" i="0">
                <a:solidFill>
                  <a:srgbClr val="D8E3D0"/>
                </a:solidFill>
                <a:latin typeface="IBM Plex Mono"/>
              </a:rPr>
              <a:t> </a:t>
            </a:r>
            <a:r>
              <a:rPr sz="1500" i="0">
                <a:solidFill>
                  <a:srgbClr val="D8E3D0"/>
                </a:solidFill>
                <a:latin typeface="IBM Plex Mono"/>
              </a:rPr>
              <a:t>Partie</a:t>
            </a:r>
            <a:r>
              <a:rPr sz="1500" i="0">
                <a:solidFill>
                  <a:srgbClr val="D8E3D0"/>
                </a:solidFill>
                <a:latin typeface="IBM Plex Mono"/>
              </a:rPr>
              <a:t>.</a:t>
            </a:r>
            <a:r>
              <a:rPr sz="1500" i="0">
                <a:solidFill>
                  <a:srgbClr val="D8E3D0"/>
                </a:solidFill>
                <a:latin typeface="IBM Plex Mono"/>
              </a:rPr>
              <a:t>SchwarzNr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SpielerNr</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Spieler</a:t>
            </a:r>
            <a:r>
              <a:rPr sz="1500" i="0">
                <a:solidFill>
                  <a:srgbClr val="D8E3D0"/>
                </a:solidFill>
                <a:latin typeface="IBM Plex Mono"/>
              </a:rPr>
              <a:t>.</a:t>
            </a:r>
            <a:r>
              <a:rPr sz="1500" i="0">
                <a:solidFill>
                  <a:srgbClr val="D8E3D0"/>
                </a:solidFill>
                <a:latin typeface="IBM Plex Mono"/>
              </a:rPr>
              <a:t>VereinNr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D8E3D0"/>
                </a:solidFill>
                <a:latin typeface="IBM Plex Mono"/>
              </a:rPr>
              <a:t>Verein</a:t>
            </a:r>
            <a:r>
              <a:rPr sz="1500" i="0">
                <a:solidFill>
                  <a:srgbClr val="D8E3D0"/>
                </a:solidFill>
                <a:latin typeface="IBM Plex Mono"/>
              </a:rPr>
              <a:t>.</a:t>
            </a:r>
            <a:r>
              <a:rPr sz="1500" i="0">
                <a:solidFill>
                  <a:srgbClr val="D8E3D0"/>
                </a:solidFill>
                <a:latin typeface="IBM Plex Mono"/>
              </a:rPr>
              <a:t>VereinNr</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Partie</a:t>
            </a:r>
            <a:r>
              <a:rPr sz="1500" i="0">
                <a:solidFill>
                  <a:srgbClr val="D8E3D0"/>
                </a:solidFill>
                <a:latin typeface="IBM Plex Mono"/>
              </a:rPr>
              <a:t>.</a:t>
            </a:r>
            <a:r>
              <a:rPr sz="1500" i="0">
                <a:solidFill>
                  <a:srgbClr val="D8E3D0"/>
                </a:solidFill>
                <a:latin typeface="IBM Plex Mono"/>
              </a:rPr>
              <a:t>TurnierNr</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1</a:t>
            </a:r>
          </a:p>
          <a:p>
            <a:pPr>
              <a:lnSpc>
                <a:spcPct val="100000"/>
              </a:lnSpc>
            </a:pPr>
            <a:r>
              <a:rPr sz="1500" i="0">
                <a:solidFill>
                  <a:srgbClr val="D8E3D0"/>
                </a:solidFill>
                <a:latin typeface="IBM Plex Mono"/>
              </a:rPr>
              <a:t>  </a:t>
            </a:r>
            <a:r>
              <a:rPr sz="1500" i="0">
                <a:solidFill>
                  <a:srgbClr val="F2A65A"/>
                </a:solidFill>
                <a:latin typeface="IBM Plex Mono"/>
              </a:rPr>
              <a:t>AND</a:t>
            </a:r>
            <a:r>
              <a:rPr sz="1500" i="0">
                <a:solidFill>
                  <a:srgbClr val="D8E3D0"/>
                </a:solidFill>
                <a:latin typeface="IBM Plex Mono"/>
              </a:rPr>
              <a:t> </a:t>
            </a:r>
            <a:r>
              <a:rPr sz="1500" i="0">
                <a:solidFill>
                  <a:srgbClr val="D8E3D0"/>
                </a:solidFill>
                <a:latin typeface="IBM Plex Mono"/>
              </a:rPr>
              <a:t>Partie</a:t>
            </a:r>
            <a:r>
              <a:rPr sz="1500" i="0">
                <a:solidFill>
                  <a:srgbClr val="D8E3D0"/>
                </a:solidFill>
                <a:latin typeface="IBM Plex Mono"/>
              </a:rPr>
              <a:t>.</a:t>
            </a:r>
            <a:r>
              <a:rPr sz="1500" i="0">
                <a:solidFill>
                  <a:srgbClr val="D8E3D0"/>
                </a:solidFill>
                <a:latin typeface="IBM Plex Mono"/>
              </a:rPr>
              <a:t>Runde</a:t>
            </a:r>
            <a:r>
              <a:rPr sz="1500" i="0">
                <a:solidFill>
                  <a:srgbClr val="D8E3D0"/>
                </a:solidFill>
                <a:latin typeface="IBM Plex Mono"/>
              </a:rPr>
              <a:t> </a:t>
            </a:r>
            <a:r>
              <a:rPr sz="1500" i="0">
                <a:solidFill>
                  <a:srgbClr val="D8E3D0"/>
                </a:solidFill>
                <a:latin typeface="IBM Plex Mono"/>
              </a:rPr>
              <a:t>=</a:t>
            </a:r>
            <a:r>
              <a:rPr sz="1500" i="0">
                <a:solidFill>
                  <a:srgbClr val="D8E3D0"/>
                </a:solidFill>
                <a:latin typeface="IBM Plex Mono"/>
              </a:rPr>
              <a:t> </a:t>
            </a:r>
            <a:r>
              <a:rPr sz="1500" i="0">
                <a:solidFill>
                  <a:srgbClr val="8CC4FF"/>
                </a:solidFill>
                <a:latin typeface="IBM Plex Mono"/>
              </a:rPr>
              <a:t>3</a:t>
            </a:r>
          </a:p>
        </p:txBody>
      </p:sp>
      <p:sp>
        <p:nvSpPr>
          <p:cNvPr id="14" name="TextBox 13"/>
          <p:cNvSpPr txBox="1"/>
          <p:nvPr/>
        </p:nvSpPr>
        <p:spPr>
          <a:xfrm>
            <a:off x="548640" y="3513582"/>
            <a:ext cx="6515099" cy="274320"/>
          </a:xfrm>
          <a:prstGeom prst="rect">
            <a:avLst/>
          </a:prstGeom>
          <a:noFill/>
        </p:spPr>
        <p:txBody>
          <a:bodyPr wrap="square" lIns="27432" rIns="27432" tIns="27432" bIns="27432">
            <a:spAutoFit/>
          </a:bodyPr>
          <a:lstStyle/>
          <a:p>
            <a:pPr>
              <a:lnSpc>
                <a:spcPct val="105000"/>
              </a:lnSpc>
              <a:spcAft>
                <a:spcPts val="400"/>
              </a:spcAft>
            </a:pPr>
            <a:r>
              <a:rPr sz="1050" b="1" i="0" u="none">
                <a:solidFill>
                  <a:srgbClr val="D4B062"/>
                </a:solidFill>
                <a:latin typeface="IBM Plex Mono"/>
              </a:rPr>
              <a:t>ERGEBNIS · 4 ZEILEN</a:t>
            </a:r>
          </a:p>
        </p:txBody>
      </p:sp>
      <p:graphicFrame>
        <p:nvGraphicFramePr>
          <p:cNvPr id="15" name="Ergebnistabelle"/>
          <p:cNvGraphicFramePr>
            <a:graphicFrameLocks noGrp="1"/>
          </p:cNvGraphicFramePr>
          <p:nvPr/>
        </p:nvGraphicFramePr>
        <p:xfrm>
          <a:off x="548640" y="3824478"/>
          <a:ext cx="4786884" cy="1476375"/>
        </p:xfrm>
        <a:graphic>
          <a:graphicData uri="http://schemas.openxmlformats.org/drawingml/2006/table">
            <a:tbl>
              <a:tblPr firstRow="1">
                <a:tableStyleId>{5C22544A-7EE6-4342-B048-85BDC9FD1C3A}</a:tableStyleId>
              </a:tblPr>
              <a:tblGrid>
                <a:gridCol w="1090422"/>
                <a:gridCol w="1207008"/>
                <a:gridCol w="2489454"/>
              </a:tblGrid>
              <a:tr h="295275">
                <a:tc>
                  <a:txBody>
                    <a:bodyPr/>
                    <a:lstStyle/>
                    <a:p>
                      <a:r>
                        <a:rPr sz="1380" b="1" i="0" u="none">
                          <a:solidFill>
                            <a:srgbClr val="1C2B3A"/>
                          </a:solidFill>
                          <a:latin typeface="IBM Plex Mono"/>
                        </a:rPr>
                        <a:t>Vorname</a:t>
                      </a:r>
                    </a:p>
                  </a:txBody>
                  <a:tcPr marL="54864" marR="54864" marT="18288" marB="18288">
                    <a:solidFill>
                      <a:srgbClr val="EBE2D2"/>
                    </a:solidFill>
                  </a:tcPr>
                </a:tc>
                <a:tc>
                  <a:txBody>
                    <a:bodyPr/>
                    <a:lstStyle/>
                    <a:p>
                      <a:r>
                        <a:rPr sz="1380" b="1" i="0" u="none">
                          <a:solidFill>
                            <a:srgbClr val="1C2B3A"/>
                          </a:solidFill>
                          <a:latin typeface="IBM Plex Mono"/>
                        </a:rPr>
                        <a:t>Nachname</a:t>
                      </a:r>
                    </a:p>
                  </a:txBody>
                  <a:tcPr marL="54864" marR="54864" marT="18288" marB="18288">
                    <a:solidFill>
                      <a:srgbClr val="EBE2D2"/>
                    </a:solidFill>
                  </a:tcPr>
                </a:tc>
                <a:tc>
                  <a:txBody>
                    <a:bodyPr/>
                    <a:lstStyle/>
                    <a:p>
                      <a:r>
                        <a:rPr sz="1380" b="1" i="0" u="none">
                          <a:solidFill>
                            <a:srgbClr val="1C2B3A"/>
                          </a:solidFill>
                          <a:latin typeface="IBM Plex Mono"/>
                        </a:rPr>
                        <a:t>Name</a:t>
                      </a:r>
                    </a:p>
                  </a:txBody>
                  <a:tcPr marL="54864" marR="54864" marT="18288" marB="18288">
                    <a:solidFill>
                      <a:srgbClr val="EBE2D2"/>
                    </a:solidFill>
                  </a:tcPr>
                </a:tc>
              </a:tr>
              <a:tr h="295275">
                <a:tc>
                  <a:txBody>
                    <a:bodyPr/>
                    <a:lstStyle/>
                    <a:p>
                      <a:r>
                        <a:rPr sz="1500" b="0" i="0" u="none">
                          <a:solidFill>
                            <a:srgbClr val="1C2B3A"/>
                          </a:solidFill>
                          <a:latin typeface="Barlow"/>
                        </a:rPr>
                        <a:t>Fenja</a:t>
                      </a:r>
                    </a:p>
                  </a:txBody>
                  <a:tcPr marL="54864" marR="54864" marT="18288" marB="18288">
                    <a:solidFill>
                      <a:srgbClr val="FFFDF8"/>
                    </a:solidFill>
                  </a:tcPr>
                </a:tc>
                <a:tc>
                  <a:txBody>
                    <a:bodyPr/>
                    <a:lstStyle/>
                    <a:p>
                      <a:r>
                        <a:rPr sz="1500" b="0" i="0" u="none">
                          <a:solidFill>
                            <a:srgbClr val="1C2B3A"/>
                          </a:solidFill>
                          <a:latin typeface="Barlow"/>
                        </a:rPr>
                        <a:t>Harjes</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Arne</a:t>
                      </a:r>
                    </a:p>
                  </a:txBody>
                  <a:tcPr marL="54864" marR="54864" marT="18288" marB="18288">
                    <a:solidFill>
                      <a:srgbClr val="FFFDF8"/>
                    </a:solidFill>
                  </a:tcPr>
                </a:tc>
                <a:tc>
                  <a:txBody>
                    <a:bodyPr/>
                    <a:lstStyle/>
                    <a:p>
                      <a:r>
                        <a:rPr sz="1500" b="0" i="0" u="none">
                          <a:solidFill>
                            <a:srgbClr val="1C2B3A"/>
                          </a:solidFill>
                          <a:latin typeface="Barlow"/>
                        </a:rPr>
                        <a:t>Bargmann</a:t>
                      </a:r>
                    </a:p>
                  </a:txBody>
                  <a:tcPr marL="54864" marR="54864" marT="18288" marB="18288">
                    <a:solidFill>
                      <a:srgbClr val="FFFDF8"/>
                    </a:solidFill>
                  </a:tcPr>
                </a:tc>
                <a:tc>
                  <a:txBody>
                    <a:bodyPr/>
                    <a:lstStyle/>
                    <a:p>
                      <a:r>
                        <a:rPr sz="1500" b="0" i="0" u="none">
                          <a:solidFill>
                            <a:srgbClr val="1C2B3A"/>
                          </a:solidFill>
                          <a:latin typeface="Barlow"/>
                        </a:rPr>
                        <a:t>Turm Lindenhof</a:t>
                      </a:r>
                    </a:p>
                  </a:txBody>
                  <a:tcPr marL="54864" marR="54864" marT="18288" marB="18288">
                    <a:solidFill>
                      <a:srgbClr val="FFFDF8"/>
                    </a:solidFill>
                  </a:tcPr>
                </a:tc>
              </a:tr>
              <a:tr h="295275">
                <a:tc>
                  <a:txBody>
                    <a:bodyPr/>
                    <a:lstStyle/>
                    <a:p>
                      <a:r>
                        <a:rPr sz="1500" b="0" i="0" u="none">
                          <a:solidFill>
                            <a:srgbClr val="1C2B3A"/>
                          </a:solidFill>
                          <a:latin typeface="Barlow"/>
                        </a:rPr>
                        <a:t>Smilla</a:t>
                      </a:r>
                    </a:p>
                  </a:txBody>
                  <a:tcPr marL="54864" marR="54864" marT="18288" marB="18288">
                    <a:solidFill>
                      <a:srgbClr val="FFFDF8"/>
                    </a:solidFill>
                  </a:tcPr>
                </a:tc>
                <a:tc>
                  <a:txBody>
                    <a:bodyPr/>
                    <a:lstStyle/>
                    <a:p>
                      <a:r>
                        <a:rPr sz="1500" b="0" i="0" u="none">
                          <a:solidFill>
                            <a:srgbClr val="1C2B3A"/>
                          </a:solidFill>
                          <a:latin typeface="Barlow"/>
                        </a:rPr>
                        <a:t>Onken</a:t>
                      </a:r>
                    </a:p>
                  </a:txBody>
                  <a:tcPr marL="54864" marR="54864" marT="18288" marB="18288">
                    <a:solidFill>
                      <a:srgbClr val="FFFDF8"/>
                    </a:solidFill>
                  </a:tcPr>
                </a:tc>
                <a:tc>
                  <a:txBody>
                    <a:bodyPr/>
                    <a:lstStyle/>
                    <a:p>
                      <a:r>
                        <a:rPr sz="1500" b="0" i="0" u="none">
                          <a:solidFill>
                            <a:srgbClr val="1C2B3A"/>
                          </a:solidFill>
                          <a:latin typeface="Barlow"/>
                        </a:rPr>
                        <a:t>SV Rochade Moorbach</a:t>
                      </a:r>
                    </a:p>
                  </a:txBody>
                  <a:tcPr marL="54864" marR="54864" marT="18288" marB="18288">
                    <a:solidFill>
                      <a:srgbClr val="FFFDF8"/>
                    </a:solidFill>
                  </a:tcPr>
                </a:tc>
              </a:tr>
              <a:tr h="295275">
                <a:tc>
                  <a:txBody>
                    <a:bodyPr/>
                    <a:lstStyle/>
                    <a:p>
                      <a:r>
                        <a:rPr sz="1500" b="0" i="0" u="none">
                          <a:solidFill>
                            <a:srgbClr val="1C2B3A"/>
                          </a:solidFill>
                          <a:latin typeface="Barlow"/>
                        </a:rPr>
                        <a:t>Hauke</a:t>
                      </a:r>
                    </a:p>
                  </a:txBody>
                  <a:tcPr marL="54864" marR="54864" marT="18288" marB="18288">
                    <a:solidFill>
                      <a:srgbClr val="FFFDF8"/>
                    </a:solidFill>
                  </a:tcPr>
                </a:tc>
                <a:tc>
                  <a:txBody>
                    <a:bodyPr/>
                    <a:lstStyle/>
                    <a:p>
                      <a:r>
                        <a:rPr sz="1500" b="0" i="0" u="none">
                          <a:solidFill>
                            <a:srgbClr val="1C2B3A"/>
                          </a:solidFill>
                          <a:latin typeface="Barlow"/>
                        </a:rPr>
                        <a:t>Demir</a:t>
                      </a:r>
                    </a:p>
                  </a:txBody>
                  <a:tcPr marL="54864" marR="54864" marT="18288" marB="18288">
                    <a:solidFill>
                      <a:srgbClr val="FFFDF8"/>
                    </a:solidFill>
                  </a:tcPr>
                </a:tc>
                <a:tc>
                  <a:txBody>
                    <a:bodyPr/>
                    <a:lstStyle/>
                    <a:p>
                      <a:r>
                        <a:rPr sz="1500" b="0" i="0" u="none">
                          <a:solidFill>
                            <a:srgbClr val="1C2B3A"/>
                          </a:solidFill>
                          <a:latin typeface="Barlow"/>
                        </a:rPr>
                        <a:t>SK Weserspringer</a:t>
                      </a:r>
                    </a:p>
                  </a:txBody>
                  <a:tcPr marL="54864" marR="54864" marT="18288" marB="18288">
                    <a:solidFill>
                      <a:srgbClr val="FFFDF8"/>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Fallen beim Verbund</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118871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2"/>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P2</a:t>
            </a:r>
          </a:p>
        </p:txBody>
      </p:sp>
      <p:sp>
        <p:nvSpPr>
          <p:cNvPr id="11" name="TextBox 10"/>
          <p:cNvSpPr txBox="1"/>
          <p:nvPr/>
        </p:nvSpPr>
        <p:spPr>
          <a:xfrm>
            <a:off x="1508760" y="1783080"/>
            <a:ext cx="6675120" cy="1051560"/>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Verbund fehlt oder vervielfacht</a:t>
            </a:r>
          </a:p>
          <a:p>
            <a:pPr>
              <a:lnSpc>
                <a:spcPct val="105000"/>
              </a:lnSpc>
              <a:spcAft>
                <a:spcPts val="400"/>
              </a:spcAft>
            </a:pPr>
            <a:r>
              <a:rPr sz="1600" b="0" i="0" u="none">
                <a:solidFill>
                  <a:srgbClr val="1C2B3A"/>
                </a:solidFill>
                <a:latin typeface="Barlow"/>
              </a:rPr>
              <a:t>Verbundbedingung vergessen (Kreuzprodukt), falscher FK-Pfad – oder ein Verbund über zwei 1:n-Beziehungen vervielfacht Zeilen und verfälscht COUNT/SUM.</a:t>
            </a:r>
          </a:p>
        </p:txBody>
      </p:sp>
      <p:sp>
        <p:nvSpPr>
          <p:cNvPr id="12" name="Rounded Rectangle 11"/>
          <p:cNvSpPr/>
          <p:nvPr/>
        </p:nvSpPr>
        <p:spPr>
          <a:xfrm>
            <a:off x="548640" y="299008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7"/>
          <p:cNvSpPr/>
          <p:nvPr/>
        </p:nvSpPr>
        <p:spPr>
          <a:xfrm>
            <a:off x="685800" y="312724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314553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P7</a:t>
            </a:r>
          </a:p>
        </p:txBody>
      </p:sp>
      <p:sp>
        <p:nvSpPr>
          <p:cNvPr id="15" name="TextBox 14"/>
          <p:cNvSpPr txBox="1"/>
          <p:nvPr/>
        </p:nvSpPr>
        <p:spPr>
          <a:xfrm>
            <a:off x="1508760" y="308152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Mehrdeutig oder falsch benannt</a:t>
            </a:r>
          </a:p>
          <a:p>
            <a:pPr>
              <a:lnSpc>
                <a:spcPct val="105000"/>
              </a:lnSpc>
              <a:spcAft>
                <a:spcPts val="400"/>
              </a:spcAft>
            </a:pPr>
            <a:r>
              <a:rPr sz="1600" b="0" i="0" u="none">
                <a:solidFill>
                  <a:srgbClr val="1C2B3A"/>
                </a:solidFill>
                <a:latin typeface="Barlow"/>
              </a:rPr>
              <a:t>Präfix fehlt bei gleichnamigen Spalten; FK heißt anders als der PK (</a:t>
            </a:r>
            <a:r>
              <a:rPr sz="1440" b="0" i="0" u="none">
                <a:solidFill>
                  <a:srgbClr val="1C2B3A"/>
                </a:solidFill>
                <a:latin typeface="IBM Plex Mono"/>
              </a:rPr>
              <a:t>WeissNr</a:t>
            </a:r>
            <a:r>
              <a:rPr sz="1600" b="0" i="0" u="none">
                <a:solidFill>
                  <a:srgbClr val="1C2B3A"/>
                </a:solidFill>
                <a:latin typeface="Barlow"/>
              </a:rPr>
              <a:t> → </a:t>
            </a:r>
            <a:r>
              <a:rPr sz="1440" b="0" i="0" u="none">
                <a:solidFill>
                  <a:srgbClr val="1C2B3A"/>
                </a:solidFill>
                <a:latin typeface="IBM Plex Mono"/>
              </a:rPr>
              <a:t>SpielerNr</a:t>
            </a:r>
            <a:r>
              <a:rPr sz="1600" b="0" i="0" u="none">
                <a:solidFill>
                  <a:srgbClr val="1C2B3A"/>
                </a:solidFill>
                <a:latin typeface="Barlow"/>
              </a:rPr>
              <a:t>); Alias falsch verwendet.</a:t>
            </a:r>
          </a:p>
        </p:txBody>
      </p:sp>
      <p:sp>
        <p:nvSpPr>
          <p:cNvPr id="16" name="TextBox 15"/>
          <p:cNvSpPr txBox="1"/>
          <p:nvPr/>
        </p:nvSpPr>
        <p:spPr>
          <a:xfrm>
            <a:off x="548640" y="4044695"/>
            <a:ext cx="777240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E0574F"/>
                </a:solidFill>
                <a:latin typeface="IBM Plex Mono"/>
              </a:rPr>
              <a:t>✘ P7 · VereinNr – welche?</a:t>
            </a:r>
          </a:p>
        </p:txBody>
      </p:sp>
      <p:sp>
        <p:nvSpPr>
          <p:cNvPr id="17" name="SQL-Hintergrund"/>
          <p:cNvSpPr/>
          <p:nvPr/>
        </p:nvSpPr>
        <p:spPr>
          <a:xfrm>
            <a:off x="548640" y="4355591"/>
            <a:ext cx="7772400" cy="12725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QL [fehlerhaft]"/>
          <p:cNvSpPr txBox="1"/>
          <p:nvPr/>
        </p:nvSpPr>
        <p:spPr>
          <a:xfrm>
            <a:off x="731520" y="4492752"/>
            <a:ext cx="7406640" cy="998219"/>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Vorname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Name</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Spieler</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Verein</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VereinNr</a:t>
            </a:r>
            <a:r>
              <a:rPr sz="2000" i="0">
                <a:solidFill>
                  <a:srgbClr val="D8E3D0"/>
                </a:solidFill>
                <a:latin typeface="IBM Plex Mono"/>
              </a:rPr>
              <a:t> </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VereinNr</a:t>
            </a:r>
          </a:p>
        </p:txBody>
      </p:sp>
      <p:sp>
        <p:nvSpPr>
          <p:cNvPr id="19" name="Rectangle 18"/>
          <p:cNvSpPr/>
          <p:nvPr/>
        </p:nvSpPr>
        <p:spPr>
          <a:xfrm>
            <a:off x="548640" y="4355591"/>
            <a:ext cx="64008" cy="1272540"/>
          </a:xfrm>
          <a:prstGeom prst="rect">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429768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429768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3794760"/>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1890" b="0" i="0" u="none">
                <a:solidFill>
                  <a:srgbClr val="1C2B3A"/>
                </a:solidFill>
                <a:latin typeface="IBM Plex Mono"/>
              </a:rPr>
              <a:t>FROM a, b</a:t>
            </a:r>
            <a:r>
              <a:rPr sz="2100" b="0" i="0" u="none">
                <a:solidFill>
                  <a:srgbClr val="1C2B3A"/>
                </a:solidFill>
                <a:latin typeface="Barlow"/>
              </a:rPr>
              <a:t> bildet das Kreuzprodukt – erst das WHERE macht daraus den Verbund.</a:t>
            </a:r>
          </a:p>
          <a:p>
            <a:pPr>
              <a:lnSpc>
                <a:spcPct val="105000"/>
              </a:lnSpc>
              <a:spcAft>
                <a:spcPts val="300"/>
              </a:spcAft>
            </a:pPr>
            <a:r>
              <a:rPr sz="2100" b="1">
                <a:solidFill>
                  <a:srgbClr val="2C5A85"/>
                </a:solidFill>
                <a:latin typeface="Barlow"/>
              </a:rPr>
              <a:t>▸  </a:t>
            </a:r>
            <a:r>
              <a:rPr sz="2100" b="0" i="0" u="none">
                <a:solidFill>
                  <a:srgbClr val="1C2B3A"/>
                </a:solidFill>
                <a:latin typeface="Barlow"/>
              </a:rPr>
              <a:t>Verbundbedingung: Fremdschlüssel = Primärschlüssel, immer mit Präfix.</a:t>
            </a:r>
          </a:p>
          <a:p>
            <a:pPr>
              <a:lnSpc>
                <a:spcPct val="105000"/>
              </a:lnSpc>
              <a:spcAft>
                <a:spcPts val="300"/>
              </a:spcAft>
            </a:pPr>
            <a:r>
              <a:rPr sz="2100" b="1">
                <a:solidFill>
                  <a:srgbClr val="2C5A85"/>
                </a:solidFill>
                <a:latin typeface="Barlow"/>
              </a:rPr>
              <a:t>▸  </a:t>
            </a:r>
            <a:r>
              <a:rPr sz="2100" b="0" i="0" u="none">
                <a:solidFill>
                  <a:srgbClr val="1C2B3A"/>
                </a:solidFill>
                <a:latin typeface="Barlow"/>
              </a:rPr>
              <a:t>n Tabellen → n − 1 Verbundbedingungen, dann die Fachbedingungen mit AND.</a:t>
            </a:r>
          </a:p>
          <a:p>
            <a:pPr>
              <a:lnSpc>
                <a:spcPct val="105000"/>
              </a:lnSpc>
              <a:spcAft>
                <a:spcPts val="300"/>
              </a:spcAft>
            </a:pPr>
            <a:r>
              <a:rPr sz="2100" b="1">
                <a:solidFill>
                  <a:srgbClr val="2C5A85"/>
                </a:solidFill>
                <a:latin typeface="Barlow"/>
              </a:rPr>
              <a:t>▸  </a:t>
            </a:r>
            <a:r>
              <a:rPr sz="2100" b="0" i="0" u="none">
                <a:solidFill>
                  <a:srgbClr val="1C2B3A"/>
                </a:solidFill>
                <a:latin typeface="Barlow"/>
              </a:rPr>
              <a:t>Zwei FKs auf eine Tabelle → Tabelle zweimal mit Alias: </a:t>
            </a:r>
            <a:r>
              <a:rPr sz="1890" b="0" i="0" u="none">
                <a:solidFill>
                  <a:srgbClr val="1C2B3A"/>
                </a:solidFill>
                <a:latin typeface="IBM Plex Mono"/>
              </a:rPr>
              <a:t>Spieler w, Spieler s</a:t>
            </a:r>
            <a:r>
              <a:rPr sz="2100" b="0" i="0" u="none">
                <a:solidFill>
                  <a:srgbClr val="1C2B3A"/>
                </a:solidFill>
                <a:latin typeface="Barlow"/>
              </a:rPr>
              <a:t>.</a:t>
            </a:r>
          </a:p>
          <a:p>
            <a:pPr>
              <a:lnSpc>
                <a:spcPct val="105000"/>
              </a:lnSpc>
              <a:spcAft>
                <a:spcPts val="300"/>
              </a:spcAft>
            </a:pPr>
            <a:r>
              <a:rPr sz="2100" b="1">
                <a:solidFill>
                  <a:srgbClr val="2C5A85"/>
                </a:solidFill>
                <a:latin typeface="Barlow"/>
              </a:rPr>
              <a:t>▸  </a:t>
            </a:r>
            <a:r>
              <a:rPr sz="2100" b="0" i="0" u="none">
                <a:solidFill>
                  <a:srgbClr val="1C2B3A"/>
                </a:solidFill>
                <a:latin typeface="Barlow"/>
              </a:rPr>
              <a:t>Zeilen mit NULL im Fremdschlüssel fallen im Verbund heraus.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2 · AKTE 2 · SPUR DER RÄDER</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13</a:t>
            </a:r>
          </a:p>
        </p:txBody>
      </p:sp>
      <p:sp>
        <p:nvSpPr>
          <p:cNvPr id="8" name="Rounded Rectangle 7"/>
          <p:cNvSpPr/>
          <p:nvPr/>
        </p:nvSpPr>
        <p:spPr>
          <a:xfrm>
            <a:off x="548640" y="1691640"/>
            <a:ext cx="7772400" cy="161848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61848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115568"/>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2.1 „Der rote Faden“</a:t>
            </a:r>
            <a:r>
              <a:rPr sz="1800" b="0" i="0" u="none">
                <a:solidFill>
                  <a:srgbClr val="1C2B3A"/>
                </a:solidFill>
                <a:latin typeface="Barlow"/>
              </a:rPr>
              <a:t> · A2-E1-01 … 08 · Werkzeug: Spurenbrett</a:t>
            </a:r>
          </a:p>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2.2 „Nachtfahrten“</a:t>
            </a:r>
            <a:r>
              <a:rPr sz="1800" b="0" i="0" u="none">
                <a:solidFill>
                  <a:srgbClr val="1C2B3A"/>
                </a:solidFill>
                <a:latin typeface="Barlow"/>
              </a:rPr>
              <a:t> · A2-E2-01 … 08</a:t>
            </a:r>
          </a:p>
        </p:txBody>
      </p:sp>
      <p:sp>
        <p:nvSpPr>
          <p:cNvPr id="12" name="Rounded Rectangle 11"/>
          <p:cNvSpPr/>
          <p:nvPr/>
        </p:nvSpPr>
        <p:spPr>
          <a:xfrm>
            <a:off x="548640" y="3419856"/>
            <a:ext cx="7772400" cy="13136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419856"/>
            <a:ext cx="73152" cy="1313687"/>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511296"/>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3877056"/>
            <a:ext cx="7360920" cy="810767"/>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2.1 „Der rote Faden“ und AB 2.2 „Nachtfahrten“</a:t>
            </a:r>
          </a:p>
          <a:p>
            <a:pPr>
              <a:lnSpc>
                <a:spcPct val="105000"/>
              </a:lnSpc>
              <a:spcAft>
                <a:spcPts val="300"/>
              </a:spcAft>
            </a:pPr>
            <a:r>
              <a:rPr sz="1700" b="1">
                <a:solidFill>
                  <a:srgbClr val="58626D"/>
                </a:solidFill>
                <a:latin typeface="Barlow"/>
              </a:rPr>
              <a:t>▸  </a:t>
            </a:r>
            <a:r>
              <a:rPr sz="1700" b="0" i="0" u="none">
                <a:solidFill>
                  <a:srgbClr val="1C2B3A"/>
                </a:solidFill>
                <a:latin typeface="Barlow"/>
              </a:rPr>
              <a:t>Verhör 2 nach Freischaltung durch die Lehrkraft</a:t>
            </a:r>
          </a:p>
        </p:txBody>
      </p:sp>
      <p:sp>
        <p:nvSpPr>
          <p:cNvPr id="16" name="Rounded Rectangle 15"/>
          <p:cNvSpPr/>
          <p:nvPr/>
        </p:nvSpPr>
        <p:spPr>
          <a:xfrm>
            <a:off x="548640" y="4843272"/>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843272"/>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93471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300472"/>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3 – GROUP BY und HAVING, so wie im Abitur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Verbund ohne JOIN: Wie FROM a, b WHERE funktioniert</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2</vt:lpwstr>
  </property>
  <property fmtid="{D5CDD505-2E9C-101B-9397-08002B2CF9AE}" pid="3" name="DD-Art">
    <vt:lpwstr>video</vt:lpwstr>
  </property>
  <property fmtid="{D5CDD505-2E9C-101B-9397-08002B2CF9AE}" pid="4" name="DD-Datenbank">
    <vt:lpwstr>video/schachturnier</vt:lpwstr>
  </property>
  <property fmtid="{D5CDD505-2E9C-101B-9397-08002B2CF9AE}" pid="5" name="DD-Kamera-Zone">
    <vt:lpwstr>ja</vt:lpwstr>
  </property>
  <property fmtid="{D5CDD505-2E9C-101B-9397-08002B2CF9AE}" pid="6" name="DD-Kuer">
    <vt:lpwstr>nein</vt:lpwstr>
  </property>
  <property fmtid="{D5CDD505-2E9C-101B-9397-08002B2CF9AE}" pid="7" name="DD-Video">
    <vt:lpwstr>2</vt:lpwstr>
  </property>
  <property fmtid="{D5CDD505-2E9C-101B-9397-08002B2CF9AE}" pid="8" name="DD-Video-Quelle">
    <vt:lpwstr>6298b6dddc2323984365be02182225661da2b8afd5d42d7b255c7374a5f5dd53</vt:lpwstr>
  </property>
</Properties>
</file>