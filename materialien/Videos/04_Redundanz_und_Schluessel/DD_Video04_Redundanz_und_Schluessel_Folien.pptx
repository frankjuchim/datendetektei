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Kamera unten rechts, Titelfolie im Hintergrund.]</a:t>
            </a:r>
          </a:p>
          <a:p/>
          <a:p>
            <a:r>
              <a:t>Viele Vereine und AGs verwalten ihre Daten in einer einzigen großen Liste. Das geht eine Weile gut – bis Daten sich widersprechen oder plötzlich verschwinden. In diesem Video findest du heraus, warum das passiert, wie du es im Abitur am Datensatz erläuterst und woran du einen guten Schlüssel erkennst.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 die Ausleihliste einer Kanu-AG, geführt in einer Tabellenkalkulation. Jede Zeile ist eine Ausleihe: wann, welches Kanu, welcher Typ, wie viele Plätze, wer, aus welcher Klasse. Schau genau hin: Dass K1 ein Zweier mit zwei Plätzen ist, steht dreimal da – in Zeile 1, 3 und 5. Dass Ole Rippen in die 10a geht, steht zweimal da. Dieselbe Information mehrfach zu speichern, heißt Redundanz. Redundanz allein ist noch kein Fehler – aber sie ist die Ursache für Anomalien.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Erste Anomalie: die Änderungsanomalie. Die AG baut Kanu K1 zu einem Dreier um. In der Liste müssen jetzt alle Zeilen mit K1 geändert werden. Wer nur die ersten beiden erwischt und Zeile 5 vergisst, hat einen Widerspruch: Ist K1 ein Zweier oder ein Dreier? Die Daten sind inkonsistent. Ursache ist die Redundanz – dieselbe Information steht an mehreren Stellen.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zweite Anomalie entsteht beim Einfügen. Die AG kauft ein neues Kanu, K4. Solange es niemand ausgeliehen hat, gibt es keine Zeile, in die es passt – du müsstest Datum, Name und Klasse leer lassen. Die dritte Anomalie entsteht beim Löschen. K3 kommt nur in Zeile 4 vor. Wird diese Ausleihe gelöscht, verschwindet mit ihr auch die Information, dass K3 ein Zweier mit zwei Plätzen ist. Man wollte eine Ausleihe löschen und verliert ein Kanu.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du. Jule Tebbe wechselt in die 10b. Erläutere am Datensatz, welche Anomalie dabei droht. Achtung, erläutern heißt im Abitur: Nenn die konkreten Zeilen und beschreib, was passiert – der Begriff allein reicht nicht. Halte das Video 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Auflösung. Oben eine Antwort, die nur den Begriff nennt: Es entsteht eine Änderungsanomalie. Das ist richtig, bringt beim Operator erläutern aber kaum Punkte – Falle P10, Operator verfehlt. Unten die vollständige Antwort: Jules Klasse steht redundant in Zeile 4 und 6. Wird nur eine Zeile geändert, steht in der anderen weiter 9b – die Liste widerspricht sich. So eine Antwort nennt Ursache, Zeilen und Folge.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Um die Liste zu zerlegen, brauchst du gute Schlüssel. Ein Schlüssel muss eindeutig sein – und zwar für alle Daten, die vorkommen könnten, nicht nur für die, die du gerade siehst. Er darf nie NULL sein. Er soll minimal sein, also kein überflüssiges Attribut enthalten. Und er sollte sich möglichst nicht ändern. In unserer Liste scheidet Kanu allein aus, Name allein auch. Datum und Kanu zusammen wären nur dann ein Schlüssel, wenn ein Kanu höchstens einmal pro Tag ausgeliehen wird – das musst du begründen, nicht vermuten.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hier die gemeinste Falle beim Schlüssel, die Ausschnitt-Falle. In den sechs Zeilen kommt jede Kombination aus Datum und Name nur einmal vor. Ist das also ein Schlüssel? Dann wird Zeile 7 nachgeliefert: Rieke war am achten Mai zweimal auf dem Wasser, erst mit K1, dann mit K3. Schon ist die Kombination doppelt. Daraus folgt: Schließ Eindeutigkeit nie aus den sichtbaren Zeilen. Begründe mit der Bedeutung – kann es das in der Realität zweimal geben? Das ist Falle P8.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Links die Schema-Werkbank der Datendetektei mit dem fertigen Entwurf, rechts die Kurzschreibweise.]</a:t>
            </a:r>
          </a:p>
          <a:p/>
          <a:p>
            <a:r>
              <a:t>Die Lösung ist das Zerlegen. Alles, was nur vom Kanu abhängt, kommt in die Relation Kanu, alles, was nur von der Person abhängt, in Person. Die Ausleihe verweist mit zwei Fremdschlüsseln darauf. Jetzt steht der Typ von K1 nur noch einmal da, ein neues Kanu bekommt einfach eine eigene Zeile, und das Löschen einer Ausleihe lässt das Kanu stehen. Als Schlüssel der Ausleihe nehmen wir eine eigene Nummer – damit sind auch zwei Fahrten am selben Tag kein Problem. In der Schema-Werkbank der Datendetektei kannst du so etwas selbst bauen.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Fallen dieses Videos: P8, der Schlüssel wird falsch beurteilt – vor allem mit der Ausschnitt-Falle. P10, der Operator wird verfehlt: Eine Anomalie nur zu benennen ist keine Erläuterung. Und beim Zerlegen P9: Wenn ein Fremdschlüssel fehlt oder auf der falschen Seite steht, kannst du die Relationen hinterher nicht mehr verbinden.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nimmst du mit: Redundanz heißt, dieselbe Information steht mehrfach – sie verursacht Anomalien beim Ändern, Einfügen und Löschen. Erläutere Anomalien immer am Datensatz. Ein Schlüssel ist eindeutig für alle denkbaren Daten, nie NULL, minimal und stabil. Und beim Zerlegen steht jede Information genau einmal, verbunden über Fremdschlüssel.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 ins Lab! Im Vereinsarchiv wartet eine echte Chaos-Liste auf dich – mit dem Anomalie-Simulator in Ermittlung 4.1 und dem Zerlegungs-Puzzle in 4.2. Im nächsten Video planen wir Datenbanken von Anfang an richtig: mit ER-Modellen in Chen-Notation.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4 · AKTE 4 · CHAOS IM VEREINSARCHIV</a:t>
            </a:r>
          </a:p>
        </p:txBody>
      </p:sp>
      <p:sp>
        <p:nvSpPr>
          <p:cNvPr id="3" name="TextBox 2"/>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a:t>
            </a:r>
          </a:p>
        </p:txBody>
      </p:sp>
      <p:sp>
        <p:nvSpPr>
          <p:cNvPr id="4" name="TextBox 3"/>
          <p:cNvSpPr txBox="1"/>
          <p:nvPr/>
        </p:nvSpPr>
        <p:spPr>
          <a:xfrm>
            <a:off x="548640" y="960120"/>
            <a:ext cx="7772400" cy="365760"/>
          </a:xfrm>
          <a:prstGeom prst="rect">
            <a:avLst/>
          </a:prstGeom>
          <a:noFill/>
        </p:spPr>
        <p:txBody>
          <a:bodyPr wrap="square" lIns="27432" rIns="27432" tIns="27432" bIns="27432">
            <a:spAutoFit/>
          </a:bodyPr>
          <a:lstStyle/>
          <a:p>
            <a:pPr>
              <a:lnSpc>
                <a:spcPct val="105000"/>
              </a:lnSpc>
              <a:spcAft>
                <a:spcPts val="400"/>
              </a:spcAft>
            </a:pPr>
            <a:r>
              <a:rPr sz="1400" b="1" i="0" u="none">
                <a:solidFill>
                  <a:srgbClr val="D4B062"/>
                </a:solidFill>
                <a:latin typeface="IBM Plex Mono"/>
              </a:rPr>
              <a:t>ERKLÄRVIDEO 4</a:t>
            </a:r>
          </a:p>
        </p:txBody>
      </p:sp>
      <p:sp>
        <p:nvSpPr>
          <p:cNvPr id="5" name="TextBox 4"/>
          <p:cNvSpPr txBox="1"/>
          <p:nvPr/>
        </p:nvSpPr>
        <p:spPr>
          <a:xfrm>
            <a:off x="548640" y="1371600"/>
            <a:ext cx="7772400" cy="1391412"/>
          </a:xfrm>
          <a:prstGeom prst="rect">
            <a:avLst/>
          </a:prstGeom>
          <a:noFill/>
        </p:spPr>
        <p:txBody>
          <a:bodyPr wrap="square" lIns="27432" rIns="27432" tIns="27432" bIns="27432" anchor="t">
            <a:spAutoFit/>
          </a:bodyPr>
          <a:lstStyle/>
          <a:p>
            <a:pPr>
              <a:lnSpc>
                <a:spcPct val="105000"/>
              </a:lnSpc>
              <a:spcAft>
                <a:spcPts val="400"/>
              </a:spcAft>
            </a:pPr>
            <a:r>
              <a:rPr sz="4600" b="0" i="0" u="none">
                <a:solidFill>
                  <a:srgbClr val="E8E1D3"/>
                </a:solidFill>
                <a:latin typeface="Barlow Condensed SemiBold"/>
              </a:rPr>
              <a:t>Redundanz, Anomalien und gute Schlüssel</a:t>
            </a:r>
          </a:p>
        </p:txBody>
      </p:sp>
      <p:cxnSp>
        <p:nvCxnSpPr>
          <p:cNvPr id="6" name="Roter Faden"/>
          <p:cNvCxnSpPr/>
          <p:nvPr/>
        </p:nvCxnSpPr>
        <p:spPr>
          <a:xfrm>
            <a:off x="548640" y="290017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484632" y="283616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79047" y="283616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3083052"/>
            <a:ext cx="7772400" cy="713231"/>
          </a:xfrm>
          <a:prstGeom prst="rect">
            <a:avLst/>
          </a:prstGeom>
          <a:noFill/>
        </p:spPr>
        <p:txBody>
          <a:bodyPr wrap="square" lIns="27432" rIns="27432" tIns="27432" bIns="27432">
            <a:spAutoFit/>
          </a:bodyPr>
          <a:lstStyle/>
          <a:p>
            <a:pPr>
              <a:lnSpc>
                <a:spcPct val="105000"/>
              </a:lnSpc>
              <a:spcAft>
                <a:spcPts val="400"/>
              </a:spcAft>
            </a:pPr>
            <a:r>
              <a:rPr sz="2100" b="0" i="0" u="none">
                <a:solidFill>
                  <a:srgbClr val="BDB6A9"/>
                </a:solidFill>
                <a:latin typeface="Barlow"/>
              </a:rPr>
              <a:t>Warum eine zusammengelegte Liste Daten verliert – und woran du einen tragfähigen Schlüssel erkennst</a:t>
            </a:r>
          </a:p>
        </p:txBody>
      </p:sp>
      <p:sp>
        <p:nvSpPr>
          <p:cNvPr id="10" name="TextBox 9"/>
          <p:cNvSpPr txBox="1"/>
          <p:nvPr/>
        </p:nvSpPr>
        <p:spPr>
          <a:xfrm>
            <a:off x="548640" y="5943600"/>
            <a:ext cx="7772400" cy="365760"/>
          </a:xfrm>
          <a:prstGeom prst="rect">
            <a:avLst/>
          </a:prstGeom>
          <a:noFill/>
        </p:spPr>
        <p:txBody>
          <a:bodyPr wrap="square" lIns="27432" rIns="27432" tIns="27432" bIns="27432">
            <a:spAutoFit/>
          </a:bodyPr>
          <a:lstStyle/>
          <a:p>
            <a:pPr>
              <a:lnSpc>
                <a:spcPct val="105000"/>
              </a:lnSpc>
              <a:spcAft>
                <a:spcPts val="400"/>
              </a:spcAft>
            </a:pPr>
            <a:r>
              <a:rPr sz="1250" b="0" i="0" u="none">
                <a:solidFill>
                  <a:srgbClr val="BDB6A9"/>
                </a:solidFill>
                <a:latin typeface="IBM Plex Mono"/>
              </a:rPr>
              <a:t>Akte 4 · DS 7–8 · 8–10 min</a:t>
            </a:r>
          </a:p>
        </p:txBody>
      </p:sp>
      <p:pic>
        <p:nvPicPr>
          <p:cNvPr id="11" name="Picture 10" descr="stempel.png"/>
          <p:cNvPicPr>
            <a:picLocks noChangeAspect="1"/>
          </p:cNvPicPr>
          <p:nvPr/>
        </p:nvPicPr>
        <p:blipFill>
          <a:blip r:embed="rId3"/>
          <a:stretch>
            <a:fillRect/>
          </a:stretch>
        </p:blipFill>
        <p:spPr>
          <a:xfrm>
            <a:off x="8869680" y="1051560"/>
            <a:ext cx="2773375" cy="806214"/>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4 · AKTE 4 · CHAOS IM VEREINSARCHIV</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Eine Liste für alles</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a:t>
            </a:r>
          </a:p>
        </p:txBody>
      </p:sp>
      <p:sp>
        <p:nvSpPr>
          <p:cNvPr id="8" name="Rounded Rectangle 7"/>
          <p:cNvSpPr/>
          <p:nvPr/>
        </p:nvSpPr>
        <p:spPr>
          <a:xfrm>
            <a:off x="8001000" y="1691640"/>
            <a:ext cx="3642055" cy="2217420"/>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001000" y="1691640"/>
            <a:ext cx="73152" cy="2217420"/>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75320" y="1783080"/>
            <a:ext cx="323057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REDUNDANZ</a:t>
            </a:r>
          </a:p>
        </p:txBody>
      </p:sp>
      <p:sp>
        <p:nvSpPr>
          <p:cNvPr id="11" name="TextBox 10"/>
          <p:cNvSpPr txBox="1"/>
          <p:nvPr/>
        </p:nvSpPr>
        <p:spPr>
          <a:xfrm>
            <a:off x="8275320" y="2148840"/>
            <a:ext cx="3230575" cy="1714499"/>
          </a:xfrm>
          <a:prstGeom prst="rect">
            <a:avLst/>
          </a:prstGeom>
          <a:noFill/>
        </p:spPr>
        <p:txBody>
          <a:bodyPr wrap="square" lIns="27432" rIns="27432" tIns="27432" bIns="27432">
            <a:spAutoFit/>
          </a:bodyPr>
          <a:lstStyle/>
          <a:p>
            <a:pPr>
              <a:lnSpc>
                <a:spcPct val="105000"/>
              </a:lnSpc>
              <a:spcAft>
                <a:spcPts val="300"/>
              </a:spcAft>
            </a:pPr>
            <a:r>
              <a:rPr sz="1445" b="0" i="0" u="none">
                <a:solidFill>
                  <a:srgbClr val="1C2B3A"/>
                </a:solidFill>
                <a:latin typeface="Barlow"/>
              </a:rPr>
              <a:t>Dieselbe Information steht mehrfach:</a:t>
            </a:r>
          </a:p>
          <a:p>
            <a:pPr>
              <a:lnSpc>
                <a:spcPct val="105000"/>
              </a:lnSpc>
              <a:spcAft>
                <a:spcPts val="300"/>
              </a:spcAft>
            </a:pPr>
            <a:r>
              <a:rPr sz="1445" b="1">
                <a:solidFill>
                  <a:srgbClr val="2C5A85"/>
                </a:solidFill>
                <a:latin typeface="Barlow"/>
              </a:rPr>
              <a:t>▸  </a:t>
            </a:r>
            <a:r>
              <a:rPr sz="1445" b="0" i="0" u="none">
                <a:solidFill>
                  <a:srgbClr val="1C2B3A"/>
                </a:solidFill>
                <a:latin typeface="Barlow"/>
              </a:rPr>
              <a:t>„K1 ist ein Zweier mit 2 Plätzen“ in Zeile 1, 3, 5</a:t>
            </a:r>
          </a:p>
          <a:p>
            <a:pPr>
              <a:lnSpc>
                <a:spcPct val="105000"/>
              </a:lnSpc>
              <a:spcAft>
                <a:spcPts val="300"/>
              </a:spcAft>
            </a:pPr>
            <a:r>
              <a:rPr sz="1445" b="1">
                <a:solidFill>
                  <a:srgbClr val="2C5A85"/>
                </a:solidFill>
                <a:latin typeface="Barlow"/>
              </a:rPr>
              <a:t>▸  </a:t>
            </a:r>
            <a:r>
              <a:rPr sz="1445" b="0" i="0" u="none">
                <a:solidFill>
                  <a:srgbClr val="1C2B3A"/>
                </a:solidFill>
                <a:latin typeface="Barlow"/>
              </a:rPr>
              <a:t>„Ole Rippen ist in der 10a“ in Zeile 2 und 3</a:t>
            </a:r>
          </a:p>
        </p:txBody>
      </p:sp>
      <p:sp>
        <p:nvSpPr>
          <p:cNvPr id="12" name="TextBox 11"/>
          <p:cNvSpPr txBox="1"/>
          <p:nvPr/>
        </p:nvSpPr>
        <p:spPr>
          <a:xfrm>
            <a:off x="548640" y="1691640"/>
            <a:ext cx="7178040" cy="274320"/>
          </a:xfrm>
          <a:prstGeom prst="rect">
            <a:avLst/>
          </a:prstGeom>
          <a:noFill/>
        </p:spPr>
        <p:txBody>
          <a:bodyPr wrap="square" lIns="27432" rIns="27432" tIns="27432" bIns="27432">
            <a:spAutoFit/>
          </a:bodyPr>
          <a:lstStyle/>
          <a:p>
            <a:pPr>
              <a:lnSpc>
                <a:spcPct val="105000"/>
              </a:lnSpc>
              <a:spcAft>
                <a:spcPts val="400"/>
              </a:spcAft>
            </a:pPr>
            <a:r>
              <a:rPr sz="1100" b="1" i="0" u="none">
                <a:solidFill>
                  <a:srgbClr val="D4B062"/>
                </a:solidFill>
                <a:latin typeface="IBM Plex Mono"/>
              </a:rPr>
              <a:t>AUSLEIHLISTE DER KANU-AG (TABELLENKALKULATION)</a:t>
            </a:r>
          </a:p>
        </p:txBody>
      </p:sp>
      <p:graphicFrame>
        <p:nvGraphicFramePr>
          <p:cNvPr id="13" name="Datentabelle"/>
          <p:cNvGraphicFramePr>
            <a:graphicFrameLocks noGrp="1"/>
          </p:cNvGraphicFramePr>
          <p:nvPr/>
        </p:nvGraphicFramePr>
        <p:xfrm>
          <a:off x="548640" y="1984248"/>
          <a:ext cx="7178037" cy="2066925"/>
        </p:xfrm>
        <a:graphic>
          <a:graphicData uri="http://schemas.openxmlformats.org/drawingml/2006/table">
            <a:tbl>
              <a:tblPr firstRow="1">
                <a:tableStyleId>{5C22544A-7EE6-4342-B048-85BDC9FD1C3A}</a:tableStyleId>
              </a:tblPr>
              <a:tblGrid>
                <a:gridCol w="806159"/>
                <a:gridCol w="1354347"/>
                <a:gridCol w="696521"/>
                <a:gridCol w="915796"/>
                <a:gridCol w="1025434"/>
                <a:gridCol w="1463984"/>
                <a:gridCol w="915796"/>
              </a:tblGrid>
              <a:tr h="295275">
                <a:tc>
                  <a:txBody>
                    <a:bodyPr/>
                    <a:lstStyle/>
                    <a:p>
                      <a:r>
                        <a:rPr sz="1380" b="1" i="0" u="none">
                          <a:solidFill>
                            <a:srgbClr val="1C2B3A"/>
                          </a:solidFill>
                          <a:latin typeface="IBM Plex Mono"/>
                        </a:rPr>
                        <a:t>Zeile</a:t>
                      </a:r>
                    </a:p>
                  </a:txBody>
                  <a:tcPr marL="54864" marR="54864" marT="18288" marB="18288">
                    <a:solidFill>
                      <a:srgbClr val="EBE2D2"/>
                    </a:solidFill>
                  </a:tcPr>
                </a:tc>
                <a:tc>
                  <a:txBody>
                    <a:bodyPr/>
                    <a:lstStyle/>
                    <a:p>
                      <a:r>
                        <a:rPr sz="1380" b="1" i="0" u="none">
                          <a:solidFill>
                            <a:srgbClr val="1C2B3A"/>
                          </a:solidFill>
                          <a:latin typeface="IBM Plex Mono"/>
                        </a:rPr>
                        <a:t>Datum</a:t>
                      </a:r>
                    </a:p>
                  </a:txBody>
                  <a:tcPr marL="54864" marR="54864" marT="18288" marB="18288">
                    <a:solidFill>
                      <a:srgbClr val="EBE2D2"/>
                    </a:solidFill>
                  </a:tcPr>
                </a:tc>
                <a:tc>
                  <a:txBody>
                    <a:bodyPr/>
                    <a:lstStyle/>
                    <a:p>
                      <a:r>
                        <a:rPr sz="1380" b="1" i="0" u="none">
                          <a:solidFill>
                            <a:srgbClr val="1C2B3A"/>
                          </a:solidFill>
                          <a:latin typeface="IBM Plex Mono"/>
                        </a:rPr>
                        <a:t>Kanu</a:t>
                      </a:r>
                    </a:p>
                  </a:txBody>
                  <a:tcPr marL="54864" marR="54864" marT="18288" marB="18288">
                    <a:solidFill>
                      <a:srgbClr val="EBE2D2"/>
                    </a:solidFill>
                  </a:tcPr>
                </a:tc>
                <a:tc>
                  <a:txBody>
                    <a:bodyPr/>
                    <a:lstStyle/>
                    <a:p>
                      <a:r>
                        <a:rPr sz="1380" b="1" i="0" u="none">
                          <a:solidFill>
                            <a:srgbClr val="1C2B3A"/>
                          </a:solidFill>
                          <a:latin typeface="IBM Plex Mono"/>
                        </a:rPr>
                        <a:t>Typ</a:t>
                      </a:r>
                    </a:p>
                  </a:txBody>
                  <a:tcPr marL="54864" marR="54864" marT="18288" marB="18288">
                    <a:solidFill>
                      <a:srgbClr val="EBE2D2"/>
                    </a:solidFill>
                  </a:tcPr>
                </a:tc>
                <a:tc>
                  <a:txBody>
                    <a:bodyPr/>
                    <a:lstStyle/>
                    <a:p>
                      <a:r>
                        <a:rPr sz="1380" b="1" i="0" u="none">
                          <a:solidFill>
                            <a:srgbClr val="1C2B3A"/>
                          </a:solidFill>
                          <a:latin typeface="IBM Plex Mono"/>
                        </a:rPr>
                        <a:t>Plaetze</a:t>
                      </a:r>
                    </a:p>
                  </a:txBody>
                  <a:tcPr marL="54864" marR="54864" marT="18288" marB="18288">
                    <a:solidFill>
                      <a:srgbClr val="EBE2D2"/>
                    </a:solidFill>
                  </a:tcPr>
                </a:tc>
                <a:tc>
                  <a:txBody>
                    <a:bodyPr/>
                    <a:lstStyle/>
                    <a:p>
                      <a:r>
                        <a:rPr sz="1380" b="1" i="0" u="none">
                          <a:solidFill>
                            <a:srgbClr val="1C2B3A"/>
                          </a:solidFill>
                          <a:latin typeface="IBM Plex Mono"/>
                        </a:rPr>
                        <a:t>Name</a:t>
                      </a:r>
                    </a:p>
                  </a:txBody>
                  <a:tcPr marL="54864" marR="54864" marT="18288" marB="18288">
                    <a:solidFill>
                      <a:srgbClr val="EBE2D2"/>
                    </a:solidFill>
                  </a:tcPr>
                </a:tc>
                <a:tc>
                  <a:txBody>
                    <a:bodyPr/>
                    <a:lstStyle/>
                    <a:p>
                      <a:r>
                        <a:rPr sz="1380" b="1" i="0" u="none">
                          <a:solidFill>
                            <a:srgbClr val="1C2B3A"/>
                          </a:solidFill>
                          <a:latin typeface="IBM Plex Mono"/>
                        </a:rPr>
                        <a:t>Klasse</a:t>
                      </a:r>
                    </a:p>
                  </a:txBody>
                  <a:tcPr marL="54864" marR="54864" marT="18288" marB="18288">
                    <a:solidFill>
                      <a:srgbClr val="EBE2D2"/>
                    </a:solidFill>
                  </a:tcPr>
                </a:tc>
              </a:tr>
              <a:tr h="295275">
                <a:tc>
                  <a:txBody>
                    <a:bodyPr/>
                    <a:lstStyle/>
                    <a:p>
                      <a:pPr algn="r"/>
                      <a:r>
                        <a:rPr sz="1500" b="0" i="0" u="none">
                          <a:solidFill>
                            <a:srgbClr val="1C2B3A"/>
                          </a:solidFill>
                          <a:latin typeface="Barlow"/>
                        </a:rPr>
                        <a:t>1</a:t>
                      </a:r>
                    </a:p>
                  </a:txBody>
                  <a:tcPr marL="54864" marR="54864" marT="18288" marB="18288">
                    <a:solidFill>
                      <a:srgbClr val="FFFDF8"/>
                    </a:solidFill>
                  </a:tcPr>
                </a:tc>
                <a:tc>
                  <a:txBody>
                    <a:bodyPr/>
                    <a:lstStyle/>
                    <a:p>
                      <a:r>
                        <a:rPr sz="1500" b="0" i="0" u="none">
                          <a:solidFill>
                            <a:srgbClr val="1C2B3A"/>
                          </a:solidFill>
                          <a:latin typeface="Barlow"/>
                        </a:rPr>
                        <a:t>2026-05-04</a:t>
                      </a:r>
                    </a:p>
                  </a:txBody>
                  <a:tcPr marL="54864" marR="54864" marT="18288" marB="18288">
                    <a:solidFill>
                      <a:srgbClr val="FFFDF8"/>
                    </a:solidFill>
                  </a:tcPr>
                </a:tc>
                <a:tc>
                  <a:txBody>
                    <a:bodyPr/>
                    <a:lstStyle/>
                    <a:p>
                      <a:r>
                        <a:rPr sz="1500" b="0" i="0" u="none">
                          <a:solidFill>
                            <a:srgbClr val="1C2B3A"/>
                          </a:solidFill>
                          <a:latin typeface="Barlow"/>
                        </a:rPr>
                        <a:t>K1</a:t>
                      </a:r>
                    </a:p>
                  </a:txBody>
                  <a:tcPr marL="54864" marR="54864" marT="18288" marB="18288">
                    <a:solidFill>
                      <a:srgbClr val="FFFDF8"/>
                    </a:solidFill>
                  </a:tcPr>
                </a:tc>
                <a:tc>
                  <a:txBody>
                    <a:bodyPr/>
                    <a:lstStyle/>
                    <a:p>
                      <a:r>
                        <a:rPr sz="1500" b="0" i="0" u="none">
                          <a:solidFill>
                            <a:srgbClr val="1C2B3A"/>
                          </a:solidFill>
                          <a:latin typeface="Barlow"/>
                        </a:rPr>
                        <a:t>Zweier</a:t>
                      </a:r>
                    </a:p>
                  </a:txBody>
                  <a:tcPr marL="54864" marR="54864" marT="18288" marB="18288">
                    <a:solidFill>
                      <a:srgbClr val="FFFDF8"/>
                    </a:solidFill>
                  </a:tcPr>
                </a:tc>
                <a:tc>
                  <a:txBody>
                    <a:bodyPr/>
                    <a:lstStyle/>
                    <a:p>
                      <a:pPr algn="r"/>
                      <a:r>
                        <a:rPr sz="1500" b="0" i="0" u="none">
                          <a:solidFill>
                            <a:srgbClr val="1C2B3A"/>
                          </a:solidFill>
                          <a:latin typeface="Barlow"/>
                        </a:rPr>
                        <a:t>2</a:t>
                      </a:r>
                    </a:p>
                  </a:txBody>
                  <a:tcPr marL="54864" marR="54864" marT="18288" marB="18288">
                    <a:solidFill>
                      <a:srgbClr val="FFFDF8"/>
                    </a:solidFill>
                  </a:tcPr>
                </a:tc>
                <a:tc>
                  <a:txBody>
                    <a:bodyPr/>
                    <a:lstStyle/>
                    <a:p>
                      <a:r>
                        <a:rPr sz="1500" b="0" i="0" u="none">
                          <a:solidFill>
                            <a:srgbClr val="1C2B3A"/>
                          </a:solidFill>
                          <a:latin typeface="Barlow"/>
                        </a:rPr>
                        <a:t>Rieke Haake</a:t>
                      </a:r>
                    </a:p>
                  </a:txBody>
                  <a:tcPr marL="54864" marR="54864" marT="18288" marB="18288">
                    <a:solidFill>
                      <a:srgbClr val="FFFDF8"/>
                    </a:solidFill>
                  </a:tcPr>
                </a:tc>
                <a:tc>
                  <a:txBody>
                    <a:bodyPr/>
                    <a:lstStyle/>
                    <a:p>
                      <a:r>
                        <a:rPr sz="1500" b="0" i="0" u="none">
                          <a:solidFill>
                            <a:srgbClr val="1C2B3A"/>
                          </a:solidFill>
                          <a:latin typeface="Barlow"/>
                        </a:rPr>
                        <a:t>9b</a:t>
                      </a:r>
                    </a:p>
                  </a:txBody>
                  <a:tcPr marL="54864" marR="54864" marT="18288" marB="18288">
                    <a:solidFill>
                      <a:srgbClr val="FFFDF8"/>
                    </a:solidFill>
                  </a:tcPr>
                </a:tc>
              </a:tr>
              <a:tr h="295275">
                <a:tc>
                  <a:txBody>
                    <a:bodyPr/>
                    <a:lstStyle/>
                    <a:p>
                      <a:pPr algn="r"/>
                      <a:r>
                        <a:rPr sz="1500" b="0" i="0" u="none">
                          <a:solidFill>
                            <a:srgbClr val="1C2B3A"/>
                          </a:solidFill>
                          <a:latin typeface="Barlow"/>
                        </a:rPr>
                        <a:t>2</a:t>
                      </a:r>
                    </a:p>
                  </a:txBody>
                  <a:tcPr marL="54864" marR="54864" marT="18288" marB="18288">
                    <a:solidFill>
                      <a:srgbClr val="FFFDF8"/>
                    </a:solidFill>
                  </a:tcPr>
                </a:tc>
                <a:tc>
                  <a:txBody>
                    <a:bodyPr/>
                    <a:lstStyle/>
                    <a:p>
                      <a:r>
                        <a:rPr sz="1500" b="0" i="0" u="none">
                          <a:solidFill>
                            <a:srgbClr val="1C2B3A"/>
                          </a:solidFill>
                          <a:latin typeface="Barlow"/>
                        </a:rPr>
                        <a:t>2026-05-04</a:t>
                      </a:r>
                    </a:p>
                  </a:txBody>
                  <a:tcPr marL="54864" marR="54864" marT="18288" marB="18288">
                    <a:solidFill>
                      <a:srgbClr val="FFFDF8"/>
                    </a:solidFill>
                  </a:tcPr>
                </a:tc>
                <a:tc>
                  <a:txBody>
                    <a:bodyPr/>
                    <a:lstStyle/>
                    <a:p>
                      <a:r>
                        <a:rPr sz="1500" b="0" i="0" u="none">
                          <a:solidFill>
                            <a:srgbClr val="1C2B3A"/>
                          </a:solidFill>
                          <a:latin typeface="Barlow"/>
                        </a:rPr>
                        <a:t>K2</a:t>
                      </a:r>
                    </a:p>
                  </a:txBody>
                  <a:tcPr marL="54864" marR="54864" marT="18288" marB="18288">
                    <a:solidFill>
                      <a:srgbClr val="FFFDF8"/>
                    </a:solidFill>
                  </a:tcPr>
                </a:tc>
                <a:tc>
                  <a:txBody>
                    <a:bodyPr/>
                    <a:lstStyle/>
                    <a:p>
                      <a:r>
                        <a:rPr sz="1500" b="0" i="0" u="none">
                          <a:solidFill>
                            <a:srgbClr val="1C2B3A"/>
                          </a:solidFill>
                          <a:latin typeface="Barlow"/>
                        </a:rPr>
                        <a:t>Einer</a:t>
                      </a:r>
                    </a:p>
                  </a:txBody>
                  <a:tcPr marL="54864" marR="54864" marT="18288" marB="18288">
                    <a:solidFill>
                      <a:srgbClr val="FFFDF8"/>
                    </a:solidFill>
                  </a:tcPr>
                </a:tc>
                <a:tc>
                  <a:txBody>
                    <a:bodyPr/>
                    <a:lstStyle/>
                    <a:p>
                      <a:pPr algn="r"/>
                      <a:r>
                        <a:rPr sz="1500" b="0" i="0" u="none">
                          <a:solidFill>
                            <a:srgbClr val="1C2B3A"/>
                          </a:solidFill>
                          <a:latin typeface="Barlow"/>
                        </a:rPr>
                        <a:t>1</a:t>
                      </a:r>
                    </a:p>
                  </a:txBody>
                  <a:tcPr marL="54864" marR="54864" marT="18288" marB="18288">
                    <a:solidFill>
                      <a:srgbClr val="FFFDF8"/>
                    </a:solidFill>
                  </a:tcPr>
                </a:tc>
                <a:tc>
                  <a:txBody>
                    <a:bodyPr/>
                    <a:lstStyle/>
                    <a:p>
                      <a:r>
                        <a:rPr sz="1500" b="0" i="0" u="none">
                          <a:solidFill>
                            <a:srgbClr val="1C2B3A"/>
                          </a:solidFill>
                          <a:latin typeface="Barlow"/>
                        </a:rPr>
                        <a:t>Ole Rippen</a:t>
                      </a:r>
                    </a:p>
                  </a:txBody>
                  <a:tcPr marL="54864" marR="54864" marT="18288" marB="18288">
                    <a:solidFill>
                      <a:srgbClr val="FFFDF8"/>
                    </a:solidFill>
                  </a:tcPr>
                </a:tc>
                <a:tc>
                  <a:txBody>
                    <a:bodyPr/>
                    <a:lstStyle/>
                    <a:p>
                      <a:r>
                        <a:rPr sz="1500" b="0" i="0" u="none">
                          <a:solidFill>
                            <a:srgbClr val="1C2B3A"/>
                          </a:solidFill>
                          <a:latin typeface="Barlow"/>
                        </a:rPr>
                        <a:t>10a</a:t>
                      </a:r>
                    </a:p>
                  </a:txBody>
                  <a:tcPr marL="54864" marR="54864" marT="18288" marB="18288">
                    <a:solidFill>
                      <a:srgbClr val="FFFDF8"/>
                    </a:solidFill>
                  </a:tcPr>
                </a:tc>
              </a:tr>
              <a:tr h="295275">
                <a:tc>
                  <a:txBody>
                    <a:bodyPr/>
                    <a:lstStyle/>
                    <a:p>
                      <a:pPr algn="r"/>
                      <a:r>
                        <a:rPr sz="1500" b="0" i="0" u="none">
                          <a:solidFill>
                            <a:srgbClr val="1C2B3A"/>
                          </a:solidFill>
                          <a:latin typeface="Barlow"/>
                        </a:rPr>
                        <a:t>3</a:t>
                      </a:r>
                    </a:p>
                  </a:txBody>
                  <a:tcPr marL="54864" marR="54864" marT="18288" marB="18288">
                    <a:solidFill>
                      <a:srgbClr val="FFFDF8"/>
                    </a:solidFill>
                  </a:tcPr>
                </a:tc>
                <a:tc>
                  <a:txBody>
                    <a:bodyPr/>
                    <a:lstStyle/>
                    <a:p>
                      <a:r>
                        <a:rPr sz="1500" b="0" i="0" u="none">
                          <a:solidFill>
                            <a:srgbClr val="1C2B3A"/>
                          </a:solidFill>
                          <a:latin typeface="Barlow"/>
                        </a:rPr>
                        <a:t>2026-05-06</a:t>
                      </a:r>
                    </a:p>
                  </a:txBody>
                  <a:tcPr marL="54864" marR="54864" marT="18288" marB="18288">
                    <a:solidFill>
                      <a:srgbClr val="FFFDF8"/>
                    </a:solidFill>
                  </a:tcPr>
                </a:tc>
                <a:tc>
                  <a:txBody>
                    <a:bodyPr/>
                    <a:lstStyle/>
                    <a:p>
                      <a:r>
                        <a:rPr sz="1500" b="0" i="0" u="none">
                          <a:solidFill>
                            <a:srgbClr val="1C2B3A"/>
                          </a:solidFill>
                          <a:latin typeface="Barlow"/>
                        </a:rPr>
                        <a:t>K1</a:t>
                      </a:r>
                    </a:p>
                  </a:txBody>
                  <a:tcPr marL="54864" marR="54864" marT="18288" marB="18288">
                    <a:solidFill>
                      <a:srgbClr val="FFFDF8"/>
                    </a:solidFill>
                  </a:tcPr>
                </a:tc>
                <a:tc>
                  <a:txBody>
                    <a:bodyPr/>
                    <a:lstStyle/>
                    <a:p>
                      <a:r>
                        <a:rPr sz="1500" b="0" i="0" u="none">
                          <a:solidFill>
                            <a:srgbClr val="1C2B3A"/>
                          </a:solidFill>
                          <a:latin typeface="Barlow"/>
                        </a:rPr>
                        <a:t>Zweier</a:t>
                      </a:r>
                    </a:p>
                  </a:txBody>
                  <a:tcPr marL="54864" marR="54864" marT="18288" marB="18288">
                    <a:solidFill>
                      <a:srgbClr val="FFFDF8"/>
                    </a:solidFill>
                  </a:tcPr>
                </a:tc>
                <a:tc>
                  <a:txBody>
                    <a:bodyPr/>
                    <a:lstStyle/>
                    <a:p>
                      <a:pPr algn="r"/>
                      <a:r>
                        <a:rPr sz="1500" b="0" i="0" u="none">
                          <a:solidFill>
                            <a:srgbClr val="1C2B3A"/>
                          </a:solidFill>
                          <a:latin typeface="Barlow"/>
                        </a:rPr>
                        <a:t>2</a:t>
                      </a:r>
                    </a:p>
                  </a:txBody>
                  <a:tcPr marL="54864" marR="54864" marT="18288" marB="18288">
                    <a:solidFill>
                      <a:srgbClr val="FFFDF8"/>
                    </a:solidFill>
                  </a:tcPr>
                </a:tc>
                <a:tc>
                  <a:txBody>
                    <a:bodyPr/>
                    <a:lstStyle/>
                    <a:p>
                      <a:r>
                        <a:rPr sz="1500" b="0" i="0" u="none">
                          <a:solidFill>
                            <a:srgbClr val="1C2B3A"/>
                          </a:solidFill>
                          <a:latin typeface="Barlow"/>
                        </a:rPr>
                        <a:t>Ole Rippen</a:t>
                      </a:r>
                    </a:p>
                  </a:txBody>
                  <a:tcPr marL="54864" marR="54864" marT="18288" marB="18288">
                    <a:solidFill>
                      <a:srgbClr val="FFFDF8"/>
                    </a:solidFill>
                  </a:tcPr>
                </a:tc>
                <a:tc>
                  <a:txBody>
                    <a:bodyPr/>
                    <a:lstStyle/>
                    <a:p>
                      <a:r>
                        <a:rPr sz="1500" b="0" i="0" u="none">
                          <a:solidFill>
                            <a:srgbClr val="1C2B3A"/>
                          </a:solidFill>
                          <a:latin typeface="Barlow"/>
                        </a:rPr>
                        <a:t>10a</a:t>
                      </a:r>
                    </a:p>
                  </a:txBody>
                  <a:tcPr marL="54864" marR="54864" marT="18288" marB="18288">
                    <a:solidFill>
                      <a:srgbClr val="FFFDF8"/>
                    </a:solidFill>
                  </a:tcPr>
                </a:tc>
              </a:tr>
              <a:tr h="295275">
                <a:tc>
                  <a:txBody>
                    <a:bodyPr/>
                    <a:lstStyle/>
                    <a:p>
                      <a:pPr algn="r"/>
                      <a:r>
                        <a:rPr sz="1500" b="0" i="0" u="none">
                          <a:solidFill>
                            <a:srgbClr val="1C2B3A"/>
                          </a:solidFill>
                          <a:latin typeface="Barlow"/>
                        </a:rPr>
                        <a:t>4</a:t>
                      </a:r>
                    </a:p>
                  </a:txBody>
                  <a:tcPr marL="54864" marR="54864" marT="18288" marB="18288">
                    <a:solidFill>
                      <a:srgbClr val="FFFDF8"/>
                    </a:solidFill>
                  </a:tcPr>
                </a:tc>
                <a:tc>
                  <a:txBody>
                    <a:bodyPr/>
                    <a:lstStyle/>
                    <a:p>
                      <a:r>
                        <a:rPr sz="1500" b="0" i="0" u="none">
                          <a:solidFill>
                            <a:srgbClr val="1C2B3A"/>
                          </a:solidFill>
                          <a:latin typeface="Barlow"/>
                        </a:rPr>
                        <a:t>2026-05-06</a:t>
                      </a:r>
                    </a:p>
                  </a:txBody>
                  <a:tcPr marL="54864" marR="54864" marT="18288" marB="18288">
                    <a:solidFill>
                      <a:srgbClr val="FFFDF8"/>
                    </a:solidFill>
                  </a:tcPr>
                </a:tc>
                <a:tc>
                  <a:txBody>
                    <a:bodyPr/>
                    <a:lstStyle/>
                    <a:p>
                      <a:r>
                        <a:rPr sz="1500" b="0" i="0" u="none">
                          <a:solidFill>
                            <a:srgbClr val="1C2B3A"/>
                          </a:solidFill>
                          <a:latin typeface="Barlow"/>
                        </a:rPr>
                        <a:t>K3</a:t>
                      </a:r>
                    </a:p>
                  </a:txBody>
                  <a:tcPr marL="54864" marR="54864" marT="18288" marB="18288">
                    <a:solidFill>
                      <a:srgbClr val="FFFDF8"/>
                    </a:solidFill>
                  </a:tcPr>
                </a:tc>
                <a:tc>
                  <a:txBody>
                    <a:bodyPr/>
                    <a:lstStyle/>
                    <a:p>
                      <a:r>
                        <a:rPr sz="1500" b="0" i="0" u="none">
                          <a:solidFill>
                            <a:srgbClr val="1C2B3A"/>
                          </a:solidFill>
                          <a:latin typeface="Barlow"/>
                        </a:rPr>
                        <a:t>Zweier</a:t>
                      </a:r>
                    </a:p>
                  </a:txBody>
                  <a:tcPr marL="54864" marR="54864" marT="18288" marB="18288">
                    <a:solidFill>
                      <a:srgbClr val="FFFDF8"/>
                    </a:solidFill>
                  </a:tcPr>
                </a:tc>
                <a:tc>
                  <a:txBody>
                    <a:bodyPr/>
                    <a:lstStyle/>
                    <a:p>
                      <a:pPr algn="r"/>
                      <a:r>
                        <a:rPr sz="1500" b="0" i="0" u="none">
                          <a:solidFill>
                            <a:srgbClr val="1C2B3A"/>
                          </a:solidFill>
                          <a:latin typeface="Barlow"/>
                        </a:rPr>
                        <a:t>2</a:t>
                      </a:r>
                    </a:p>
                  </a:txBody>
                  <a:tcPr marL="54864" marR="54864" marT="18288" marB="18288">
                    <a:solidFill>
                      <a:srgbClr val="FFFDF8"/>
                    </a:solidFill>
                  </a:tcPr>
                </a:tc>
                <a:tc>
                  <a:txBody>
                    <a:bodyPr/>
                    <a:lstStyle/>
                    <a:p>
                      <a:r>
                        <a:rPr sz="1500" b="0" i="0" u="none">
                          <a:solidFill>
                            <a:srgbClr val="1C2B3A"/>
                          </a:solidFill>
                          <a:latin typeface="Barlow"/>
                        </a:rPr>
                        <a:t>Jule Tebbe</a:t>
                      </a:r>
                    </a:p>
                  </a:txBody>
                  <a:tcPr marL="54864" marR="54864" marT="18288" marB="18288">
                    <a:solidFill>
                      <a:srgbClr val="FFFDF8"/>
                    </a:solidFill>
                  </a:tcPr>
                </a:tc>
                <a:tc>
                  <a:txBody>
                    <a:bodyPr/>
                    <a:lstStyle/>
                    <a:p>
                      <a:r>
                        <a:rPr sz="1500" b="0" i="0" u="none">
                          <a:solidFill>
                            <a:srgbClr val="1C2B3A"/>
                          </a:solidFill>
                          <a:latin typeface="Barlow"/>
                        </a:rPr>
                        <a:t>9b</a:t>
                      </a:r>
                    </a:p>
                  </a:txBody>
                  <a:tcPr marL="54864" marR="54864" marT="18288" marB="18288">
                    <a:solidFill>
                      <a:srgbClr val="FFFDF8"/>
                    </a:solidFill>
                  </a:tcPr>
                </a:tc>
              </a:tr>
              <a:tr h="295275">
                <a:tc>
                  <a:txBody>
                    <a:bodyPr/>
                    <a:lstStyle/>
                    <a:p>
                      <a:pPr algn="r"/>
                      <a:r>
                        <a:rPr sz="1500" b="0" i="0" u="none">
                          <a:solidFill>
                            <a:srgbClr val="1C2B3A"/>
                          </a:solidFill>
                          <a:latin typeface="Barlow"/>
                        </a:rPr>
                        <a:t>5</a:t>
                      </a:r>
                    </a:p>
                  </a:txBody>
                  <a:tcPr marL="54864" marR="54864" marT="18288" marB="18288">
                    <a:solidFill>
                      <a:srgbClr val="FFFDF8"/>
                    </a:solidFill>
                  </a:tcPr>
                </a:tc>
                <a:tc>
                  <a:txBody>
                    <a:bodyPr/>
                    <a:lstStyle/>
                    <a:p>
                      <a:r>
                        <a:rPr sz="1500" b="0" i="0" u="none">
                          <a:solidFill>
                            <a:srgbClr val="1C2B3A"/>
                          </a:solidFill>
                          <a:latin typeface="Barlow"/>
                        </a:rPr>
                        <a:t>2026-05-08</a:t>
                      </a:r>
                    </a:p>
                  </a:txBody>
                  <a:tcPr marL="54864" marR="54864" marT="18288" marB="18288">
                    <a:solidFill>
                      <a:srgbClr val="FFFDF8"/>
                    </a:solidFill>
                  </a:tcPr>
                </a:tc>
                <a:tc>
                  <a:txBody>
                    <a:bodyPr/>
                    <a:lstStyle/>
                    <a:p>
                      <a:r>
                        <a:rPr sz="1500" b="0" i="0" u="none">
                          <a:solidFill>
                            <a:srgbClr val="1C2B3A"/>
                          </a:solidFill>
                          <a:latin typeface="Barlow"/>
                        </a:rPr>
                        <a:t>K1</a:t>
                      </a:r>
                    </a:p>
                  </a:txBody>
                  <a:tcPr marL="54864" marR="54864" marT="18288" marB="18288">
                    <a:solidFill>
                      <a:srgbClr val="FFFDF8"/>
                    </a:solidFill>
                  </a:tcPr>
                </a:tc>
                <a:tc>
                  <a:txBody>
                    <a:bodyPr/>
                    <a:lstStyle/>
                    <a:p>
                      <a:r>
                        <a:rPr sz="1500" b="0" i="0" u="none">
                          <a:solidFill>
                            <a:srgbClr val="1C2B3A"/>
                          </a:solidFill>
                          <a:latin typeface="Barlow"/>
                        </a:rPr>
                        <a:t>Zweier</a:t>
                      </a:r>
                    </a:p>
                  </a:txBody>
                  <a:tcPr marL="54864" marR="54864" marT="18288" marB="18288">
                    <a:solidFill>
                      <a:srgbClr val="FFFDF8"/>
                    </a:solidFill>
                  </a:tcPr>
                </a:tc>
                <a:tc>
                  <a:txBody>
                    <a:bodyPr/>
                    <a:lstStyle/>
                    <a:p>
                      <a:pPr algn="r"/>
                      <a:r>
                        <a:rPr sz="1500" b="0" i="0" u="none">
                          <a:solidFill>
                            <a:srgbClr val="1C2B3A"/>
                          </a:solidFill>
                          <a:latin typeface="Barlow"/>
                        </a:rPr>
                        <a:t>2</a:t>
                      </a:r>
                    </a:p>
                  </a:txBody>
                  <a:tcPr marL="54864" marR="54864" marT="18288" marB="18288">
                    <a:solidFill>
                      <a:srgbClr val="FFFDF8"/>
                    </a:solidFill>
                  </a:tcPr>
                </a:tc>
                <a:tc>
                  <a:txBody>
                    <a:bodyPr/>
                    <a:lstStyle/>
                    <a:p>
                      <a:r>
                        <a:rPr sz="1500" b="0" i="0" u="none">
                          <a:solidFill>
                            <a:srgbClr val="1C2B3A"/>
                          </a:solidFill>
                          <a:latin typeface="Barlow"/>
                        </a:rPr>
                        <a:t>Rieke Haake</a:t>
                      </a:r>
                    </a:p>
                  </a:txBody>
                  <a:tcPr marL="54864" marR="54864" marT="18288" marB="18288">
                    <a:solidFill>
                      <a:srgbClr val="FFFDF8"/>
                    </a:solidFill>
                  </a:tcPr>
                </a:tc>
                <a:tc>
                  <a:txBody>
                    <a:bodyPr/>
                    <a:lstStyle/>
                    <a:p>
                      <a:r>
                        <a:rPr sz="1500" b="0" i="0" u="none">
                          <a:solidFill>
                            <a:srgbClr val="1C2B3A"/>
                          </a:solidFill>
                          <a:latin typeface="Barlow"/>
                        </a:rPr>
                        <a:t>9b</a:t>
                      </a:r>
                    </a:p>
                  </a:txBody>
                  <a:tcPr marL="54864" marR="54864" marT="18288" marB="18288">
                    <a:solidFill>
                      <a:srgbClr val="FFFDF8"/>
                    </a:solidFill>
                  </a:tcPr>
                </a:tc>
              </a:tr>
              <a:tr h="295275">
                <a:tc>
                  <a:txBody>
                    <a:bodyPr/>
                    <a:lstStyle/>
                    <a:p>
                      <a:pPr algn="r"/>
                      <a:r>
                        <a:rPr sz="1500" b="0" i="0" u="none">
                          <a:solidFill>
                            <a:srgbClr val="1C2B3A"/>
                          </a:solidFill>
                          <a:latin typeface="Barlow"/>
                        </a:rPr>
                        <a:t>6</a:t>
                      </a:r>
                    </a:p>
                  </a:txBody>
                  <a:tcPr marL="54864" marR="54864" marT="18288" marB="18288">
                    <a:solidFill>
                      <a:srgbClr val="FFFDF8"/>
                    </a:solidFill>
                  </a:tcPr>
                </a:tc>
                <a:tc>
                  <a:txBody>
                    <a:bodyPr/>
                    <a:lstStyle/>
                    <a:p>
                      <a:r>
                        <a:rPr sz="1500" b="0" i="0" u="none">
                          <a:solidFill>
                            <a:srgbClr val="1C2B3A"/>
                          </a:solidFill>
                          <a:latin typeface="Barlow"/>
                        </a:rPr>
                        <a:t>2026-05-08</a:t>
                      </a:r>
                    </a:p>
                  </a:txBody>
                  <a:tcPr marL="54864" marR="54864" marT="18288" marB="18288">
                    <a:solidFill>
                      <a:srgbClr val="FFFDF8"/>
                    </a:solidFill>
                  </a:tcPr>
                </a:tc>
                <a:tc>
                  <a:txBody>
                    <a:bodyPr/>
                    <a:lstStyle/>
                    <a:p>
                      <a:r>
                        <a:rPr sz="1500" b="0" i="0" u="none">
                          <a:solidFill>
                            <a:srgbClr val="1C2B3A"/>
                          </a:solidFill>
                          <a:latin typeface="Barlow"/>
                        </a:rPr>
                        <a:t>K2</a:t>
                      </a:r>
                    </a:p>
                  </a:txBody>
                  <a:tcPr marL="54864" marR="54864" marT="18288" marB="18288">
                    <a:solidFill>
                      <a:srgbClr val="FFFDF8"/>
                    </a:solidFill>
                  </a:tcPr>
                </a:tc>
                <a:tc>
                  <a:txBody>
                    <a:bodyPr/>
                    <a:lstStyle/>
                    <a:p>
                      <a:r>
                        <a:rPr sz="1500" b="0" i="0" u="none">
                          <a:solidFill>
                            <a:srgbClr val="1C2B3A"/>
                          </a:solidFill>
                          <a:latin typeface="Barlow"/>
                        </a:rPr>
                        <a:t>Einer</a:t>
                      </a:r>
                    </a:p>
                  </a:txBody>
                  <a:tcPr marL="54864" marR="54864" marT="18288" marB="18288">
                    <a:solidFill>
                      <a:srgbClr val="FFFDF8"/>
                    </a:solidFill>
                  </a:tcPr>
                </a:tc>
                <a:tc>
                  <a:txBody>
                    <a:bodyPr/>
                    <a:lstStyle/>
                    <a:p>
                      <a:pPr algn="r"/>
                      <a:r>
                        <a:rPr sz="1500" b="0" i="0" u="none">
                          <a:solidFill>
                            <a:srgbClr val="1C2B3A"/>
                          </a:solidFill>
                          <a:latin typeface="Barlow"/>
                        </a:rPr>
                        <a:t>1</a:t>
                      </a:r>
                    </a:p>
                  </a:txBody>
                  <a:tcPr marL="54864" marR="54864" marT="18288" marB="18288">
                    <a:solidFill>
                      <a:srgbClr val="FFFDF8"/>
                    </a:solidFill>
                  </a:tcPr>
                </a:tc>
                <a:tc>
                  <a:txBody>
                    <a:bodyPr/>
                    <a:lstStyle/>
                    <a:p>
                      <a:r>
                        <a:rPr sz="1500" b="0" i="0" u="none">
                          <a:solidFill>
                            <a:srgbClr val="1C2B3A"/>
                          </a:solidFill>
                          <a:latin typeface="Barlow"/>
                        </a:rPr>
                        <a:t>Jule Tebbe</a:t>
                      </a:r>
                    </a:p>
                  </a:txBody>
                  <a:tcPr marL="54864" marR="54864" marT="18288" marB="18288">
                    <a:solidFill>
                      <a:srgbClr val="FFFDF8"/>
                    </a:solidFill>
                  </a:tcPr>
                </a:tc>
                <a:tc>
                  <a:txBody>
                    <a:bodyPr/>
                    <a:lstStyle/>
                    <a:p>
                      <a:r>
                        <a:rPr sz="1500" b="0" i="0" u="none">
                          <a:solidFill>
                            <a:srgbClr val="1C2B3A"/>
                          </a:solidFill>
                          <a:latin typeface="Barlow"/>
                        </a:rPr>
                        <a:t>9b</a:t>
                      </a:r>
                    </a:p>
                  </a:txBody>
                  <a:tcPr marL="54864" marR="54864" marT="18288" marB="18288">
                    <a:solidFill>
                      <a:srgbClr val="FFFDF8"/>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4 · AKTE 4 · CHAOS IM VEREINSARCHIV</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Änderungsanomalie</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3</a:t>
            </a:r>
          </a:p>
        </p:txBody>
      </p:sp>
      <p:sp>
        <p:nvSpPr>
          <p:cNvPr id="8" name="Rounded Rectangle 7"/>
          <p:cNvSpPr/>
          <p:nvPr/>
        </p:nvSpPr>
        <p:spPr>
          <a:xfrm>
            <a:off x="8001000" y="1691640"/>
            <a:ext cx="3642055" cy="2026157"/>
          </a:xfrm>
          <a:prstGeom prst="roundRect">
            <a:avLst>
              <a:gd name="adj" fmla="val 4000"/>
            </a:avLst>
          </a:prstGeom>
          <a:solidFill>
            <a:srgbClr val="F8E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001000" y="1691640"/>
            <a:ext cx="73152" cy="2026157"/>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75320" y="1783080"/>
            <a:ext cx="323057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B3261E"/>
                </a:solidFill>
                <a:latin typeface="IBM Plex Mono"/>
              </a:rPr>
              <a:t>ÄNDERUNGSANOMALIE</a:t>
            </a:r>
          </a:p>
        </p:txBody>
      </p:sp>
      <p:sp>
        <p:nvSpPr>
          <p:cNvPr id="11" name="TextBox 10"/>
          <p:cNvSpPr txBox="1"/>
          <p:nvPr/>
        </p:nvSpPr>
        <p:spPr>
          <a:xfrm>
            <a:off x="8275320" y="2148840"/>
            <a:ext cx="3230575" cy="1523237"/>
          </a:xfrm>
          <a:prstGeom prst="rect">
            <a:avLst/>
          </a:prstGeom>
          <a:noFill/>
        </p:spPr>
        <p:txBody>
          <a:bodyPr wrap="square" lIns="27432" rIns="27432" tIns="27432" bIns="27432">
            <a:spAutoFit/>
          </a:bodyPr>
          <a:lstStyle/>
          <a:p>
            <a:pPr>
              <a:lnSpc>
                <a:spcPct val="105000"/>
              </a:lnSpc>
              <a:spcAft>
                <a:spcPts val="300"/>
              </a:spcAft>
            </a:pPr>
            <a:r>
              <a:rPr sz="1614" b="0" i="0" u="none">
                <a:solidFill>
                  <a:srgbClr val="1C2B3A"/>
                </a:solidFill>
                <a:latin typeface="Barlow"/>
              </a:rPr>
              <a:t>Eine Information muss an </a:t>
            </a:r>
            <a:r>
              <a:rPr sz="1614" b="1" i="0" u="none">
                <a:solidFill>
                  <a:srgbClr val="1C2B3A"/>
                </a:solidFill>
                <a:latin typeface="Barlow"/>
              </a:rPr>
              <a:t>mehreren Stellen</a:t>
            </a:r>
            <a:r>
              <a:rPr sz="1614" b="0" i="0" u="none">
                <a:solidFill>
                  <a:srgbClr val="1C2B3A"/>
                </a:solidFill>
                <a:latin typeface="Barlow"/>
              </a:rPr>
              <a:t> geändert werden.</a:t>
            </a:r>
          </a:p>
          <a:p>
            <a:pPr>
              <a:lnSpc>
                <a:spcPct val="105000"/>
              </a:lnSpc>
              <a:spcAft>
                <a:spcPts val="300"/>
              </a:spcAft>
            </a:pPr>
            <a:r>
              <a:rPr sz="1614" b="0" i="0" u="none">
                <a:solidFill>
                  <a:srgbClr val="1C2B3A"/>
                </a:solidFill>
                <a:latin typeface="Barlow"/>
              </a:rPr>
              <a:t>Wird eine Stelle vergessen, ist der Bestand </a:t>
            </a:r>
            <a:r>
              <a:rPr sz="1614" b="1" i="0" u="none">
                <a:solidFill>
                  <a:srgbClr val="1C2B3A"/>
                </a:solidFill>
                <a:latin typeface="Barlow"/>
              </a:rPr>
              <a:t>inkonsistent</a:t>
            </a:r>
            <a:r>
              <a:rPr sz="1614" b="0" i="0" u="none">
                <a:solidFill>
                  <a:srgbClr val="1C2B3A"/>
                </a:solidFill>
                <a:latin typeface="Barlow"/>
              </a:rPr>
              <a:t>.</a:t>
            </a:r>
          </a:p>
        </p:txBody>
      </p:sp>
      <p:sp>
        <p:nvSpPr>
          <p:cNvPr id="12" name="TextBox 11"/>
          <p:cNvSpPr txBox="1"/>
          <p:nvPr/>
        </p:nvSpPr>
        <p:spPr>
          <a:xfrm>
            <a:off x="548640" y="1691640"/>
            <a:ext cx="7178040" cy="274320"/>
          </a:xfrm>
          <a:prstGeom prst="rect">
            <a:avLst/>
          </a:prstGeom>
          <a:noFill/>
        </p:spPr>
        <p:txBody>
          <a:bodyPr wrap="square" lIns="27432" rIns="27432" tIns="27432" bIns="27432">
            <a:spAutoFit/>
          </a:bodyPr>
          <a:lstStyle/>
          <a:p>
            <a:pPr>
              <a:lnSpc>
                <a:spcPct val="105000"/>
              </a:lnSpc>
              <a:spcAft>
                <a:spcPts val="400"/>
              </a:spcAft>
            </a:pPr>
            <a:r>
              <a:rPr sz="1100" b="1" i="0" u="none">
                <a:solidFill>
                  <a:srgbClr val="D4B062"/>
                </a:solidFill>
                <a:latin typeface="IBM Plex Mono"/>
              </a:rPr>
              <a:t>K1 WIRD ZUM DREIER UMGEBAUT – NUR ZEILE 1 UND 3 WERDEN GEÄNDERT</a:t>
            </a:r>
          </a:p>
        </p:txBody>
      </p:sp>
      <p:graphicFrame>
        <p:nvGraphicFramePr>
          <p:cNvPr id="13" name="Datentabelle"/>
          <p:cNvGraphicFramePr>
            <a:graphicFrameLocks noGrp="1"/>
          </p:cNvGraphicFramePr>
          <p:nvPr/>
        </p:nvGraphicFramePr>
        <p:xfrm>
          <a:off x="548640" y="1984248"/>
          <a:ext cx="7178037" cy="1181100"/>
        </p:xfrm>
        <a:graphic>
          <a:graphicData uri="http://schemas.openxmlformats.org/drawingml/2006/table">
            <a:tbl>
              <a:tblPr firstRow="1">
                <a:tableStyleId>{5C22544A-7EE6-4342-B048-85BDC9FD1C3A}</a:tableStyleId>
              </a:tblPr>
              <a:tblGrid>
                <a:gridCol w="806159"/>
                <a:gridCol w="1354347"/>
                <a:gridCol w="696521"/>
                <a:gridCol w="915796"/>
                <a:gridCol w="1025434"/>
                <a:gridCol w="1463984"/>
                <a:gridCol w="915796"/>
              </a:tblGrid>
              <a:tr h="295275">
                <a:tc>
                  <a:txBody>
                    <a:bodyPr/>
                    <a:lstStyle/>
                    <a:p>
                      <a:r>
                        <a:rPr sz="1380" b="1" i="0" u="none">
                          <a:solidFill>
                            <a:srgbClr val="1C2B3A"/>
                          </a:solidFill>
                          <a:latin typeface="IBM Plex Mono"/>
                        </a:rPr>
                        <a:t>Zeile</a:t>
                      </a:r>
                    </a:p>
                  </a:txBody>
                  <a:tcPr marL="54864" marR="54864" marT="18288" marB="18288">
                    <a:solidFill>
                      <a:srgbClr val="EBE2D2"/>
                    </a:solidFill>
                  </a:tcPr>
                </a:tc>
                <a:tc>
                  <a:txBody>
                    <a:bodyPr/>
                    <a:lstStyle/>
                    <a:p>
                      <a:r>
                        <a:rPr sz="1380" b="1" i="0" u="none">
                          <a:solidFill>
                            <a:srgbClr val="1C2B3A"/>
                          </a:solidFill>
                          <a:latin typeface="IBM Plex Mono"/>
                        </a:rPr>
                        <a:t>Datum</a:t>
                      </a:r>
                    </a:p>
                  </a:txBody>
                  <a:tcPr marL="54864" marR="54864" marT="18288" marB="18288">
                    <a:solidFill>
                      <a:srgbClr val="EBE2D2"/>
                    </a:solidFill>
                  </a:tcPr>
                </a:tc>
                <a:tc>
                  <a:txBody>
                    <a:bodyPr/>
                    <a:lstStyle/>
                    <a:p>
                      <a:r>
                        <a:rPr sz="1380" b="1" i="0" u="none">
                          <a:solidFill>
                            <a:srgbClr val="1C2B3A"/>
                          </a:solidFill>
                          <a:latin typeface="IBM Plex Mono"/>
                        </a:rPr>
                        <a:t>Kanu</a:t>
                      </a:r>
                    </a:p>
                  </a:txBody>
                  <a:tcPr marL="54864" marR="54864" marT="18288" marB="18288">
                    <a:solidFill>
                      <a:srgbClr val="EBE2D2"/>
                    </a:solidFill>
                  </a:tcPr>
                </a:tc>
                <a:tc>
                  <a:txBody>
                    <a:bodyPr/>
                    <a:lstStyle/>
                    <a:p>
                      <a:r>
                        <a:rPr sz="1380" b="1" i="0" u="none">
                          <a:solidFill>
                            <a:srgbClr val="1C2B3A"/>
                          </a:solidFill>
                          <a:latin typeface="IBM Plex Mono"/>
                        </a:rPr>
                        <a:t>Typ</a:t>
                      </a:r>
                    </a:p>
                  </a:txBody>
                  <a:tcPr marL="54864" marR="54864" marT="18288" marB="18288">
                    <a:solidFill>
                      <a:srgbClr val="EBE2D2"/>
                    </a:solidFill>
                  </a:tcPr>
                </a:tc>
                <a:tc>
                  <a:txBody>
                    <a:bodyPr/>
                    <a:lstStyle/>
                    <a:p>
                      <a:r>
                        <a:rPr sz="1380" b="1" i="0" u="none">
                          <a:solidFill>
                            <a:srgbClr val="1C2B3A"/>
                          </a:solidFill>
                          <a:latin typeface="IBM Plex Mono"/>
                        </a:rPr>
                        <a:t>Plaetze</a:t>
                      </a:r>
                    </a:p>
                  </a:txBody>
                  <a:tcPr marL="54864" marR="54864" marT="18288" marB="18288">
                    <a:solidFill>
                      <a:srgbClr val="EBE2D2"/>
                    </a:solidFill>
                  </a:tcPr>
                </a:tc>
                <a:tc>
                  <a:txBody>
                    <a:bodyPr/>
                    <a:lstStyle/>
                    <a:p>
                      <a:r>
                        <a:rPr sz="1380" b="1" i="0" u="none">
                          <a:solidFill>
                            <a:srgbClr val="1C2B3A"/>
                          </a:solidFill>
                          <a:latin typeface="IBM Plex Mono"/>
                        </a:rPr>
                        <a:t>Name</a:t>
                      </a:r>
                    </a:p>
                  </a:txBody>
                  <a:tcPr marL="54864" marR="54864" marT="18288" marB="18288">
                    <a:solidFill>
                      <a:srgbClr val="EBE2D2"/>
                    </a:solidFill>
                  </a:tcPr>
                </a:tc>
                <a:tc>
                  <a:txBody>
                    <a:bodyPr/>
                    <a:lstStyle/>
                    <a:p>
                      <a:r>
                        <a:rPr sz="1380" b="1" i="0" u="none">
                          <a:solidFill>
                            <a:srgbClr val="1C2B3A"/>
                          </a:solidFill>
                          <a:latin typeface="IBM Plex Mono"/>
                        </a:rPr>
                        <a:t>Klasse</a:t>
                      </a:r>
                    </a:p>
                  </a:txBody>
                  <a:tcPr marL="54864" marR="54864" marT="18288" marB="18288">
                    <a:solidFill>
                      <a:srgbClr val="EBE2D2"/>
                    </a:solidFill>
                  </a:tcPr>
                </a:tc>
              </a:tr>
              <a:tr h="295275">
                <a:tc>
                  <a:txBody>
                    <a:bodyPr/>
                    <a:lstStyle/>
                    <a:p>
                      <a:pPr algn="r"/>
                      <a:r>
                        <a:rPr sz="1500" b="0" i="0" u="none">
                          <a:solidFill>
                            <a:srgbClr val="1C2B3A"/>
                          </a:solidFill>
                          <a:latin typeface="Barlow"/>
                        </a:rPr>
                        <a:t>1</a:t>
                      </a:r>
                    </a:p>
                  </a:txBody>
                  <a:tcPr marL="54864" marR="54864" marT="18288" marB="18288">
                    <a:solidFill>
                      <a:srgbClr val="FFFDF8"/>
                    </a:solidFill>
                  </a:tcPr>
                </a:tc>
                <a:tc>
                  <a:txBody>
                    <a:bodyPr/>
                    <a:lstStyle/>
                    <a:p>
                      <a:r>
                        <a:rPr sz="1500" b="0" i="0" u="none">
                          <a:solidFill>
                            <a:srgbClr val="1C2B3A"/>
                          </a:solidFill>
                          <a:latin typeface="Barlow"/>
                        </a:rPr>
                        <a:t>2026-05-04</a:t>
                      </a:r>
                    </a:p>
                  </a:txBody>
                  <a:tcPr marL="54864" marR="54864" marT="18288" marB="18288">
                    <a:solidFill>
                      <a:srgbClr val="FFFDF8"/>
                    </a:solidFill>
                  </a:tcPr>
                </a:tc>
                <a:tc>
                  <a:txBody>
                    <a:bodyPr/>
                    <a:lstStyle/>
                    <a:p>
                      <a:r>
                        <a:rPr sz="1500" b="0" i="0" u="none">
                          <a:solidFill>
                            <a:srgbClr val="1C2B3A"/>
                          </a:solidFill>
                          <a:latin typeface="Barlow"/>
                        </a:rPr>
                        <a:t>K1</a:t>
                      </a:r>
                    </a:p>
                  </a:txBody>
                  <a:tcPr marL="54864" marR="54864" marT="18288" marB="18288">
                    <a:solidFill>
                      <a:srgbClr val="FFFDF8"/>
                    </a:solidFill>
                  </a:tcPr>
                </a:tc>
                <a:tc>
                  <a:txBody>
                    <a:bodyPr/>
                    <a:lstStyle/>
                    <a:p>
                      <a:r>
                        <a:rPr sz="1500" b="0" i="0" u="none">
                          <a:solidFill>
                            <a:srgbClr val="1C2B3A"/>
                          </a:solidFill>
                          <a:latin typeface="Barlow"/>
                        </a:rPr>
                        <a:t>Dreier</a:t>
                      </a:r>
                    </a:p>
                  </a:txBody>
                  <a:tcPr marL="54864" marR="54864" marT="18288" marB="18288">
                    <a:solidFill>
                      <a:srgbClr val="FFFDF8"/>
                    </a:solidFill>
                  </a:tcPr>
                </a:tc>
                <a:tc>
                  <a:txBody>
                    <a:bodyPr/>
                    <a:lstStyle/>
                    <a:p>
                      <a:pPr algn="r"/>
                      <a:r>
                        <a:rPr sz="1500" b="0" i="0" u="none">
                          <a:solidFill>
                            <a:srgbClr val="1C2B3A"/>
                          </a:solidFill>
                          <a:latin typeface="Barlow"/>
                        </a:rPr>
                        <a:t>3</a:t>
                      </a:r>
                    </a:p>
                  </a:txBody>
                  <a:tcPr marL="54864" marR="54864" marT="18288" marB="18288">
                    <a:solidFill>
                      <a:srgbClr val="FFFDF8"/>
                    </a:solidFill>
                  </a:tcPr>
                </a:tc>
                <a:tc>
                  <a:txBody>
                    <a:bodyPr/>
                    <a:lstStyle/>
                    <a:p>
                      <a:r>
                        <a:rPr sz="1500" b="0" i="0" u="none">
                          <a:solidFill>
                            <a:srgbClr val="1C2B3A"/>
                          </a:solidFill>
                          <a:latin typeface="Barlow"/>
                        </a:rPr>
                        <a:t>Rieke Haake</a:t>
                      </a:r>
                    </a:p>
                  </a:txBody>
                  <a:tcPr marL="54864" marR="54864" marT="18288" marB="18288">
                    <a:solidFill>
                      <a:srgbClr val="FFFDF8"/>
                    </a:solidFill>
                  </a:tcPr>
                </a:tc>
                <a:tc>
                  <a:txBody>
                    <a:bodyPr/>
                    <a:lstStyle/>
                    <a:p>
                      <a:r>
                        <a:rPr sz="1500" b="0" i="0" u="none">
                          <a:solidFill>
                            <a:srgbClr val="1C2B3A"/>
                          </a:solidFill>
                          <a:latin typeface="Barlow"/>
                        </a:rPr>
                        <a:t>9b</a:t>
                      </a:r>
                    </a:p>
                  </a:txBody>
                  <a:tcPr marL="54864" marR="54864" marT="18288" marB="18288">
                    <a:solidFill>
                      <a:srgbClr val="FFFDF8"/>
                    </a:solidFill>
                  </a:tcPr>
                </a:tc>
              </a:tr>
              <a:tr h="295275">
                <a:tc>
                  <a:txBody>
                    <a:bodyPr/>
                    <a:lstStyle/>
                    <a:p>
                      <a:pPr algn="r"/>
                      <a:r>
                        <a:rPr sz="1500" b="0" i="0" u="none">
                          <a:solidFill>
                            <a:srgbClr val="1C2B3A"/>
                          </a:solidFill>
                          <a:latin typeface="Barlow"/>
                        </a:rPr>
                        <a:t>3</a:t>
                      </a:r>
                    </a:p>
                  </a:txBody>
                  <a:tcPr marL="54864" marR="54864" marT="18288" marB="18288">
                    <a:solidFill>
                      <a:srgbClr val="FFFDF8"/>
                    </a:solidFill>
                  </a:tcPr>
                </a:tc>
                <a:tc>
                  <a:txBody>
                    <a:bodyPr/>
                    <a:lstStyle/>
                    <a:p>
                      <a:r>
                        <a:rPr sz="1500" b="0" i="0" u="none">
                          <a:solidFill>
                            <a:srgbClr val="1C2B3A"/>
                          </a:solidFill>
                          <a:latin typeface="Barlow"/>
                        </a:rPr>
                        <a:t>2026-05-06</a:t>
                      </a:r>
                    </a:p>
                  </a:txBody>
                  <a:tcPr marL="54864" marR="54864" marT="18288" marB="18288">
                    <a:solidFill>
                      <a:srgbClr val="FFFDF8"/>
                    </a:solidFill>
                  </a:tcPr>
                </a:tc>
                <a:tc>
                  <a:txBody>
                    <a:bodyPr/>
                    <a:lstStyle/>
                    <a:p>
                      <a:r>
                        <a:rPr sz="1500" b="0" i="0" u="none">
                          <a:solidFill>
                            <a:srgbClr val="1C2B3A"/>
                          </a:solidFill>
                          <a:latin typeface="Barlow"/>
                        </a:rPr>
                        <a:t>K1</a:t>
                      </a:r>
                    </a:p>
                  </a:txBody>
                  <a:tcPr marL="54864" marR="54864" marT="18288" marB="18288">
                    <a:solidFill>
                      <a:srgbClr val="FFFDF8"/>
                    </a:solidFill>
                  </a:tcPr>
                </a:tc>
                <a:tc>
                  <a:txBody>
                    <a:bodyPr/>
                    <a:lstStyle/>
                    <a:p>
                      <a:r>
                        <a:rPr sz="1500" b="0" i="0" u="none">
                          <a:solidFill>
                            <a:srgbClr val="1C2B3A"/>
                          </a:solidFill>
                          <a:latin typeface="Barlow"/>
                        </a:rPr>
                        <a:t>Dreier</a:t>
                      </a:r>
                    </a:p>
                  </a:txBody>
                  <a:tcPr marL="54864" marR="54864" marT="18288" marB="18288">
                    <a:solidFill>
                      <a:srgbClr val="FFFDF8"/>
                    </a:solidFill>
                  </a:tcPr>
                </a:tc>
                <a:tc>
                  <a:txBody>
                    <a:bodyPr/>
                    <a:lstStyle/>
                    <a:p>
                      <a:pPr algn="r"/>
                      <a:r>
                        <a:rPr sz="1500" b="0" i="0" u="none">
                          <a:solidFill>
                            <a:srgbClr val="1C2B3A"/>
                          </a:solidFill>
                          <a:latin typeface="Barlow"/>
                        </a:rPr>
                        <a:t>3</a:t>
                      </a:r>
                    </a:p>
                  </a:txBody>
                  <a:tcPr marL="54864" marR="54864" marT="18288" marB="18288">
                    <a:solidFill>
                      <a:srgbClr val="FFFDF8"/>
                    </a:solidFill>
                  </a:tcPr>
                </a:tc>
                <a:tc>
                  <a:txBody>
                    <a:bodyPr/>
                    <a:lstStyle/>
                    <a:p>
                      <a:r>
                        <a:rPr sz="1500" b="0" i="0" u="none">
                          <a:solidFill>
                            <a:srgbClr val="1C2B3A"/>
                          </a:solidFill>
                          <a:latin typeface="Barlow"/>
                        </a:rPr>
                        <a:t>Ole Rippen</a:t>
                      </a:r>
                    </a:p>
                  </a:txBody>
                  <a:tcPr marL="54864" marR="54864" marT="18288" marB="18288">
                    <a:solidFill>
                      <a:srgbClr val="FFFDF8"/>
                    </a:solidFill>
                  </a:tcPr>
                </a:tc>
                <a:tc>
                  <a:txBody>
                    <a:bodyPr/>
                    <a:lstStyle/>
                    <a:p>
                      <a:r>
                        <a:rPr sz="1500" b="0" i="0" u="none">
                          <a:solidFill>
                            <a:srgbClr val="1C2B3A"/>
                          </a:solidFill>
                          <a:latin typeface="Barlow"/>
                        </a:rPr>
                        <a:t>10a</a:t>
                      </a:r>
                    </a:p>
                  </a:txBody>
                  <a:tcPr marL="54864" marR="54864" marT="18288" marB="18288">
                    <a:solidFill>
                      <a:srgbClr val="FFFDF8"/>
                    </a:solidFill>
                  </a:tcPr>
                </a:tc>
              </a:tr>
              <a:tr h="295275">
                <a:tc>
                  <a:txBody>
                    <a:bodyPr/>
                    <a:lstStyle/>
                    <a:p>
                      <a:pPr algn="r"/>
                      <a:r>
                        <a:rPr sz="1500" b="0" i="0" u="none">
                          <a:solidFill>
                            <a:srgbClr val="1C2B3A"/>
                          </a:solidFill>
                          <a:latin typeface="Barlow"/>
                        </a:rPr>
                        <a:t>5</a:t>
                      </a:r>
                    </a:p>
                  </a:txBody>
                  <a:tcPr marL="54864" marR="54864" marT="18288" marB="18288">
                    <a:solidFill>
                      <a:srgbClr val="FFFDF8"/>
                    </a:solidFill>
                  </a:tcPr>
                </a:tc>
                <a:tc>
                  <a:txBody>
                    <a:bodyPr/>
                    <a:lstStyle/>
                    <a:p>
                      <a:r>
                        <a:rPr sz="1500" b="0" i="0" u="none">
                          <a:solidFill>
                            <a:srgbClr val="1C2B3A"/>
                          </a:solidFill>
                          <a:latin typeface="Barlow"/>
                        </a:rPr>
                        <a:t>2026-05-08</a:t>
                      </a:r>
                    </a:p>
                  </a:txBody>
                  <a:tcPr marL="54864" marR="54864" marT="18288" marB="18288">
                    <a:solidFill>
                      <a:srgbClr val="FFFDF8"/>
                    </a:solidFill>
                  </a:tcPr>
                </a:tc>
                <a:tc>
                  <a:txBody>
                    <a:bodyPr/>
                    <a:lstStyle/>
                    <a:p>
                      <a:r>
                        <a:rPr sz="1500" b="0" i="0" u="none">
                          <a:solidFill>
                            <a:srgbClr val="1C2B3A"/>
                          </a:solidFill>
                          <a:latin typeface="Barlow"/>
                        </a:rPr>
                        <a:t>K1</a:t>
                      </a:r>
                    </a:p>
                  </a:txBody>
                  <a:tcPr marL="54864" marR="54864" marT="18288" marB="18288">
                    <a:solidFill>
                      <a:srgbClr val="FFFDF8"/>
                    </a:solidFill>
                  </a:tcPr>
                </a:tc>
                <a:tc>
                  <a:txBody>
                    <a:bodyPr/>
                    <a:lstStyle/>
                    <a:p>
                      <a:r>
                        <a:rPr sz="1500" b="0" i="0" u="none">
                          <a:solidFill>
                            <a:srgbClr val="1C2B3A"/>
                          </a:solidFill>
                          <a:latin typeface="Barlow"/>
                        </a:rPr>
                        <a:t>Zweier</a:t>
                      </a:r>
                    </a:p>
                  </a:txBody>
                  <a:tcPr marL="54864" marR="54864" marT="18288" marB="18288">
                    <a:solidFill>
                      <a:srgbClr val="FFFDF8"/>
                    </a:solidFill>
                  </a:tcPr>
                </a:tc>
                <a:tc>
                  <a:txBody>
                    <a:bodyPr/>
                    <a:lstStyle/>
                    <a:p>
                      <a:pPr algn="r"/>
                      <a:r>
                        <a:rPr sz="1500" b="0" i="0" u="none">
                          <a:solidFill>
                            <a:srgbClr val="1C2B3A"/>
                          </a:solidFill>
                          <a:latin typeface="Barlow"/>
                        </a:rPr>
                        <a:t>2</a:t>
                      </a:r>
                    </a:p>
                  </a:txBody>
                  <a:tcPr marL="54864" marR="54864" marT="18288" marB="18288">
                    <a:solidFill>
                      <a:srgbClr val="FFFDF8"/>
                    </a:solidFill>
                  </a:tcPr>
                </a:tc>
                <a:tc>
                  <a:txBody>
                    <a:bodyPr/>
                    <a:lstStyle/>
                    <a:p>
                      <a:r>
                        <a:rPr sz="1500" b="0" i="0" u="none">
                          <a:solidFill>
                            <a:srgbClr val="1C2B3A"/>
                          </a:solidFill>
                          <a:latin typeface="Barlow"/>
                        </a:rPr>
                        <a:t>Rieke Haake</a:t>
                      </a:r>
                    </a:p>
                  </a:txBody>
                  <a:tcPr marL="54864" marR="54864" marT="18288" marB="18288">
                    <a:solidFill>
                      <a:srgbClr val="FFFDF8"/>
                    </a:solidFill>
                  </a:tcPr>
                </a:tc>
                <a:tc>
                  <a:txBody>
                    <a:bodyPr/>
                    <a:lstStyle/>
                    <a:p>
                      <a:r>
                        <a:rPr sz="1500" b="0" i="0" u="none">
                          <a:solidFill>
                            <a:srgbClr val="1C2B3A"/>
                          </a:solidFill>
                          <a:latin typeface="Barlow"/>
                        </a:rPr>
                        <a:t>9b</a:t>
                      </a:r>
                    </a:p>
                  </a:txBody>
                  <a:tcPr marL="54864" marR="54864" marT="18288" marB="18288">
                    <a:solidFill>
                      <a:srgbClr val="FFFDF8"/>
                    </a:solidFill>
                  </a:tcPr>
                </a:tc>
              </a:tr>
            </a:tbl>
          </a:graphicData>
        </a:graphic>
      </p:graphicFrame>
      <p:sp>
        <p:nvSpPr>
          <p:cNvPr id="14" name="TextBox 13"/>
          <p:cNvSpPr txBox="1"/>
          <p:nvPr/>
        </p:nvSpPr>
        <p:spPr>
          <a:xfrm>
            <a:off x="548640" y="3275076"/>
            <a:ext cx="7178040" cy="682751"/>
          </a:xfrm>
          <a:prstGeom prst="rect">
            <a:avLst/>
          </a:prstGeom>
          <a:noFill/>
        </p:spPr>
        <p:txBody>
          <a:bodyPr wrap="square" lIns="27432" rIns="27432" tIns="27432" bIns="27432">
            <a:spAutoFit/>
          </a:bodyPr>
          <a:lstStyle/>
          <a:p>
            <a:pPr>
              <a:lnSpc>
                <a:spcPct val="105000"/>
              </a:lnSpc>
              <a:spcAft>
                <a:spcPts val="400"/>
              </a:spcAft>
            </a:pPr>
            <a:r>
              <a:rPr sz="2000" b="0" i="0" u="none">
                <a:solidFill>
                  <a:srgbClr val="E8E1D3"/>
                </a:solidFill>
                <a:latin typeface="Barlow"/>
              </a:rPr>
              <a:t>Jetzt widersprechen sich die Zeilen: Hat K1 zwei oder drei Plätze?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4 · AKTE 4 · CHAOS IM VEREINSARCHIV</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Einfüge- und Löschanomalie</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4</a:t>
            </a:r>
          </a:p>
        </p:txBody>
      </p:sp>
      <p:sp>
        <p:nvSpPr>
          <p:cNvPr id="8" name="Rounded Rectangle 7"/>
          <p:cNvSpPr/>
          <p:nvPr/>
        </p:nvSpPr>
        <p:spPr>
          <a:xfrm>
            <a:off x="548640" y="1691640"/>
            <a:ext cx="7772400" cy="1472184"/>
          </a:xfrm>
          <a:prstGeom prst="roundRect">
            <a:avLst>
              <a:gd name="adj" fmla="val 4000"/>
            </a:avLst>
          </a:prstGeom>
          <a:solidFill>
            <a:srgbClr val="F8E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91640"/>
            <a:ext cx="73152" cy="147218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1783080"/>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B3261E"/>
                </a:solidFill>
                <a:latin typeface="IBM Plex Mono"/>
              </a:rPr>
              <a:t>EINFÜGEANOMALIE</a:t>
            </a:r>
          </a:p>
        </p:txBody>
      </p:sp>
      <p:sp>
        <p:nvSpPr>
          <p:cNvPr id="11" name="TextBox 10"/>
          <p:cNvSpPr txBox="1"/>
          <p:nvPr/>
        </p:nvSpPr>
        <p:spPr>
          <a:xfrm>
            <a:off x="822959" y="2148840"/>
            <a:ext cx="7360920" cy="969263"/>
          </a:xfrm>
          <a:prstGeom prst="rect">
            <a:avLst/>
          </a:prstGeom>
          <a:noFill/>
        </p:spPr>
        <p:txBody>
          <a:bodyPr wrap="square" lIns="27432" rIns="27432" tIns="27432" bIns="27432">
            <a:spAutoFit/>
          </a:bodyPr>
          <a:lstStyle/>
          <a:p>
            <a:pPr>
              <a:lnSpc>
                <a:spcPct val="105000"/>
              </a:lnSpc>
              <a:spcAft>
                <a:spcPts val="300"/>
              </a:spcAft>
            </a:pPr>
            <a:r>
              <a:rPr sz="1700" b="0" i="0" u="none">
                <a:solidFill>
                  <a:srgbClr val="1C2B3A"/>
                </a:solidFill>
                <a:latin typeface="Barlow"/>
              </a:rPr>
              <a:t>Die AG kauft ein neues Kanu </a:t>
            </a:r>
            <a:r>
              <a:rPr sz="1700" b="1" i="0" u="none">
                <a:solidFill>
                  <a:srgbClr val="1C2B3A"/>
                </a:solidFill>
                <a:latin typeface="Barlow"/>
              </a:rPr>
              <a:t>K4 (Einer)</a:t>
            </a:r>
            <a:r>
              <a:rPr sz="1700" b="0" i="0" u="none">
                <a:solidFill>
                  <a:srgbClr val="1C2B3A"/>
                </a:solidFill>
                <a:latin typeface="Barlow"/>
              </a:rPr>
              <a:t>. Solange niemand es ausleiht, gibt es keine Zeile dafür – K4 lässt sich nur mit leeren Feldern für Datum, Name und Klasse eintragen.</a:t>
            </a:r>
          </a:p>
        </p:txBody>
      </p:sp>
      <p:sp>
        <p:nvSpPr>
          <p:cNvPr id="12" name="Rounded Rectangle 11"/>
          <p:cNvSpPr/>
          <p:nvPr/>
        </p:nvSpPr>
        <p:spPr>
          <a:xfrm>
            <a:off x="548640" y="3273552"/>
            <a:ext cx="7772400" cy="1472184"/>
          </a:xfrm>
          <a:prstGeom prst="roundRect">
            <a:avLst>
              <a:gd name="adj" fmla="val 4000"/>
            </a:avLst>
          </a:prstGeom>
          <a:solidFill>
            <a:srgbClr val="F8E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48640" y="3273552"/>
            <a:ext cx="73152" cy="147218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2959" y="3364992"/>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B3261E"/>
                </a:solidFill>
                <a:latin typeface="IBM Plex Mono"/>
              </a:rPr>
              <a:t>LÖSCHANOMALIE</a:t>
            </a:r>
          </a:p>
        </p:txBody>
      </p:sp>
      <p:sp>
        <p:nvSpPr>
          <p:cNvPr id="15" name="TextBox 14"/>
          <p:cNvSpPr txBox="1"/>
          <p:nvPr/>
        </p:nvSpPr>
        <p:spPr>
          <a:xfrm>
            <a:off x="822959" y="3730752"/>
            <a:ext cx="7360920" cy="969263"/>
          </a:xfrm>
          <a:prstGeom prst="rect">
            <a:avLst/>
          </a:prstGeom>
          <a:noFill/>
        </p:spPr>
        <p:txBody>
          <a:bodyPr wrap="square" lIns="27432" rIns="27432" tIns="27432" bIns="27432">
            <a:spAutoFit/>
          </a:bodyPr>
          <a:lstStyle/>
          <a:p>
            <a:pPr>
              <a:lnSpc>
                <a:spcPct val="105000"/>
              </a:lnSpc>
              <a:spcAft>
                <a:spcPts val="300"/>
              </a:spcAft>
            </a:pPr>
            <a:r>
              <a:rPr sz="1700" b="0" i="0" u="none">
                <a:solidFill>
                  <a:srgbClr val="1C2B3A"/>
                </a:solidFill>
                <a:latin typeface="Barlow"/>
              </a:rPr>
              <a:t>Ole Rippen verlässt die AG; seine Zeilen 2 und 3 werden gelöscht. Dabei geht </a:t>
            </a:r>
            <a:r>
              <a:rPr sz="1700" b="1" i="0" u="none">
                <a:solidFill>
                  <a:srgbClr val="1C2B3A"/>
                </a:solidFill>
                <a:latin typeface="Barlow"/>
              </a:rPr>
              <a:t>nichts</a:t>
            </a:r>
            <a:r>
              <a:rPr sz="1700" b="0" i="0" u="none">
                <a:solidFill>
                  <a:srgbClr val="1C2B3A"/>
                </a:solidFill>
                <a:latin typeface="Barlow"/>
              </a:rPr>
              <a:t> über ein Kanu verloren – aber wird später Zeile 4 gelöscht, ist auch die Information „K3 ist ein Zweier“ weg.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4 · AKTE 4 · CHAOS IM VEREINSARCHIV</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Kurz anhalten: Jetzt du!</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5</a:t>
            </a:r>
          </a:p>
        </p:txBody>
      </p:sp>
      <p:sp>
        <p:nvSpPr>
          <p:cNvPr id="8" name="Rounded Rectangle 7"/>
          <p:cNvSpPr/>
          <p:nvPr/>
        </p:nvSpPr>
        <p:spPr>
          <a:xfrm>
            <a:off x="8001000" y="1691640"/>
            <a:ext cx="3642055" cy="1731263"/>
          </a:xfrm>
          <a:prstGeom prst="roundRect">
            <a:avLst>
              <a:gd name="adj" fmla="val 4000"/>
            </a:avLst>
          </a:prstGeom>
          <a:solidFill>
            <a:srgbClr val="F3E8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001000" y="1691640"/>
            <a:ext cx="73152" cy="1731263"/>
          </a:xfrm>
          <a:prstGeom prst="rect">
            <a:avLst/>
          </a:prstGeom>
          <a:solidFill>
            <a:srgbClr val="7A5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75320" y="1783080"/>
            <a:ext cx="323057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7A5E1F"/>
                </a:solidFill>
                <a:latin typeface="IBM Plex Mono"/>
              </a:rPr>
              <a:t>TIPP</a:t>
            </a:r>
          </a:p>
        </p:txBody>
      </p:sp>
      <p:sp>
        <p:nvSpPr>
          <p:cNvPr id="11" name="TextBox 10"/>
          <p:cNvSpPr txBox="1"/>
          <p:nvPr/>
        </p:nvSpPr>
        <p:spPr>
          <a:xfrm>
            <a:off x="8275320" y="2148840"/>
            <a:ext cx="3230575" cy="1228343"/>
          </a:xfrm>
          <a:prstGeom prst="rect">
            <a:avLst/>
          </a:prstGeom>
          <a:noFill/>
        </p:spPr>
        <p:txBody>
          <a:bodyPr wrap="square" lIns="27432" rIns="27432" tIns="27432" bIns="27432">
            <a:spAutoFit/>
          </a:bodyPr>
          <a:lstStyle/>
          <a:p>
            <a:pPr>
              <a:lnSpc>
                <a:spcPct val="105000"/>
              </a:lnSpc>
              <a:spcAft>
                <a:spcPts val="300"/>
              </a:spcAft>
            </a:pPr>
            <a:r>
              <a:rPr sz="1700" b="0" i="0" u="none">
                <a:solidFill>
                  <a:srgbClr val="1C2B3A"/>
                </a:solidFill>
                <a:latin typeface="Barlow"/>
              </a:rPr>
              <a:t>„Erläutern“ heißt: konkrete Zeilen nennen und die Folge beschreiben – nicht nur den Begriff.</a:t>
            </a:r>
          </a:p>
        </p:txBody>
      </p:sp>
      <p:sp>
        <p:nvSpPr>
          <p:cNvPr id="12" name="Pause"/>
          <p:cNvSpPr/>
          <p:nvPr/>
        </p:nvSpPr>
        <p:spPr>
          <a:xfrm>
            <a:off x="548640" y="1691640"/>
            <a:ext cx="3108960" cy="457200"/>
          </a:xfrm>
          <a:prstGeom prst="roundRect">
            <a:avLst>
              <a:gd name="adj" fmla="val 4000"/>
            </a:avLst>
          </a:prstGeom>
          <a:solidFill>
            <a:srgbClr val="D4B0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 y="1691640"/>
            <a:ext cx="3108960" cy="457200"/>
          </a:xfrm>
          <a:prstGeom prst="rect">
            <a:avLst/>
          </a:prstGeom>
          <a:noFill/>
        </p:spPr>
        <p:txBody>
          <a:bodyPr wrap="none" anchor="ctr">
            <a:spAutoFit/>
          </a:bodyPr>
          <a:lstStyle/>
          <a:p>
            <a:pPr algn="ctr"/>
            <a:r>
              <a:rPr sz="1500" b="1">
                <a:solidFill>
                  <a:srgbClr val="1C2B3A"/>
                </a:solidFill>
                <a:latin typeface="Segoe UI Symbol"/>
              </a:rPr>
              <a:t>⏸</a:t>
            </a:r>
            <a:r>
              <a:rPr sz="1500" b="1">
                <a:solidFill>
                  <a:srgbClr val="1C2B3A"/>
                </a:solidFill>
                <a:latin typeface="IBM Plex Mono"/>
              </a:rPr>
              <a:t>  VIDEO ANHALTEN</a:t>
            </a:r>
          </a:p>
        </p:txBody>
      </p:sp>
      <p:sp>
        <p:nvSpPr>
          <p:cNvPr id="14" name="TextBox 13"/>
          <p:cNvSpPr txBox="1"/>
          <p:nvPr/>
        </p:nvSpPr>
        <p:spPr>
          <a:xfrm>
            <a:off x="548640" y="2258568"/>
            <a:ext cx="7178040" cy="682751"/>
          </a:xfrm>
          <a:prstGeom prst="rect">
            <a:avLst/>
          </a:prstGeom>
          <a:noFill/>
        </p:spPr>
        <p:txBody>
          <a:bodyPr wrap="square" lIns="27432" rIns="27432" tIns="27432" bIns="27432">
            <a:spAutoFit/>
          </a:bodyPr>
          <a:lstStyle/>
          <a:p>
            <a:pPr>
              <a:lnSpc>
                <a:spcPct val="105000"/>
              </a:lnSpc>
              <a:spcAft>
                <a:spcPts val="400"/>
              </a:spcAft>
            </a:pPr>
            <a:r>
              <a:rPr sz="2000" b="0" i="0" u="none">
                <a:solidFill>
                  <a:srgbClr val="E8E1D3"/>
                </a:solidFill>
                <a:latin typeface="Barlow"/>
              </a:rPr>
              <a:t>Jule Tebbe wechselt in die Klasse </a:t>
            </a:r>
            <a:r>
              <a:rPr sz="2000" b="1" i="0" u="none">
                <a:solidFill>
                  <a:srgbClr val="E8E1D3"/>
                </a:solidFill>
                <a:latin typeface="Barlow"/>
              </a:rPr>
              <a:t>10b</a:t>
            </a:r>
            <a:r>
              <a:rPr sz="2000" b="0" i="0" u="none">
                <a:solidFill>
                  <a:srgbClr val="E8E1D3"/>
                </a:solidFill>
                <a:latin typeface="Barlow"/>
              </a:rPr>
              <a:t>. </a:t>
            </a:r>
            <a:r>
              <a:rPr sz="2000" b="1" i="0" u="none">
                <a:solidFill>
                  <a:srgbClr val="E8E1D3"/>
                </a:solidFill>
                <a:latin typeface="Barlow"/>
              </a:rPr>
              <a:t>Erläutere</a:t>
            </a:r>
            <a:r>
              <a:rPr sz="2000" b="0" i="0" u="none">
                <a:solidFill>
                  <a:srgbClr val="E8E1D3"/>
                </a:solidFill>
                <a:latin typeface="Barlow"/>
              </a:rPr>
              <a:t> am Datensatz, welche Anomalie dabei droht.</a:t>
            </a:r>
          </a:p>
        </p:txBody>
      </p:sp>
      <p:sp>
        <p:nvSpPr>
          <p:cNvPr id="15" name="TextBox 14"/>
          <p:cNvSpPr txBox="1"/>
          <p:nvPr/>
        </p:nvSpPr>
        <p:spPr>
          <a:xfrm>
            <a:off x="548640" y="2977896"/>
            <a:ext cx="7178040" cy="274320"/>
          </a:xfrm>
          <a:prstGeom prst="rect">
            <a:avLst/>
          </a:prstGeom>
          <a:noFill/>
        </p:spPr>
        <p:txBody>
          <a:bodyPr wrap="square" lIns="27432" rIns="27432" tIns="27432" bIns="27432">
            <a:spAutoFit/>
          </a:bodyPr>
          <a:lstStyle/>
          <a:p>
            <a:pPr>
              <a:lnSpc>
                <a:spcPct val="105000"/>
              </a:lnSpc>
              <a:spcAft>
                <a:spcPts val="400"/>
              </a:spcAft>
            </a:pPr>
            <a:r>
              <a:rPr sz="1100" b="1" i="0" u="none">
                <a:solidFill>
                  <a:srgbClr val="D4B062"/>
                </a:solidFill>
                <a:latin typeface="IBM Plex Mono"/>
              </a:rPr>
              <a:t>AUSLEIHLISTE DER KANU-AG (TABELLENKALKULATION)</a:t>
            </a:r>
          </a:p>
        </p:txBody>
      </p:sp>
      <p:graphicFrame>
        <p:nvGraphicFramePr>
          <p:cNvPr id="16" name="Datentabelle"/>
          <p:cNvGraphicFramePr>
            <a:graphicFrameLocks noGrp="1"/>
          </p:cNvGraphicFramePr>
          <p:nvPr/>
        </p:nvGraphicFramePr>
        <p:xfrm>
          <a:off x="548640" y="3270504"/>
          <a:ext cx="7178037" cy="2066925"/>
        </p:xfrm>
        <a:graphic>
          <a:graphicData uri="http://schemas.openxmlformats.org/drawingml/2006/table">
            <a:tbl>
              <a:tblPr firstRow="1">
                <a:tableStyleId>{5C22544A-7EE6-4342-B048-85BDC9FD1C3A}</a:tableStyleId>
              </a:tblPr>
              <a:tblGrid>
                <a:gridCol w="806159"/>
                <a:gridCol w="1354347"/>
                <a:gridCol w="696521"/>
                <a:gridCol w="915796"/>
                <a:gridCol w="1025434"/>
                <a:gridCol w="1463984"/>
                <a:gridCol w="915796"/>
              </a:tblGrid>
              <a:tr h="295275">
                <a:tc>
                  <a:txBody>
                    <a:bodyPr/>
                    <a:lstStyle/>
                    <a:p>
                      <a:r>
                        <a:rPr sz="1380" b="1" i="0" u="none">
                          <a:solidFill>
                            <a:srgbClr val="1C2B3A"/>
                          </a:solidFill>
                          <a:latin typeface="IBM Plex Mono"/>
                        </a:rPr>
                        <a:t>Zeile</a:t>
                      </a:r>
                    </a:p>
                  </a:txBody>
                  <a:tcPr marL="54864" marR="54864" marT="18288" marB="18288">
                    <a:solidFill>
                      <a:srgbClr val="EBE2D2"/>
                    </a:solidFill>
                  </a:tcPr>
                </a:tc>
                <a:tc>
                  <a:txBody>
                    <a:bodyPr/>
                    <a:lstStyle/>
                    <a:p>
                      <a:r>
                        <a:rPr sz="1380" b="1" i="0" u="none">
                          <a:solidFill>
                            <a:srgbClr val="1C2B3A"/>
                          </a:solidFill>
                          <a:latin typeface="IBM Plex Mono"/>
                        </a:rPr>
                        <a:t>Datum</a:t>
                      </a:r>
                    </a:p>
                  </a:txBody>
                  <a:tcPr marL="54864" marR="54864" marT="18288" marB="18288">
                    <a:solidFill>
                      <a:srgbClr val="EBE2D2"/>
                    </a:solidFill>
                  </a:tcPr>
                </a:tc>
                <a:tc>
                  <a:txBody>
                    <a:bodyPr/>
                    <a:lstStyle/>
                    <a:p>
                      <a:r>
                        <a:rPr sz="1380" b="1" i="0" u="none">
                          <a:solidFill>
                            <a:srgbClr val="1C2B3A"/>
                          </a:solidFill>
                          <a:latin typeface="IBM Plex Mono"/>
                        </a:rPr>
                        <a:t>Kanu</a:t>
                      </a:r>
                    </a:p>
                  </a:txBody>
                  <a:tcPr marL="54864" marR="54864" marT="18288" marB="18288">
                    <a:solidFill>
                      <a:srgbClr val="EBE2D2"/>
                    </a:solidFill>
                  </a:tcPr>
                </a:tc>
                <a:tc>
                  <a:txBody>
                    <a:bodyPr/>
                    <a:lstStyle/>
                    <a:p>
                      <a:r>
                        <a:rPr sz="1380" b="1" i="0" u="none">
                          <a:solidFill>
                            <a:srgbClr val="1C2B3A"/>
                          </a:solidFill>
                          <a:latin typeface="IBM Plex Mono"/>
                        </a:rPr>
                        <a:t>Typ</a:t>
                      </a:r>
                    </a:p>
                  </a:txBody>
                  <a:tcPr marL="54864" marR="54864" marT="18288" marB="18288">
                    <a:solidFill>
                      <a:srgbClr val="EBE2D2"/>
                    </a:solidFill>
                  </a:tcPr>
                </a:tc>
                <a:tc>
                  <a:txBody>
                    <a:bodyPr/>
                    <a:lstStyle/>
                    <a:p>
                      <a:r>
                        <a:rPr sz="1380" b="1" i="0" u="none">
                          <a:solidFill>
                            <a:srgbClr val="1C2B3A"/>
                          </a:solidFill>
                          <a:latin typeface="IBM Plex Mono"/>
                        </a:rPr>
                        <a:t>Plaetze</a:t>
                      </a:r>
                    </a:p>
                  </a:txBody>
                  <a:tcPr marL="54864" marR="54864" marT="18288" marB="18288">
                    <a:solidFill>
                      <a:srgbClr val="EBE2D2"/>
                    </a:solidFill>
                  </a:tcPr>
                </a:tc>
                <a:tc>
                  <a:txBody>
                    <a:bodyPr/>
                    <a:lstStyle/>
                    <a:p>
                      <a:r>
                        <a:rPr sz="1380" b="1" i="0" u="none">
                          <a:solidFill>
                            <a:srgbClr val="1C2B3A"/>
                          </a:solidFill>
                          <a:latin typeface="IBM Plex Mono"/>
                        </a:rPr>
                        <a:t>Name</a:t>
                      </a:r>
                    </a:p>
                  </a:txBody>
                  <a:tcPr marL="54864" marR="54864" marT="18288" marB="18288">
                    <a:solidFill>
                      <a:srgbClr val="EBE2D2"/>
                    </a:solidFill>
                  </a:tcPr>
                </a:tc>
                <a:tc>
                  <a:txBody>
                    <a:bodyPr/>
                    <a:lstStyle/>
                    <a:p>
                      <a:r>
                        <a:rPr sz="1380" b="1" i="0" u="none">
                          <a:solidFill>
                            <a:srgbClr val="1C2B3A"/>
                          </a:solidFill>
                          <a:latin typeface="IBM Plex Mono"/>
                        </a:rPr>
                        <a:t>Klasse</a:t>
                      </a:r>
                    </a:p>
                  </a:txBody>
                  <a:tcPr marL="54864" marR="54864" marT="18288" marB="18288">
                    <a:solidFill>
                      <a:srgbClr val="EBE2D2"/>
                    </a:solidFill>
                  </a:tcPr>
                </a:tc>
              </a:tr>
              <a:tr h="295275">
                <a:tc>
                  <a:txBody>
                    <a:bodyPr/>
                    <a:lstStyle/>
                    <a:p>
                      <a:pPr algn="r"/>
                      <a:r>
                        <a:rPr sz="1500" b="0" i="0" u="none">
                          <a:solidFill>
                            <a:srgbClr val="1C2B3A"/>
                          </a:solidFill>
                          <a:latin typeface="Barlow"/>
                        </a:rPr>
                        <a:t>1</a:t>
                      </a:r>
                    </a:p>
                  </a:txBody>
                  <a:tcPr marL="54864" marR="54864" marT="18288" marB="18288">
                    <a:solidFill>
                      <a:srgbClr val="FFFDF8"/>
                    </a:solidFill>
                  </a:tcPr>
                </a:tc>
                <a:tc>
                  <a:txBody>
                    <a:bodyPr/>
                    <a:lstStyle/>
                    <a:p>
                      <a:r>
                        <a:rPr sz="1500" b="0" i="0" u="none">
                          <a:solidFill>
                            <a:srgbClr val="1C2B3A"/>
                          </a:solidFill>
                          <a:latin typeface="Barlow"/>
                        </a:rPr>
                        <a:t>2026-05-04</a:t>
                      </a:r>
                    </a:p>
                  </a:txBody>
                  <a:tcPr marL="54864" marR="54864" marT="18288" marB="18288">
                    <a:solidFill>
                      <a:srgbClr val="FFFDF8"/>
                    </a:solidFill>
                  </a:tcPr>
                </a:tc>
                <a:tc>
                  <a:txBody>
                    <a:bodyPr/>
                    <a:lstStyle/>
                    <a:p>
                      <a:r>
                        <a:rPr sz="1500" b="0" i="0" u="none">
                          <a:solidFill>
                            <a:srgbClr val="1C2B3A"/>
                          </a:solidFill>
                          <a:latin typeface="Barlow"/>
                        </a:rPr>
                        <a:t>K1</a:t>
                      </a:r>
                    </a:p>
                  </a:txBody>
                  <a:tcPr marL="54864" marR="54864" marT="18288" marB="18288">
                    <a:solidFill>
                      <a:srgbClr val="FFFDF8"/>
                    </a:solidFill>
                  </a:tcPr>
                </a:tc>
                <a:tc>
                  <a:txBody>
                    <a:bodyPr/>
                    <a:lstStyle/>
                    <a:p>
                      <a:r>
                        <a:rPr sz="1500" b="0" i="0" u="none">
                          <a:solidFill>
                            <a:srgbClr val="1C2B3A"/>
                          </a:solidFill>
                          <a:latin typeface="Barlow"/>
                        </a:rPr>
                        <a:t>Zweier</a:t>
                      </a:r>
                    </a:p>
                  </a:txBody>
                  <a:tcPr marL="54864" marR="54864" marT="18288" marB="18288">
                    <a:solidFill>
                      <a:srgbClr val="FFFDF8"/>
                    </a:solidFill>
                  </a:tcPr>
                </a:tc>
                <a:tc>
                  <a:txBody>
                    <a:bodyPr/>
                    <a:lstStyle/>
                    <a:p>
                      <a:pPr algn="r"/>
                      <a:r>
                        <a:rPr sz="1500" b="0" i="0" u="none">
                          <a:solidFill>
                            <a:srgbClr val="1C2B3A"/>
                          </a:solidFill>
                          <a:latin typeface="Barlow"/>
                        </a:rPr>
                        <a:t>2</a:t>
                      </a:r>
                    </a:p>
                  </a:txBody>
                  <a:tcPr marL="54864" marR="54864" marT="18288" marB="18288">
                    <a:solidFill>
                      <a:srgbClr val="FFFDF8"/>
                    </a:solidFill>
                  </a:tcPr>
                </a:tc>
                <a:tc>
                  <a:txBody>
                    <a:bodyPr/>
                    <a:lstStyle/>
                    <a:p>
                      <a:r>
                        <a:rPr sz="1500" b="0" i="0" u="none">
                          <a:solidFill>
                            <a:srgbClr val="1C2B3A"/>
                          </a:solidFill>
                          <a:latin typeface="Barlow"/>
                        </a:rPr>
                        <a:t>Rieke Haake</a:t>
                      </a:r>
                    </a:p>
                  </a:txBody>
                  <a:tcPr marL="54864" marR="54864" marT="18288" marB="18288">
                    <a:solidFill>
                      <a:srgbClr val="FFFDF8"/>
                    </a:solidFill>
                  </a:tcPr>
                </a:tc>
                <a:tc>
                  <a:txBody>
                    <a:bodyPr/>
                    <a:lstStyle/>
                    <a:p>
                      <a:r>
                        <a:rPr sz="1500" b="0" i="0" u="none">
                          <a:solidFill>
                            <a:srgbClr val="1C2B3A"/>
                          </a:solidFill>
                          <a:latin typeface="Barlow"/>
                        </a:rPr>
                        <a:t>9b</a:t>
                      </a:r>
                    </a:p>
                  </a:txBody>
                  <a:tcPr marL="54864" marR="54864" marT="18288" marB="18288">
                    <a:solidFill>
                      <a:srgbClr val="FFFDF8"/>
                    </a:solidFill>
                  </a:tcPr>
                </a:tc>
              </a:tr>
              <a:tr h="295275">
                <a:tc>
                  <a:txBody>
                    <a:bodyPr/>
                    <a:lstStyle/>
                    <a:p>
                      <a:pPr algn="r"/>
                      <a:r>
                        <a:rPr sz="1500" b="0" i="0" u="none">
                          <a:solidFill>
                            <a:srgbClr val="1C2B3A"/>
                          </a:solidFill>
                          <a:latin typeface="Barlow"/>
                        </a:rPr>
                        <a:t>2</a:t>
                      </a:r>
                    </a:p>
                  </a:txBody>
                  <a:tcPr marL="54864" marR="54864" marT="18288" marB="18288">
                    <a:solidFill>
                      <a:srgbClr val="FFFDF8"/>
                    </a:solidFill>
                  </a:tcPr>
                </a:tc>
                <a:tc>
                  <a:txBody>
                    <a:bodyPr/>
                    <a:lstStyle/>
                    <a:p>
                      <a:r>
                        <a:rPr sz="1500" b="0" i="0" u="none">
                          <a:solidFill>
                            <a:srgbClr val="1C2B3A"/>
                          </a:solidFill>
                          <a:latin typeface="Barlow"/>
                        </a:rPr>
                        <a:t>2026-05-04</a:t>
                      </a:r>
                    </a:p>
                  </a:txBody>
                  <a:tcPr marL="54864" marR="54864" marT="18288" marB="18288">
                    <a:solidFill>
                      <a:srgbClr val="FFFDF8"/>
                    </a:solidFill>
                  </a:tcPr>
                </a:tc>
                <a:tc>
                  <a:txBody>
                    <a:bodyPr/>
                    <a:lstStyle/>
                    <a:p>
                      <a:r>
                        <a:rPr sz="1500" b="0" i="0" u="none">
                          <a:solidFill>
                            <a:srgbClr val="1C2B3A"/>
                          </a:solidFill>
                          <a:latin typeface="Barlow"/>
                        </a:rPr>
                        <a:t>K2</a:t>
                      </a:r>
                    </a:p>
                  </a:txBody>
                  <a:tcPr marL="54864" marR="54864" marT="18288" marB="18288">
                    <a:solidFill>
                      <a:srgbClr val="FFFDF8"/>
                    </a:solidFill>
                  </a:tcPr>
                </a:tc>
                <a:tc>
                  <a:txBody>
                    <a:bodyPr/>
                    <a:lstStyle/>
                    <a:p>
                      <a:r>
                        <a:rPr sz="1500" b="0" i="0" u="none">
                          <a:solidFill>
                            <a:srgbClr val="1C2B3A"/>
                          </a:solidFill>
                          <a:latin typeface="Barlow"/>
                        </a:rPr>
                        <a:t>Einer</a:t>
                      </a:r>
                    </a:p>
                  </a:txBody>
                  <a:tcPr marL="54864" marR="54864" marT="18288" marB="18288">
                    <a:solidFill>
                      <a:srgbClr val="FFFDF8"/>
                    </a:solidFill>
                  </a:tcPr>
                </a:tc>
                <a:tc>
                  <a:txBody>
                    <a:bodyPr/>
                    <a:lstStyle/>
                    <a:p>
                      <a:pPr algn="r"/>
                      <a:r>
                        <a:rPr sz="1500" b="0" i="0" u="none">
                          <a:solidFill>
                            <a:srgbClr val="1C2B3A"/>
                          </a:solidFill>
                          <a:latin typeface="Barlow"/>
                        </a:rPr>
                        <a:t>1</a:t>
                      </a:r>
                    </a:p>
                  </a:txBody>
                  <a:tcPr marL="54864" marR="54864" marT="18288" marB="18288">
                    <a:solidFill>
                      <a:srgbClr val="FFFDF8"/>
                    </a:solidFill>
                  </a:tcPr>
                </a:tc>
                <a:tc>
                  <a:txBody>
                    <a:bodyPr/>
                    <a:lstStyle/>
                    <a:p>
                      <a:r>
                        <a:rPr sz="1500" b="0" i="0" u="none">
                          <a:solidFill>
                            <a:srgbClr val="1C2B3A"/>
                          </a:solidFill>
                          <a:latin typeface="Barlow"/>
                        </a:rPr>
                        <a:t>Ole Rippen</a:t>
                      </a:r>
                    </a:p>
                  </a:txBody>
                  <a:tcPr marL="54864" marR="54864" marT="18288" marB="18288">
                    <a:solidFill>
                      <a:srgbClr val="FFFDF8"/>
                    </a:solidFill>
                  </a:tcPr>
                </a:tc>
                <a:tc>
                  <a:txBody>
                    <a:bodyPr/>
                    <a:lstStyle/>
                    <a:p>
                      <a:r>
                        <a:rPr sz="1500" b="0" i="0" u="none">
                          <a:solidFill>
                            <a:srgbClr val="1C2B3A"/>
                          </a:solidFill>
                          <a:latin typeface="Barlow"/>
                        </a:rPr>
                        <a:t>10a</a:t>
                      </a:r>
                    </a:p>
                  </a:txBody>
                  <a:tcPr marL="54864" marR="54864" marT="18288" marB="18288">
                    <a:solidFill>
                      <a:srgbClr val="FFFDF8"/>
                    </a:solidFill>
                  </a:tcPr>
                </a:tc>
              </a:tr>
              <a:tr h="295275">
                <a:tc>
                  <a:txBody>
                    <a:bodyPr/>
                    <a:lstStyle/>
                    <a:p>
                      <a:pPr algn="r"/>
                      <a:r>
                        <a:rPr sz="1500" b="0" i="0" u="none">
                          <a:solidFill>
                            <a:srgbClr val="1C2B3A"/>
                          </a:solidFill>
                          <a:latin typeface="Barlow"/>
                        </a:rPr>
                        <a:t>3</a:t>
                      </a:r>
                    </a:p>
                  </a:txBody>
                  <a:tcPr marL="54864" marR="54864" marT="18288" marB="18288">
                    <a:solidFill>
                      <a:srgbClr val="FFFDF8"/>
                    </a:solidFill>
                  </a:tcPr>
                </a:tc>
                <a:tc>
                  <a:txBody>
                    <a:bodyPr/>
                    <a:lstStyle/>
                    <a:p>
                      <a:r>
                        <a:rPr sz="1500" b="0" i="0" u="none">
                          <a:solidFill>
                            <a:srgbClr val="1C2B3A"/>
                          </a:solidFill>
                          <a:latin typeface="Barlow"/>
                        </a:rPr>
                        <a:t>2026-05-06</a:t>
                      </a:r>
                    </a:p>
                  </a:txBody>
                  <a:tcPr marL="54864" marR="54864" marT="18288" marB="18288">
                    <a:solidFill>
                      <a:srgbClr val="FFFDF8"/>
                    </a:solidFill>
                  </a:tcPr>
                </a:tc>
                <a:tc>
                  <a:txBody>
                    <a:bodyPr/>
                    <a:lstStyle/>
                    <a:p>
                      <a:r>
                        <a:rPr sz="1500" b="0" i="0" u="none">
                          <a:solidFill>
                            <a:srgbClr val="1C2B3A"/>
                          </a:solidFill>
                          <a:latin typeface="Barlow"/>
                        </a:rPr>
                        <a:t>K1</a:t>
                      </a:r>
                    </a:p>
                  </a:txBody>
                  <a:tcPr marL="54864" marR="54864" marT="18288" marB="18288">
                    <a:solidFill>
                      <a:srgbClr val="FFFDF8"/>
                    </a:solidFill>
                  </a:tcPr>
                </a:tc>
                <a:tc>
                  <a:txBody>
                    <a:bodyPr/>
                    <a:lstStyle/>
                    <a:p>
                      <a:r>
                        <a:rPr sz="1500" b="0" i="0" u="none">
                          <a:solidFill>
                            <a:srgbClr val="1C2B3A"/>
                          </a:solidFill>
                          <a:latin typeface="Barlow"/>
                        </a:rPr>
                        <a:t>Zweier</a:t>
                      </a:r>
                    </a:p>
                  </a:txBody>
                  <a:tcPr marL="54864" marR="54864" marT="18288" marB="18288">
                    <a:solidFill>
                      <a:srgbClr val="FFFDF8"/>
                    </a:solidFill>
                  </a:tcPr>
                </a:tc>
                <a:tc>
                  <a:txBody>
                    <a:bodyPr/>
                    <a:lstStyle/>
                    <a:p>
                      <a:pPr algn="r"/>
                      <a:r>
                        <a:rPr sz="1500" b="0" i="0" u="none">
                          <a:solidFill>
                            <a:srgbClr val="1C2B3A"/>
                          </a:solidFill>
                          <a:latin typeface="Barlow"/>
                        </a:rPr>
                        <a:t>2</a:t>
                      </a:r>
                    </a:p>
                  </a:txBody>
                  <a:tcPr marL="54864" marR="54864" marT="18288" marB="18288">
                    <a:solidFill>
                      <a:srgbClr val="FFFDF8"/>
                    </a:solidFill>
                  </a:tcPr>
                </a:tc>
                <a:tc>
                  <a:txBody>
                    <a:bodyPr/>
                    <a:lstStyle/>
                    <a:p>
                      <a:r>
                        <a:rPr sz="1500" b="0" i="0" u="none">
                          <a:solidFill>
                            <a:srgbClr val="1C2B3A"/>
                          </a:solidFill>
                          <a:latin typeface="Barlow"/>
                        </a:rPr>
                        <a:t>Ole Rippen</a:t>
                      </a:r>
                    </a:p>
                  </a:txBody>
                  <a:tcPr marL="54864" marR="54864" marT="18288" marB="18288">
                    <a:solidFill>
                      <a:srgbClr val="FFFDF8"/>
                    </a:solidFill>
                  </a:tcPr>
                </a:tc>
                <a:tc>
                  <a:txBody>
                    <a:bodyPr/>
                    <a:lstStyle/>
                    <a:p>
                      <a:r>
                        <a:rPr sz="1500" b="0" i="0" u="none">
                          <a:solidFill>
                            <a:srgbClr val="1C2B3A"/>
                          </a:solidFill>
                          <a:latin typeface="Barlow"/>
                        </a:rPr>
                        <a:t>10a</a:t>
                      </a:r>
                    </a:p>
                  </a:txBody>
                  <a:tcPr marL="54864" marR="54864" marT="18288" marB="18288">
                    <a:solidFill>
                      <a:srgbClr val="FFFDF8"/>
                    </a:solidFill>
                  </a:tcPr>
                </a:tc>
              </a:tr>
              <a:tr h="295275">
                <a:tc>
                  <a:txBody>
                    <a:bodyPr/>
                    <a:lstStyle/>
                    <a:p>
                      <a:pPr algn="r"/>
                      <a:r>
                        <a:rPr sz="1500" b="0" i="0" u="none">
                          <a:solidFill>
                            <a:srgbClr val="1C2B3A"/>
                          </a:solidFill>
                          <a:latin typeface="Barlow"/>
                        </a:rPr>
                        <a:t>4</a:t>
                      </a:r>
                    </a:p>
                  </a:txBody>
                  <a:tcPr marL="54864" marR="54864" marT="18288" marB="18288">
                    <a:solidFill>
                      <a:srgbClr val="FFFDF8"/>
                    </a:solidFill>
                  </a:tcPr>
                </a:tc>
                <a:tc>
                  <a:txBody>
                    <a:bodyPr/>
                    <a:lstStyle/>
                    <a:p>
                      <a:r>
                        <a:rPr sz="1500" b="0" i="0" u="none">
                          <a:solidFill>
                            <a:srgbClr val="1C2B3A"/>
                          </a:solidFill>
                          <a:latin typeface="Barlow"/>
                        </a:rPr>
                        <a:t>2026-05-06</a:t>
                      </a:r>
                    </a:p>
                  </a:txBody>
                  <a:tcPr marL="54864" marR="54864" marT="18288" marB="18288">
                    <a:solidFill>
                      <a:srgbClr val="FFFDF8"/>
                    </a:solidFill>
                  </a:tcPr>
                </a:tc>
                <a:tc>
                  <a:txBody>
                    <a:bodyPr/>
                    <a:lstStyle/>
                    <a:p>
                      <a:r>
                        <a:rPr sz="1500" b="0" i="0" u="none">
                          <a:solidFill>
                            <a:srgbClr val="1C2B3A"/>
                          </a:solidFill>
                          <a:latin typeface="Barlow"/>
                        </a:rPr>
                        <a:t>K3</a:t>
                      </a:r>
                    </a:p>
                  </a:txBody>
                  <a:tcPr marL="54864" marR="54864" marT="18288" marB="18288">
                    <a:solidFill>
                      <a:srgbClr val="FFFDF8"/>
                    </a:solidFill>
                  </a:tcPr>
                </a:tc>
                <a:tc>
                  <a:txBody>
                    <a:bodyPr/>
                    <a:lstStyle/>
                    <a:p>
                      <a:r>
                        <a:rPr sz="1500" b="0" i="0" u="none">
                          <a:solidFill>
                            <a:srgbClr val="1C2B3A"/>
                          </a:solidFill>
                          <a:latin typeface="Barlow"/>
                        </a:rPr>
                        <a:t>Zweier</a:t>
                      </a:r>
                    </a:p>
                  </a:txBody>
                  <a:tcPr marL="54864" marR="54864" marT="18288" marB="18288">
                    <a:solidFill>
                      <a:srgbClr val="FFFDF8"/>
                    </a:solidFill>
                  </a:tcPr>
                </a:tc>
                <a:tc>
                  <a:txBody>
                    <a:bodyPr/>
                    <a:lstStyle/>
                    <a:p>
                      <a:pPr algn="r"/>
                      <a:r>
                        <a:rPr sz="1500" b="0" i="0" u="none">
                          <a:solidFill>
                            <a:srgbClr val="1C2B3A"/>
                          </a:solidFill>
                          <a:latin typeface="Barlow"/>
                        </a:rPr>
                        <a:t>2</a:t>
                      </a:r>
                    </a:p>
                  </a:txBody>
                  <a:tcPr marL="54864" marR="54864" marT="18288" marB="18288">
                    <a:solidFill>
                      <a:srgbClr val="FFFDF8"/>
                    </a:solidFill>
                  </a:tcPr>
                </a:tc>
                <a:tc>
                  <a:txBody>
                    <a:bodyPr/>
                    <a:lstStyle/>
                    <a:p>
                      <a:r>
                        <a:rPr sz="1500" b="0" i="0" u="none">
                          <a:solidFill>
                            <a:srgbClr val="1C2B3A"/>
                          </a:solidFill>
                          <a:latin typeface="Barlow"/>
                        </a:rPr>
                        <a:t>Jule Tebbe</a:t>
                      </a:r>
                    </a:p>
                  </a:txBody>
                  <a:tcPr marL="54864" marR="54864" marT="18288" marB="18288">
                    <a:solidFill>
                      <a:srgbClr val="FFFDF8"/>
                    </a:solidFill>
                  </a:tcPr>
                </a:tc>
                <a:tc>
                  <a:txBody>
                    <a:bodyPr/>
                    <a:lstStyle/>
                    <a:p>
                      <a:r>
                        <a:rPr sz="1500" b="0" i="0" u="none">
                          <a:solidFill>
                            <a:srgbClr val="1C2B3A"/>
                          </a:solidFill>
                          <a:latin typeface="Barlow"/>
                        </a:rPr>
                        <a:t>9b</a:t>
                      </a:r>
                    </a:p>
                  </a:txBody>
                  <a:tcPr marL="54864" marR="54864" marT="18288" marB="18288">
                    <a:solidFill>
                      <a:srgbClr val="FFFDF8"/>
                    </a:solidFill>
                  </a:tcPr>
                </a:tc>
              </a:tr>
              <a:tr h="295275">
                <a:tc>
                  <a:txBody>
                    <a:bodyPr/>
                    <a:lstStyle/>
                    <a:p>
                      <a:pPr algn="r"/>
                      <a:r>
                        <a:rPr sz="1500" b="0" i="0" u="none">
                          <a:solidFill>
                            <a:srgbClr val="1C2B3A"/>
                          </a:solidFill>
                          <a:latin typeface="Barlow"/>
                        </a:rPr>
                        <a:t>5</a:t>
                      </a:r>
                    </a:p>
                  </a:txBody>
                  <a:tcPr marL="54864" marR="54864" marT="18288" marB="18288">
                    <a:solidFill>
                      <a:srgbClr val="FFFDF8"/>
                    </a:solidFill>
                  </a:tcPr>
                </a:tc>
                <a:tc>
                  <a:txBody>
                    <a:bodyPr/>
                    <a:lstStyle/>
                    <a:p>
                      <a:r>
                        <a:rPr sz="1500" b="0" i="0" u="none">
                          <a:solidFill>
                            <a:srgbClr val="1C2B3A"/>
                          </a:solidFill>
                          <a:latin typeface="Barlow"/>
                        </a:rPr>
                        <a:t>2026-05-08</a:t>
                      </a:r>
                    </a:p>
                  </a:txBody>
                  <a:tcPr marL="54864" marR="54864" marT="18288" marB="18288">
                    <a:solidFill>
                      <a:srgbClr val="FFFDF8"/>
                    </a:solidFill>
                  </a:tcPr>
                </a:tc>
                <a:tc>
                  <a:txBody>
                    <a:bodyPr/>
                    <a:lstStyle/>
                    <a:p>
                      <a:r>
                        <a:rPr sz="1500" b="0" i="0" u="none">
                          <a:solidFill>
                            <a:srgbClr val="1C2B3A"/>
                          </a:solidFill>
                          <a:latin typeface="Barlow"/>
                        </a:rPr>
                        <a:t>K1</a:t>
                      </a:r>
                    </a:p>
                  </a:txBody>
                  <a:tcPr marL="54864" marR="54864" marT="18288" marB="18288">
                    <a:solidFill>
                      <a:srgbClr val="FFFDF8"/>
                    </a:solidFill>
                  </a:tcPr>
                </a:tc>
                <a:tc>
                  <a:txBody>
                    <a:bodyPr/>
                    <a:lstStyle/>
                    <a:p>
                      <a:r>
                        <a:rPr sz="1500" b="0" i="0" u="none">
                          <a:solidFill>
                            <a:srgbClr val="1C2B3A"/>
                          </a:solidFill>
                          <a:latin typeface="Barlow"/>
                        </a:rPr>
                        <a:t>Zweier</a:t>
                      </a:r>
                    </a:p>
                  </a:txBody>
                  <a:tcPr marL="54864" marR="54864" marT="18288" marB="18288">
                    <a:solidFill>
                      <a:srgbClr val="FFFDF8"/>
                    </a:solidFill>
                  </a:tcPr>
                </a:tc>
                <a:tc>
                  <a:txBody>
                    <a:bodyPr/>
                    <a:lstStyle/>
                    <a:p>
                      <a:pPr algn="r"/>
                      <a:r>
                        <a:rPr sz="1500" b="0" i="0" u="none">
                          <a:solidFill>
                            <a:srgbClr val="1C2B3A"/>
                          </a:solidFill>
                          <a:latin typeface="Barlow"/>
                        </a:rPr>
                        <a:t>2</a:t>
                      </a:r>
                    </a:p>
                  </a:txBody>
                  <a:tcPr marL="54864" marR="54864" marT="18288" marB="18288">
                    <a:solidFill>
                      <a:srgbClr val="FFFDF8"/>
                    </a:solidFill>
                  </a:tcPr>
                </a:tc>
                <a:tc>
                  <a:txBody>
                    <a:bodyPr/>
                    <a:lstStyle/>
                    <a:p>
                      <a:r>
                        <a:rPr sz="1500" b="0" i="0" u="none">
                          <a:solidFill>
                            <a:srgbClr val="1C2B3A"/>
                          </a:solidFill>
                          <a:latin typeface="Barlow"/>
                        </a:rPr>
                        <a:t>Rieke Haake</a:t>
                      </a:r>
                    </a:p>
                  </a:txBody>
                  <a:tcPr marL="54864" marR="54864" marT="18288" marB="18288">
                    <a:solidFill>
                      <a:srgbClr val="FFFDF8"/>
                    </a:solidFill>
                  </a:tcPr>
                </a:tc>
                <a:tc>
                  <a:txBody>
                    <a:bodyPr/>
                    <a:lstStyle/>
                    <a:p>
                      <a:r>
                        <a:rPr sz="1500" b="0" i="0" u="none">
                          <a:solidFill>
                            <a:srgbClr val="1C2B3A"/>
                          </a:solidFill>
                          <a:latin typeface="Barlow"/>
                        </a:rPr>
                        <a:t>9b</a:t>
                      </a:r>
                    </a:p>
                  </a:txBody>
                  <a:tcPr marL="54864" marR="54864" marT="18288" marB="18288">
                    <a:solidFill>
                      <a:srgbClr val="FFFDF8"/>
                    </a:solidFill>
                  </a:tcPr>
                </a:tc>
              </a:tr>
              <a:tr h="295275">
                <a:tc>
                  <a:txBody>
                    <a:bodyPr/>
                    <a:lstStyle/>
                    <a:p>
                      <a:pPr algn="r"/>
                      <a:r>
                        <a:rPr sz="1500" b="0" i="0" u="none">
                          <a:solidFill>
                            <a:srgbClr val="1C2B3A"/>
                          </a:solidFill>
                          <a:latin typeface="Barlow"/>
                        </a:rPr>
                        <a:t>6</a:t>
                      </a:r>
                    </a:p>
                  </a:txBody>
                  <a:tcPr marL="54864" marR="54864" marT="18288" marB="18288">
                    <a:solidFill>
                      <a:srgbClr val="FFFDF8"/>
                    </a:solidFill>
                  </a:tcPr>
                </a:tc>
                <a:tc>
                  <a:txBody>
                    <a:bodyPr/>
                    <a:lstStyle/>
                    <a:p>
                      <a:r>
                        <a:rPr sz="1500" b="0" i="0" u="none">
                          <a:solidFill>
                            <a:srgbClr val="1C2B3A"/>
                          </a:solidFill>
                          <a:latin typeface="Barlow"/>
                        </a:rPr>
                        <a:t>2026-05-08</a:t>
                      </a:r>
                    </a:p>
                  </a:txBody>
                  <a:tcPr marL="54864" marR="54864" marT="18288" marB="18288">
                    <a:solidFill>
                      <a:srgbClr val="FFFDF8"/>
                    </a:solidFill>
                  </a:tcPr>
                </a:tc>
                <a:tc>
                  <a:txBody>
                    <a:bodyPr/>
                    <a:lstStyle/>
                    <a:p>
                      <a:r>
                        <a:rPr sz="1500" b="0" i="0" u="none">
                          <a:solidFill>
                            <a:srgbClr val="1C2B3A"/>
                          </a:solidFill>
                          <a:latin typeface="Barlow"/>
                        </a:rPr>
                        <a:t>K2</a:t>
                      </a:r>
                    </a:p>
                  </a:txBody>
                  <a:tcPr marL="54864" marR="54864" marT="18288" marB="18288">
                    <a:solidFill>
                      <a:srgbClr val="FFFDF8"/>
                    </a:solidFill>
                  </a:tcPr>
                </a:tc>
                <a:tc>
                  <a:txBody>
                    <a:bodyPr/>
                    <a:lstStyle/>
                    <a:p>
                      <a:r>
                        <a:rPr sz="1500" b="0" i="0" u="none">
                          <a:solidFill>
                            <a:srgbClr val="1C2B3A"/>
                          </a:solidFill>
                          <a:latin typeface="Barlow"/>
                        </a:rPr>
                        <a:t>Einer</a:t>
                      </a:r>
                    </a:p>
                  </a:txBody>
                  <a:tcPr marL="54864" marR="54864" marT="18288" marB="18288">
                    <a:solidFill>
                      <a:srgbClr val="FFFDF8"/>
                    </a:solidFill>
                  </a:tcPr>
                </a:tc>
                <a:tc>
                  <a:txBody>
                    <a:bodyPr/>
                    <a:lstStyle/>
                    <a:p>
                      <a:pPr algn="r"/>
                      <a:r>
                        <a:rPr sz="1500" b="0" i="0" u="none">
                          <a:solidFill>
                            <a:srgbClr val="1C2B3A"/>
                          </a:solidFill>
                          <a:latin typeface="Barlow"/>
                        </a:rPr>
                        <a:t>1</a:t>
                      </a:r>
                    </a:p>
                  </a:txBody>
                  <a:tcPr marL="54864" marR="54864" marT="18288" marB="18288">
                    <a:solidFill>
                      <a:srgbClr val="FFFDF8"/>
                    </a:solidFill>
                  </a:tcPr>
                </a:tc>
                <a:tc>
                  <a:txBody>
                    <a:bodyPr/>
                    <a:lstStyle/>
                    <a:p>
                      <a:r>
                        <a:rPr sz="1500" b="0" i="0" u="none">
                          <a:solidFill>
                            <a:srgbClr val="1C2B3A"/>
                          </a:solidFill>
                          <a:latin typeface="Barlow"/>
                        </a:rPr>
                        <a:t>Jule Tebbe</a:t>
                      </a:r>
                    </a:p>
                  </a:txBody>
                  <a:tcPr marL="54864" marR="54864" marT="18288" marB="18288">
                    <a:solidFill>
                      <a:srgbClr val="FFFDF8"/>
                    </a:solidFill>
                  </a:tcPr>
                </a:tc>
                <a:tc>
                  <a:txBody>
                    <a:bodyPr/>
                    <a:lstStyle/>
                    <a:p>
                      <a:r>
                        <a:rPr sz="1500" b="0" i="0" u="none">
                          <a:solidFill>
                            <a:srgbClr val="1C2B3A"/>
                          </a:solidFill>
                          <a:latin typeface="Barlow"/>
                        </a:rPr>
                        <a:t>9b</a:t>
                      </a:r>
                    </a:p>
                  </a:txBody>
                  <a:tcPr marL="54864" marR="54864" marT="18288" marB="18288">
                    <a:solidFill>
                      <a:srgbClr val="FFFDF8"/>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4 · AKTE 4 · CHAOS IM VEREINSARCHIV</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Auflösung: benennen reicht nicht</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6</a:t>
            </a:r>
          </a:p>
        </p:txBody>
      </p:sp>
      <p:sp>
        <p:nvSpPr>
          <p:cNvPr id="8" name="Rounded Rectangle 7"/>
          <p:cNvSpPr/>
          <p:nvPr/>
        </p:nvSpPr>
        <p:spPr>
          <a:xfrm>
            <a:off x="548640" y="1691640"/>
            <a:ext cx="7772400" cy="954023"/>
          </a:xfrm>
          <a:prstGeom prst="roundRect">
            <a:avLst>
              <a:gd name="adj" fmla="val 4000"/>
            </a:avLst>
          </a:prstGeom>
          <a:solidFill>
            <a:srgbClr val="F8E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91640"/>
            <a:ext cx="73152" cy="954023"/>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1783080"/>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B3261E"/>
                </a:solidFill>
                <a:latin typeface="IBM Plex Mono"/>
              </a:rPr>
              <a:t>✘ NUR BENANNT (P10)</a:t>
            </a:r>
          </a:p>
        </p:txBody>
      </p:sp>
      <p:sp>
        <p:nvSpPr>
          <p:cNvPr id="11" name="TextBox 10"/>
          <p:cNvSpPr txBox="1"/>
          <p:nvPr/>
        </p:nvSpPr>
        <p:spPr>
          <a:xfrm>
            <a:off x="822959" y="2148840"/>
            <a:ext cx="7360920" cy="451103"/>
          </a:xfrm>
          <a:prstGeom prst="rect">
            <a:avLst/>
          </a:prstGeom>
          <a:noFill/>
        </p:spPr>
        <p:txBody>
          <a:bodyPr wrap="square" lIns="27432" rIns="27432" tIns="27432" bIns="27432">
            <a:spAutoFit/>
          </a:bodyPr>
          <a:lstStyle/>
          <a:p>
            <a:pPr>
              <a:lnSpc>
                <a:spcPct val="105000"/>
              </a:lnSpc>
              <a:spcAft>
                <a:spcPts val="300"/>
              </a:spcAft>
            </a:pPr>
            <a:r>
              <a:rPr sz="1700" b="0" i="0" u="none">
                <a:solidFill>
                  <a:srgbClr val="1C2B3A"/>
                </a:solidFill>
                <a:latin typeface="Barlow"/>
              </a:rPr>
              <a:t>„Es entsteht eine Änderungsanomalie.“</a:t>
            </a:r>
          </a:p>
        </p:txBody>
      </p:sp>
      <p:sp>
        <p:nvSpPr>
          <p:cNvPr id="12" name="Rounded Rectangle 11"/>
          <p:cNvSpPr/>
          <p:nvPr/>
        </p:nvSpPr>
        <p:spPr>
          <a:xfrm>
            <a:off x="548640" y="2755392"/>
            <a:ext cx="7772400" cy="1472184"/>
          </a:xfrm>
          <a:prstGeom prst="roundRect">
            <a:avLst>
              <a:gd name="adj" fmla="val 4000"/>
            </a:avLst>
          </a:prstGeom>
          <a:solidFill>
            <a:srgbClr val="E0E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48640" y="2755392"/>
            <a:ext cx="73152" cy="1472184"/>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2959" y="2846832"/>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F6B4F"/>
                </a:solidFill>
                <a:latin typeface="IBM Plex Mono"/>
              </a:rPr>
              <a:t>✔ AM DATENSATZ ERLÄUTERT</a:t>
            </a:r>
          </a:p>
        </p:txBody>
      </p:sp>
      <p:sp>
        <p:nvSpPr>
          <p:cNvPr id="15" name="TextBox 14"/>
          <p:cNvSpPr txBox="1"/>
          <p:nvPr/>
        </p:nvSpPr>
        <p:spPr>
          <a:xfrm>
            <a:off x="822959" y="3212592"/>
            <a:ext cx="7360920" cy="969263"/>
          </a:xfrm>
          <a:prstGeom prst="rect">
            <a:avLst/>
          </a:prstGeom>
          <a:noFill/>
        </p:spPr>
        <p:txBody>
          <a:bodyPr wrap="square" lIns="27432" rIns="27432" tIns="27432" bIns="27432">
            <a:spAutoFit/>
          </a:bodyPr>
          <a:lstStyle/>
          <a:p>
            <a:pPr>
              <a:lnSpc>
                <a:spcPct val="105000"/>
              </a:lnSpc>
              <a:spcAft>
                <a:spcPts val="300"/>
              </a:spcAft>
            </a:pPr>
            <a:r>
              <a:rPr sz="1700" b="0" i="0" u="none">
                <a:solidFill>
                  <a:srgbClr val="1C2B3A"/>
                </a:solidFill>
                <a:latin typeface="Barlow"/>
              </a:rPr>
              <a:t>Jules Klasse steht redundant in </a:t>
            </a:r>
            <a:r>
              <a:rPr sz="1700" b="1" i="0" u="none">
                <a:solidFill>
                  <a:srgbClr val="1C2B3A"/>
                </a:solidFill>
                <a:latin typeface="Barlow"/>
              </a:rPr>
              <a:t>Zeile 4 und 6</a:t>
            </a:r>
            <a:r>
              <a:rPr sz="1700" b="0" i="0" u="none">
                <a:solidFill>
                  <a:srgbClr val="1C2B3A"/>
                </a:solidFill>
                <a:latin typeface="Barlow"/>
              </a:rPr>
              <a:t>. Wird beim Klassenwechsel nur Zeile 4 auf 10b geändert, steht in Zeile 6 weiter 9b – die Liste widerspricht sich. Das ist eine </a:t>
            </a:r>
            <a:r>
              <a:rPr sz="1700" b="1" i="0" u="none">
                <a:solidFill>
                  <a:srgbClr val="1C2B3A"/>
                </a:solidFill>
                <a:latin typeface="Barlow"/>
              </a:rPr>
              <a:t>Änderungsanomalie</a:t>
            </a:r>
            <a:r>
              <a:rPr sz="1700" b="0" i="0" u="none">
                <a:solidFill>
                  <a:srgbClr val="1C2B3A"/>
                </a:solidFill>
                <a:latin typeface="Barlow"/>
              </a:rP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4 · AKTE 4 · CHAOS IM VEREINSARCHIV</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Was ist ein guter Schlüssel?</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7</a:t>
            </a:r>
          </a:p>
        </p:txBody>
      </p:sp>
      <p:sp>
        <p:nvSpPr>
          <p:cNvPr id="8" name="Rounded Rectangle 7"/>
          <p:cNvSpPr/>
          <p:nvPr/>
        </p:nvSpPr>
        <p:spPr>
          <a:xfrm>
            <a:off x="6035040" y="1691640"/>
            <a:ext cx="5608015" cy="1932432"/>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035040" y="1691640"/>
            <a:ext cx="73152" cy="1932432"/>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09359" y="1783080"/>
            <a:ext cx="519653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IN DER KANU-LISTE</a:t>
            </a:r>
          </a:p>
        </p:txBody>
      </p:sp>
      <p:sp>
        <p:nvSpPr>
          <p:cNvPr id="11" name="TextBox 10"/>
          <p:cNvSpPr txBox="1"/>
          <p:nvPr/>
        </p:nvSpPr>
        <p:spPr>
          <a:xfrm>
            <a:off x="6309359" y="2148840"/>
            <a:ext cx="5196535" cy="1429512"/>
          </a:xfrm>
          <a:prstGeom prst="rect">
            <a:avLst/>
          </a:prstGeom>
          <a:noFill/>
        </p:spPr>
        <p:txBody>
          <a:bodyPr wrap="square" lIns="27432" rIns="27432" tIns="27432" bIns="27432">
            <a:spAutoFit/>
          </a:bodyPr>
          <a:lstStyle/>
          <a:p>
            <a:pPr>
              <a:lnSpc>
                <a:spcPct val="105000"/>
              </a:lnSpc>
              <a:spcAft>
                <a:spcPts val="300"/>
              </a:spcAft>
            </a:pPr>
            <a:r>
              <a:rPr sz="1700" b="1">
                <a:solidFill>
                  <a:srgbClr val="2C5A85"/>
                </a:solidFill>
                <a:latin typeface="Barlow"/>
              </a:rPr>
              <a:t>▸  </a:t>
            </a:r>
            <a:r>
              <a:rPr sz="1700" b="0" i="0" u="none">
                <a:solidFill>
                  <a:srgbClr val="1C2B3A"/>
                </a:solidFill>
                <a:latin typeface="Barlow"/>
              </a:rPr>
              <a:t>Kanu allein? Nein – K1 dreimal</a:t>
            </a:r>
          </a:p>
          <a:p>
            <a:pPr>
              <a:lnSpc>
                <a:spcPct val="105000"/>
              </a:lnSpc>
              <a:spcAft>
                <a:spcPts val="300"/>
              </a:spcAft>
            </a:pPr>
            <a:r>
              <a:rPr sz="1700" b="1">
                <a:solidFill>
                  <a:srgbClr val="2C5A85"/>
                </a:solidFill>
                <a:latin typeface="Barlow"/>
              </a:rPr>
              <a:t>▸  </a:t>
            </a:r>
            <a:r>
              <a:rPr sz="1700" b="0" i="0" u="none">
                <a:solidFill>
                  <a:srgbClr val="1C2B3A"/>
                </a:solidFill>
                <a:latin typeface="Barlow"/>
              </a:rPr>
              <a:t>Name allein? Nein – Rieke zweimal</a:t>
            </a:r>
          </a:p>
          <a:p>
            <a:pPr>
              <a:lnSpc>
                <a:spcPct val="105000"/>
              </a:lnSpc>
              <a:spcAft>
                <a:spcPts val="300"/>
              </a:spcAft>
            </a:pPr>
            <a:r>
              <a:rPr sz="1700" b="1">
                <a:solidFill>
                  <a:srgbClr val="2C5A85"/>
                </a:solidFill>
                <a:latin typeface="Barlow"/>
              </a:rPr>
              <a:t>▸  </a:t>
            </a:r>
            <a:r>
              <a:rPr sz="1700" b="0" i="0" u="none">
                <a:solidFill>
                  <a:srgbClr val="1C2B3A"/>
                </a:solidFill>
                <a:latin typeface="Barlow"/>
              </a:rPr>
              <a:t>Datum + Kanu? Nur, wenn ein Kanu höchstens einmal am Tag ausgeliehen wird</a:t>
            </a:r>
          </a:p>
        </p:txBody>
      </p:sp>
      <p:sp>
        <p:nvSpPr>
          <p:cNvPr id="12" name="Rounded Rectangle 11"/>
          <p:cNvSpPr/>
          <p:nvPr/>
        </p:nvSpPr>
        <p:spPr>
          <a:xfrm>
            <a:off x="548640" y="1691640"/>
            <a:ext cx="5212080" cy="707136"/>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48640" y="1691640"/>
            <a:ext cx="64008" cy="707136"/>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5800" y="1728216"/>
            <a:ext cx="457200" cy="633984"/>
          </a:xfrm>
          <a:prstGeom prst="rect">
            <a:avLst/>
          </a:prstGeom>
          <a:noFill/>
        </p:spPr>
        <p:txBody>
          <a:bodyPr wrap="square" lIns="27432" rIns="27432" tIns="27432" bIns="27432">
            <a:spAutoFit/>
          </a:bodyPr>
          <a:lstStyle/>
          <a:p>
            <a:pPr>
              <a:lnSpc>
                <a:spcPct val="105000"/>
              </a:lnSpc>
              <a:spcAft>
                <a:spcPts val="400"/>
              </a:spcAft>
            </a:pPr>
            <a:r>
              <a:rPr sz="2200" b="0" i="0" u="none">
                <a:solidFill>
                  <a:srgbClr val="B3261E"/>
                </a:solidFill>
                <a:latin typeface="Barlow Condensed SemiBold"/>
              </a:rPr>
              <a:t>1</a:t>
            </a:r>
          </a:p>
        </p:txBody>
      </p:sp>
      <p:sp>
        <p:nvSpPr>
          <p:cNvPr id="15" name="TextBox 14"/>
          <p:cNvSpPr txBox="1"/>
          <p:nvPr/>
        </p:nvSpPr>
        <p:spPr>
          <a:xfrm>
            <a:off x="1097280" y="1746504"/>
            <a:ext cx="4572000" cy="615696"/>
          </a:xfrm>
          <a:prstGeom prst="rect">
            <a:avLst/>
          </a:prstGeom>
          <a:noFill/>
        </p:spPr>
        <p:txBody>
          <a:bodyPr wrap="square" lIns="27432" rIns="27432" tIns="27432" bIns="27432" anchor="ctr">
            <a:spAutoFit/>
          </a:bodyPr>
          <a:lstStyle/>
          <a:p>
            <a:pPr>
              <a:lnSpc>
                <a:spcPct val="105000"/>
              </a:lnSpc>
              <a:spcAft>
                <a:spcPts val="400"/>
              </a:spcAft>
            </a:pPr>
            <a:r>
              <a:rPr sz="1600" b="1" i="0" u="none">
                <a:solidFill>
                  <a:srgbClr val="1C2B3A"/>
                </a:solidFill>
                <a:latin typeface="Barlow"/>
              </a:rPr>
              <a:t>eindeutig</a:t>
            </a:r>
            <a:r>
              <a:rPr sz="1600" b="0" i="0" u="none">
                <a:solidFill>
                  <a:srgbClr val="1C2B3A"/>
                </a:solidFill>
                <a:latin typeface="Barlow"/>
              </a:rPr>
              <a:t> – für alle denkbaren Daten, nicht nur für die sichtbaren</a:t>
            </a:r>
          </a:p>
        </p:txBody>
      </p:sp>
      <p:sp>
        <p:nvSpPr>
          <p:cNvPr id="16" name="Rounded Rectangle 15"/>
          <p:cNvSpPr/>
          <p:nvPr/>
        </p:nvSpPr>
        <p:spPr>
          <a:xfrm>
            <a:off x="548640" y="2508504"/>
            <a:ext cx="5212080" cy="54864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48640" y="2508504"/>
            <a:ext cx="64008" cy="54864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85800" y="2545080"/>
            <a:ext cx="457200" cy="475488"/>
          </a:xfrm>
          <a:prstGeom prst="rect">
            <a:avLst/>
          </a:prstGeom>
          <a:noFill/>
        </p:spPr>
        <p:txBody>
          <a:bodyPr wrap="square" lIns="27432" rIns="27432" tIns="27432" bIns="27432">
            <a:spAutoFit/>
          </a:bodyPr>
          <a:lstStyle/>
          <a:p>
            <a:pPr>
              <a:lnSpc>
                <a:spcPct val="105000"/>
              </a:lnSpc>
              <a:spcAft>
                <a:spcPts val="400"/>
              </a:spcAft>
            </a:pPr>
            <a:r>
              <a:rPr sz="2200" b="0" i="0" u="none">
                <a:solidFill>
                  <a:srgbClr val="B3261E"/>
                </a:solidFill>
                <a:latin typeface="Barlow Condensed SemiBold"/>
              </a:rPr>
              <a:t>2</a:t>
            </a:r>
          </a:p>
        </p:txBody>
      </p:sp>
      <p:sp>
        <p:nvSpPr>
          <p:cNvPr id="19" name="TextBox 18"/>
          <p:cNvSpPr txBox="1"/>
          <p:nvPr/>
        </p:nvSpPr>
        <p:spPr>
          <a:xfrm>
            <a:off x="1097280" y="2563368"/>
            <a:ext cx="4572000" cy="457200"/>
          </a:xfrm>
          <a:prstGeom prst="rect">
            <a:avLst/>
          </a:prstGeom>
          <a:noFill/>
        </p:spPr>
        <p:txBody>
          <a:bodyPr wrap="square" lIns="27432" rIns="27432" tIns="27432" bIns="27432" anchor="ctr">
            <a:spAutoFit/>
          </a:bodyPr>
          <a:lstStyle/>
          <a:p>
            <a:pPr>
              <a:lnSpc>
                <a:spcPct val="105000"/>
              </a:lnSpc>
              <a:spcAft>
                <a:spcPts val="400"/>
              </a:spcAft>
            </a:pPr>
            <a:r>
              <a:rPr sz="1600" b="1" i="0" u="none">
                <a:solidFill>
                  <a:srgbClr val="1C2B3A"/>
                </a:solidFill>
                <a:latin typeface="Barlow"/>
              </a:rPr>
              <a:t>nie NULL</a:t>
            </a:r>
            <a:r>
              <a:rPr sz="1600" b="0" i="0" u="none">
                <a:solidFill>
                  <a:srgbClr val="1C2B3A"/>
                </a:solidFill>
                <a:latin typeface="Barlow"/>
              </a:rPr>
              <a:t> – jede Zeile hat einen Wert</a:t>
            </a:r>
          </a:p>
        </p:txBody>
      </p:sp>
      <p:sp>
        <p:nvSpPr>
          <p:cNvPr id="20" name="Rounded Rectangle 19"/>
          <p:cNvSpPr/>
          <p:nvPr/>
        </p:nvSpPr>
        <p:spPr>
          <a:xfrm>
            <a:off x="548640" y="3166871"/>
            <a:ext cx="5212080" cy="54864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48640" y="3166871"/>
            <a:ext cx="64008" cy="54864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85800" y="3203447"/>
            <a:ext cx="457200" cy="475488"/>
          </a:xfrm>
          <a:prstGeom prst="rect">
            <a:avLst/>
          </a:prstGeom>
          <a:noFill/>
        </p:spPr>
        <p:txBody>
          <a:bodyPr wrap="square" lIns="27432" rIns="27432" tIns="27432" bIns="27432">
            <a:spAutoFit/>
          </a:bodyPr>
          <a:lstStyle/>
          <a:p>
            <a:pPr>
              <a:lnSpc>
                <a:spcPct val="105000"/>
              </a:lnSpc>
              <a:spcAft>
                <a:spcPts val="400"/>
              </a:spcAft>
            </a:pPr>
            <a:r>
              <a:rPr sz="2200" b="0" i="0" u="none">
                <a:solidFill>
                  <a:srgbClr val="B3261E"/>
                </a:solidFill>
                <a:latin typeface="Barlow Condensed SemiBold"/>
              </a:rPr>
              <a:t>3</a:t>
            </a:r>
          </a:p>
        </p:txBody>
      </p:sp>
      <p:sp>
        <p:nvSpPr>
          <p:cNvPr id="23" name="TextBox 22"/>
          <p:cNvSpPr txBox="1"/>
          <p:nvPr/>
        </p:nvSpPr>
        <p:spPr>
          <a:xfrm>
            <a:off x="1097280" y="3221735"/>
            <a:ext cx="4572000" cy="457200"/>
          </a:xfrm>
          <a:prstGeom prst="rect">
            <a:avLst/>
          </a:prstGeom>
          <a:noFill/>
        </p:spPr>
        <p:txBody>
          <a:bodyPr wrap="square" lIns="27432" rIns="27432" tIns="27432" bIns="27432" anchor="ctr">
            <a:spAutoFit/>
          </a:bodyPr>
          <a:lstStyle/>
          <a:p>
            <a:pPr>
              <a:lnSpc>
                <a:spcPct val="105000"/>
              </a:lnSpc>
              <a:spcAft>
                <a:spcPts val="400"/>
              </a:spcAft>
            </a:pPr>
            <a:r>
              <a:rPr sz="1600" b="1" i="0" u="none">
                <a:solidFill>
                  <a:srgbClr val="1C2B3A"/>
                </a:solidFill>
                <a:latin typeface="Barlow"/>
              </a:rPr>
              <a:t>minimal</a:t>
            </a:r>
            <a:r>
              <a:rPr sz="1600" b="0" i="0" u="none">
                <a:solidFill>
                  <a:srgbClr val="1C2B3A"/>
                </a:solidFill>
                <a:latin typeface="Barlow"/>
              </a:rPr>
              <a:t> – kein Attribut lässt sich weglassen</a:t>
            </a:r>
          </a:p>
        </p:txBody>
      </p:sp>
      <p:sp>
        <p:nvSpPr>
          <p:cNvPr id="24" name="Rounded Rectangle 23"/>
          <p:cNvSpPr/>
          <p:nvPr/>
        </p:nvSpPr>
        <p:spPr>
          <a:xfrm>
            <a:off x="548640" y="3825239"/>
            <a:ext cx="5212080" cy="707136"/>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48640" y="3825239"/>
            <a:ext cx="64008" cy="707136"/>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85800" y="3861815"/>
            <a:ext cx="457200" cy="633984"/>
          </a:xfrm>
          <a:prstGeom prst="rect">
            <a:avLst/>
          </a:prstGeom>
          <a:noFill/>
        </p:spPr>
        <p:txBody>
          <a:bodyPr wrap="square" lIns="27432" rIns="27432" tIns="27432" bIns="27432">
            <a:spAutoFit/>
          </a:bodyPr>
          <a:lstStyle/>
          <a:p>
            <a:pPr>
              <a:lnSpc>
                <a:spcPct val="105000"/>
              </a:lnSpc>
              <a:spcAft>
                <a:spcPts val="400"/>
              </a:spcAft>
            </a:pPr>
            <a:r>
              <a:rPr sz="2200" b="0" i="0" u="none">
                <a:solidFill>
                  <a:srgbClr val="B3261E"/>
                </a:solidFill>
                <a:latin typeface="Barlow Condensed SemiBold"/>
              </a:rPr>
              <a:t>4</a:t>
            </a:r>
          </a:p>
        </p:txBody>
      </p:sp>
      <p:sp>
        <p:nvSpPr>
          <p:cNvPr id="27" name="TextBox 26"/>
          <p:cNvSpPr txBox="1"/>
          <p:nvPr/>
        </p:nvSpPr>
        <p:spPr>
          <a:xfrm>
            <a:off x="1097280" y="3880103"/>
            <a:ext cx="4572000" cy="615696"/>
          </a:xfrm>
          <a:prstGeom prst="rect">
            <a:avLst/>
          </a:prstGeom>
          <a:noFill/>
        </p:spPr>
        <p:txBody>
          <a:bodyPr wrap="square" lIns="27432" rIns="27432" tIns="27432" bIns="27432" anchor="ctr">
            <a:spAutoFit/>
          </a:bodyPr>
          <a:lstStyle/>
          <a:p>
            <a:pPr>
              <a:lnSpc>
                <a:spcPct val="105000"/>
              </a:lnSpc>
              <a:spcAft>
                <a:spcPts val="400"/>
              </a:spcAft>
            </a:pPr>
            <a:r>
              <a:rPr sz="1600" b="1" i="0" u="none">
                <a:solidFill>
                  <a:srgbClr val="1C2B3A"/>
                </a:solidFill>
                <a:latin typeface="Barlow"/>
              </a:rPr>
              <a:t>möglichst unveränderlich</a:t>
            </a:r>
            <a:r>
              <a:rPr sz="1600" b="0" i="0" u="none">
                <a:solidFill>
                  <a:srgbClr val="1C2B3A"/>
                </a:solidFill>
                <a:latin typeface="Barlow"/>
              </a:rPr>
              <a:t> – Namen und Klassen ändern sich, Nummern nicht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4 · AKTE 4 · CHAOS IM VEREINSARCHIV</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Die Ausschnitt-Falle</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8</a:t>
            </a:r>
          </a:p>
        </p:txBody>
      </p:sp>
      <p:sp>
        <p:nvSpPr>
          <p:cNvPr id="8" name="Rounded Rectangle 7"/>
          <p:cNvSpPr/>
          <p:nvPr/>
        </p:nvSpPr>
        <p:spPr>
          <a:xfrm>
            <a:off x="8001000" y="1691640"/>
            <a:ext cx="3642055" cy="2090928"/>
          </a:xfrm>
          <a:prstGeom prst="roundRect">
            <a:avLst>
              <a:gd name="adj" fmla="val 4000"/>
            </a:avLst>
          </a:prstGeom>
          <a:solidFill>
            <a:srgbClr val="F8E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001000" y="1691640"/>
            <a:ext cx="73152" cy="209092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75320" y="1783080"/>
            <a:ext cx="323057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B3261E"/>
                </a:solidFill>
                <a:latin typeface="IBM Plex Mono"/>
              </a:rPr>
              <a:t>FALLE P8</a:t>
            </a:r>
          </a:p>
        </p:txBody>
      </p:sp>
      <p:sp>
        <p:nvSpPr>
          <p:cNvPr id="11" name="TextBox 10"/>
          <p:cNvSpPr txBox="1"/>
          <p:nvPr/>
        </p:nvSpPr>
        <p:spPr>
          <a:xfrm>
            <a:off x="8275320" y="2148840"/>
            <a:ext cx="3230575" cy="1588008"/>
          </a:xfrm>
          <a:prstGeom prst="rect">
            <a:avLst/>
          </a:prstGeom>
          <a:noFill/>
        </p:spPr>
        <p:txBody>
          <a:bodyPr wrap="square" lIns="27432" rIns="27432" tIns="27432" bIns="27432">
            <a:spAutoFit/>
          </a:bodyPr>
          <a:lstStyle/>
          <a:p>
            <a:pPr>
              <a:lnSpc>
                <a:spcPct val="105000"/>
              </a:lnSpc>
              <a:spcAft>
                <a:spcPts val="300"/>
              </a:spcAft>
            </a:pPr>
            <a:r>
              <a:rPr sz="1700" b="0" i="0" u="none">
                <a:solidFill>
                  <a:srgbClr val="1C2B3A"/>
                </a:solidFill>
                <a:latin typeface="Barlow"/>
              </a:rPr>
              <a:t>Eindeutigkeit nie aus einem Datenausschnitt schließen.</a:t>
            </a:r>
          </a:p>
          <a:p>
            <a:pPr>
              <a:lnSpc>
                <a:spcPct val="105000"/>
              </a:lnSpc>
              <a:spcAft>
                <a:spcPts val="300"/>
              </a:spcAft>
            </a:pPr>
            <a:r>
              <a:rPr sz="1700" b="0" i="0" u="none">
                <a:solidFill>
                  <a:srgbClr val="1C2B3A"/>
                </a:solidFill>
                <a:latin typeface="Barlow"/>
              </a:rPr>
              <a:t>Begründe mit der Bedeutung: Kann es das </a:t>
            </a:r>
            <a:r>
              <a:rPr sz="1700" b="1" i="0" u="none">
                <a:solidFill>
                  <a:srgbClr val="1C2B3A"/>
                </a:solidFill>
                <a:latin typeface="Barlow"/>
              </a:rPr>
              <a:t>in der Realität</a:t>
            </a:r>
            <a:r>
              <a:rPr sz="1700" b="0" i="0" u="none">
                <a:solidFill>
                  <a:srgbClr val="1C2B3A"/>
                </a:solidFill>
                <a:latin typeface="Barlow"/>
              </a:rPr>
              <a:t> zweimal geben?</a:t>
            </a:r>
          </a:p>
        </p:txBody>
      </p:sp>
      <p:sp>
        <p:nvSpPr>
          <p:cNvPr id="12" name="TextBox 11"/>
          <p:cNvSpPr txBox="1"/>
          <p:nvPr/>
        </p:nvSpPr>
        <p:spPr>
          <a:xfrm>
            <a:off x="548640" y="1691640"/>
            <a:ext cx="7178040" cy="682751"/>
          </a:xfrm>
          <a:prstGeom prst="rect">
            <a:avLst/>
          </a:prstGeom>
          <a:noFill/>
        </p:spPr>
        <p:txBody>
          <a:bodyPr wrap="square" lIns="27432" rIns="27432" tIns="27432" bIns="27432">
            <a:spAutoFit/>
          </a:bodyPr>
          <a:lstStyle/>
          <a:p>
            <a:pPr>
              <a:lnSpc>
                <a:spcPct val="105000"/>
              </a:lnSpc>
              <a:spcAft>
                <a:spcPts val="400"/>
              </a:spcAft>
            </a:pPr>
            <a:r>
              <a:rPr sz="2000" b="0" i="0" u="none">
                <a:solidFill>
                  <a:srgbClr val="E8E1D3"/>
                </a:solidFill>
                <a:latin typeface="Barlow"/>
              </a:rPr>
              <a:t>In den 6 Zeilen ist </a:t>
            </a:r>
            <a:r>
              <a:rPr sz="2000" b="1" i="0" u="none">
                <a:solidFill>
                  <a:srgbClr val="E8E1D3"/>
                </a:solidFill>
                <a:latin typeface="Barlow"/>
              </a:rPr>
              <a:t>(Datum, Name)</a:t>
            </a:r>
            <a:r>
              <a:rPr sz="2000" b="0" i="0" u="none">
                <a:solidFill>
                  <a:srgbClr val="E8E1D3"/>
                </a:solidFill>
                <a:latin typeface="Barlow"/>
              </a:rPr>
              <a:t> eindeutig. Dann wird nachgeliefert:</a:t>
            </a:r>
          </a:p>
        </p:txBody>
      </p:sp>
      <p:sp>
        <p:nvSpPr>
          <p:cNvPr id="13" name="TextBox 12"/>
          <p:cNvSpPr txBox="1"/>
          <p:nvPr/>
        </p:nvSpPr>
        <p:spPr>
          <a:xfrm>
            <a:off x="548640" y="2410968"/>
            <a:ext cx="7178040" cy="274320"/>
          </a:xfrm>
          <a:prstGeom prst="rect">
            <a:avLst/>
          </a:prstGeom>
          <a:noFill/>
        </p:spPr>
        <p:txBody>
          <a:bodyPr wrap="square" lIns="27432" rIns="27432" tIns="27432" bIns="27432">
            <a:spAutoFit/>
          </a:bodyPr>
          <a:lstStyle/>
          <a:p>
            <a:pPr>
              <a:lnSpc>
                <a:spcPct val="105000"/>
              </a:lnSpc>
              <a:spcAft>
                <a:spcPts val="400"/>
              </a:spcAft>
            </a:pPr>
            <a:r>
              <a:rPr sz="1100" b="1" i="0" u="none">
                <a:solidFill>
                  <a:srgbClr val="D4B062"/>
                </a:solidFill>
                <a:latin typeface="IBM Plex Mono"/>
              </a:rPr>
              <a:t>NACHLIEFERUNG</a:t>
            </a:r>
          </a:p>
        </p:txBody>
      </p:sp>
      <p:graphicFrame>
        <p:nvGraphicFramePr>
          <p:cNvPr id="14" name="Datentabelle"/>
          <p:cNvGraphicFramePr>
            <a:graphicFrameLocks noGrp="1"/>
          </p:cNvGraphicFramePr>
          <p:nvPr/>
        </p:nvGraphicFramePr>
        <p:xfrm>
          <a:off x="548640" y="2703576"/>
          <a:ext cx="7178037" cy="885825"/>
        </p:xfrm>
        <a:graphic>
          <a:graphicData uri="http://schemas.openxmlformats.org/drawingml/2006/table">
            <a:tbl>
              <a:tblPr firstRow="1">
                <a:tableStyleId>{5C22544A-7EE6-4342-B048-85BDC9FD1C3A}</a:tableStyleId>
              </a:tblPr>
              <a:tblGrid>
                <a:gridCol w="806159"/>
                <a:gridCol w="1354347"/>
                <a:gridCol w="696521"/>
                <a:gridCol w="915796"/>
                <a:gridCol w="1025434"/>
                <a:gridCol w="1463984"/>
                <a:gridCol w="915796"/>
              </a:tblGrid>
              <a:tr h="295275">
                <a:tc>
                  <a:txBody>
                    <a:bodyPr/>
                    <a:lstStyle/>
                    <a:p>
                      <a:r>
                        <a:rPr sz="1380" b="1" i="0" u="none">
                          <a:solidFill>
                            <a:srgbClr val="1C2B3A"/>
                          </a:solidFill>
                          <a:latin typeface="IBM Plex Mono"/>
                        </a:rPr>
                        <a:t>Zeile</a:t>
                      </a:r>
                    </a:p>
                  </a:txBody>
                  <a:tcPr marL="54864" marR="54864" marT="18288" marB="18288">
                    <a:solidFill>
                      <a:srgbClr val="EBE2D2"/>
                    </a:solidFill>
                  </a:tcPr>
                </a:tc>
                <a:tc>
                  <a:txBody>
                    <a:bodyPr/>
                    <a:lstStyle/>
                    <a:p>
                      <a:r>
                        <a:rPr sz="1380" b="1" i="0" u="none">
                          <a:solidFill>
                            <a:srgbClr val="1C2B3A"/>
                          </a:solidFill>
                          <a:latin typeface="IBM Plex Mono"/>
                        </a:rPr>
                        <a:t>Datum</a:t>
                      </a:r>
                    </a:p>
                  </a:txBody>
                  <a:tcPr marL="54864" marR="54864" marT="18288" marB="18288">
                    <a:solidFill>
                      <a:srgbClr val="EBE2D2"/>
                    </a:solidFill>
                  </a:tcPr>
                </a:tc>
                <a:tc>
                  <a:txBody>
                    <a:bodyPr/>
                    <a:lstStyle/>
                    <a:p>
                      <a:r>
                        <a:rPr sz="1380" b="1" i="0" u="none">
                          <a:solidFill>
                            <a:srgbClr val="1C2B3A"/>
                          </a:solidFill>
                          <a:latin typeface="IBM Plex Mono"/>
                        </a:rPr>
                        <a:t>Kanu</a:t>
                      </a:r>
                    </a:p>
                  </a:txBody>
                  <a:tcPr marL="54864" marR="54864" marT="18288" marB="18288">
                    <a:solidFill>
                      <a:srgbClr val="EBE2D2"/>
                    </a:solidFill>
                  </a:tcPr>
                </a:tc>
                <a:tc>
                  <a:txBody>
                    <a:bodyPr/>
                    <a:lstStyle/>
                    <a:p>
                      <a:r>
                        <a:rPr sz="1380" b="1" i="0" u="none">
                          <a:solidFill>
                            <a:srgbClr val="1C2B3A"/>
                          </a:solidFill>
                          <a:latin typeface="IBM Plex Mono"/>
                        </a:rPr>
                        <a:t>Typ</a:t>
                      </a:r>
                    </a:p>
                  </a:txBody>
                  <a:tcPr marL="54864" marR="54864" marT="18288" marB="18288">
                    <a:solidFill>
                      <a:srgbClr val="EBE2D2"/>
                    </a:solidFill>
                  </a:tcPr>
                </a:tc>
                <a:tc>
                  <a:txBody>
                    <a:bodyPr/>
                    <a:lstStyle/>
                    <a:p>
                      <a:r>
                        <a:rPr sz="1380" b="1" i="0" u="none">
                          <a:solidFill>
                            <a:srgbClr val="1C2B3A"/>
                          </a:solidFill>
                          <a:latin typeface="IBM Plex Mono"/>
                        </a:rPr>
                        <a:t>Plaetze</a:t>
                      </a:r>
                    </a:p>
                  </a:txBody>
                  <a:tcPr marL="54864" marR="54864" marT="18288" marB="18288">
                    <a:solidFill>
                      <a:srgbClr val="EBE2D2"/>
                    </a:solidFill>
                  </a:tcPr>
                </a:tc>
                <a:tc>
                  <a:txBody>
                    <a:bodyPr/>
                    <a:lstStyle/>
                    <a:p>
                      <a:r>
                        <a:rPr sz="1380" b="1" i="0" u="none">
                          <a:solidFill>
                            <a:srgbClr val="1C2B3A"/>
                          </a:solidFill>
                          <a:latin typeface="IBM Plex Mono"/>
                        </a:rPr>
                        <a:t>Name</a:t>
                      </a:r>
                    </a:p>
                  </a:txBody>
                  <a:tcPr marL="54864" marR="54864" marT="18288" marB="18288">
                    <a:solidFill>
                      <a:srgbClr val="EBE2D2"/>
                    </a:solidFill>
                  </a:tcPr>
                </a:tc>
                <a:tc>
                  <a:txBody>
                    <a:bodyPr/>
                    <a:lstStyle/>
                    <a:p>
                      <a:r>
                        <a:rPr sz="1380" b="1" i="0" u="none">
                          <a:solidFill>
                            <a:srgbClr val="1C2B3A"/>
                          </a:solidFill>
                          <a:latin typeface="IBM Plex Mono"/>
                        </a:rPr>
                        <a:t>Klasse</a:t>
                      </a:r>
                    </a:p>
                  </a:txBody>
                  <a:tcPr marL="54864" marR="54864" marT="18288" marB="18288">
                    <a:solidFill>
                      <a:srgbClr val="EBE2D2"/>
                    </a:solidFill>
                  </a:tcPr>
                </a:tc>
              </a:tr>
              <a:tr h="295275">
                <a:tc>
                  <a:txBody>
                    <a:bodyPr/>
                    <a:lstStyle/>
                    <a:p>
                      <a:pPr algn="r"/>
                      <a:r>
                        <a:rPr sz="1500" b="0" i="0" u="none">
                          <a:solidFill>
                            <a:srgbClr val="1C2B3A"/>
                          </a:solidFill>
                          <a:latin typeface="Barlow"/>
                        </a:rPr>
                        <a:t>5</a:t>
                      </a:r>
                    </a:p>
                  </a:txBody>
                  <a:tcPr marL="54864" marR="54864" marT="18288" marB="18288">
                    <a:solidFill>
                      <a:srgbClr val="FFFDF8"/>
                    </a:solidFill>
                  </a:tcPr>
                </a:tc>
                <a:tc>
                  <a:txBody>
                    <a:bodyPr/>
                    <a:lstStyle/>
                    <a:p>
                      <a:r>
                        <a:rPr sz="1500" b="0" i="0" u="none">
                          <a:solidFill>
                            <a:srgbClr val="1C2B3A"/>
                          </a:solidFill>
                          <a:latin typeface="Barlow"/>
                        </a:rPr>
                        <a:t>2026-05-08</a:t>
                      </a:r>
                    </a:p>
                  </a:txBody>
                  <a:tcPr marL="54864" marR="54864" marT="18288" marB="18288">
                    <a:solidFill>
                      <a:srgbClr val="FFFDF8"/>
                    </a:solidFill>
                  </a:tcPr>
                </a:tc>
                <a:tc>
                  <a:txBody>
                    <a:bodyPr/>
                    <a:lstStyle/>
                    <a:p>
                      <a:r>
                        <a:rPr sz="1500" b="0" i="0" u="none">
                          <a:solidFill>
                            <a:srgbClr val="1C2B3A"/>
                          </a:solidFill>
                          <a:latin typeface="Barlow"/>
                        </a:rPr>
                        <a:t>K1</a:t>
                      </a:r>
                    </a:p>
                  </a:txBody>
                  <a:tcPr marL="54864" marR="54864" marT="18288" marB="18288">
                    <a:solidFill>
                      <a:srgbClr val="FFFDF8"/>
                    </a:solidFill>
                  </a:tcPr>
                </a:tc>
                <a:tc>
                  <a:txBody>
                    <a:bodyPr/>
                    <a:lstStyle/>
                    <a:p>
                      <a:r>
                        <a:rPr sz="1500" b="0" i="0" u="none">
                          <a:solidFill>
                            <a:srgbClr val="1C2B3A"/>
                          </a:solidFill>
                          <a:latin typeface="Barlow"/>
                        </a:rPr>
                        <a:t>Zweier</a:t>
                      </a:r>
                    </a:p>
                  </a:txBody>
                  <a:tcPr marL="54864" marR="54864" marT="18288" marB="18288">
                    <a:solidFill>
                      <a:srgbClr val="FFFDF8"/>
                    </a:solidFill>
                  </a:tcPr>
                </a:tc>
                <a:tc>
                  <a:txBody>
                    <a:bodyPr/>
                    <a:lstStyle/>
                    <a:p>
                      <a:pPr algn="r"/>
                      <a:r>
                        <a:rPr sz="1500" b="0" i="0" u="none">
                          <a:solidFill>
                            <a:srgbClr val="1C2B3A"/>
                          </a:solidFill>
                          <a:latin typeface="Barlow"/>
                        </a:rPr>
                        <a:t>2</a:t>
                      </a:r>
                    </a:p>
                  </a:txBody>
                  <a:tcPr marL="54864" marR="54864" marT="18288" marB="18288">
                    <a:solidFill>
                      <a:srgbClr val="FFFDF8"/>
                    </a:solidFill>
                  </a:tcPr>
                </a:tc>
                <a:tc>
                  <a:txBody>
                    <a:bodyPr/>
                    <a:lstStyle/>
                    <a:p>
                      <a:r>
                        <a:rPr sz="1500" b="0" i="0" u="none">
                          <a:solidFill>
                            <a:srgbClr val="1C2B3A"/>
                          </a:solidFill>
                          <a:latin typeface="Barlow"/>
                        </a:rPr>
                        <a:t>Rieke Haake</a:t>
                      </a:r>
                    </a:p>
                  </a:txBody>
                  <a:tcPr marL="54864" marR="54864" marT="18288" marB="18288">
                    <a:solidFill>
                      <a:srgbClr val="FFFDF8"/>
                    </a:solidFill>
                  </a:tcPr>
                </a:tc>
                <a:tc>
                  <a:txBody>
                    <a:bodyPr/>
                    <a:lstStyle/>
                    <a:p>
                      <a:r>
                        <a:rPr sz="1500" b="0" i="0" u="none">
                          <a:solidFill>
                            <a:srgbClr val="1C2B3A"/>
                          </a:solidFill>
                          <a:latin typeface="Barlow"/>
                        </a:rPr>
                        <a:t>9b</a:t>
                      </a:r>
                    </a:p>
                  </a:txBody>
                  <a:tcPr marL="54864" marR="54864" marT="18288" marB="18288">
                    <a:solidFill>
                      <a:srgbClr val="FFFDF8"/>
                    </a:solidFill>
                  </a:tcPr>
                </a:tc>
              </a:tr>
              <a:tr h="295275">
                <a:tc>
                  <a:txBody>
                    <a:bodyPr/>
                    <a:lstStyle/>
                    <a:p>
                      <a:pPr algn="r"/>
                      <a:r>
                        <a:rPr sz="1500" b="0" i="0" u="none">
                          <a:solidFill>
                            <a:srgbClr val="1C2B3A"/>
                          </a:solidFill>
                          <a:latin typeface="Barlow"/>
                        </a:rPr>
                        <a:t>7</a:t>
                      </a:r>
                    </a:p>
                  </a:txBody>
                  <a:tcPr marL="54864" marR="54864" marT="18288" marB="18288">
                    <a:solidFill>
                      <a:srgbClr val="FFFDF8"/>
                    </a:solidFill>
                  </a:tcPr>
                </a:tc>
                <a:tc>
                  <a:txBody>
                    <a:bodyPr/>
                    <a:lstStyle/>
                    <a:p>
                      <a:r>
                        <a:rPr sz="1500" b="0" i="0" u="none">
                          <a:solidFill>
                            <a:srgbClr val="1C2B3A"/>
                          </a:solidFill>
                          <a:latin typeface="Barlow"/>
                        </a:rPr>
                        <a:t>2026-05-08</a:t>
                      </a:r>
                    </a:p>
                  </a:txBody>
                  <a:tcPr marL="54864" marR="54864" marT="18288" marB="18288">
                    <a:solidFill>
                      <a:srgbClr val="FFFDF8"/>
                    </a:solidFill>
                  </a:tcPr>
                </a:tc>
                <a:tc>
                  <a:txBody>
                    <a:bodyPr/>
                    <a:lstStyle/>
                    <a:p>
                      <a:r>
                        <a:rPr sz="1500" b="0" i="0" u="none">
                          <a:solidFill>
                            <a:srgbClr val="1C2B3A"/>
                          </a:solidFill>
                          <a:latin typeface="Barlow"/>
                        </a:rPr>
                        <a:t>K3</a:t>
                      </a:r>
                    </a:p>
                  </a:txBody>
                  <a:tcPr marL="54864" marR="54864" marT="18288" marB="18288">
                    <a:solidFill>
                      <a:srgbClr val="FFFDF8"/>
                    </a:solidFill>
                  </a:tcPr>
                </a:tc>
                <a:tc>
                  <a:txBody>
                    <a:bodyPr/>
                    <a:lstStyle/>
                    <a:p>
                      <a:r>
                        <a:rPr sz="1500" b="0" i="0" u="none">
                          <a:solidFill>
                            <a:srgbClr val="1C2B3A"/>
                          </a:solidFill>
                          <a:latin typeface="Barlow"/>
                        </a:rPr>
                        <a:t>Zweier</a:t>
                      </a:r>
                    </a:p>
                  </a:txBody>
                  <a:tcPr marL="54864" marR="54864" marT="18288" marB="18288">
                    <a:solidFill>
                      <a:srgbClr val="FFFDF8"/>
                    </a:solidFill>
                  </a:tcPr>
                </a:tc>
                <a:tc>
                  <a:txBody>
                    <a:bodyPr/>
                    <a:lstStyle/>
                    <a:p>
                      <a:pPr algn="r"/>
                      <a:r>
                        <a:rPr sz="1500" b="0" i="0" u="none">
                          <a:solidFill>
                            <a:srgbClr val="1C2B3A"/>
                          </a:solidFill>
                          <a:latin typeface="Barlow"/>
                        </a:rPr>
                        <a:t>2</a:t>
                      </a:r>
                    </a:p>
                  </a:txBody>
                  <a:tcPr marL="54864" marR="54864" marT="18288" marB="18288">
                    <a:solidFill>
                      <a:srgbClr val="FFFDF8"/>
                    </a:solidFill>
                  </a:tcPr>
                </a:tc>
                <a:tc>
                  <a:txBody>
                    <a:bodyPr/>
                    <a:lstStyle/>
                    <a:p>
                      <a:r>
                        <a:rPr sz="1500" b="0" i="0" u="none">
                          <a:solidFill>
                            <a:srgbClr val="1C2B3A"/>
                          </a:solidFill>
                          <a:latin typeface="Barlow"/>
                        </a:rPr>
                        <a:t>Rieke Haake</a:t>
                      </a:r>
                    </a:p>
                  </a:txBody>
                  <a:tcPr marL="54864" marR="54864" marT="18288" marB="18288">
                    <a:solidFill>
                      <a:srgbClr val="FFFDF8"/>
                    </a:solidFill>
                  </a:tcPr>
                </a:tc>
                <a:tc>
                  <a:txBody>
                    <a:bodyPr/>
                    <a:lstStyle/>
                    <a:p>
                      <a:r>
                        <a:rPr sz="1500" b="0" i="0" u="none">
                          <a:solidFill>
                            <a:srgbClr val="1C2B3A"/>
                          </a:solidFill>
                          <a:latin typeface="Barlow"/>
                        </a:rPr>
                        <a:t>9b</a:t>
                      </a:r>
                    </a:p>
                  </a:txBody>
                  <a:tcPr marL="54864" marR="54864" marT="18288" marB="18288">
                    <a:solidFill>
                      <a:srgbClr val="FFFDF8"/>
                    </a:solidFill>
                  </a:tcPr>
                </a:tc>
              </a:tr>
            </a:tbl>
          </a:graphicData>
        </a:graphic>
      </p:graphicFrame>
      <p:sp>
        <p:nvSpPr>
          <p:cNvPr id="15" name="TextBox 14"/>
          <p:cNvSpPr txBox="1"/>
          <p:nvPr/>
        </p:nvSpPr>
        <p:spPr>
          <a:xfrm>
            <a:off x="548640" y="3699128"/>
            <a:ext cx="7178040" cy="682751"/>
          </a:xfrm>
          <a:prstGeom prst="rect">
            <a:avLst/>
          </a:prstGeom>
          <a:noFill/>
        </p:spPr>
        <p:txBody>
          <a:bodyPr wrap="square" lIns="27432" rIns="27432" tIns="27432" bIns="27432">
            <a:spAutoFit/>
          </a:bodyPr>
          <a:lstStyle/>
          <a:p>
            <a:pPr>
              <a:lnSpc>
                <a:spcPct val="105000"/>
              </a:lnSpc>
              <a:spcAft>
                <a:spcPts val="400"/>
              </a:spcAft>
            </a:pPr>
            <a:r>
              <a:rPr sz="2000" b="0" i="0" u="none">
                <a:solidFill>
                  <a:srgbClr val="E8E1D3"/>
                </a:solidFill>
                <a:latin typeface="Barlow"/>
              </a:rPr>
              <a:t>Rieke war am 8. Mai zweimal paddeln – (Datum, Name) ist </a:t>
            </a:r>
            <a:r>
              <a:rPr sz="2000" b="1" i="0" u="none">
                <a:solidFill>
                  <a:srgbClr val="E8E1D3"/>
                </a:solidFill>
                <a:latin typeface="Barlow"/>
              </a:rPr>
              <a:t>kein</a:t>
            </a:r>
            <a:r>
              <a:rPr sz="2000" b="0" i="0" u="none">
                <a:solidFill>
                  <a:srgbClr val="E8E1D3"/>
                </a:solidFill>
                <a:latin typeface="Barlow"/>
              </a:rPr>
              <a:t> Schlüssel.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4 · AKTE 4 · CHAOS IM VEREINSARCHIV</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Zerlegen: jede Information genau einmal</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9</a:t>
            </a:r>
          </a:p>
        </p:txBody>
      </p:sp>
      <p:sp>
        <p:nvSpPr>
          <p:cNvPr id="8" name="Rounded Rectangle 7"/>
          <p:cNvSpPr/>
          <p:nvPr/>
        </p:nvSpPr>
        <p:spPr>
          <a:xfrm>
            <a:off x="6949440" y="1691640"/>
            <a:ext cx="4693615" cy="1680667"/>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132320" y="1801368"/>
            <a:ext cx="4327855" cy="1497787"/>
          </a:xfrm>
          <a:prstGeom prst="rect">
            <a:avLst/>
          </a:prstGeom>
          <a:noFill/>
        </p:spPr>
        <p:txBody>
          <a:bodyPr wrap="square" lIns="27432" rIns="27432" tIns="27432" bIns="27432">
            <a:spAutoFit/>
          </a:bodyPr>
          <a:lstStyle/>
          <a:p>
            <a:pPr>
              <a:lnSpc>
                <a:spcPct val="105000"/>
              </a:lnSpc>
              <a:spcAft>
                <a:spcPts val="400"/>
              </a:spcAft>
            </a:pPr>
            <a:r>
              <a:rPr sz="1100" b="1" i="0" u="none">
                <a:solidFill>
                  <a:srgbClr val="58626D"/>
                </a:solidFill>
                <a:latin typeface="IBM Plex Mono"/>
              </a:rPr>
              <a:t>RELATIONENSCHEMA</a:t>
            </a:r>
          </a:p>
          <a:p>
            <a:pPr>
              <a:lnSpc>
                <a:spcPct val="105000"/>
              </a:lnSpc>
              <a:spcAft>
                <a:spcPts val="500"/>
              </a:spcAft>
            </a:pPr>
            <a:r>
              <a:rPr sz="1380" b="0" i="0" u="none">
                <a:solidFill>
                  <a:srgbClr val="1C2B3A"/>
                </a:solidFill>
                <a:latin typeface="IBM Plex Mono"/>
              </a:rPr>
              <a:t>Kanu(</a:t>
            </a:r>
            <a:r>
              <a:rPr sz="1380" b="0" i="0" u="sng">
                <a:solidFill>
                  <a:srgbClr val="1C2B3A"/>
                </a:solidFill>
                <a:latin typeface="IBM Plex Mono"/>
              </a:rPr>
              <a:t>KanuNr</a:t>
            </a:r>
            <a:r>
              <a:rPr sz="1380" b="0" i="0" u="none">
                <a:solidFill>
                  <a:srgbClr val="1C2B3A"/>
                </a:solidFill>
                <a:latin typeface="IBM Plex Mono"/>
              </a:rPr>
              <a:t>, Typ, Plaetze)</a:t>
            </a:r>
          </a:p>
          <a:p>
            <a:pPr>
              <a:lnSpc>
                <a:spcPct val="105000"/>
              </a:lnSpc>
              <a:spcAft>
                <a:spcPts val="500"/>
              </a:spcAft>
            </a:pPr>
            <a:r>
              <a:rPr sz="1380" b="0" i="0" u="none">
                <a:solidFill>
                  <a:srgbClr val="1C2B3A"/>
                </a:solidFill>
                <a:latin typeface="IBM Plex Mono"/>
              </a:rPr>
              <a:t>Person(</a:t>
            </a:r>
            <a:r>
              <a:rPr sz="1380" b="0" i="0" u="sng">
                <a:solidFill>
                  <a:srgbClr val="1C2B3A"/>
                </a:solidFill>
                <a:latin typeface="IBM Plex Mono"/>
              </a:rPr>
              <a:t>PersonNr</a:t>
            </a:r>
            <a:r>
              <a:rPr sz="1380" b="0" i="0" u="none">
                <a:solidFill>
                  <a:srgbClr val="1C2B3A"/>
                </a:solidFill>
                <a:latin typeface="IBM Plex Mono"/>
              </a:rPr>
              <a:t>, Name, Klasse)</a:t>
            </a:r>
          </a:p>
          <a:p>
            <a:pPr>
              <a:lnSpc>
                <a:spcPct val="105000"/>
              </a:lnSpc>
              <a:spcAft>
                <a:spcPts val="500"/>
              </a:spcAft>
            </a:pPr>
            <a:r>
              <a:rPr sz="1380" b="0" i="0" u="none">
                <a:solidFill>
                  <a:srgbClr val="1C2B3A"/>
                </a:solidFill>
                <a:latin typeface="IBM Plex Mono"/>
              </a:rPr>
              <a:t>Ausleihe(</a:t>
            </a:r>
            <a:r>
              <a:rPr sz="1380" b="0" i="0" u="sng">
                <a:solidFill>
                  <a:srgbClr val="1C2B3A"/>
                </a:solidFill>
                <a:latin typeface="IBM Plex Mono"/>
              </a:rPr>
              <a:t>AusleihNr</a:t>
            </a:r>
            <a:r>
              <a:rPr sz="1380" b="0" i="0" u="none">
                <a:solidFill>
                  <a:srgbClr val="1C2B3A"/>
                </a:solidFill>
                <a:latin typeface="IBM Plex Mono"/>
              </a:rPr>
              <a:t>, Datum, </a:t>
            </a:r>
            <a:r>
              <a:rPr sz="1380" b="0" i="0" u="none">
                <a:solidFill>
                  <a:srgbClr val="B3261E"/>
                </a:solidFill>
                <a:latin typeface="IBM Plex Mono"/>
              </a:rPr>
              <a:t>↑</a:t>
            </a:r>
            <a:r>
              <a:rPr sz="1380" b="0" i="0" u="none">
                <a:solidFill>
                  <a:srgbClr val="1C2B3A"/>
                </a:solidFill>
                <a:latin typeface="IBM Plex Mono"/>
              </a:rPr>
              <a:t>KanuNr, </a:t>
            </a:r>
            <a:r>
              <a:rPr sz="1380" b="0" i="0" u="none">
                <a:solidFill>
                  <a:srgbClr val="B3261E"/>
                </a:solidFill>
                <a:latin typeface="IBM Plex Mono"/>
              </a:rPr>
              <a:t>↑</a:t>
            </a:r>
            <a:r>
              <a:rPr sz="1380" b="0" i="0" u="none">
                <a:solidFill>
                  <a:srgbClr val="1C2B3A"/>
                </a:solidFill>
                <a:latin typeface="IBM Plex Mono"/>
              </a:rPr>
              <a:t>PersonNr)</a:t>
            </a:r>
          </a:p>
        </p:txBody>
      </p:sp>
      <p:pic>
        <p:nvPicPr>
          <p:cNvPr id="10" name="Bild werkbank" descr="werkbank.png"/>
          <p:cNvPicPr>
            <a:picLocks noChangeAspect="1"/>
          </p:cNvPicPr>
          <p:nvPr/>
        </p:nvPicPr>
        <p:blipFill>
          <a:blip r:embed="rId3"/>
          <a:stretch>
            <a:fillRect/>
          </a:stretch>
        </p:blipFill>
        <p:spPr>
          <a:xfrm>
            <a:off x="548640" y="1691640"/>
            <a:ext cx="6126480" cy="2789528"/>
          </a:xfrm>
          <a:prstGeom prst="rect">
            <a:avLst/>
          </a:prstGeom>
          <a:ln w="9525">
            <a:solidFill>
              <a:srgbClr val="BDB6A9"/>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4 · AKTE 4 · CHAOS IM VEREINSARCHIV</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Die Fallen dieses Videos</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10</a:t>
            </a:r>
          </a:p>
        </p:txBody>
      </p:sp>
      <p:sp>
        <p:nvSpPr>
          <p:cNvPr id="8" name="Rounded Rectangle 7"/>
          <p:cNvSpPr/>
          <p:nvPr/>
        </p:nvSpPr>
        <p:spPr>
          <a:xfrm>
            <a:off x="548640" y="1691640"/>
            <a:ext cx="7772400" cy="944879"/>
          </a:xfrm>
          <a:prstGeom prst="roundRect">
            <a:avLst>
              <a:gd name="adj" fmla="val 4000"/>
            </a:avLst>
          </a:prstGeom>
          <a:solidFill>
            <a:srgbClr val="F4EDE1"/>
          </a:solidFill>
          <a:ln w="1905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Falle P8"/>
          <p:cNvSpPr/>
          <p:nvPr/>
        </p:nvSpPr>
        <p:spPr>
          <a:xfrm>
            <a:off x="685800" y="1828800"/>
            <a:ext cx="685800" cy="384048"/>
          </a:xfrm>
          <a:prstGeom prst="roundRect">
            <a:avLst>
              <a:gd name="adj" fmla="val 4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1847088"/>
            <a:ext cx="685800" cy="347472"/>
          </a:xfrm>
          <a:prstGeom prst="rect">
            <a:avLst/>
          </a:prstGeom>
          <a:noFill/>
        </p:spPr>
        <p:txBody>
          <a:bodyPr wrap="square" lIns="27432" rIns="27432" tIns="27432" bIns="27432">
            <a:spAutoFit/>
          </a:bodyPr>
          <a:lstStyle/>
          <a:p>
            <a:pPr algn="ctr">
              <a:lnSpc>
                <a:spcPct val="105000"/>
              </a:lnSpc>
              <a:spcAft>
                <a:spcPts val="400"/>
              </a:spcAft>
            </a:pPr>
            <a:r>
              <a:rPr sz="1500" b="1" i="0" u="none">
                <a:solidFill>
                  <a:srgbClr val="FFFDF8"/>
                </a:solidFill>
                <a:latin typeface="Barlow"/>
              </a:rPr>
              <a:t>P8</a:t>
            </a:r>
          </a:p>
        </p:txBody>
      </p:sp>
      <p:sp>
        <p:nvSpPr>
          <p:cNvPr id="11" name="TextBox 10"/>
          <p:cNvSpPr txBox="1"/>
          <p:nvPr/>
        </p:nvSpPr>
        <p:spPr>
          <a:xfrm>
            <a:off x="1508760" y="1783080"/>
            <a:ext cx="6675120" cy="807719"/>
          </a:xfrm>
          <a:prstGeom prst="rect">
            <a:avLst/>
          </a:prstGeom>
          <a:noFill/>
        </p:spPr>
        <p:txBody>
          <a:bodyPr wrap="square" lIns="27432" rIns="27432" tIns="27432" bIns="27432">
            <a:spAutoFit/>
          </a:bodyPr>
          <a:lstStyle/>
          <a:p>
            <a:pPr>
              <a:lnSpc>
                <a:spcPct val="105000"/>
              </a:lnSpc>
              <a:spcAft>
                <a:spcPts val="200"/>
              </a:spcAft>
            </a:pPr>
            <a:r>
              <a:rPr sz="1700" b="1" i="0" u="none">
                <a:solidFill>
                  <a:srgbClr val="1C2B3A"/>
                </a:solidFill>
                <a:latin typeface="Barlow"/>
              </a:rPr>
              <a:t>Schlüssel falsch beurteilt</a:t>
            </a:r>
          </a:p>
          <a:p>
            <a:pPr>
              <a:lnSpc>
                <a:spcPct val="105000"/>
              </a:lnSpc>
              <a:spcAft>
                <a:spcPts val="400"/>
              </a:spcAft>
            </a:pPr>
            <a:r>
              <a:rPr sz="1600" b="0" i="0" u="none">
                <a:solidFill>
                  <a:srgbClr val="1C2B3A"/>
                </a:solidFill>
                <a:latin typeface="Barlow"/>
              </a:rPr>
              <a:t>Eindeutigkeit aus dem Ausschnitt geschlossen; NULL im Schlüssel; nicht minimal; Mehrfachvorkommen übersehen.</a:t>
            </a:r>
          </a:p>
        </p:txBody>
      </p:sp>
      <p:sp>
        <p:nvSpPr>
          <p:cNvPr id="12" name="Rounded Rectangle 11"/>
          <p:cNvSpPr/>
          <p:nvPr/>
        </p:nvSpPr>
        <p:spPr>
          <a:xfrm>
            <a:off x="548640" y="2746248"/>
            <a:ext cx="7772400" cy="944879"/>
          </a:xfrm>
          <a:prstGeom prst="roundRect">
            <a:avLst>
              <a:gd name="adj" fmla="val 4000"/>
            </a:avLst>
          </a:prstGeom>
          <a:solidFill>
            <a:srgbClr val="F4EDE1"/>
          </a:solidFill>
          <a:ln w="1905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Falle P10"/>
          <p:cNvSpPr/>
          <p:nvPr/>
        </p:nvSpPr>
        <p:spPr>
          <a:xfrm>
            <a:off x="685800" y="2883408"/>
            <a:ext cx="685800" cy="384048"/>
          </a:xfrm>
          <a:prstGeom prst="roundRect">
            <a:avLst>
              <a:gd name="adj" fmla="val 4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5800" y="2901696"/>
            <a:ext cx="685800" cy="347472"/>
          </a:xfrm>
          <a:prstGeom prst="rect">
            <a:avLst/>
          </a:prstGeom>
          <a:noFill/>
        </p:spPr>
        <p:txBody>
          <a:bodyPr wrap="square" lIns="27432" rIns="27432" tIns="27432" bIns="27432">
            <a:spAutoFit/>
          </a:bodyPr>
          <a:lstStyle/>
          <a:p>
            <a:pPr algn="ctr">
              <a:lnSpc>
                <a:spcPct val="105000"/>
              </a:lnSpc>
              <a:spcAft>
                <a:spcPts val="400"/>
              </a:spcAft>
            </a:pPr>
            <a:r>
              <a:rPr sz="1500" b="1" i="0" u="none">
                <a:solidFill>
                  <a:srgbClr val="FFFDF8"/>
                </a:solidFill>
                <a:latin typeface="Barlow"/>
              </a:rPr>
              <a:t>P10</a:t>
            </a:r>
          </a:p>
        </p:txBody>
      </p:sp>
      <p:sp>
        <p:nvSpPr>
          <p:cNvPr id="15" name="TextBox 14"/>
          <p:cNvSpPr txBox="1"/>
          <p:nvPr/>
        </p:nvSpPr>
        <p:spPr>
          <a:xfrm>
            <a:off x="1508760" y="2837688"/>
            <a:ext cx="6675120" cy="807719"/>
          </a:xfrm>
          <a:prstGeom prst="rect">
            <a:avLst/>
          </a:prstGeom>
          <a:noFill/>
        </p:spPr>
        <p:txBody>
          <a:bodyPr wrap="square" lIns="27432" rIns="27432" tIns="27432" bIns="27432">
            <a:spAutoFit/>
          </a:bodyPr>
          <a:lstStyle/>
          <a:p>
            <a:pPr>
              <a:lnSpc>
                <a:spcPct val="105000"/>
              </a:lnSpc>
              <a:spcAft>
                <a:spcPts val="200"/>
              </a:spcAft>
            </a:pPr>
            <a:r>
              <a:rPr sz="1700" b="1" i="0" u="none">
                <a:solidFill>
                  <a:srgbClr val="1C2B3A"/>
                </a:solidFill>
                <a:latin typeface="Barlow"/>
              </a:rPr>
              <a:t>Operator verfehlt</a:t>
            </a:r>
          </a:p>
          <a:p>
            <a:pPr>
              <a:lnSpc>
                <a:spcPct val="105000"/>
              </a:lnSpc>
              <a:spcAft>
                <a:spcPts val="400"/>
              </a:spcAft>
            </a:pPr>
            <a:r>
              <a:rPr sz="1600" b="0" i="0" u="none">
                <a:solidFill>
                  <a:srgbClr val="1C2B3A"/>
                </a:solidFill>
                <a:latin typeface="Barlow"/>
              </a:rPr>
              <a:t>Anomalie nur benannt statt am Datensatz erläutert; „begründen“ ohne Begründung; Analyse ohne Sachzusammenhang.</a:t>
            </a:r>
          </a:p>
        </p:txBody>
      </p:sp>
      <p:sp>
        <p:nvSpPr>
          <p:cNvPr id="16" name="Rounded Rectangle 15"/>
          <p:cNvSpPr/>
          <p:nvPr/>
        </p:nvSpPr>
        <p:spPr>
          <a:xfrm>
            <a:off x="548640" y="3800856"/>
            <a:ext cx="7772400" cy="944879"/>
          </a:xfrm>
          <a:prstGeom prst="roundRect">
            <a:avLst>
              <a:gd name="adj" fmla="val 4000"/>
            </a:avLst>
          </a:prstGeom>
          <a:solidFill>
            <a:srgbClr val="F4EDE1"/>
          </a:solidFill>
          <a:ln w="1905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Falle P9"/>
          <p:cNvSpPr/>
          <p:nvPr/>
        </p:nvSpPr>
        <p:spPr>
          <a:xfrm>
            <a:off x="685800" y="3938016"/>
            <a:ext cx="685800" cy="384048"/>
          </a:xfrm>
          <a:prstGeom prst="roundRect">
            <a:avLst>
              <a:gd name="adj" fmla="val 4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85800" y="3956304"/>
            <a:ext cx="685800" cy="347472"/>
          </a:xfrm>
          <a:prstGeom prst="rect">
            <a:avLst/>
          </a:prstGeom>
          <a:noFill/>
        </p:spPr>
        <p:txBody>
          <a:bodyPr wrap="square" lIns="27432" rIns="27432" tIns="27432" bIns="27432">
            <a:spAutoFit/>
          </a:bodyPr>
          <a:lstStyle/>
          <a:p>
            <a:pPr algn="ctr">
              <a:lnSpc>
                <a:spcPct val="105000"/>
              </a:lnSpc>
              <a:spcAft>
                <a:spcPts val="400"/>
              </a:spcAft>
            </a:pPr>
            <a:r>
              <a:rPr sz="1500" b="1" i="0" u="none">
                <a:solidFill>
                  <a:srgbClr val="FFFDF8"/>
                </a:solidFill>
                <a:latin typeface="Barlow"/>
              </a:rPr>
              <a:t>P9</a:t>
            </a:r>
          </a:p>
        </p:txBody>
      </p:sp>
      <p:sp>
        <p:nvSpPr>
          <p:cNvPr id="19" name="TextBox 18"/>
          <p:cNvSpPr txBox="1"/>
          <p:nvPr/>
        </p:nvSpPr>
        <p:spPr>
          <a:xfrm>
            <a:off x="1508760" y="3892296"/>
            <a:ext cx="6675120" cy="807719"/>
          </a:xfrm>
          <a:prstGeom prst="rect">
            <a:avLst/>
          </a:prstGeom>
          <a:noFill/>
        </p:spPr>
        <p:txBody>
          <a:bodyPr wrap="square" lIns="27432" rIns="27432" tIns="27432" bIns="27432">
            <a:spAutoFit/>
          </a:bodyPr>
          <a:lstStyle/>
          <a:p>
            <a:pPr>
              <a:lnSpc>
                <a:spcPct val="105000"/>
              </a:lnSpc>
              <a:spcAft>
                <a:spcPts val="200"/>
              </a:spcAft>
            </a:pPr>
            <a:r>
              <a:rPr sz="1700" b="1" i="0" u="none">
                <a:solidFill>
                  <a:srgbClr val="1C2B3A"/>
                </a:solidFill>
                <a:latin typeface="Barlow"/>
              </a:rPr>
              <a:t>Zerlegung fehlerhaft</a:t>
            </a:r>
          </a:p>
          <a:p>
            <a:pPr>
              <a:lnSpc>
                <a:spcPct val="105000"/>
              </a:lnSpc>
              <a:spcAft>
                <a:spcPts val="400"/>
              </a:spcAft>
            </a:pPr>
            <a:r>
              <a:rPr sz="1600" b="0" i="0" u="none">
                <a:solidFill>
                  <a:srgbClr val="1C2B3A"/>
                </a:solidFill>
                <a:latin typeface="Barlow"/>
              </a:rPr>
              <a:t>Fremdschlüssel auf der falschen Seite oder vergessen – die Relationen lassen sich nicht mehr verbinden.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4 · AKTE 4 · CHAOS IM VEREINSARCHIV</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Das nimmst du mit</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11</a:t>
            </a:r>
          </a:p>
        </p:txBody>
      </p:sp>
      <p:sp>
        <p:nvSpPr>
          <p:cNvPr id="8" name="Rounded Rectangle 7"/>
          <p:cNvSpPr/>
          <p:nvPr/>
        </p:nvSpPr>
        <p:spPr>
          <a:xfrm>
            <a:off x="548640" y="1691640"/>
            <a:ext cx="7772400" cy="4137660"/>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91640"/>
            <a:ext cx="73152" cy="4137660"/>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1783080"/>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ERMITTLER-NOTIZ</a:t>
            </a:r>
          </a:p>
        </p:txBody>
      </p:sp>
      <p:sp>
        <p:nvSpPr>
          <p:cNvPr id="11" name="TextBox 10"/>
          <p:cNvSpPr txBox="1"/>
          <p:nvPr/>
        </p:nvSpPr>
        <p:spPr>
          <a:xfrm>
            <a:off x="822959" y="2148840"/>
            <a:ext cx="7360920" cy="3634740"/>
          </a:xfrm>
          <a:prstGeom prst="rect">
            <a:avLst/>
          </a:prstGeom>
          <a:noFill/>
        </p:spPr>
        <p:txBody>
          <a:bodyPr wrap="square" lIns="27432" rIns="27432" tIns="27432" bIns="27432">
            <a:spAutoFit/>
          </a:bodyPr>
          <a:lstStyle/>
          <a:p>
            <a:pPr>
              <a:lnSpc>
                <a:spcPct val="105000"/>
              </a:lnSpc>
              <a:spcAft>
                <a:spcPts val="300"/>
              </a:spcAft>
            </a:pPr>
            <a:r>
              <a:rPr sz="1995" b="1">
                <a:solidFill>
                  <a:srgbClr val="2C5A85"/>
                </a:solidFill>
                <a:latin typeface="Barlow"/>
              </a:rPr>
              <a:t>▸  </a:t>
            </a:r>
            <a:r>
              <a:rPr sz="1995" b="0" i="0" u="none">
                <a:solidFill>
                  <a:srgbClr val="1C2B3A"/>
                </a:solidFill>
                <a:latin typeface="Barlow"/>
              </a:rPr>
              <a:t>Redundanz = dieselbe Information mehrfach gespeichert – sie verursacht Anomalien.</a:t>
            </a:r>
          </a:p>
          <a:p>
            <a:pPr>
              <a:lnSpc>
                <a:spcPct val="105000"/>
              </a:lnSpc>
              <a:spcAft>
                <a:spcPts val="300"/>
              </a:spcAft>
            </a:pPr>
            <a:r>
              <a:rPr sz="1995" b="1">
                <a:solidFill>
                  <a:srgbClr val="2C5A85"/>
                </a:solidFill>
                <a:latin typeface="Barlow"/>
              </a:rPr>
              <a:t>▸  </a:t>
            </a:r>
            <a:r>
              <a:rPr sz="1995" b="0" i="0" u="none">
                <a:solidFill>
                  <a:srgbClr val="1C2B3A"/>
                </a:solidFill>
                <a:latin typeface="Barlow"/>
              </a:rPr>
              <a:t>Änderung: mehrere Stellen ändern; Einfügen: Daten passen nicht ohne andere; Löschen: Information geht mit verloren.</a:t>
            </a:r>
          </a:p>
          <a:p>
            <a:pPr>
              <a:lnSpc>
                <a:spcPct val="105000"/>
              </a:lnSpc>
              <a:spcAft>
                <a:spcPts val="300"/>
              </a:spcAft>
            </a:pPr>
            <a:r>
              <a:rPr sz="1995" b="1">
                <a:solidFill>
                  <a:srgbClr val="2C5A85"/>
                </a:solidFill>
                <a:latin typeface="Barlow"/>
              </a:rPr>
              <a:t>▸  </a:t>
            </a:r>
            <a:r>
              <a:rPr sz="1995" b="0" i="0" u="none">
                <a:solidFill>
                  <a:srgbClr val="1C2B3A"/>
                </a:solidFill>
                <a:latin typeface="Barlow"/>
              </a:rPr>
              <a:t>Anomalien immer am Datensatz erläutern: Zeilen, Ursache, Folge.</a:t>
            </a:r>
          </a:p>
          <a:p>
            <a:pPr>
              <a:lnSpc>
                <a:spcPct val="105000"/>
              </a:lnSpc>
              <a:spcAft>
                <a:spcPts val="300"/>
              </a:spcAft>
            </a:pPr>
            <a:r>
              <a:rPr sz="1995" b="1">
                <a:solidFill>
                  <a:srgbClr val="2C5A85"/>
                </a:solidFill>
                <a:latin typeface="Barlow"/>
              </a:rPr>
              <a:t>▸  </a:t>
            </a:r>
            <a:r>
              <a:rPr sz="1995" b="0" i="0" u="none">
                <a:solidFill>
                  <a:srgbClr val="1C2B3A"/>
                </a:solidFill>
                <a:latin typeface="Barlow"/>
              </a:rPr>
              <a:t>Schlüssel: eindeutig für alle denkbaren Daten, nie NULL, minimal, stabil.</a:t>
            </a:r>
          </a:p>
          <a:p>
            <a:pPr>
              <a:lnSpc>
                <a:spcPct val="105000"/>
              </a:lnSpc>
              <a:spcAft>
                <a:spcPts val="300"/>
              </a:spcAft>
            </a:pPr>
            <a:r>
              <a:rPr sz="1995" b="1">
                <a:solidFill>
                  <a:srgbClr val="2C5A85"/>
                </a:solidFill>
                <a:latin typeface="Barlow"/>
              </a:rPr>
              <a:t>▸  </a:t>
            </a:r>
            <a:r>
              <a:rPr sz="1995" b="0" i="0" u="none">
                <a:solidFill>
                  <a:srgbClr val="1C2B3A"/>
                </a:solidFill>
                <a:latin typeface="Barlow"/>
              </a:rPr>
              <a:t>Zerlegen: jede Information genau einmal, verbunden über Fremdschlüssel.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4 · AKTE 4 · CHAOS IM VEREINSARCHIV</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Weiter im Lab</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12</a:t>
            </a:r>
          </a:p>
        </p:txBody>
      </p:sp>
      <p:sp>
        <p:nvSpPr>
          <p:cNvPr id="8" name="Rounded Rectangle 7"/>
          <p:cNvSpPr/>
          <p:nvPr/>
        </p:nvSpPr>
        <p:spPr>
          <a:xfrm>
            <a:off x="548640" y="1691640"/>
            <a:ext cx="7772400" cy="1892807"/>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91640"/>
            <a:ext cx="73152" cy="1892807"/>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1783080"/>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SPUR IM LAB</a:t>
            </a:r>
          </a:p>
        </p:txBody>
      </p:sp>
      <p:sp>
        <p:nvSpPr>
          <p:cNvPr id="11" name="TextBox 10"/>
          <p:cNvSpPr txBox="1"/>
          <p:nvPr/>
        </p:nvSpPr>
        <p:spPr>
          <a:xfrm>
            <a:off x="822959" y="2148840"/>
            <a:ext cx="7360920" cy="1389887"/>
          </a:xfrm>
          <a:prstGeom prst="rect">
            <a:avLst/>
          </a:prstGeom>
          <a:noFill/>
        </p:spPr>
        <p:txBody>
          <a:bodyPr wrap="square" lIns="27432" rIns="27432" tIns="27432" bIns="27432">
            <a:spAutoFit/>
          </a:bodyPr>
          <a:lstStyle/>
          <a:p>
            <a:pPr>
              <a:lnSpc>
                <a:spcPct val="105000"/>
              </a:lnSpc>
              <a:spcAft>
                <a:spcPts val="300"/>
              </a:spcAft>
            </a:pPr>
            <a:r>
              <a:rPr sz="1800" b="1">
                <a:solidFill>
                  <a:srgbClr val="2C5A85"/>
                </a:solidFill>
                <a:latin typeface="Barlow"/>
              </a:rPr>
              <a:t>▸  </a:t>
            </a:r>
            <a:r>
              <a:rPr sz="1800" b="1" i="0" u="none">
                <a:solidFill>
                  <a:srgbClr val="1C2B3A"/>
                </a:solidFill>
                <a:latin typeface="Barlow"/>
              </a:rPr>
              <a:t>Ermittlung 4.1 „Die Excel-Liste“</a:t>
            </a:r>
            <a:r>
              <a:rPr sz="1800" b="0" i="0" u="none">
                <a:solidFill>
                  <a:srgbClr val="1C2B3A"/>
                </a:solidFill>
                <a:latin typeface="Barlow"/>
              </a:rPr>
              <a:t> · A4-E1-01 … 08 · Werkzeug: Anomalie-Simulator</a:t>
            </a:r>
          </a:p>
          <a:p>
            <a:pPr>
              <a:lnSpc>
                <a:spcPct val="105000"/>
              </a:lnSpc>
              <a:spcAft>
                <a:spcPts val="300"/>
              </a:spcAft>
            </a:pPr>
            <a:r>
              <a:rPr sz="1800" b="1">
                <a:solidFill>
                  <a:srgbClr val="2C5A85"/>
                </a:solidFill>
                <a:latin typeface="Barlow"/>
              </a:rPr>
              <a:t>▸  </a:t>
            </a:r>
            <a:r>
              <a:rPr sz="1800" b="1" i="0" u="none">
                <a:solidFill>
                  <a:srgbClr val="1C2B3A"/>
                </a:solidFill>
                <a:latin typeface="Barlow"/>
              </a:rPr>
              <a:t>Ermittlung 4.2 „Ordnung ins Archiv“</a:t>
            </a:r>
            <a:r>
              <a:rPr sz="1800" b="0" i="0" u="none">
                <a:solidFill>
                  <a:srgbClr val="1C2B3A"/>
                </a:solidFill>
                <a:latin typeface="Barlow"/>
              </a:rPr>
              <a:t> · A4-E2-01 … 08 · Werkzeug: Zerlegungs-Puzzle, Schema-Werkbank</a:t>
            </a:r>
          </a:p>
        </p:txBody>
      </p:sp>
      <p:sp>
        <p:nvSpPr>
          <p:cNvPr id="12" name="Rounded Rectangle 11"/>
          <p:cNvSpPr/>
          <p:nvPr/>
        </p:nvSpPr>
        <p:spPr>
          <a:xfrm>
            <a:off x="548640" y="3694176"/>
            <a:ext cx="7772400" cy="1313687"/>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48640" y="3694176"/>
            <a:ext cx="73152" cy="1313687"/>
          </a:xfrm>
          <a:prstGeom prst="rect">
            <a:avLst/>
          </a:prstGeom>
          <a:solidFill>
            <a:srgbClr val="5862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2959" y="3785615"/>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58626D"/>
                </a:solidFill>
                <a:latin typeface="IBM Plex Mono"/>
              </a:rPr>
              <a:t>ARBEITSBLATT UND TRAINING</a:t>
            </a:r>
          </a:p>
        </p:txBody>
      </p:sp>
      <p:sp>
        <p:nvSpPr>
          <p:cNvPr id="15" name="TextBox 14"/>
          <p:cNvSpPr txBox="1"/>
          <p:nvPr/>
        </p:nvSpPr>
        <p:spPr>
          <a:xfrm>
            <a:off x="822959" y="4151376"/>
            <a:ext cx="7360920" cy="810767"/>
          </a:xfrm>
          <a:prstGeom prst="rect">
            <a:avLst/>
          </a:prstGeom>
          <a:noFill/>
        </p:spPr>
        <p:txBody>
          <a:bodyPr wrap="square" lIns="27432" rIns="27432" tIns="27432" bIns="27432">
            <a:spAutoFit/>
          </a:bodyPr>
          <a:lstStyle/>
          <a:p>
            <a:pPr>
              <a:lnSpc>
                <a:spcPct val="105000"/>
              </a:lnSpc>
              <a:spcAft>
                <a:spcPts val="300"/>
              </a:spcAft>
            </a:pPr>
            <a:r>
              <a:rPr sz="1700" b="1">
                <a:solidFill>
                  <a:srgbClr val="58626D"/>
                </a:solidFill>
                <a:latin typeface="Barlow"/>
              </a:rPr>
              <a:t>▸  </a:t>
            </a:r>
            <a:r>
              <a:rPr sz="1700" b="0" i="0" u="none">
                <a:solidFill>
                  <a:srgbClr val="1C2B3A"/>
                </a:solidFill>
                <a:latin typeface="Barlow"/>
              </a:rPr>
              <a:t>AB 4.1 „Die Excel-Liste“ und AB 4.2 „Ordnung ins Archiv“</a:t>
            </a:r>
          </a:p>
          <a:p>
            <a:pPr>
              <a:lnSpc>
                <a:spcPct val="105000"/>
              </a:lnSpc>
              <a:spcAft>
                <a:spcPts val="300"/>
              </a:spcAft>
            </a:pPr>
            <a:r>
              <a:rPr sz="1700" b="1">
                <a:solidFill>
                  <a:srgbClr val="58626D"/>
                </a:solidFill>
                <a:latin typeface="Barlow"/>
              </a:rPr>
              <a:t>▸  </a:t>
            </a:r>
            <a:r>
              <a:rPr sz="1700" b="0" i="0" u="none">
                <a:solidFill>
                  <a:srgbClr val="1C2B3A"/>
                </a:solidFill>
                <a:latin typeface="Barlow"/>
              </a:rPr>
              <a:t>Verhör 4 nach Freischaltung durch die Lehrkraft</a:t>
            </a:r>
          </a:p>
        </p:txBody>
      </p:sp>
      <p:sp>
        <p:nvSpPr>
          <p:cNvPr id="16" name="Rounded Rectangle 15"/>
          <p:cNvSpPr/>
          <p:nvPr/>
        </p:nvSpPr>
        <p:spPr>
          <a:xfrm>
            <a:off x="548640" y="5117592"/>
            <a:ext cx="7772400" cy="954023"/>
          </a:xfrm>
          <a:prstGeom prst="roundRect">
            <a:avLst>
              <a:gd name="adj" fmla="val 4000"/>
            </a:avLst>
          </a:prstGeom>
          <a:solidFill>
            <a:srgbClr val="F3E8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48640" y="5117592"/>
            <a:ext cx="73152" cy="954023"/>
          </a:xfrm>
          <a:prstGeom prst="rect">
            <a:avLst/>
          </a:prstGeom>
          <a:solidFill>
            <a:srgbClr val="7A5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2959" y="5209032"/>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7A5E1F"/>
                </a:solidFill>
                <a:latin typeface="IBM Plex Mono"/>
              </a:rPr>
              <a:t>NÄCHSTES VIDEO</a:t>
            </a:r>
          </a:p>
        </p:txBody>
      </p:sp>
      <p:sp>
        <p:nvSpPr>
          <p:cNvPr id="19" name="TextBox 18"/>
          <p:cNvSpPr txBox="1"/>
          <p:nvPr/>
        </p:nvSpPr>
        <p:spPr>
          <a:xfrm>
            <a:off x="822959" y="5574792"/>
            <a:ext cx="7360920" cy="451103"/>
          </a:xfrm>
          <a:prstGeom prst="rect">
            <a:avLst/>
          </a:prstGeom>
          <a:noFill/>
        </p:spPr>
        <p:txBody>
          <a:bodyPr wrap="square" lIns="27432" rIns="27432" tIns="27432" bIns="27432">
            <a:spAutoFit/>
          </a:bodyPr>
          <a:lstStyle/>
          <a:p>
            <a:pPr>
              <a:lnSpc>
                <a:spcPct val="105000"/>
              </a:lnSpc>
              <a:spcAft>
                <a:spcPts val="300"/>
              </a:spcAft>
            </a:pPr>
            <a:r>
              <a:rPr sz="1700" b="0" i="0" u="none">
                <a:solidFill>
                  <a:srgbClr val="1C2B3A"/>
                </a:solidFill>
                <a:latin typeface="Barlow"/>
              </a:rPr>
              <a:t>Video 5 – ER-Modelle nach den Ergänzenden Hinweisen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Redundanz, Anomalien und gute Schlüssel</dc:title>
  <dc:subject/>
  <dc:creator>Datendetektei Weserstedt</dc:creator>
  <cp:keywords/>
  <dc:description>generated using python-pptx</dc:description>
  <cp:lastModifiedBy>Datendetektei Weserstedt</cp:lastModifiedBy>
  <cp:revision>1</cp:revision>
  <dcterms:created xsi:type="dcterms:W3CDTF">2013-01-27T09:14:16Z</dcterms:created>
  <dcterms:modified xsi:type="dcterms:W3CDTF">2013-01-27T09:15:58Z</dcterms:modified>
  <cp:category/>
  <dc:language>de-DE</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D-Akte">
    <vt:lpwstr>4</vt:lpwstr>
  </property>
  <property fmtid="{D5CDD505-2E9C-101B-9397-08002B2CF9AE}" pid="3" name="DD-Art">
    <vt:lpwstr>video</vt:lpwstr>
  </property>
  <property fmtid="{D5CDD505-2E9C-101B-9397-08002B2CF9AE}" pid="4" name="DD-Kamera-Zone">
    <vt:lpwstr>ja</vt:lpwstr>
  </property>
  <property fmtid="{D5CDD505-2E9C-101B-9397-08002B2CF9AE}" pid="5" name="DD-Kuer">
    <vt:lpwstr>nein</vt:lpwstr>
  </property>
  <property fmtid="{D5CDD505-2E9C-101B-9397-08002B2CF9AE}" pid="6" name="DD-Video">
    <vt:lpwstr>4</vt:lpwstr>
  </property>
  <property fmtid="{D5CDD505-2E9C-101B-9397-08002B2CF9AE}" pid="7" name="DD-Video-Quelle">
    <vt:lpwstr>0794965ca48257cc6a01858addacaff0aba858918c02269644264d71b7c018df</vt:lpwstr>
  </property>
</Properties>
</file>