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Kamera unten rechts, Titelfolie im Hintergrund.]</a:t>
            </a:r>
          </a:p>
          <a:p/>
          <a:p>
            <a:r>
              <a:t>Willkommen im Ermittlerteam! In drei Minuten zeige ich dir, wie du dich in der Datendetektei zurechtfindest: wo du deine Fälle findest, wie du Abfragen ausführst und prüfst und was es mit Verhören und Warm-ups auf sich hat.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Angemeldet wirst du nicht hier, sondern über das Portal InfoLabs – mit dem Kurscode deines Kurses und deinem persönlichen Code. Den bekommst du von deiner Lehrkraft, und du verrätst ihn niemandem. Im Portal wählst du die Datendetektei, und schon bist du drin. Ohne Anmeldung kannst du übrigens im Gastmodus einen kleinen Probefall ausprobieren.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Nach der Anmeldung landest du auf dem Stadtplan von Weserstedt. Jeder Ort ist eine Akte – ein Fall mit einer eigenen Datenbank: das Fundbüro, die Hafenkante, der Festplatz und so weiter. Was noch im Nebel liegt, schaltet deine Lehrkraft frei, wenn ihr so weit seid. Rechts siehst du deinen Rang und deine Punkte.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Tippst du auf eine Akte, siehst du ihre Ermittlungen – eine pro Doppelstunde. Jede Ermittlung hat acht Aufgaben, von einem Stern bis drei Sterne, und am Ende einen Cold Case für alle, die noch mehr wollen. Unten wartet das Verhör der Akte, dazu gleich mehr.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der Ermittlung stehen oben die Aufgaben, darunter das Briefing von Edda Lorenz, der Chefin der Detektei, und Ermittler-Notizen mit den wichtigsten Begriffen. Die Datenbank der Akte kannst du jederzeit in der freien Ermittlung erkunden. Arbeite die Aufgaben der Reihe nach ab – sie bauen aufeinander auf.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Hier die Eisdiele aus dem Gastmodus mit einer eigenen Abfrage.]</a:t>
            </a:r>
          </a:p>
          <a:p/>
          <a:p>
            <a:r>
              <a:t>Das Herz der Detektei ist die Ermittlungskonsole. Links schreibst du deine Abfrage, rechts siehst du das Schema der Datenbank – tipp auf eine Spalte, um sie einzufügen. Mit Ausführen siehst du das Ergebnis, so oft du willst. Mit Prüfen gibst du deine Lösung ab; das zählt für die Punkte. Wenn du feststeckst, gibt es Tipps, die aber etwas Punkte kosten. Und der Knopf Zeitlupe öffnet ein Werkzeug, mit dem du nachverfolgst, was die Datenbank Schritt für Schritt tut.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der Zeitlupe läuft deine Abfrage in Zeitlupe ab: erst FROM, dann WHERE und so weiter. Bei jedem Schritt siehst du, welche Zeilen übrig bleiben und welche wegfallen – hier sechs von zehn Sorten. Wenn dein Ergebnis nicht stimmt, findest du so meist sofort die Stelle, an der es schiefgeht.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Wenn eine Abfrage nicht stimmt, bekommst du eine Rückmeldung – oft mit einer Fallen-Nummer von P1 bis P10, zum Beispiel P6 für Bedingungslogik. Diese Nummern begegnen dir überall: in den Videos, auf den Arbeitsblättern und in deinem Profil. Unter Deine Fallen siehst du, welche dich am häufigsten erwischen. Genau die übst du dann gezielt im Training.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du: Öffne die Datendetektei oder ohne Anmeldung den Gastmodus und führe diese Abfrage auf der Eisdiele aus. Danach öffnest du die Zeitlupe und schaust nach, wie viele Sorten bei WHERE wegfallen. Halte das Video 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 Ende jeder Akte steht ein Verhör: Aufgaben im Abitur-Stil, auf Zeit und ohne Feedback – wie eine kleine Prüfung. Gewinnst du es, bekommt die Pinnwand der Detektei ein neues Beweisstück. Zum Stundenbeginn gibt es Warm-ups, fünf Minuten Karteikarten zu allem, was du schon kennst. Und im Training übst du gezielt deine Fallen.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Kurz zusammengefasst: Anmelden über das Portal, dann Stadtplan, Akte, Ermittlung. Erst ausführen, dann prüfen, und bei Fehlern die Zeitlupe. Die Fallen-Nummern zeigen dir, was schiefging. Und am Ende jeder Akte wartet ein Verhör.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jetzt los: Dein erster Fall wartet im Fundbüro, Ermittlung 1.1. Wenn du SQL noch einmal in Ruhe sehen willst, schau dir Video 1 an. Viel Erfolg, Ermittlerin, viel Erfolg, Ermittler!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0 · DATENDETEKTEI WESERSTEDT</a:t>
            </a:r>
          </a:p>
        </p:txBody>
      </p:sp>
      <p:sp>
        <p:nvSpPr>
          <p:cNvPr id="3" name="TextBox 2"/>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a:t>
            </a:r>
          </a:p>
        </p:txBody>
      </p:sp>
      <p:sp>
        <p:nvSpPr>
          <p:cNvPr id="4" name="TextBox 3"/>
          <p:cNvSpPr txBox="1"/>
          <p:nvPr/>
        </p:nvSpPr>
        <p:spPr>
          <a:xfrm>
            <a:off x="548640" y="960120"/>
            <a:ext cx="7772400" cy="365760"/>
          </a:xfrm>
          <a:prstGeom prst="rect">
            <a:avLst/>
          </a:prstGeom>
          <a:noFill/>
        </p:spPr>
        <p:txBody>
          <a:bodyPr wrap="square" lIns="27432" rIns="27432" tIns="27432" bIns="27432">
            <a:spAutoFit/>
          </a:bodyPr>
          <a:lstStyle/>
          <a:p>
            <a:pPr>
              <a:lnSpc>
                <a:spcPct val="105000"/>
              </a:lnSpc>
              <a:spcAft>
                <a:spcPts val="400"/>
              </a:spcAft>
            </a:pPr>
            <a:r>
              <a:rPr sz="1400" b="1" i="0" u="none">
                <a:solidFill>
                  <a:srgbClr val="D4B062"/>
                </a:solidFill>
                <a:latin typeface="IBM Plex Mono"/>
              </a:rPr>
              <a:t>ERKLÄRVIDEO 0</a:t>
            </a:r>
          </a:p>
        </p:txBody>
      </p:sp>
      <p:sp>
        <p:nvSpPr>
          <p:cNvPr id="5" name="TextBox 4"/>
          <p:cNvSpPr txBox="1"/>
          <p:nvPr/>
        </p:nvSpPr>
        <p:spPr>
          <a:xfrm>
            <a:off x="548640" y="1371600"/>
            <a:ext cx="7772400" cy="1391412"/>
          </a:xfrm>
          <a:prstGeom prst="rect">
            <a:avLst/>
          </a:prstGeom>
          <a:noFill/>
        </p:spPr>
        <p:txBody>
          <a:bodyPr wrap="square" lIns="27432" rIns="27432" tIns="27432" bIns="27432" anchor="t">
            <a:spAutoFit/>
          </a:bodyPr>
          <a:lstStyle/>
          <a:p>
            <a:pPr>
              <a:lnSpc>
                <a:spcPct val="105000"/>
              </a:lnSpc>
              <a:spcAft>
                <a:spcPts val="400"/>
              </a:spcAft>
            </a:pPr>
            <a:r>
              <a:rPr sz="4600" b="0" i="0" u="none">
                <a:solidFill>
                  <a:srgbClr val="E8E1D3"/>
                </a:solidFill>
                <a:latin typeface="Barlow Condensed SemiBold"/>
              </a:rPr>
              <a:t>So ermittelst du in der Datendetektei</a:t>
            </a:r>
          </a:p>
        </p:txBody>
      </p:sp>
      <p:cxnSp>
        <p:nvCxnSpPr>
          <p:cNvPr id="6" name="Roter Faden"/>
          <p:cNvCxnSpPr/>
          <p:nvPr/>
        </p:nvCxnSpPr>
        <p:spPr>
          <a:xfrm>
            <a:off x="548640" y="290017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484632" y="283616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79047" y="283616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3083052"/>
            <a:ext cx="7772400" cy="713231"/>
          </a:xfrm>
          <a:prstGeom prst="rect">
            <a:avLst/>
          </a:prstGeom>
          <a:noFill/>
        </p:spPr>
        <p:txBody>
          <a:bodyPr wrap="square" lIns="27432" rIns="27432" tIns="27432" bIns="27432">
            <a:spAutoFit/>
          </a:bodyPr>
          <a:lstStyle/>
          <a:p>
            <a:pPr>
              <a:lnSpc>
                <a:spcPct val="105000"/>
              </a:lnSpc>
              <a:spcAft>
                <a:spcPts val="400"/>
              </a:spcAft>
            </a:pPr>
            <a:r>
              <a:rPr sz="2100" b="0" i="0" u="none">
                <a:solidFill>
                  <a:srgbClr val="BDB6A9"/>
                </a:solidFill>
                <a:latin typeface="Barlow"/>
              </a:rPr>
              <a:t>Anmelden, Stadtplan, Ermittlungen, Konsole mit Ausführen, Prüfen und Zeitlupe, Verhör und Warm-up</a:t>
            </a:r>
          </a:p>
        </p:txBody>
      </p:sp>
      <p:sp>
        <p:nvSpPr>
          <p:cNvPr id="10" name="TextBox 9"/>
          <p:cNvSpPr txBox="1"/>
          <p:nvPr/>
        </p:nvSpPr>
        <p:spPr>
          <a:xfrm>
            <a:off x="548640" y="5943600"/>
            <a:ext cx="7772400" cy="365760"/>
          </a:xfrm>
          <a:prstGeom prst="rect">
            <a:avLst/>
          </a:prstGeom>
          <a:noFill/>
        </p:spPr>
        <p:txBody>
          <a:bodyPr wrap="square" lIns="27432" rIns="27432" tIns="27432" bIns="27432">
            <a:spAutoFit/>
          </a:bodyPr>
          <a:lstStyle/>
          <a:p>
            <a:pPr>
              <a:lnSpc>
                <a:spcPct val="105000"/>
              </a:lnSpc>
              <a:spcAft>
                <a:spcPts val="400"/>
              </a:spcAft>
            </a:pPr>
            <a:r>
              <a:rPr sz="1250" b="0" i="0" u="none">
                <a:solidFill>
                  <a:srgbClr val="BDB6A9"/>
                </a:solidFill>
                <a:latin typeface="IBM Plex Mono"/>
              </a:rPr>
              <a:t>Start · DS 1 · optional · 3–4 min</a:t>
            </a:r>
          </a:p>
        </p:txBody>
      </p:sp>
      <p:pic>
        <p:nvPicPr>
          <p:cNvPr id="11" name="Picture 10" descr="stempel.png"/>
          <p:cNvPicPr>
            <a:picLocks noChangeAspect="1"/>
          </p:cNvPicPr>
          <p:nvPr/>
        </p:nvPicPr>
        <p:blipFill>
          <a:blip r:embed="rId3"/>
          <a:stretch>
            <a:fillRect/>
          </a:stretch>
        </p:blipFill>
        <p:spPr>
          <a:xfrm>
            <a:off x="8869680" y="1051560"/>
            <a:ext cx="2773375" cy="985718"/>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0 · DATENDETEKTEI WESERSTEDT</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Anmelden über das Portal</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2</a:t>
            </a:r>
          </a:p>
        </p:txBody>
      </p:sp>
      <p:sp>
        <p:nvSpPr>
          <p:cNvPr id="8" name="Rounded Rectangle 7"/>
          <p:cNvSpPr/>
          <p:nvPr/>
        </p:nvSpPr>
        <p:spPr>
          <a:xfrm>
            <a:off x="7589520" y="1691640"/>
            <a:ext cx="4053535" cy="1932432"/>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589520" y="1691640"/>
            <a:ext cx="73152" cy="1932432"/>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0" y="1783080"/>
            <a:ext cx="364205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SO GEHT'S</a:t>
            </a:r>
          </a:p>
        </p:txBody>
      </p:sp>
      <p:sp>
        <p:nvSpPr>
          <p:cNvPr id="11" name="TextBox 10"/>
          <p:cNvSpPr txBox="1"/>
          <p:nvPr/>
        </p:nvSpPr>
        <p:spPr>
          <a:xfrm>
            <a:off x="7863840" y="2148840"/>
            <a:ext cx="3642055" cy="1429512"/>
          </a:xfrm>
          <a:prstGeom prst="rect">
            <a:avLst/>
          </a:prstGeom>
          <a:noFill/>
        </p:spPr>
        <p:txBody>
          <a:bodyPr wrap="square" lIns="27432" rIns="27432" tIns="27432" bIns="27432">
            <a:spAutoFit/>
          </a:bodyPr>
          <a:lstStyle/>
          <a:p>
            <a:pPr>
              <a:lnSpc>
                <a:spcPct val="105000"/>
              </a:lnSpc>
              <a:spcAft>
                <a:spcPts val="300"/>
              </a:spcAft>
            </a:pPr>
            <a:r>
              <a:rPr sz="1700" b="1">
                <a:solidFill>
                  <a:srgbClr val="2C5A85"/>
                </a:solidFill>
                <a:latin typeface="Barlow"/>
              </a:rPr>
              <a:t>▸  </a:t>
            </a:r>
            <a:r>
              <a:rPr sz="1700" b="0" i="0" u="none">
                <a:solidFill>
                  <a:srgbClr val="1C2B3A"/>
                </a:solidFill>
                <a:latin typeface="Barlow"/>
              </a:rPr>
              <a:t>Portal </a:t>
            </a:r>
            <a:r>
              <a:rPr sz="1700" b="1" i="0" u="none">
                <a:solidFill>
                  <a:srgbClr val="1C2B3A"/>
                </a:solidFill>
                <a:latin typeface="Barlow"/>
              </a:rPr>
              <a:t>InfoLabs</a:t>
            </a:r>
            <a:r>
              <a:rPr sz="1700" b="0" i="0" u="none">
                <a:solidFill>
                  <a:srgbClr val="1C2B3A"/>
                </a:solidFill>
                <a:latin typeface="Barlow"/>
              </a:rPr>
              <a:t> öffnen</a:t>
            </a:r>
          </a:p>
          <a:p>
            <a:pPr>
              <a:lnSpc>
                <a:spcPct val="105000"/>
              </a:lnSpc>
              <a:spcAft>
                <a:spcPts val="300"/>
              </a:spcAft>
            </a:pPr>
            <a:r>
              <a:rPr sz="1700" b="1">
                <a:solidFill>
                  <a:srgbClr val="2C5A85"/>
                </a:solidFill>
                <a:latin typeface="Barlow"/>
              </a:rPr>
              <a:t>▸  </a:t>
            </a:r>
            <a:r>
              <a:rPr sz="1700" b="0" i="0" u="none">
                <a:solidFill>
                  <a:srgbClr val="1C2B3A"/>
                </a:solidFill>
                <a:latin typeface="Barlow"/>
              </a:rPr>
              <a:t>mit </a:t>
            </a:r>
            <a:r>
              <a:rPr sz="1700" b="1" i="0" u="none">
                <a:solidFill>
                  <a:srgbClr val="1C2B3A"/>
                </a:solidFill>
                <a:latin typeface="Barlow"/>
              </a:rPr>
              <a:t>Kurscode</a:t>
            </a:r>
            <a:r>
              <a:rPr sz="1700" b="0" i="0" u="none">
                <a:solidFill>
                  <a:srgbClr val="1C2B3A"/>
                </a:solidFill>
                <a:latin typeface="Barlow"/>
              </a:rPr>
              <a:t> und </a:t>
            </a:r>
            <a:r>
              <a:rPr sz="1700" b="1" i="0" u="none">
                <a:solidFill>
                  <a:srgbClr val="1C2B3A"/>
                </a:solidFill>
                <a:latin typeface="Barlow"/>
              </a:rPr>
              <a:t>persönlichem Code</a:t>
            </a:r>
            <a:r>
              <a:rPr sz="1700" b="0" i="0" u="none">
                <a:solidFill>
                  <a:srgbClr val="1C2B3A"/>
                </a:solidFill>
                <a:latin typeface="Barlow"/>
              </a:rPr>
              <a:t> anmelden</a:t>
            </a:r>
          </a:p>
          <a:p>
            <a:pPr>
              <a:lnSpc>
                <a:spcPct val="105000"/>
              </a:lnSpc>
              <a:spcAft>
                <a:spcPts val="300"/>
              </a:spcAft>
            </a:pPr>
            <a:r>
              <a:rPr sz="1700" b="1">
                <a:solidFill>
                  <a:srgbClr val="2C5A85"/>
                </a:solidFill>
                <a:latin typeface="Barlow"/>
              </a:rPr>
              <a:t>▸  </a:t>
            </a:r>
            <a:r>
              <a:rPr sz="1700" b="0" i="0" u="none">
                <a:solidFill>
                  <a:srgbClr val="1C2B3A"/>
                </a:solidFill>
                <a:latin typeface="Barlow"/>
              </a:rPr>
              <a:t>„Datendetektei“ wählen – fertig</a:t>
            </a:r>
          </a:p>
        </p:txBody>
      </p:sp>
      <p:pic>
        <p:nvPicPr>
          <p:cNvPr id="12" name="Bild start" descr="start.png"/>
          <p:cNvPicPr>
            <a:picLocks noChangeAspect="1"/>
          </p:cNvPicPr>
          <p:nvPr/>
        </p:nvPicPr>
        <p:blipFill>
          <a:blip r:embed="rId3"/>
          <a:stretch>
            <a:fillRect/>
          </a:stretch>
        </p:blipFill>
        <p:spPr>
          <a:xfrm>
            <a:off x="548640" y="1691640"/>
            <a:ext cx="6766560" cy="4017645"/>
          </a:xfrm>
          <a:prstGeom prst="rect">
            <a:avLst/>
          </a:prstGeom>
          <a:ln w="9525">
            <a:solidFill>
              <a:srgbClr val="BDB6A9"/>
            </a:solidFill>
          </a:ln>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0 · DATENDETEKTEI WESERSTEDT</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Der Stadtplan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3</a:t>
            </a:r>
          </a:p>
        </p:txBody>
      </p:sp>
      <p:sp>
        <p:nvSpPr>
          <p:cNvPr id="8" name="Rounded Rectangle 7"/>
          <p:cNvSpPr/>
          <p:nvPr/>
        </p:nvSpPr>
        <p:spPr>
          <a:xfrm>
            <a:off x="7589520" y="1691640"/>
            <a:ext cx="4053535" cy="2061972"/>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589520" y="1691640"/>
            <a:ext cx="73152" cy="2061972"/>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0" y="1783080"/>
            <a:ext cx="364205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AKTEN</a:t>
            </a:r>
          </a:p>
        </p:txBody>
      </p:sp>
      <p:sp>
        <p:nvSpPr>
          <p:cNvPr id="11" name="TextBox 10"/>
          <p:cNvSpPr txBox="1"/>
          <p:nvPr/>
        </p:nvSpPr>
        <p:spPr>
          <a:xfrm>
            <a:off x="7863840" y="2148840"/>
            <a:ext cx="3642055" cy="1559051"/>
          </a:xfrm>
          <a:prstGeom prst="rect">
            <a:avLst/>
          </a:prstGeom>
          <a:noFill/>
        </p:spPr>
        <p:txBody>
          <a:bodyPr wrap="square" lIns="27432" rIns="27432" tIns="27432" bIns="27432">
            <a:spAutoFit/>
          </a:bodyPr>
          <a:lstStyle/>
          <a:p>
            <a:pPr>
              <a:lnSpc>
                <a:spcPct val="105000"/>
              </a:lnSpc>
              <a:spcAft>
                <a:spcPts val="300"/>
              </a:spcAft>
            </a:pPr>
            <a:r>
              <a:rPr sz="1530" b="0" i="0" u="none">
                <a:solidFill>
                  <a:srgbClr val="1C2B3A"/>
                </a:solidFill>
                <a:latin typeface="Barlow"/>
              </a:rPr>
              <a:t>Jeder Ort ist eine </a:t>
            </a:r>
            <a:r>
              <a:rPr sz="1530" b="1" i="0" u="none">
                <a:solidFill>
                  <a:srgbClr val="1C2B3A"/>
                </a:solidFill>
                <a:latin typeface="Barlow"/>
              </a:rPr>
              <a:t>Akte</a:t>
            </a:r>
            <a:r>
              <a:rPr sz="1530" b="0" i="0" u="none">
                <a:solidFill>
                  <a:srgbClr val="1C2B3A"/>
                </a:solidFill>
                <a:latin typeface="Barlow"/>
              </a:rPr>
              <a:t> mit eigener Datenbank.</a:t>
            </a:r>
          </a:p>
          <a:p>
            <a:pPr>
              <a:lnSpc>
                <a:spcPct val="105000"/>
              </a:lnSpc>
              <a:spcAft>
                <a:spcPts val="300"/>
              </a:spcAft>
            </a:pPr>
            <a:r>
              <a:rPr sz="1530" b="0" i="0" u="none">
                <a:solidFill>
                  <a:srgbClr val="1C2B3A"/>
                </a:solidFill>
                <a:latin typeface="Barlow"/>
              </a:rPr>
              <a:t>Was im Nebel liegt, schaltet deine Lehrkraft später frei.</a:t>
            </a:r>
          </a:p>
          <a:p>
            <a:pPr>
              <a:lnSpc>
                <a:spcPct val="105000"/>
              </a:lnSpc>
              <a:spcAft>
                <a:spcPts val="300"/>
              </a:spcAft>
            </a:pPr>
            <a:r>
              <a:rPr sz="1530" b="0" i="0" u="none">
                <a:solidFill>
                  <a:srgbClr val="1C2B3A"/>
                </a:solidFill>
                <a:latin typeface="Barlow"/>
              </a:rPr>
              <a:t>Rechts: dein Rang und deine Punkte.</a:t>
            </a:r>
          </a:p>
        </p:txBody>
      </p:sp>
      <p:pic>
        <p:nvPicPr>
          <p:cNvPr id="12" name="Bild stadtplan" descr="stadtplan.png"/>
          <p:cNvPicPr>
            <a:picLocks noChangeAspect="1"/>
          </p:cNvPicPr>
          <p:nvPr/>
        </p:nvPicPr>
        <p:blipFill>
          <a:blip r:embed="rId3"/>
          <a:stretch>
            <a:fillRect/>
          </a:stretch>
        </p:blipFill>
        <p:spPr>
          <a:xfrm>
            <a:off x="548640" y="1691640"/>
            <a:ext cx="6766560" cy="4017645"/>
          </a:xfrm>
          <a:prstGeom prst="rect">
            <a:avLst/>
          </a:prstGeom>
          <a:ln w="9525">
            <a:solidFill>
              <a:srgbClr val="BDB6A9"/>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0 · DATENDETEKTEI WESERSTEDT</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Akte und Ermittlungen</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4</a:t>
            </a:r>
          </a:p>
        </p:txBody>
      </p:sp>
      <p:sp>
        <p:nvSpPr>
          <p:cNvPr id="8" name="Rounded Rectangle 7"/>
          <p:cNvSpPr/>
          <p:nvPr/>
        </p:nvSpPr>
        <p:spPr>
          <a:xfrm>
            <a:off x="7589520" y="1691640"/>
            <a:ext cx="4053535" cy="1831848"/>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589520" y="1691640"/>
            <a:ext cx="73152" cy="1831848"/>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0" y="1783080"/>
            <a:ext cx="364205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ERMITTLUNGEN</a:t>
            </a:r>
          </a:p>
        </p:txBody>
      </p:sp>
      <p:sp>
        <p:nvSpPr>
          <p:cNvPr id="11" name="TextBox 10"/>
          <p:cNvSpPr txBox="1"/>
          <p:nvPr/>
        </p:nvSpPr>
        <p:spPr>
          <a:xfrm>
            <a:off x="7863840" y="2148840"/>
            <a:ext cx="3642055" cy="1328928"/>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Je Doppelstunde eine </a:t>
            </a:r>
            <a:r>
              <a:rPr sz="1700" b="1" i="0" u="none">
                <a:solidFill>
                  <a:srgbClr val="1C2B3A"/>
                </a:solidFill>
                <a:latin typeface="Barlow"/>
              </a:rPr>
              <a:t>Ermittlung</a:t>
            </a:r>
            <a:r>
              <a:rPr sz="1700" b="0" i="0" u="none">
                <a:solidFill>
                  <a:srgbClr val="1C2B3A"/>
                </a:solidFill>
                <a:latin typeface="Barlow"/>
              </a:rPr>
              <a:t> mit acht Aufgaben (</a:t>
            </a:r>
            <a:r>
              <a:rPr sz="1700" b="0" i="0" u="none">
                <a:solidFill>
                  <a:srgbClr val="D4B062"/>
                </a:solidFill>
                <a:latin typeface="Segoe UI Symbol"/>
              </a:rPr>
              <a:t>★</a:t>
            </a:r>
            <a:r>
              <a:rPr sz="1700" b="0" i="0" u="none">
                <a:solidFill>
                  <a:srgbClr val="1C2B3A"/>
                </a:solidFill>
                <a:latin typeface="Barlow"/>
              </a:rPr>
              <a:t> bis </a:t>
            </a:r>
            <a:r>
              <a:rPr sz="1700" b="0" i="0" u="none">
                <a:solidFill>
                  <a:srgbClr val="D4B062"/>
                </a:solidFill>
                <a:latin typeface="Segoe UI Symbol"/>
              </a:rPr>
              <a:t>★★★</a:t>
            </a:r>
            <a:r>
              <a:rPr sz="1700" b="0" i="0" u="none">
                <a:solidFill>
                  <a:srgbClr val="1C2B3A"/>
                </a:solidFill>
                <a:latin typeface="Barlow"/>
              </a:rPr>
              <a:t>).</a:t>
            </a:r>
          </a:p>
          <a:p>
            <a:pPr>
              <a:lnSpc>
                <a:spcPct val="105000"/>
              </a:lnSpc>
              <a:spcAft>
                <a:spcPts val="300"/>
              </a:spcAft>
            </a:pPr>
            <a:r>
              <a:rPr sz="1700" b="0" i="0" u="none">
                <a:solidFill>
                  <a:srgbClr val="1C2B3A"/>
                </a:solidFill>
                <a:latin typeface="Barlow"/>
              </a:rPr>
              <a:t>CC = Cold Case: ohne Punkte, für Profis.</a:t>
            </a:r>
          </a:p>
        </p:txBody>
      </p:sp>
      <p:pic>
        <p:nvPicPr>
          <p:cNvPr id="12" name="Bild akte" descr="akte.png"/>
          <p:cNvPicPr>
            <a:picLocks noChangeAspect="1"/>
          </p:cNvPicPr>
          <p:nvPr/>
        </p:nvPicPr>
        <p:blipFill>
          <a:blip r:embed="rId3"/>
          <a:stretch>
            <a:fillRect/>
          </a:stretch>
        </p:blipFill>
        <p:spPr>
          <a:xfrm>
            <a:off x="548640" y="1691640"/>
            <a:ext cx="6766560" cy="4017645"/>
          </a:xfrm>
          <a:prstGeom prst="rect">
            <a:avLst/>
          </a:prstGeom>
          <a:ln w="9525">
            <a:solidFill>
              <a:srgbClr val="BDB6A9"/>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0 · DATENDETEKTEI WESERSTEDT</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In der Ermittlung</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5</a:t>
            </a:r>
          </a:p>
        </p:txBody>
      </p:sp>
      <p:sp>
        <p:nvSpPr>
          <p:cNvPr id="8" name="Rounded Rectangle 7"/>
          <p:cNvSpPr/>
          <p:nvPr/>
        </p:nvSpPr>
        <p:spPr>
          <a:xfrm>
            <a:off x="7589520" y="1691640"/>
            <a:ext cx="4053535" cy="2026157"/>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589520" y="1691640"/>
            <a:ext cx="73152" cy="2026157"/>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0" y="1783080"/>
            <a:ext cx="364205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AUFBAU</a:t>
            </a:r>
          </a:p>
        </p:txBody>
      </p:sp>
      <p:sp>
        <p:nvSpPr>
          <p:cNvPr id="11" name="TextBox 10"/>
          <p:cNvSpPr txBox="1"/>
          <p:nvPr/>
        </p:nvSpPr>
        <p:spPr>
          <a:xfrm>
            <a:off x="7863840" y="2148840"/>
            <a:ext cx="3642055" cy="1523237"/>
          </a:xfrm>
          <a:prstGeom prst="rect">
            <a:avLst/>
          </a:prstGeom>
          <a:noFill/>
        </p:spPr>
        <p:txBody>
          <a:bodyPr wrap="square" lIns="27432" rIns="27432" tIns="27432" bIns="27432">
            <a:spAutoFit/>
          </a:bodyPr>
          <a:lstStyle/>
          <a:p>
            <a:pPr>
              <a:lnSpc>
                <a:spcPct val="105000"/>
              </a:lnSpc>
              <a:spcAft>
                <a:spcPts val="300"/>
              </a:spcAft>
            </a:pPr>
            <a:r>
              <a:rPr sz="1614" b="0" i="0" u="none">
                <a:solidFill>
                  <a:srgbClr val="1C2B3A"/>
                </a:solidFill>
                <a:latin typeface="Barlow"/>
              </a:rPr>
              <a:t>Oben die Aufgabennummern, darunter Briefing und Ermittler-Notizen.</a:t>
            </a:r>
          </a:p>
          <a:p>
            <a:pPr>
              <a:lnSpc>
                <a:spcPct val="105000"/>
              </a:lnSpc>
              <a:spcAft>
                <a:spcPts val="300"/>
              </a:spcAft>
            </a:pPr>
            <a:r>
              <a:rPr sz="1614" b="0" i="0" u="none">
                <a:solidFill>
                  <a:srgbClr val="1C2B3A"/>
                </a:solidFill>
                <a:latin typeface="Barlow"/>
              </a:rPr>
              <a:t>Die Datenbank der Akte kannst du frei erkunden („Freie Ermittlung“).</a:t>
            </a:r>
          </a:p>
        </p:txBody>
      </p:sp>
      <p:pic>
        <p:nvPicPr>
          <p:cNvPr id="12" name="Bild ermittlung" descr="ermittlung.png"/>
          <p:cNvPicPr>
            <a:picLocks noChangeAspect="1"/>
          </p:cNvPicPr>
          <p:nvPr/>
        </p:nvPicPr>
        <p:blipFill>
          <a:blip r:embed="rId3"/>
          <a:stretch>
            <a:fillRect/>
          </a:stretch>
        </p:blipFill>
        <p:spPr>
          <a:xfrm>
            <a:off x="548640" y="1691640"/>
            <a:ext cx="6766560" cy="4017645"/>
          </a:xfrm>
          <a:prstGeom prst="rect">
            <a:avLst/>
          </a:prstGeom>
          <a:ln w="9525">
            <a:solidFill>
              <a:srgbClr val="BDB6A9"/>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0 · DATENDETEKTEI WESERSTEDT</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Die Konsole: Ausführen, Prüfen, Zeitlupe</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6</a:t>
            </a:r>
          </a:p>
        </p:txBody>
      </p:sp>
      <p:sp>
        <p:nvSpPr>
          <p:cNvPr id="8" name="Rounded Rectangle 7"/>
          <p:cNvSpPr/>
          <p:nvPr/>
        </p:nvSpPr>
        <p:spPr>
          <a:xfrm>
            <a:off x="7589520" y="1691640"/>
            <a:ext cx="4053535" cy="221742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589520" y="1691640"/>
            <a:ext cx="73152" cy="2217420"/>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0" y="1783080"/>
            <a:ext cx="364205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DREI KNÖPFE</a:t>
            </a:r>
          </a:p>
        </p:txBody>
      </p:sp>
      <p:sp>
        <p:nvSpPr>
          <p:cNvPr id="11" name="TextBox 10"/>
          <p:cNvSpPr txBox="1"/>
          <p:nvPr/>
        </p:nvSpPr>
        <p:spPr>
          <a:xfrm>
            <a:off x="7863840" y="2148840"/>
            <a:ext cx="3642055" cy="1714499"/>
          </a:xfrm>
          <a:prstGeom prst="rect">
            <a:avLst/>
          </a:prstGeom>
          <a:noFill/>
        </p:spPr>
        <p:txBody>
          <a:bodyPr wrap="square" lIns="27432" rIns="27432" tIns="27432" bIns="27432">
            <a:spAutoFit/>
          </a:bodyPr>
          <a:lstStyle/>
          <a:p>
            <a:pPr>
              <a:lnSpc>
                <a:spcPct val="105000"/>
              </a:lnSpc>
              <a:spcAft>
                <a:spcPts val="300"/>
              </a:spcAft>
            </a:pPr>
            <a:r>
              <a:rPr sz="1445" b="1">
                <a:solidFill>
                  <a:srgbClr val="2C5A85"/>
                </a:solidFill>
                <a:latin typeface="Barlow"/>
              </a:rPr>
              <a:t>▸  </a:t>
            </a:r>
            <a:r>
              <a:rPr sz="1445" b="1" i="0" u="none">
                <a:solidFill>
                  <a:srgbClr val="1C2B3A"/>
                </a:solidFill>
                <a:latin typeface="Barlow"/>
              </a:rPr>
              <a:t>Ausführen</a:t>
            </a:r>
            <a:r>
              <a:rPr sz="1445" b="0" i="0" u="none">
                <a:solidFill>
                  <a:srgbClr val="1C2B3A"/>
                </a:solidFill>
                <a:latin typeface="Barlow"/>
              </a:rPr>
              <a:t>: Ergebnis ansehen, so oft du willst</a:t>
            </a:r>
          </a:p>
          <a:p>
            <a:pPr>
              <a:lnSpc>
                <a:spcPct val="105000"/>
              </a:lnSpc>
              <a:spcAft>
                <a:spcPts val="300"/>
              </a:spcAft>
            </a:pPr>
            <a:r>
              <a:rPr sz="1445" b="1">
                <a:solidFill>
                  <a:srgbClr val="2C5A85"/>
                </a:solidFill>
                <a:latin typeface="Barlow"/>
              </a:rPr>
              <a:t>▸  </a:t>
            </a:r>
            <a:r>
              <a:rPr sz="1445" b="1" i="0" u="none">
                <a:solidFill>
                  <a:srgbClr val="1C2B3A"/>
                </a:solidFill>
                <a:latin typeface="Barlow"/>
              </a:rPr>
              <a:t>Prüfen</a:t>
            </a:r>
            <a:r>
              <a:rPr sz="1445" b="0" i="0" u="none">
                <a:solidFill>
                  <a:srgbClr val="1C2B3A"/>
                </a:solidFill>
                <a:latin typeface="Barlow"/>
              </a:rPr>
              <a:t>: zählt für die Punkte – Tipps kosten etwas</a:t>
            </a:r>
          </a:p>
          <a:p>
            <a:pPr>
              <a:lnSpc>
                <a:spcPct val="105000"/>
              </a:lnSpc>
              <a:spcAft>
                <a:spcPts val="300"/>
              </a:spcAft>
            </a:pPr>
            <a:r>
              <a:rPr sz="1445" b="1">
                <a:solidFill>
                  <a:srgbClr val="2C5A85"/>
                </a:solidFill>
                <a:latin typeface="Barlow"/>
              </a:rPr>
              <a:t>▸  </a:t>
            </a:r>
            <a:r>
              <a:rPr sz="1445" b="1" i="0" u="none">
                <a:solidFill>
                  <a:srgbClr val="1C2B3A"/>
                </a:solidFill>
                <a:latin typeface="Barlow"/>
              </a:rPr>
              <a:t>Zeitlupe</a:t>
            </a:r>
            <a:r>
              <a:rPr sz="1445" b="0" i="0" u="none">
                <a:solidFill>
                  <a:srgbClr val="1C2B3A"/>
                </a:solidFill>
                <a:latin typeface="Barlow"/>
              </a:rPr>
              <a:t>: Klausel für Klausel nachverfolgen</a:t>
            </a:r>
          </a:p>
        </p:txBody>
      </p:sp>
      <p:pic>
        <p:nvPicPr>
          <p:cNvPr id="12" name="Bild konsole" descr="konsole.png"/>
          <p:cNvPicPr>
            <a:picLocks noChangeAspect="1"/>
          </p:cNvPicPr>
          <p:nvPr/>
        </p:nvPicPr>
        <p:blipFill>
          <a:blip r:embed="rId3"/>
          <a:stretch>
            <a:fillRect/>
          </a:stretch>
        </p:blipFill>
        <p:spPr>
          <a:xfrm>
            <a:off x="1115673" y="1691640"/>
            <a:ext cx="5632492" cy="4572000"/>
          </a:xfrm>
          <a:prstGeom prst="rect">
            <a:avLst/>
          </a:prstGeom>
          <a:ln w="9525">
            <a:solidFill>
              <a:srgbClr val="BDB6A9"/>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0 · DATENDETEKTEI WESERSTEDT</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Die Zeitlupe</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7</a:t>
            </a:r>
          </a:p>
        </p:txBody>
      </p:sp>
      <p:sp>
        <p:nvSpPr>
          <p:cNvPr id="8" name="Rounded Rectangle 7"/>
          <p:cNvSpPr/>
          <p:nvPr/>
        </p:nvSpPr>
        <p:spPr>
          <a:xfrm>
            <a:off x="7589520" y="1691640"/>
            <a:ext cx="4053535" cy="1472184"/>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589520" y="1691640"/>
            <a:ext cx="73152" cy="1472184"/>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0" y="1783080"/>
            <a:ext cx="364205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SCHRITT WHERE</a:t>
            </a:r>
          </a:p>
        </p:txBody>
      </p:sp>
      <p:sp>
        <p:nvSpPr>
          <p:cNvPr id="11" name="TextBox 10"/>
          <p:cNvSpPr txBox="1"/>
          <p:nvPr/>
        </p:nvSpPr>
        <p:spPr>
          <a:xfrm>
            <a:off x="7863840" y="2148840"/>
            <a:ext cx="3642055" cy="969263"/>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Die Zeitlupe zeigt, welche Zeilen eine Klausel behält und welche wegfallen – hier 6 von 10 Sorten.</a:t>
            </a:r>
          </a:p>
        </p:txBody>
      </p:sp>
      <p:pic>
        <p:nvPicPr>
          <p:cNvPr id="12" name="Bild zeitlupe" descr="zeitlupe.png"/>
          <p:cNvPicPr>
            <a:picLocks noChangeAspect="1"/>
          </p:cNvPicPr>
          <p:nvPr/>
        </p:nvPicPr>
        <p:blipFill>
          <a:blip r:embed="rId3"/>
          <a:stretch>
            <a:fillRect/>
          </a:stretch>
        </p:blipFill>
        <p:spPr>
          <a:xfrm>
            <a:off x="612632" y="1691640"/>
            <a:ext cx="6638575" cy="4572000"/>
          </a:xfrm>
          <a:prstGeom prst="rect">
            <a:avLst/>
          </a:prstGeom>
          <a:ln w="9525">
            <a:solidFill>
              <a:srgbClr val="BDB6A9"/>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0 · DATENDETEKTEI WESERSTEDT</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Rückmeldungen mit Fallen-Nummer</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8</a:t>
            </a:r>
          </a:p>
        </p:txBody>
      </p:sp>
      <p:sp>
        <p:nvSpPr>
          <p:cNvPr id="8" name="TextBox 7"/>
          <p:cNvSpPr txBox="1"/>
          <p:nvPr/>
        </p:nvSpPr>
        <p:spPr>
          <a:xfrm>
            <a:off x="548640" y="1691640"/>
            <a:ext cx="7772400" cy="682751"/>
          </a:xfrm>
          <a:prstGeom prst="rect">
            <a:avLst/>
          </a:prstGeom>
          <a:noFill/>
        </p:spPr>
        <p:txBody>
          <a:bodyPr wrap="square" lIns="27432" rIns="27432" tIns="27432" bIns="27432">
            <a:spAutoFit/>
          </a:bodyPr>
          <a:lstStyle/>
          <a:p>
            <a:pPr>
              <a:lnSpc>
                <a:spcPct val="105000"/>
              </a:lnSpc>
              <a:spcAft>
                <a:spcPts val="400"/>
              </a:spcAft>
            </a:pPr>
            <a:r>
              <a:rPr sz="2000" b="0" i="0" u="none">
                <a:solidFill>
                  <a:srgbClr val="E8E1D3"/>
                </a:solidFill>
                <a:latin typeface="Barlow"/>
              </a:rPr>
              <a:t>Wenn etwas nicht stimmt, nennt die Rückmeldung die </a:t>
            </a:r>
            <a:r>
              <a:rPr sz="2000" b="1" i="0" u="none">
                <a:solidFill>
                  <a:srgbClr val="E8E1D3"/>
                </a:solidFill>
                <a:latin typeface="Barlow"/>
              </a:rPr>
              <a:t>Falle</a:t>
            </a:r>
            <a:r>
              <a:rPr sz="2000" b="0" i="0" u="none">
                <a:solidFill>
                  <a:srgbClr val="E8E1D3"/>
                </a:solidFill>
                <a:latin typeface="Barlow"/>
              </a:rPr>
              <a:t> – überall mit derselben Nummer:</a:t>
            </a:r>
          </a:p>
        </p:txBody>
      </p:sp>
      <p:sp>
        <p:nvSpPr>
          <p:cNvPr id="9" name="Rounded Rectangle 8"/>
          <p:cNvSpPr/>
          <p:nvPr/>
        </p:nvSpPr>
        <p:spPr>
          <a:xfrm>
            <a:off x="548640" y="2410968"/>
            <a:ext cx="7772400" cy="944879"/>
          </a:xfrm>
          <a:prstGeom prst="roundRect">
            <a:avLst>
              <a:gd name="adj" fmla="val 4000"/>
            </a:avLst>
          </a:prstGeom>
          <a:solidFill>
            <a:srgbClr val="F4EDE1"/>
          </a:solidFill>
          <a:ln w="19050">
            <a:solidFill>
              <a:srgbClr val="E0574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Falle P6"/>
          <p:cNvSpPr/>
          <p:nvPr/>
        </p:nvSpPr>
        <p:spPr>
          <a:xfrm>
            <a:off x="685800" y="2548128"/>
            <a:ext cx="685800" cy="384048"/>
          </a:xfrm>
          <a:prstGeom prst="roundRect">
            <a:avLst>
              <a:gd name="adj" fmla="val 4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5800" y="2566416"/>
            <a:ext cx="685800" cy="347472"/>
          </a:xfrm>
          <a:prstGeom prst="rect">
            <a:avLst/>
          </a:prstGeom>
          <a:noFill/>
        </p:spPr>
        <p:txBody>
          <a:bodyPr wrap="square" lIns="27432" rIns="27432" tIns="27432" bIns="27432">
            <a:spAutoFit/>
          </a:bodyPr>
          <a:lstStyle/>
          <a:p>
            <a:pPr algn="ctr">
              <a:lnSpc>
                <a:spcPct val="105000"/>
              </a:lnSpc>
              <a:spcAft>
                <a:spcPts val="400"/>
              </a:spcAft>
            </a:pPr>
            <a:r>
              <a:rPr sz="1500" b="1" i="0" u="none">
                <a:solidFill>
                  <a:srgbClr val="FFFDF8"/>
                </a:solidFill>
                <a:latin typeface="Barlow"/>
              </a:rPr>
              <a:t>P6</a:t>
            </a:r>
          </a:p>
        </p:txBody>
      </p:sp>
      <p:sp>
        <p:nvSpPr>
          <p:cNvPr id="12" name="TextBox 11"/>
          <p:cNvSpPr txBox="1"/>
          <p:nvPr/>
        </p:nvSpPr>
        <p:spPr>
          <a:xfrm>
            <a:off x="1508760" y="2502408"/>
            <a:ext cx="6675120" cy="807719"/>
          </a:xfrm>
          <a:prstGeom prst="rect">
            <a:avLst/>
          </a:prstGeom>
          <a:noFill/>
        </p:spPr>
        <p:txBody>
          <a:bodyPr wrap="square" lIns="27432" rIns="27432" tIns="27432" bIns="27432">
            <a:spAutoFit/>
          </a:bodyPr>
          <a:lstStyle/>
          <a:p>
            <a:pPr>
              <a:lnSpc>
                <a:spcPct val="105000"/>
              </a:lnSpc>
              <a:spcAft>
                <a:spcPts val="200"/>
              </a:spcAft>
            </a:pPr>
            <a:r>
              <a:rPr sz="1700" b="1" i="0" u="none">
                <a:solidFill>
                  <a:srgbClr val="1C2B3A"/>
                </a:solidFill>
                <a:latin typeface="Barlow"/>
              </a:rPr>
              <a:t>Bedingungslogik</a:t>
            </a:r>
          </a:p>
          <a:p>
            <a:pPr>
              <a:lnSpc>
                <a:spcPct val="105000"/>
              </a:lnSpc>
              <a:spcAft>
                <a:spcPts val="400"/>
              </a:spcAft>
            </a:pPr>
            <a:r>
              <a:rPr sz="1600" b="0" i="0" u="none">
                <a:solidFill>
                  <a:srgbClr val="1C2B3A"/>
                </a:solidFill>
                <a:latin typeface="Barlow"/>
              </a:rPr>
              <a:t>Beispiel einer Rückmeldung: „AND bindet stärker als OR. Setz Klammern, damit klar ist, was zusammengehört.“</a:t>
            </a:r>
          </a:p>
        </p:txBody>
      </p:sp>
      <p:sp>
        <p:nvSpPr>
          <p:cNvPr id="13" name="TextBox 12"/>
          <p:cNvSpPr txBox="1"/>
          <p:nvPr/>
        </p:nvSpPr>
        <p:spPr>
          <a:xfrm>
            <a:off x="548640" y="3465576"/>
            <a:ext cx="7772400" cy="682751"/>
          </a:xfrm>
          <a:prstGeom prst="rect">
            <a:avLst/>
          </a:prstGeom>
          <a:noFill/>
        </p:spPr>
        <p:txBody>
          <a:bodyPr wrap="square" lIns="27432" rIns="27432" tIns="27432" bIns="27432">
            <a:spAutoFit/>
          </a:bodyPr>
          <a:lstStyle/>
          <a:p>
            <a:pPr>
              <a:lnSpc>
                <a:spcPct val="105000"/>
              </a:lnSpc>
              <a:spcAft>
                <a:spcPts val="400"/>
              </a:spcAft>
            </a:pPr>
            <a:r>
              <a:rPr sz="2000" b="0" i="0" u="none">
                <a:solidFill>
                  <a:srgbClr val="E8E1D3"/>
                </a:solidFill>
                <a:latin typeface="Barlow"/>
              </a:rPr>
              <a:t>Unter </a:t>
            </a:r>
            <a:r>
              <a:rPr sz="2000" b="1" i="0" u="none">
                <a:solidFill>
                  <a:srgbClr val="E8E1D3"/>
                </a:solidFill>
                <a:latin typeface="Barlow"/>
              </a:rPr>
              <a:t>Deine Fallen</a:t>
            </a:r>
            <a:r>
              <a:rPr sz="2000" b="0" i="0" u="none">
                <a:solidFill>
                  <a:srgbClr val="E8E1D3"/>
                </a:solidFill>
                <a:latin typeface="Barlow"/>
              </a:rPr>
              <a:t> im Profil siehst du, welche Fallen dich am häufigsten erwischen – genau die übst du im Training.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0 · DATENDETEKTEI WESERSTEDT</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Kurz anhalten: Jetzt du!</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9</a:t>
            </a:r>
          </a:p>
        </p:txBody>
      </p:sp>
      <p:sp>
        <p:nvSpPr>
          <p:cNvPr id="8" name="Pause"/>
          <p:cNvSpPr/>
          <p:nvPr/>
        </p:nvSpPr>
        <p:spPr>
          <a:xfrm>
            <a:off x="548640" y="1691640"/>
            <a:ext cx="3108960" cy="457200"/>
          </a:xfrm>
          <a:prstGeom prst="roundRect">
            <a:avLst>
              <a:gd name="adj" fmla="val 4000"/>
            </a:avLst>
          </a:prstGeom>
          <a:solidFill>
            <a:srgbClr val="D4B0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1691640"/>
            <a:ext cx="3108960" cy="457200"/>
          </a:xfrm>
          <a:prstGeom prst="rect">
            <a:avLst/>
          </a:prstGeom>
          <a:noFill/>
        </p:spPr>
        <p:txBody>
          <a:bodyPr wrap="none" anchor="ctr">
            <a:spAutoFit/>
          </a:bodyPr>
          <a:lstStyle/>
          <a:p>
            <a:pPr algn="ctr"/>
            <a:r>
              <a:rPr sz="1500" b="1">
                <a:solidFill>
                  <a:srgbClr val="1C2B3A"/>
                </a:solidFill>
                <a:latin typeface="Segoe UI Symbol"/>
              </a:rPr>
              <a:t>⏸</a:t>
            </a:r>
            <a:r>
              <a:rPr sz="1500" b="1">
                <a:solidFill>
                  <a:srgbClr val="1C2B3A"/>
                </a:solidFill>
                <a:latin typeface="IBM Plex Mono"/>
              </a:rPr>
              <a:t>  VIDEO ANHALTEN</a:t>
            </a:r>
          </a:p>
        </p:txBody>
      </p:sp>
      <p:sp>
        <p:nvSpPr>
          <p:cNvPr id="10" name="TextBox 9"/>
          <p:cNvSpPr txBox="1"/>
          <p:nvPr/>
        </p:nvSpPr>
        <p:spPr>
          <a:xfrm>
            <a:off x="548640" y="2258568"/>
            <a:ext cx="7772400" cy="682751"/>
          </a:xfrm>
          <a:prstGeom prst="rect">
            <a:avLst/>
          </a:prstGeom>
          <a:noFill/>
        </p:spPr>
        <p:txBody>
          <a:bodyPr wrap="square" lIns="27432" rIns="27432" tIns="27432" bIns="27432">
            <a:spAutoFit/>
          </a:bodyPr>
          <a:lstStyle/>
          <a:p>
            <a:pPr>
              <a:lnSpc>
                <a:spcPct val="105000"/>
              </a:lnSpc>
              <a:spcAft>
                <a:spcPts val="400"/>
              </a:spcAft>
            </a:pPr>
            <a:r>
              <a:rPr sz="2000" b="0" i="0" u="none">
                <a:solidFill>
                  <a:srgbClr val="E8E1D3"/>
                </a:solidFill>
                <a:latin typeface="Barlow"/>
              </a:rPr>
              <a:t>Öffne die Datendetektei – oder ohne Anmeldung den </a:t>
            </a:r>
            <a:r>
              <a:rPr sz="2000" b="1" i="0" u="none">
                <a:solidFill>
                  <a:srgbClr val="E8E1D3"/>
                </a:solidFill>
                <a:latin typeface="Barlow"/>
              </a:rPr>
              <a:t>Gastmodus</a:t>
            </a:r>
            <a:r>
              <a:rPr sz="2000" b="0" i="0" u="none">
                <a:solidFill>
                  <a:srgbClr val="E8E1D3"/>
                </a:solidFill>
                <a:latin typeface="Barlow"/>
              </a:rPr>
              <a:t> – und führe in der Konsole deine erste Abfrage aus:</a:t>
            </a:r>
          </a:p>
        </p:txBody>
      </p:sp>
      <p:sp>
        <p:nvSpPr>
          <p:cNvPr id="11" name="TextBox 10"/>
          <p:cNvSpPr txBox="1"/>
          <p:nvPr/>
        </p:nvSpPr>
        <p:spPr>
          <a:xfrm>
            <a:off x="548640" y="2977896"/>
            <a:ext cx="7772400" cy="274320"/>
          </a:xfrm>
          <a:prstGeom prst="rect">
            <a:avLst/>
          </a:prstGeom>
          <a:noFill/>
        </p:spPr>
        <p:txBody>
          <a:bodyPr wrap="square" lIns="27432" rIns="27432" tIns="27432" bIns="27432">
            <a:spAutoFit/>
          </a:bodyPr>
          <a:lstStyle/>
          <a:p>
            <a:pPr>
              <a:lnSpc>
                <a:spcPct val="105000"/>
              </a:lnSpc>
              <a:spcAft>
                <a:spcPts val="400"/>
              </a:spcAft>
            </a:pPr>
            <a:r>
              <a:rPr sz="1150" b="1" i="0" u="none">
                <a:solidFill>
                  <a:srgbClr val="D4B062"/>
                </a:solidFill>
                <a:latin typeface="IBM Plex Mono"/>
              </a:rPr>
              <a:t>EISDIELE (GASTMODUS)</a:t>
            </a:r>
          </a:p>
        </p:txBody>
      </p:sp>
      <p:sp>
        <p:nvSpPr>
          <p:cNvPr id="12" name="SQL-Hintergrund"/>
          <p:cNvSpPr/>
          <p:nvPr/>
        </p:nvSpPr>
        <p:spPr>
          <a:xfrm>
            <a:off x="548640" y="3288792"/>
            <a:ext cx="7772400" cy="1590040"/>
          </a:xfrm>
          <a:prstGeom prst="roundRect">
            <a:avLst>
              <a:gd name="adj" fmla="val 4000"/>
            </a:avLst>
          </a:prstGeom>
          <a:solidFill>
            <a:srgbClr val="1116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QL [db=eisdiele]"/>
          <p:cNvSpPr txBox="1"/>
          <p:nvPr/>
        </p:nvSpPr>
        <p:spPr>
          <a:xfrm>
            <a:off x="731520" y="3425952"/>
            <a:ext cx="7406640" cy="1315720"/>
          </a:xfrm>
          <a:prstGeom prst="rect">
            <a:avLst/>
          </a:prstGeom>
          <a:noFill/>
        </p:spPr>
        <p:txBody>
          <a:bodyPr wrap="square" lIns="18288" rIns="18288" tIns="18288" bIns="18288">
            <a:spAutoFit/>
          </a:bodyPr>
          <a:lstStyle/>
          <a:p>
            <a:pPr>
              <a:lnSpc>
                <a:spcPct val="100000"/>
              </a:lnSpc>
            </a:pPr>
            <a:r>
              <a:rPr sz="2000" i="0">
                <a:solidFill>
                  <a:srgbClr val="F2A65A"/>
                </a:solidFill>
                <a:latin typeface="IBM Plex Mono"/>
              </a:rPr>
              <a:t>SELECT</a:t>
            </a:r>
            <a:r>
              <a:rPr sz="2000" i="0">
                <a:solidFill>
                  <a:srgbClr val="D8E3D0"/>
                </a:solidFill>
                <a:latin typeface="IBM Plex Mono"/>
              </a:rPr>
              <a:t> </a:t>
            </a:r>
            <a:r>
              <a:rPr sz="2000" i="0">
                <a:solidFill>
                  <a:srgbClr val="D8E3D0"/>
                </a:solidFill>
                <a:latin typeface="IBM Plex Mono"/>
              </a:rPr>
              <a:t>Name</a:t>
            </a:r>
            <a:r>
              <a:rPr sz="2000" i="0">
                <a:solidFill>
                  <a:srgbClr val="D8E3D0"/>
                </a:solidFill>
                <a:latin typeface="IBM Plex Mono"/>
              </a:rPr>
              <a:t>,</a:t>
            </a:r>
            <a:r>
              <a:rPr sz="2000" i="0">
                <a:solidFill>
                  <a:srgbClr val="D8E3D0"/>
                </a:solidFill>
                <a:latin typeface="IBM Plex Mono"/>
              </a:rPr>
              <a:t> </a:t>
            </a:r>
            <a:r>
              <a:rPr sz="2000" i="0">
                <a:solidFill>
                  <a:srgbClr val="D8E3D0"/>
                </a:solidFill>
                <a:latin typeface="IBM Plex Mono"/>
              </a:rPr>
              <a:t>Preis</a:t>
            </a:r>
          </a:p>
          <a:p>
            <a:pPr>
              <a:lnSpc>
                <a:spcPct val="100000"/>
              </a:lnSpc>
            </a:pPr>
            <a:r>
              <a:rPr sz="2000" i="0">
                <a:solidFill>
                  <a:srgbClr val="F2A65A"/>
                </a:solidFill>
                <a:latin typeface="IBM Plex Mono"/>
              </a:rPr>
              <a:t>FROM</a:t>
            </a:r>
            <a:r>
              <a:rPr sz="2000" i="0">
                <a:solidFill>
                  <a:srgbClr val="D8E3D0"/>
                </a:solidFill>
                <a:latin typeface="IBM Plex Mono"/>
              </a:rPr>
              <a:t> </a:t>
            </a:r>
            <a:r>
              <a:rPr sz="2000" i="0">
                <a:solidFill>
                  <a:srgbClr val="D8E3D0"/>
                </a:solidFill>
                <a:latin typeface="IBM Plex Mono"/>
              </a:rPr>
              <a:t>Sorte</a:t>
            </a:r>
          </a:p>
          <a:p>
            <a:pPr>
              <a:lnSpc>
                <a:spcPct val="100000"/>
              </a:lnSpc>
            </a:pPr>
            <a:r>
              <a:rPr sz="2000" i="0">
                <a:solidFill>
                  <a:srgbClr val="F2A65A"/>
                </a:solidFill>
                <a:latin typeface="IBM Plex Mono"/>
              </a:rPr>
              <a:t>WHERE</a:t>
            </a:r>
            <a:r>
              <a:rPr sz="2000" i="0">
                <a:solidFill>
                  <a:srgbClr val="D8E3D0"/>
                </a:solidFill>
                <a:latin typeface="IBM Plex Mono"/>
              </a:rPr>
              <a:t> </a:t>
            </a:r>
            <a:r>
              <a:rPr sz="2000" i="0">
                <a:solidFill>
                  <a:srgbClr val="D8E3D0"/>
                </a:solidFill>
                <a:latin typeface="IBM Plex Mono"/>
              </a:rPr>
              <a:t>Preis</a:t>
            </a:r>
            <a:r>
              <a:rPr sz="2000" i="0">
                <a:solidFill>
                  <a:srgbClr val="D8E3D0"/>
                </a:solidFill>
                <a:latin typeface="IBM Plex Mono"/>
              </a:rPr>
              <a:t> </a:t>
            </a:r>
            <a:r>
              <a:rPr sz="2000" i="0">
                <a:solidFill>
                  <a:srgbClr val="D8E3D0"/>
                </a:solidFill>
                <a:latin typeface="IBM Plex Mono"/>
              </a:rPr>
              <a:t>&lt;</a:t>
            </a:r>
            <a:r>
              <a:rPr sz="2000" i="0">
                <a:solidFill>
                  <a:srgbClr val="D8E3D0"/>
                </a:solidFill>
                <a:latin typeface="IBM Plex Mono"/>
              </a:rPr>
              <a:t> </a:t>
            </a:r>
            <a:r>
              <a:rPr sz="2000" i="0">
                <a:solidFill>
                  <a:srgbClr val="8CC4FF"/>
                </a:solidFill>
                <a:latin typeface="IBM Plex Mono"/>
              </a:rPr>
              <a:t>1.6</a:t>
            </a:r>
          </a:p>
          <a:p>
            <a:pPr>
              <a:lnSpc>
                <a:spcPct val="100000"/>
              </a:lnSpc>
            </a:pPr>
            <a:r>
              <a:rPr sz="2000" i="0">
                <a:solidFill>
                  <a:srgbClr val="F2A65A"/>
                </a:solidFill>
                <a:latin typeface="IBM Plex Mono"/>
              </a:rPr>
              <a:t>ORDER</a:t>
            </a:r>
            <a:r>
              <a:rPr sz="2000" i="0">
                <a:solidFill>
                  <a:srgbClr val="D8E3D0"/>
                </a:solidFill>
                <a:latin typeface="IBM Plex Mono"/>
              </a:rPr>
              <a:t> </a:t>
            </a:r>
            <a:r>
              <a:rPr sz="2000" i="0">
                <a:solidFill>
                  <a:srgbClr val="F2A65A"/>
                </a:solidFill>
                <a:latin typeface="IBM Plex Mono"/>
              </a:rPr>
              <a:t>BY</a:t>
            </a:r>
            <a:r>
              <a:rPr sz="2000" i="0">
                <a:solidFill>
                  <a:srgbClr val="D8E3D0"/>
                </a:solidFill>
                <a:latin typeface="IBM Plex Mono"/>
              </a:rPr>
              <a:t> </a:t>
            </a:r>
            <a:r>
              <a:rPr sz="2000" i="0">
                <a:solidFill>
                  <a:srgbClr val="D8E3D0"/>
                </a:solidFill>
                <a:latin typeface="IBM Plex Mono"/>
              </a:rPr>
              <a:t>Name</a:t>
            </a:r>
          </a:p>
        </p:txBody>
      </p:sp>
      <p:sp>
        <p:nvSpPr>
          <p:cNvPr id="14" name="TextBox 13"/>
          <p:cNvSpPr txBox="1"/>
          <p:nvPr/>
        </p:nvSpPr>
        <p:spPr>
          <a:xfrm>
            <a:off x="548640" y="4988560"/>
            <a:ext cx="7772400" cy="682751"/>
          </a:xfrm>
          <a:prstGeom prst="rect">
            <a:avLst/>
          </a:prstGeom>
          <a:noFill/>
        </p:spPr>
        <p:txBody>
          <a:bodyPr wrap="square" lIns="27432" rIns="27432" tIns="27432" bIns="27432">
            <a:spAutoFit/>
          </a:bodyPr>
          <a:lstStyle/>
          <a:p>
            <a:pPr>
              <a:lnSpc>
                <a:spcPct val="105000"/>
              </a:lnSpc>
              <a:spcAft>
                <a:spcPts val="400"/>
              </a:spcAft>
            </a:pPr>
            <a:r>
              <a:rPr sz="2000" b="0" i="0" u="none">
                <a:solidFill>
                  <a:srgbClr val="E8E1D3"/>
                </a:solidFill>
                <a:latin typeface="Barlow"/>
              </a:rPr>
              <a:t>Öffne danach die </a:t>
            </a:r>
            <a:r>
              <a:rPr sz="2000" b="1" i="0" u="none">
                <a:solidFill>
                  <a:srgbClr val="E8E1D3"/>
                </a:solidFill>
                <a:latin typeface="Barlow"/>
              </a:rPr>
              <a:t>Zeitlupe</a:t>
            </a:r>
            <a:r>
              <a:rPr sz="2000" b="0" i="0" u="none">
                <a:solidFill>
                  <a:srgbClr val="E8E1D3"/>
                </a:solidFill>
                <a:latin typeface="Barlow"/>
              </a:rPr>
              <a:t>: Wie viele Sorten fallen bei WHERE weg?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0 · DATENDETEKTEI WESERSTEDT</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Verhör, Warm-up und Training</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10</a:t>
            </a:r>
          </a:p>
        </p:txBody>
      </p:sp>
      <p:sp>
        <p:nvSpPr>
          <p:cNvPr id="8" name="Rounded Rectangle 7"/>
          <p:cNvSpPr/>
          <p:nvPr/>
        </p:nvSpPr>
        <p:spPr>
          <a:xfrm>
            <a:off x="7589520" y="1691640"/>
            <a:ext cx="4053535" cy="2061972"/>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589520" y="1691640"/>
            <a:ext cx="73152" cy="2061972"/>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0" y="1783080"/>
            <a:ext cx="3642055"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AM ENDE JEDER AKTE</a:t>
            </a:r>
          </a:p>
        </p:txBody>
      </p:sp>
      <p:sp>
        <p:nvSpPr>
          <p:cNvPr id="11" name="TextBox 10"/>
          <p:cNvSpPr txBox="1"/>
          <p:nvPr/>
        </p:nvSpPr>
        <p:spPr>
          <a:xfrm>
            <a:off x="7863840" y="2148840"/>
            <a:ext cx="3642055" cy="1559051"/>
          </a:xfrm>
          <a:prstGeom prst="rect">
            <a:avLst/>
          </a:prstGeom>
          <a:noFill/>
        </p:spPr>
        <p:txBody>
          <a:bodyPr wrap="square" lIns="27432" rIns="27432" tIns="27432" bIns="27432">
            <a:spAutoFit/>
          </a:bodyPr>
          <a:lstStyle/>
          <a:p>
            <a:pPr>
              <a:lnSpc>
                <a:spcPct val="105000"/>
              </a:lnSpc>
              <a:spcAft>
                <a:spcPts val="300"/>
              </a:spcAft>
            </a:pPr>
            <a:r>
              <a:rPr sz="1530" b="1">
                <a:solidFill>
                  <a:srgbClr val="2C5A85"/>
                </a:solidFill>
                <a:latin typeface="Barlow"/>
              </a:rPr>
              <a:t>▸  </a:t>
            </a:r>
            <a:r>
              <a:rPr sz="1530" b="1" i="0" u="none">
                <a:solidFill>
                  <a:srgbClr val="1C2B3A"/>
                </a:solidFill>
                <a:latin typeface="Barlow"/>
              </a:rPr>
              <a:t>Verhör</a:t>
            </a:r>
            <a:r>
              <a:rPr sz="1530" b="0" i="0" u="none">
                <a:solidFill>
                  <a:srgbClr val="1C2B3A"/>
                </a:solidFill>
                <a:latin typeface="Barlow"/>
              </a:rPr>
              <a:t>: Aufgaben im Abitur-Stil, auf Zeit, ohne Feedback</a:t>
            </a:r>
          </a:p>
          <a:p>
            <a:pPr>
              <a:lnSpc>
                <a:spcPct val="105000"/>
              </a:lnSpc>
              <a:spcAft>
                <a:spcPts val="300"/>
              </a:spcAft>
            </a:pPr>
            <a:r>
              <a:rPr sz="1530" b="1">
                <a:solidFill>
                  <a:srgbClr val="2C5A85"/>
                </a:solidFill>
                <a:latin typeface="Barlow"/>
              </a:rPr>
              <a:t>▸  </a:t>
            </a:r>
            <a:r>
              <a:rPr sz="1530" b="1" i="0" u="none">
                <a:solidFill>
                  <a:srgbClr val="1C2B3A"/>
                </a:solidFill>
                <a:latin typeface="Barlow"/>
              </a:rPr>
              <a:t>Warm-up</a:t>
            </a:r>
            <a:r>
              <a:rPr sz="1530" b="0" i="0" u="none">
                <a:solidFill>
                  <a:srgbClr val="1C2B3A"/>
                </a:solidFill>
                <a:latin typeface="Barlow"/>
              </a:rPr>
              <a:t>: 5 Minuten Karteikarten zum Einstieg</a:t>
            </a:r>
          </a:p>
          <a:p>
            <a:pPr>
              <a:lnSpc>
                <a:spcPct val="105000"/>
              </a:lnSpc>
              <a:spcAft>
                <a:spcPts val="300"/>
              </a:spcAft>
            </a:pPr>
            <a:r>
              <a:rPr sz="1530" b="1">
                <a:solidFill>
                  <a:srgbClr val="2C5A85"/>
                </a:solidFill>
                <a:latin typeface="Barlow"/>
              </a:rPr>
              <a:t>▸  </a:t>
            </a:r>
            <a:r>
              <a:rPr sz="1530" b="1" i="0" u="none">
                <a:solidFill>
                  <a:srgbClr val="1C2B3A"/>
                </a:solidFill>
                <a:latin typeface="Barlow"/>
              </a:rPr>
              <a:t>Training</a:t>
            </a:r>
            <a:r>
              <a:rPr sz="1530" b="0" i="0" u="none">
                <a:solidFill>
                  <a:srgbClr val="1C2B3A"/>
                </a:solidFill>
                <a:latin typeface="Barlow"/>
              </a:rPr>
              <a:t>: deine Fallen gezielt üben</a:t>
            </a:r>
          </a:p>
        </p:txBody>
      </p:sp>
      <p:pic>
        <p:nvPicPr>
          <p:cNvPr id="12" name="Bild verhoer" descr="verhoer.png"/>
          <p:cNvPicPr>
            <a:picLocks noChangeAspect="1"/>
          </p:cNvPicPr>
          <p:nvPr/>
        </p:nvPicPr>
        <p:blipFill>
          <a:blip r:embed="rId3"/>
          <a:stretch>
            <a:fillRect/>
          </a:stretch>
        </p:blipFill>
        <p:spPr>
          <a:xfrm>
            <a:off x="2045368" y="1691640"/>
            <a:ext cx="3773103" cy="2240280"/>
          </a:xfrm>
          <a:prstGeom prst="rect">
            <a:avLst/>
          </a:prstGeom>
          <a:ln w="9525">
            <a:solidFill>
              <a:srgbClr val="BDB6A9"/>
            </a:solidFill>
          </a:ln>
        </p:spPr>
      </p:pic>
      <p:pic>
        <p:nvPicPr>
          <p:cNvPr id="13" name="Bild warmup" descr="warmup.png"/>
          <p:cNvPicPr>
            <a:picLocks noChangeAspect="1"/>
          </p:cNvPicPr>
          <p:nvPr/>
        </p:nvPicPr>
        <p:blipFill>
          <a:blip r:embed="rId4"/>
          <a:stretch>
            <a:fillRect/>
          </a:stretch>
        </p:blipFill>
        <p:spPr>
          <a:xfrm>
            <a:off x="881325" y="4023360"/>
            <a:ext cx="6101188" cy="2240280"/>
          </a:xfrm>
          <a:prstGeom prst="rect">
            <a:avLst/>
          </a:prstGeom>
          <a:ln w="9525">
            <a:solidFill>
              <a:srgbClr val="BDB6A9"/>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0 · DATENDETEKTEI WESERSTEDT</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Das nimmst du mit</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11</a:t>
            </a:r>
          </a:p>
        </p:txBody>
      </p:sp>
      <p:sp>
        <p:nvSpPr>
          <p:cNvPr id="8" name="Rounded Rectangle 7"/>
          <p:cNvSpPr/>
          <p:nvPr/>
        </p:nvSpPr>
        <p:spPr>
          <a:xfrm>
            <a:off x="548640" y="1691640"/>
            <a:ext cx="7772400" cy="3337560"/>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91640"/>
            <a:ext cx="73152" cy="3337560"/>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1783080"/>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ERMITTLER-NOTIZ</a:t>
            </a:r>
          </a:p>
        </p:txBody>
      </p:sp>
      <p:sp>
        <p:nvSpPr>
          <p:cNvPr id="11" name="TextBox 10"/>
          <p:cNvSpPr txBox="1"/>
          <p:nvPr/>
        </p:nvSpPr>
        <p:spPr>
          <a:xfrm>
            <a:off x="822959" y="2148840"/>
            <a:ext cx="7360920" cy="2834640"/>
          </a:xfrm>
          <a:prstGeom prst="rect">
            <a:avLst/>
          </a:prstGeom>
          <a:noFill/>
        </p:spPr>
        <p:txBody>
          <a:bodyPr wrap="square" lIns="27432" rIns="27432" tIns="27432" bIns="27432">
            <a:spAutoFit/>
          </a:bodyPr>
          <a:lstStyle/>
          <a:p>
            <a:pPr>
              <a:lnSpc>
                <a:spcPct val="105000"/>
              </a:lnSpc>
              <a:spcAft>
                <a:spcPts val="300"/>
              </a:spcAft>
            </a:pPr>
            <a:r>
              <a:rPr sz="2100" b="1">
                <a:solidFill>
                  <a:srgbClr val="2C5A85"/>
                </a:solidFill>
                <a:latin typeface="Barlow"/>
              </a:rPr>
              <a:t>▸  </a:t>
            </a:r>
            <a:r>
              <a:rPr sz="2100" b="0" i="0" u="none">
                <a:solidFill>
                  <a:srgbClr val="1C2B3A"/>
                </a:solidFill>
                <a:latin typeface="Barlow"/>
              </a:rPr>
              <a:t>Anmelden über das Portal InfoLabs mit Kurscode und persönlichem Code.</a:t>
            </a:r>
          </a:p>
          <a:p>
            <a:pPr>
              <a:lnSpc>
                <a:spcPct val="105000"/>
              </a:lnSpc>
              <a:spcAft>
                <a:spcPts val="300"/>
              </a:spcAft>
            </a:pPr>
            <a:r>
              <a:rPr sz="2100" b="1">
                <a:solidFill>
                  <a:srgbClr val="2C5A85"/>
                </a:solidFill>
                <a:latin typeface="Barlow"/>
              </a:rPr>
              <a:t>▸  </a:t>
            </a:r>
            <a:r>
              <a:rPr sz="2100" b="0" i="0" u="none">
                <a:solidFill>
                  <a:srgbClr val="1C2B3A"/>
                </a:solidFill>
                <a:latin typeface="Barlow"/>
              </a:rPr>
              <a:t>Stadtplan → Akte → Ermittlung → Aufgaben der Reihe nach.</a:t>
            </a:r>
          </a:p>
          <a:p>
            <a:pPr>
              <a:lnSpc>
                <a:spcPct val="105000"/>
              </a:lnSpc>
              <a:spcAft>
                <a:spcPts val="300"/>
              </a:spcAft>
            </a:pPr>
            <a:r>
              <a:rPr sz="2100" b="1">
                <a:solidFill>
                  <a:srgbClr val="2C5A85"/>
                </a:solidFill>
                <a:latin typeface="Barlow"/>
              </a:rPr>
              <a:t>▸  </a:t>
            </a:r>
            <a:r>
              <a:rPr sz="2100" b="0" i="0" u="none">
                <a:solidFill>
                  <a:srgbClr val="1C2B3A"/>
                </a:solidFill>
                <a:latin typeface="Barlow"/>
              </a:rPr>
              <a:t>Erst </a:t>
            </a:r>
            <a:r>
              <a:rPr sz="2100" b="1" i="0" u="none">
                <a:solidFill>
                  <a:srgbClr val="1C2B3A"/>
                </a:solidFill>
                <a:latin typeface="Barlow"/>
              </a:rPr>
              <a:t>Ausführen</a:t>
            </a:r>
            <a:r>
              <a:rPr sz="2100" b="0" i="0" u="none">
                <a:solidFill>
                  <a:srgbClr val="1C2B3A"/>
                </a:solidFill>
                <a:latin typeface="Barlow"/>
              </a:rPr>
              <a:t>, dann </a:t>
            </a:r>
            <a:r>
              <a:rPr sz="2100" b="1" i="0" u="none">
                <a:solidFill>
                  <a:srgbClr val="1C2B3A"/>
                </a:solidFill>
                <a:latin typeface="Barlow"/>
              </a:rPr>
              <a:t>Prüfen</a:t>
            </a:r>
            <a:r>
              <a:rPr sz="2100" b="0" i="0" u="none">
                <a:solidFill>
                  <a:srgbClr val="1C2B3A"/>
                </a:solidFill>
                <a:latin typeface="Barlow"/>
              </a:rPr>
              <a:t>; bei Fehlern die </a:t>
            </a:r>
            <a:r>
              <a:rPr sz="2100" b="1" i="0" u="none">
                <a:solidFill>
                  <a:srgbClr val="1C2B3A"/>
                </a:solidFill>
                <a:latin typeface="Barlow"/>
              </a:rPr>
              <a:t>Zeitlupe</a:t>
            </a:r>
            <a:r>
              <a:rPr sz="2100" b="0" i="0" u="none">
                <a:solidFill>
                  <a:srgbClr val="1C2B3A"/>
                </a:solidFill>
                <a:latin typeface="Barlow"/>
              </a:rPr>
              <a:t>.</a:t>
            </a:r>
          </a:p>
          <a:p>
            <a:pPr>
              <a:lnSpc>
                <a:spcPct val="105000"/>
              </a:lnSpc>
              <a:spcAft>
                <a:spcPts val="300"/>
              </a:spcAft>
            </a:pPr>
            <a:r>
              <a:rPr sz="2100" b="1">
                <a:solidFill>
                  <a:srgbClr val="2C5A85"/>
                </a:solidFill>
                <a:latin typeface="Barlow"/>
              </a:rPr>
              <a:t>▸  </a:t>
            </a:r>
            <a:r>
              <a:rPr sz="2100" b="0" i="0" u="none">
                <a:solidFill>
                  <a:srgbClr val="1C2B3A"/>
                </a:solidFill>
                <a:latin typeface="Barlow"/>
              </a:rPr>
              <a:t>Fallen-Nummern P1–P10 zeigen, was schiefging – „Deine Fallen“ im Profil.</a:t>
            </a:r>
          </a:p>
          <a:p>
            <a:pPr>
              <a:lnSpc>
                <a:spcPct val="105000"/>
              </a:lnSpc>
              <a:spcAft>
                <a:spcPts val="300"/>
              </a:spcAft>
            </a:pPr>
            <a:r>
              <a:rPr sz="2100" b="1">
                <a:solidFill>
                  <a:srgbClr val="2C5A85"/>
                </a:solidFill>
                <a:latin typeface="Barlow"/>
              </a:rPr>
              <a:t>▸  </a:t>
            </a:r>
            <a:r>
              <a:rPr sz="2100" b="0" i="0" u="none">
                <a:solidFill>
                  <a:srgbClr val="1C2B3A"/>
                </a:solidFill>
                <a:latin typeface="Barlow"/>
              </a:rPr>
              <a:t>Verhör am Ende jeder Akte, Warm-up zum Einstieg.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C2B3A"/>
        </a:solidFill>
        <a:effectLst/>
      </p:bgPr>
    </p:bg>
    <p:spTree>
      <p:nvGrpSpPr>
        <p:cNvPr id="1" name=""/>
        <p:cNvGrpSpPr/>
        <p:nvPr/>
      </p:nvGrpSpPr>
      <p:grpSpPr/>
      <p:sp>
        <p:nvSpPr>
          <p:cNvPr id="2" name="TextBox 1"/>
          <p:cNvSpPr txBox="1"/>
          <p:nvPr/>
        </p:nvSpPr>
        <p:spPr>
          <a:xfrm>
            <a:off x="548640" y="292608"/>
            <a:ext cx="8229600" cy="320040"/>
          </a:xfrm>
          <a:prstGeom prst="rect">
            <a:avLst/>
          </a:prstGeom>
          <a:noFill/>
        </p:spPr>
        <p:txBody>
          <a:bodyPr wrap="square" anchor="t" lIns="36576" rIns="36576" tIns="36576" bIns="36576">
            <a:spAutoFit/>
          </a:bodyPr>
          <a:lstStyle/>
          <a:p>
            <a:pPr>
              <a:lnSpc>
                <a:spcPct val="105000"/>
              </a:lnSpc>
            </a:pPr>
            <a:r>
              <a:rPr sz="1100" b="0" i="0" u="none" spc="150">
                <a:solidFill>
                  <a:srgbClr val="D4B062"/>
                </a:solidFill>
                <a:latin typeface="IBM Plex Mono"/>
              </a:rPr>
              <a:t>ERKLÄRVIDEO 0 · DATENDETEKTEI WESERSTEDT</a:t>
            </a:r>
          </a:p>
        </p:txBody>
      </p:sp>
      <p:sp>
        <p:nvSpPr>
          <p:cNvPr id="3" name="TextBox 2"/>
          <p:cNvSpPr txBox="1"/>
          <p:nvPr/>
        </p:nvSpPr>
        <p:spPr>
          <a:xfrm>
            <a:off x="548640" y="566928"/>
            <a:ext cx="11094415" cy="685800"/>
          </a:xfrm>
          <a:prstGeom prst="rect">
            <a:avLst/>
          </a:prstGeom>
          <a:noFill/>
        </p:spPr>
        <p:txBody>
          <a:bodyPr wrap="square" anchor="b" lIns="36576" rIns="36576" tIns="36576" bIns="36576">
            <a:spAutoFit/>
          </a:bodyPr>
          <a:lstStyle/>
          <a:p>
            <a:pPr>
              <a:lnSpc>
                <a:spcPct val="105000"/>
              </a:lnSpc>
            </a:pPr>
            <a:r>
              <a:rPr sz="3200" b="0" i="0" u="none">
                <a:solidFill>
                  <a:srgbClr val="E8E1D3"/>
                </a:solidFill>
                <a:latin typeface="Barlow Condensed SemiBold"/>
              </a:rPr>
              <a:t>Weiter im Lab</a:t>
            </a:r>
          </a:p>
        </p:txBody>
      </p:sp>
      <p:cxnSp>
        <p:nvCxnSpPr>
          <p:cNvPr id="4" name="Roter Faden"/>
          <p:cNvCxnSpPr/>
          <p:nvPr/>
        </p:nvCxnSpPr>
        <p:spPr>
          <a:xfrm>
            <a:off x="548640" y="1353312"/>
            <a:ext cx="11094415" cy="0"/>
          </a:xfrm>
          <a:prstGeom prst="line">
            <a:avLst/>
          </a:prstGeom>
          <a:ln w="28575">
            <a:solidFill>
              <a:srgbClr val="E0574F"/>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484632"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579047" y="1289304"/>
            <a:ext cx="128016" cy="128016"/>
          </a:xfrm>
          <a:prstGeom prst="ellipse">
            <a:avLst/>
          </a:prstGeom>
          <a:solidFill>
            <a:srgbClr val="E0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6473952"/>
            <a:ext cx="4572000" cy="274320"/>
          </a:xfrm>
          <a:prstGeom prst="rect">
            <a:avLst/>
          </a:prstGeom>
          <a:noFill/>
        </p:spPr>
        <p:txBody>
          <a:bodyPr wrap="square" anchor="t" lIns="36576" rIns="36576" tIns="36576" bIns="36576">
            <a:spAutoFit/>
          </a:bodyPr>
          <a:lstStyle/>
          <a:p>
            <a:pPr>
              <a:lnSpc>
                <a:spcPct val="105000"/>
              </a:lnSpc>
            </a:pPr>
            <a:r>
              <a:rPr sz="900" b="0" i="0" u="none" spc="100">
                <a:solidFill>
                  <a:srgbClr val="9C978E"/>
                </a:solidFill>
                <a:latin typeface="IBM Plex Mono"/>
              </a:rPr>
              <a:t>DATENDETEKTEI WESERSTEDT · 12</a:t>
            </a:r>
          </a:p>
        </p:txBody>
      </p:sp>
      <p:sp>
        <p:nvSpPr>
          <p:cNvPr id="8" name="Rounded Rectangle 7"/>
          <p:cNvSpPr/>
          <p:nvPr/>
        </p:nvSpPr>
        <p:spPr>
          <a:xfrm>
            <a:off x="548640" y="1691640"/>
            <a:ext cx="7772400" cy="1243584"/>
          </a:xfrm>
          <a:prstGeom prst="roundRect">
            <a:avLst>
              <a:gd name="adj" fmla="val 4000"/>
            </a:avLst>
          </a:prstGeom>
          <a:solidFill>
            <a:srgbClr val="E2EA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48640" y="1691640"/>
            <a:ext cx="73152" cy="1243584"/>
          </a:xfrm>
          <a:prstGeom prst="rect">
            <a:avLst/>
          </a:prstGeom>
          <a:solidFill>
            <a:srgbClr val="2C5A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1783080"/>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2C5A85"/>
                </a:solidFill>
                <a:latin typeface="IBM Plex Mono"/>
              </a:rPr>
              <a:t>SPUR IM LAB</a:t>
            </a:r>
          </a:p>
        </p:txBody>
      </p:sp>
      <p:sp>
        <p:nvSpPr>
          <p:cNvPr id="11" name="TextBox 10"/>
          <p:cNvSpPr txBox="1"/>
          <p:nvPr/>
        </p:nvSpPr>
        <p:spPr>
          <a:xfrm>
            <a:off x="822959" y="2148840"/>
            <a:ext cx="7360920" cy="740663"/>
          </a:xfrm>
          <a:prstGeom prst="rect">
            <a:avLst/>
          </a:prstGeom>
          <a:noFill/>
        </p:spPr>
        <p:txBody>
          <a:bodyPr wrap="square" lIns="27432" rIns="27432" tIns="27432" bIns="27432">
            <a:spAutoFit/>
          </a:bodyPr>
          <a:lstStyle/>
          <a:p>
            <a:pPr>
              <a:lnSpc>
                <a:spcPct val="105000"/>
              </a:lnSpc>
              <a:spcAft>
                <a:spcPts val="300"/>
              </a:spcAft>
            </a:pPr>
            <a:r>
              <a:rPr sz="1800" b="1">
                <a:solidFill>
                  <a:srgbClr val="2C5A85"/>
                </a:solidFill>
                <a:latin typeface="Barlow"/>
              </a:rPr>
              <a:t>▸  </a:t>
            </a:r>
            <a:r>
              <a:rPr sz="1800" b="1" i="0" u="none">
                <a:solidFill>
                  <a:srgbClr val="1C2B3A"/>
                </a:solidFill>
                <a:latin typeface="Barlow"/>
              </a:rPr>
              <a:t>Ermittlung 1.1 „Der erste Auftrag“</a:t>
            </a:r>
            <a:r>
              <a:rPr sz="1800" b="0" i="0" u="none">
                <a:solidFill>
                  <a:srgbClr val="1C2B3A"/>
                </a:solidFill>
                <a:latin typeface="Barlow"/>
              </a:rPr>
              <a:t> · A1-E1-01 … 08 · Werkzeug: Konsole und Zeitlupe</a:t>
            </a:r>
          </a:p>
        </p:txBody>
      </p:sp>
      <p:sp>
        <p:nvSpPr>
          <p:cNvPr id="12" name="Rounded Rectangle 11"/>
          <p:cNvSpPr/>
          <p:nvPr/>
        </p:nvSpPr>
        <p:spPr>
          <a:xfrm>
            <a:off x="548640" y="3044952"/>
            <a:ext cx="7772400" cy="954023"/>
          </a:xfrm>
          <a:prstGeom prst="roundRect">
            <a:avLst>
              <a:gd name="adj" fmla="val 4000"/>
            </a:avLst>
          </a:prstGeom>
          <a:solidFill>
            <a:srgbClr val="F4ED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48640" y="3044952"/>
            <a:ext cx="73152" cy="954023"/>
          </a:xfrm>
          <a:prstGeom prst="rect">
            <a:avLst/>
          </a:prstGeom>
          <a:solidFill>
            <a:srgbClr val="5862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2959" y="3136392"/>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58626D"/>
                </a:solidFill>
                <a:latin typeface="IBM Plex Mono"/>
              </a:rPr>
              <a:t>ARBEITSBLATT UND TRAINING</a:t>
            </a:r>
          </a:p>
        </p:txBody>
      </p:sp>
      <p:sp>
        <p:nvSpPr>
          <p:cNvPr id="15" name="TextBox 14"/>
          <p:cNvSpPr txBox="1"/>
          <p:nvPr/>
        </p:nvSpPr>
        <p:spPr>
          <a:xfrm>
            <a:off x="822959" y="3502152"/>
            <a:ext cx="7360920" cy="451103"/>
          </a:xfrm>
          <a:prstGeom prst="rect">
            <a:avLst/>
          </a:prstGeom>
          <a:noFill/>
        </p:spPr>
        <p:txBody>
          <a:bodyPr wrap="square" lIns="27432" rIns="27432" tIns="27432" bIns="27432">
            <a:spAutoFit/>
          </a:bodyPr>
          <a:lstStyle/>
          <a:p>
            <a:pPr>
              <a:lnSpc>
                <a:spcPct val="105000"/>
              </a:lnSpc>
              <a:spcAft>
                <a:spcPts val="300"/>
              </a:spcAft>
            </a:pPr>
            <a:r>
              <a:rPr sz="1700" b="1">
                <a:solidFill>
                  <a:srgbClr val="58626D"/>
                </a:solidFill>
                <a:latin typeface="Barlow"/>
              </a:rPr>
              <a:t>▸  </a:t>
            </a:r>
            <a:r>
              <a:rPr sz="1700" b="0" i="0" u="none">
                <a:solidFill>
                  <a:srgbClr val="1C2B3A"/>
                </a:solidFill>
                <a:latin typeface="Barlow"/>
              </a:rPr>
              <a:t>AB 1.1 „Der erste Auftrag“</a:t>
            </a:r>
          </a:p>
        </p:txBody>
      </p:sp>
      <p:sp>
        <p:nvSpPr>
          <p:cNvPr id="16" name="Rounded Rectangle 15"/>
          <p:cNvSpPr/>
          <p:nvPr/>
        </p:nvSpPr>
        <p:spPr>
          <a:xfrm>
            <a:off x="548640" y="4108704"/>
            <a:ext cx="7772400" cy="954023"/>
          </a:xfrm>
          <a:prstGeom prst="roundRect">
            <a:avLst>
              <a:gd name="adj" fmla="val 4000"/>
            </a:avLst>
          </a:prstGeom>
          <a:solidFill>
            <a:srgbClr val="F3E8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48640" y="4108704"/>
            <a:ext cx="73152" cy="954023"/>
          </a:xfrm>
          <a:prstGeom prst="rect">
            <a:avLst/>
          </a:prstGeom>
          <a:solidFill>
            <a:srgbClr val="7A5E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59" y="4200144"/>
            <a:ext cx="7360920" cy="292608"/>
          </a:xfrm>
          <a:prstGeom prst="rect">
            <a:avLst/>
          </a:prstGeom>
          <a:noFill/>
        </p:spPr>
        <p:txBody>
          <a:bodyPr wrap="square" lIns="27432" rIns="27432" tIns="27432" bIns="27432">
            <a:spAutoFit/>
          </a:bodyPr>
          <a:lstStyle/>
          <a:p>
            <a:pPr>
              <a:lnSpc>
                <a:spcPct val="105000"/>
              </a:lnSpc>
              <a:spcAft>
                <a:spcPts val="400"/>
              </a:spcAft>
            </a:pPr>
            <a:r>
              <a:rPr sz="1100" b="1" i="0" u="none">
                <a:solidFill>
                  <a:srgbClr val="7A5E1F"/>
                </a:solidFill>
                <a:latin typeface="IBM Plex Mono"/>
              </a:rPr>
              <a:t>NÄCHSTES VIDEO</a:t>
            </a:r>
          </a:p>
        </p:txBody>
      </p:sp>
      <p:sp>
        <p:nvSpPr>
          <p:cNvPr id="19" name="TextBox 18"/>
          <p:cNvSpPr txBox="1"/>
          <p:nvPr/>
        </p:nvSpPr>
        <p:spPr>
          <a:xfrm>
            <a:off x="822959" y="4565904"/>
            <a:ext cx="7360920" cy="451103"/>
          </a:xfrm>
          <a:prstGeom prst="rect">
            <a:avLst/>
          </a:prstGeom>
          <a:noFill/>
        </p:spPr>
        <p:txBody>
          <a:bodyPr wrap="square" lIns="27432" rIns="27432" tIns="27432" bIns="27432">
            <a:spAutoFit/>
          </a:bodyPr>
          <a:lstStyle/>
          <a:p>
            <a:pPr>
              <a:lnSpc>
                <a:spcPct val="105000"/>
              </a:lnSpc>
              <a:spcAft>
                <a:spcPts val="300"/>
              </a:spcAft>
            </a:pPr>
            <a:r>
              <a:rPr sz="1700" b="0" i="0" u="none">
                <a:solidFill>
                  <a:srgbClr val="1C2B3A"/>
                </a:solidFill>
                <a:latin typeface="Barlow"/>
              </a:rPr>
              <a:t>Video 1 – SQL-Grundlagen: SELECT, WHERE und die Bedingungsfallen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 ermittelst du in der Datendetektei</dc:title>
  <dc:subject/>
  <dc:creator>Datendetektei Weserstedt</dc:creator>
  <cp:keywords/>
  <dc:description>generated using python-pptx</dc:description>
  <cp:lastModifiedBy>Datendetektei Weserstedt</cp:lastModifiedBy>
  <cp:revision>1</cp:revision>
  <dcterms:created xsi:type="dcterms:W3CDTF">2013-01-27T09:14:16Z</dcterms:created>
  <dcterms:modified xsi:type="dcterms:W3CDTF">2013-01-27T09:15:58Z</dcterms:modified>
  <cp:category/>
  <dc:language>de-DE</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D-Akte">
    <vt:lpwstr>0</vt:lpwstr>
  </property>
  <property fmtid="{D5CDD505-2E9C-101B-9397-08002B2CF9AE}" pid="3" name="DD-Art">
    <vt:lpwstr>video</vt:lpwstr>
  </property>
  <property fmtid="{D5CDD505-2E9C-101B-9397-08002B2CF9AE}" pid="4" name="DD-Kamera-Zone">
    <vt:lpwstr>ja</vt:lpwstr>
  </property>
  <property fmtid="{D5CDD505-2E9C-101B-9397-08002B2CF9AE}" pid="5" name="DD-Kuer">
    <vt:lpwstr>nein</vt:lpwstr>
  </property>
  <property fmtid="{D5CDD505-2E9C-101B-9397-08002B2CF9AE}" pid="6" name="DD-Video">
    <vt:lpwstr>0</vt:lpwstr>
  </property>
  <property fmtid="{D5CDD505-2E9C-101B-9397-08002B2CF9AE}" pid="7" name="DD-Video-Quelle">
    <vt:lpwstr>c192b8a2891bb022ed884a83a547eb52d873b71e7227b29953d249ababf780d1</vt:lpwstr>
  </property>
</Properties>
</file>