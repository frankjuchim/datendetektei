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Die meisten Punkte im Abitur gehen nicht verloren, weil jemand etwas gar nicht kann – sondern durch immer dieselben zehn Fallen. In diesem Video gehen wir sie alle durch, klären, was die Operatoren verlangen, und planen deine Zeit. Danach machst du den Check an deinen eigenen Lösungen.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Datenbank-Aufgabe beginnt mit Material: einem Szenario, einem Relationenschema oder ER-Modell und oft einem Datenausschnitt. Dann folgen viele kleine Teilaufgaben mit je zwei bis acht Bewertungseinheiten und jeweils einem Operator. SQL schreibst du im Stil der Ergänzenden Hinweise. Als Faustregel für die Zeit: etwa zwei Minuten je BE. Bei dreißig BE sind das rund sechzig Minuten – plus ein paar Minuten zum Kontrollieren. Bleib nicht an einer Teilaufgabe hängen.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Jeder Operator verlangt etwas anderes. Nennen heißt: Fakten, ohne Begründung. Beschreiben: den Sachverhalt geordnet in eigenen Worten. Erläutern geht weiter: Du beschreibst und machst es an einem Beispiel verständlich – bei Anomalien am Datensatz. Analysieren heißt, Merkmale gezielt herauszuarbeiten, immer im Sachzusammenhang. Begründen verlangt ein Weil. Beurteilen verlangt ein Urteil mit Kriterien. Und entwerfen oder erstellen heißt: Du schreibst die Abfrage, zeichnest das Modell oder legst das Schema 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SQL-Fallen, Teil eins. P1, WHERE gegen HAVING: Aggregatfunktionen gehören ins HAVING, Zeilenbedingungen ins WHERE, und im HAVING steht kein Alias. P2: Der Verbund fehlt, geht über den falschen Fremdschlüssel oder vervielfacht Zeilen. P3: die GROUP-BY-Regel – jede Spalte im SELECT aggregiert oder gruppiert, gruppiert wird nach dem Schlüssel. P4: COUNT gegen SUM – zählst du Zeilen oder addierst du Werte?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kleines Beispiel aus unserem Schachturnier. Pro Turnier zählen wir einmal mit COUNT Stern und einmal mit COUNT von Ergebnis. Beim Frühjahrsblitz kommt beide Male zwölf heraus. Beim Pokal aber sechs und fünf – eine Partie ist noch nicht beendet, ihr Ergebnis ist NULL. COUNT Stern zählt Zeilen, COUNT einer Spalte zählt nur Werte, die nicht NULL sind. Lies deshalb genau, was gezählt werden soll.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Teil zwei. P5: NULL und Literale – mit NULL vergleichst du nur über IS NULL, Texte stehen in Hochkommata, ein Datum im Format Jahr-Monat-Tag. P6: Bedingungslogik – AND bindet stärker als OR, Grenzen genau lesen, LIKE mit Prozent und Unterstrich. P7: mehrdeutige oder falsch benannte Spalten – Präfix bei gleichnamigen Spalten, und ein Fremdschlüssel darf anders heißen als der Primärschlüssel, auf den er zeigt.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 Modellierung und Schlüsseln gibt es zwei Fallen. P8: Der Schlüssel wird falsch beurteilt – am häufigsten, weil aus einem Datenausschnitt auf Eindeutigkeit geschlossen wird. Frag dich immer: Kann es das in der Realität zweimal geben? P9: Fehler im ER-Modell oder bei der Überführung – vertauschte Kardinalitäten, fehlende Schlüsselattribute, falsch platzierte Beziehungsattribute, der Fremdschlüssel auf der falschen Seite. Gegenmittel: zwei Fragen je Raute und die Überführungsregeln.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die zehnte Falle betrifft nicht den Inhalt, sondern den Operator. Die Aufgabe lautet: Beurteilen Sie, ob Vor- und Nachname als Primärschlüssel geeignet sind. Die obere Antwort sagt nur Nein – das ist ein Urteil ohne Kriterium und bringt kaum Punkte. Die untere nennt die Kriterien, wendet sie auf die Situation an und kommt dann zum Urteil. So sieht beurteilen aus. Genauso verlangt erläutern ein Beispiel und begründen ein Weil.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Fehlersuche! Gesucht sind Vereine mit mindestens drei Mitgliedern, mit Name, Ort und Anzahl. In der Abfrage stecken drei verschiedene Fallen. Halte das Video an und finde sie – mit Nummer.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Auflösung. Erstens P1: COUNT Stern im WHERE geht nicht, die Bedingung gehört ins HAVING. Zweitens P3: Name und Ort stehen im SELECT, aber nicht im GROUP BY. Drittens P7: VereinNr gibt es in beiden Tabellen, also braucht sie ein Präfix. Verbessert gruppieren wir nach Verein.VereinNr, Name und Ort und filtern mit HAVING. Ergebnis: zwei Vereine mit je drei Mitgliedern.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Schluss deine Checkliste vor der Abgabe: Hast du den Operator gelesen und erfüllt? Ist jede Tabelle im FROM verbunden, mit Präfixen? WHERE für Zeilen, HAVING für Gruppen, GROUP-BY-Regel erfüllt? NULL mit IS NULL, Texte in Hochkommata, Klammern bei AND und OR? Und sind Schlüssel und Kardinalitäten begründet statt aus dem Ausschnitt geraten?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ab zur Generalprobe! Im Lab wartet Verhör 7 in der Mensa unter Zeitdruck. Im Trainingsplatz und mit den Warm-up-Karten übst du gezielt deine eigenen Fallen – welche das sind, zeigt dir dein Profil. Viel Erfolg in der Klausur und im Abitur!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960120"/>
            <a:ext cx="7772400" cy="365760"/>
          </a:xfrm>
          <a:prstGeom prst="rect">
            <a:avLst/>
          </a:prstGeom>
          <a:noFill/>
        </p:spPr>
        <p:txBody>
          <a:bodyPr wrap="square" lIns="27432" rIns="27432" tIns="27432" bIns="27432">
            <a:spAutoFit/>
          </a:bodyPr>
          <a:lstStyle/>
          <a:p>
            <a:pPr>
              <a:lnSpc>
                <a:spcPct val="105000"/>
              </a:lnSpc>
              <a:spcAft>
                <a:spcPts val="400"/>
              </a:spcAft>
            </a:pPr>
            <a:r>
              <a:rPr sz="1400" b="1" i="0" u="none">
                <a:solidFill>
                  <a:srgbClr val="D4B062"/>
                </a:solidFill>
                <a:latin typeface="IBM Plex Mono"/>
              </a:rPr>
              <a:t>ERKLÄRVIDEO 7</a:t>
            </a:r>
          </a:p>
        </p:txBody>
      </p:sp>
      <p:sp>
        <p:nvSpPr>
          <p:cNvPr id="5" name="TextBox 4"/>
          <p:cNvSpPr txBox="1"/>
          <p:nvPr/>
        </p:nvSpPr>
        <p:spPr>
          <a:xfrm>
            <a:off x="548640" y="1371600"/>
            <a:ext cx="7772400" cy="1231392"/>
          </a:xfrm>
          <a:prstGeom prst="rect">
            <a:avLst/>
          </a:prstGeom>
          <a:noFill/>
        </p:spPr>
        <p:txBody>
          <a:bodyPr wrap="square" lIns="27432" rIns="27432" tIns="27432" bIns="27432" anchor="t">
            <a:spAutoFit/>
          </a:bodyPr>
          <a:lstStyle/>
          <a:p>
            <a:pPr>
              <a:lnSpc>
                <a:spcPct val="105000"/>
              </a:lnSpc>
              <a:spcAft>
                <a:spcPts val="400"/>
              </a:spcAft>
            </a:pPr>
            <a:r>
              <a:rPr sz="4000" b="0" i="0" u="none">
                <a:solidFill>
                  <a:srgbClr val="E8E1D3"/>
                </a:solidFill>
                <a:latin typeface="Barlow Condensed SemiBold"/>
              </a:rPr>
              <a:t>Abi-Check Datenbanken: 10 Fallen und die Operatoren</a:t>
            </a:r>
          </a:p>
        </p:txBody>
      </p:sp>
      <p:cxnSp>
        <p:nvCxnSpPr>
          <p:cNvPr id="6" name="Roter Faden"/>
          <p:cNvCxnSpPr/>
          <p:nvPr/>
        </p:nvCxnSpPr>
        <p:spPr>
          <a:xfrm>
            <a:off x="548640" y="274015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484632" y="267614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79047" y="267614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923032"/>
            <a:ext cx="7772400" cy="713231"/>
          </a:xfrm>
          <a:prstGeom prst="rect">
            <a:avLst/>
          </a:prstGeom>
          <a:noFill/>
        </p:spPr>
        <p:txBody>
          <a:bodyPr wrap="square" lIns="27432" rIns="27432" tIns="27432" bIns="27432">
            <a:spAutoFit/>
          </a:bodyPr>
          <a:lstStyle/>
          <a:p>
            <a:pPr>
              <a:lnSpc>
                <a:spcPct val="105000"/>
              </a:lnSpc>
              <a:spcAft>
                <a:spcPts val="400"/>
              </a:spcAft>
            </a:pPr>
            <a:r>
              <a:rPr sz="2100" b="0" i="0" u="none">
                <a:solidFill>
                  <a:srgbClr val="BDB6A9"/>
                </a:solidFill>
                <a:latin typeface="Barlow"/>
              </a:rPr>
              <a:t>Die Fallen P1–P10 auf einen Blick, was die Operatoren verlangen und wie du deine Zeit einteilst</a:t>
            </a:r>
          </a:p>
        </p:txBody>
      </p:sp>
      <p:sp>
        <p:nvSpPr>
          <p:cNvPr id="10" name="TextBox 9"/>
          <p:cNvSpPr txBox="1"/>
          <p:nvPr/>
        </p:nvSpPr>
        <p:spPr>
          <a:xfrm>
            <a:off x="548640" y="5943600"/>
            <a:ext cx="7772400" cy="365760"/>
          </a:xfrm>
          <a:prstGeom prst="rect">
            <a:avLst/>
          </a:prstGeom>
          <a:noFill/>
        </p:spPr>
        <p:txBody>
          <a:bodyPr wrap="square" lIns="27432" rIns="27432" tIns="27432" bIns="27432">
            <a:spAutoFit/>
          </a:bodyPr>
          <a:lstStyle/>
          <a:p>
            <a:pPr>
              <a:lnSpc>
                <a:spcPct val="105000"/>
              </a:lnSpc>
              <a:spcAft>
                <a:spcPts val="400"/>
              </a:spcAft>
            </a:pPr>
            <a:r>
              <a:rPr sz="1250" b="0" i="0" u="none">
                <a:solidFill>
                  <a:srgbClr val="BDB6A9"/>
                </a:solidFill>
                <a:latin typeface="IBM Plex Mono"/>
              </a:rPr>
              <a:t>Akte 7 · DS 13 · optional · 10 min</a:t>
            </a:r>
          </a:p>
        </p:txBody>
      </p:sp>
      <p:pic>
        <p:nvPicPr>
          <p:cNvPr id="11" name="Picture 10" descr="stempel.png"/>
          <p:cNvPicPr>
            <a:picLocks noChangeAspect="1"/>
          </p:cNvPicPr>
          <p:nvPr/>
        </p:nvPicPr>
        <p:blipFill>
          <a:blip r:embed="rId3"/>
          <a:stretch>
            <a:fillRect/>
          </a:stretch>
        </p:blipFill>
        <p:spPr>
          <a:xfrm>
            <a:off x="8869680" y="1051560"/>
            <a:ext cx="2773375" cy="72864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So sieht eine Datenbank-Aufgabe aus</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sp>
        <p:nvSpPr>
          <p:cNvPr id="8" name="TextBox 7"/>
          <p:cNvSpPr txBox="1"/>
          <p:nvPr/>
        </p:nvSpPr>
        <p:spPr>
          <a:xfrm>
            <a:off x="6035040" y="1691640"/>
            <a:ext cx="5608015" cy="274320"/>
          </a:xfrm>
          <a:prstGeom prst="rect">
            <a:avLst/>
          </a:prstGeom>
          <a:noFill/>
        </p:spPr>
        <p:txBody>
          <a:bodyPr wrap="square" lIns="27432" rIns="27432" tIns="27432" bIns="27432">
            <a:spAutoFit/>
          </a:bodyPr>
          <a:lstStyle/>
          <a:p>
            <a:pPr>
              <a:lnSpc>
                <a:spcPct val="105000"/>
              </a:lnSpc>
              <a:spcAft>
                <a:spcPts val="400"/>
              </a:spcAft>
            </a:pPr>
            <a:r>
              <a:rPr sz="1100" b="1" i="0" u="none">
                <a:solidFill>
                  <a:srgbClr val="D4B062"/>
                </a:solidFill>
                <a:latin typeface="IBM Plex Mono"/>
              </a:rPr>
              <a:t>BEISPIEL: 30 BE</a:t>
            </a:r>
          </a:p>
        </p:txBody>
      </p:sp>
      <p:graphicFrame>
        <p:nvGraphicFramePr>
          <p:cNvPr id="9" name="Datentabelle"/>
          <p:cNvGraphicFramePr>
            <a:graphicFrameLocks noGrp="1"/>
          </p:cNvGraphicFramePr>
          <p:nvPr/>
        </p:nvGraphicFramePr>
        <p:xfrm>
          <a:off x="6035040" y="1984248"/>
          <a:ext cx="3129990" cy="1377950"/>
        </p:xfrm>
        <a:graphic>
          <a:graphicData uri="http://schemas.openxmlformats.org/drawingml/2006/table">
            <a:tbl>
              <a:tblPr firstRow="1">
                <a:tableStyleId>{5C22544A-7EE6-4342-B048-85BDC9FD1C3A}</a:tableStyleId>
              </a:tblPr>
              <a:tblGrid>
                <a:gridCol w="1253642"/>
                <a:gridCol w="731520"/>
                <a:gridCol w="1144828"/>
              </a:tblGrid>
              <a:tr h="275590">
                <a:tc>
                  <a:txBody>
                    <a:bodyPr/>
                    <a:lstStyle/>
                    <a:p>
                      <a:r>
                        <a:rPr sz="1288" b="1" i="0" u="none">
                          <a:solidFill>
                            <a:srgbClr val="1C2B3A"/>
                          </a:solidFill>
                          <a:latin typeface="IBM Plex Mono"/>
                        </a:rPr>
                        <a:t>Teil</a:t>
                      </a:r>
                    </a:p>
                  </a:txBody>
                  <a:tcPr marL="54864" marR="54864" marT="18288" marB="18288">
                    <a:solidFill>
                      <a:srgbClr val="EBE2D2"/>
                    </a:solidFill>
                  </a:tcPr>
                </a:tc>
                <a:tc>
                  <a:txBody>
                    <a:bodyPr/>
                    <a:lstStyle/>
                    <a:p>
                      <a:r>
                        <a:rPr sz="1288" b="1" i="0" u="none">
                          <a:solidFill>
                            <a:srgbClr val="1C2B3A"/>
                          </a:solidFill>
                          <a:latin typeface="IBM Plex Mono"/>
                        </a:rPr>
                        <a:t>BE</a:t>
                      </a:r>
                    </a:p>
                  </a:txBody>
                  <a:tcPr marL="54864" marR="54864" marT="18288" marB="18288">
                    <a:solidFill>
                      <a:srgbClr val="EBE2D2"/>
                    </a:solidFill>
                  </a:tcPr>
                </a:tc>
                <a:tc>
                  <a:txBody>
                    <a:bodyPr/>
                    <a:lstStyle/>
                    <a:p>
                      <a:r>
                        <a:rPr sz="1288" b="1" i="0" u="none">
                          <a:solidFill>
                            <a:srgbClr val="1C2B3A"/>
                          </a:solidFill>
                          <a:latin typeface="IBM Plex Mono"/>
                        </a:rPr>
                        <a:t>Zeit</a:t>
                      </a:r>
                    </a:p>
                  </a:txBody>
                  <a:tcPr marL="54864" marR="54864" marT="18288" marB="18288">
                    <a:solidFill>
                      <a:srgbClr val="EBE2D2"/>
                    </a:solidFill>
                  </a:tcPr>
                </a:tc>
              </a:tr>
              <a:tr h="275590">
                <a:tc>
                  <a:txBody>
                    <a:bodyPr/>
                    <a:lstStyle/>
                    <a:p>
                      <a:r>
                        <a:rPr sz="1400" b="0" i="0" u="none">
                          <a:solidFill>
                            <a:srgbClr val="1C2B3A"/>
                          </a:solidFill>
                          <a:latin typeface="Barlow"/>
                        </a:rPr>
                        <a:t>a–c</a:t>
                      </a:r>
                    </a:p>
                  </a:txBody>
                  <a:tcPr marL="54864" marR="54864" marT="18288" marB="18288">
                    <a:solidFill>
                      <a:srgbClr val="FFFDF8"/>
                    </a:solidFill>
                  </a:tcPr>
                </a:tc>
                <a:tc>
                  <a:txBody>
                    <a:bodyPr/>
                    <a:lstStyle/>
                    <a:p>
                      <a:pPr algn="r"/>
                      <a:r>
                        <a:rPr sz="1400" b="0" i="0" u="none">
                          <a:solidFill>
                            <a:srgbClr val="1C2B3A"/>
                          </a:solidFill>
                          <a:latin typeface="Barlow"/>
                        </a:rPr>
                        <a:t>10</a:t>
                      </a:r>
                    </a:p>
                  </a:txBody>
                  <a:tcPr marL="54864" marR="54864" marT="18288" marB="18288">
                    <a:solidFill>
                      <a:srgbClr val="FFFDF8"/>
                    </a:solidFill>
                  </a:tcPr>
                </a:tc>
                <a:tc>
                  <a:txBody>
                    <a:bodyPr/>
                    <a:lstStyle/>
                    <a:p>
                      <a:r>
                        <a:rPr sz="1400" b="0" i="0" u="none">
                          <a:solidFill>
                            <a:srgbClr val="1C2B3A"/>
                          </a:solidFill>
                          <a:latin typeface="Barlow"/>
                        </a:rPr>
                        <a:t>≈ 20 min</a:t>
                      </a:r>
                    </a:p>
                  </a:txBody>
                  <a:tcPr marL="54864" marR="54864" marT="18288" marB="18288">
                    <a:solidFill>
                      <a:srgbClr val="FFFDF8"/>
                    </a:solidFill>
                  </a:tcPr>
                </a:tc>
              </a:tr>
              <a:tr h="275590">
                <a:tc>
                  <a:txBody>
                    <a:bodyPr/>
                    <a:lstStyle/>
                    <a:p>
                      <a:r>
                        <a:rPr sz="1400" b="0" i="0" u="none">
                          <a:solidFill>
                            <a:srgbClr val="1C2B3A"/>
                          </a:solidFill>
                          <a:latin typeface="Barlow"/>
                        </a:rPr>
                        <a:t>d–e</a:t>
                      </a:r>
                    </a:p>
                  </a:txBody>
                  <a:tcPr marL="54864" marR="54864" marT="18288" marB="18288">
                    <a:solidFill>
                      <a:srgbClr val="FFFDF8"/>
                    </a:solidFill>
                  </a:tcPr>
                </a:tc>
                <a:tc>
                  <a:txBody>
                    <a:bodyPr/>
                    <a:lstStyle/>
                    <a:p>
                      <a:pPr algn="r"/>
                      <a:r>
                        <a:rPr sz="1400" b="0" i="0" u="none">
                          <a:solidFill>
                            <a:srgbClr val="1C2B3A"/>
                          </a:solidFill>
                          <a:latin typeface="Barlow"/>
                        </a:rPr>
                        <a:t>12</a:t>
                      </a:r>
                    </a:p>
                  </a:txBody>
                  <a:tcPr marL="54864" marR="54864" marT="18288" marB="18288">
                    <a:solidFill>
                      <a:srgbClr val="FFFDF8"/>
                    </a:solidFill>
                  </a:tcPr>
                </a:tc>
                <a:tc>
                  <a:txBody>
                    <a:bodyPr/>
                    <a:lstStyle/>
                    <a:p>
                      <a:r>
                        <a:rPr sz="1400" b="0" i="0" u="none">
                          <a:solidFill>
                            <a:srgbClr val="1C2B3A"/>
                          </a:solidFill>
                          <a:latin typeface="Barlow"/>
                        </a:rPr>
                        <a:t>≈ 24 min</a:t>
                      </a:r>
                    </a:p>
                  </a:txBody>
                  <a:tcPr marL="54864" marR="54864" marT="18288" marB="18288">
                    <a:solidFill>
                      <a:srgbClr val="FFFDF8"/>
                    </a:solidFill>
                  </a:tcPr>
                </a:tc>
              </a:tr>
              <a:tr h="275590">
                <a:tc>
                  <a:txBody>
                    <a:bodyPr/>
                    <a:lstStyle/>
                    <a:p>
                      <a:r>
                        <a:rPr sz="1400" b="0" i="0" u="none">
                          <a:solidFill>
                            <a:srgbClr val="1C2B3A"/>
                          </a:solidFill>
                          <a:latin typeface="Barlow"/>
                        </a:rPr>
                        <a:t>f–g</a:t>
                      </a:r>
                    </a:p>
                  </a:txBody>
                  <a:tcPr marL="54864" marR="54864" marT="18288" marB="18288">
                    <a:solidFill>
                      <a:srgbClr val="FFFDF8"/>
                    </a:solidFill>
                  </a:tcPr>
                </a:tc>
                <a:tc>
                  <a:txBody>
                    <a:bodyPr/>
                    <a:lstStyle/>
                    <a:p>
                      <a:pPr algn="r"/>
                      <a:r>
                        <a:rPr sz="1400" b="0" i="0" u="none">
                          <a:solidFill>
                            <a:srgbClr val="1C2B3A"/>
                          </a:solidFill>
                          <a:latin typeface="Barlow"/>
                        </a:rPr>
                        <a:t>8</a:t>
                      </a:r>
                    </a:p>
                  </a:txBody>
                  <a:tcPr marL="54864" marR="54864" marT="18288" marB="18288">
                    <a:solidFill>
                      <a:srgbClr val="FFFDF8"/>
                    </a:solidFill>
                  </a:tcPr>
                </a:tc>
                <a:tc>
                  <a:txBody>
                    <a:bodyPr/>
                    <a:lstStyle/>
                    <a:p>
                      <a:r>
                        <a:rPr sz="1400" b="0" i="0" u="none">
                          <a:solidFill>
                            <a:srgbClr val="1C2B3A"/>
                          </a:solidFill>
                          <a:latin typeface="Barlow"/>
                        </a:rPr>
                        <a:t>≈ 16 min</a:t>
                      </a:r>
                    </a:p>
                  </a:txBody>
                  <a:tcPr marL="54864" marR="54864" marT="18288" marB="18288">
                    <a:solidFill>
                      <a:srgbClr val="FFFDF8"/>
                    </a:solidFill>
                  </a:tcPr>
                </a:tc>
              </a:tr>
              <a:tr h="275590">
                <a:tc>
                  <a:txBody>
                    <a:bodyPr/>
                    <a:lstStyle/>
                    <a:p>
                      <a:r>
                        <a:rPr sz="1400" b="0" i="0" u="none">
                          <a:solidFill>
                            <a:srgbClr val="1C2B3A"/>
                          </a:solidFill>
                          <a:latin typeface="Barlow"/>
                        </a:rPr>
                        <a:t>Kontrolle</a:t>
                      </a:r>
                    </a:p>
                  </a:txBody>
                  <a:tcPr marL="54864" marR="54864" marT="18288" marB="18288">
                    <a:solidFill>
                      <a:srgbClr val="FFFDF8"/>
                    </a:solidFill>
                  </a:tcPr>
                </a:tc>
                <a:tc>
                  <a:txBody>
                    <a:bodyPr/>
                    <a:lstStyle/>
                    <a:p>
                      <a:r>
                        <a:rPr sz="1400" b="0" i="0" u="none">
                          <a:solidFill>
                            <a:srgbClr val="1C2B3A"/>
                          </a:solidFill>
                          <a:latin typeface="Barlow"/>
                        </a:rPr>
                        <a:t>–</a:t>
                      </a:r>
                    </a:p>
                  </a:txBody>
                  <a:tcPr marL="54864" marR="54864" marT="18288" marB="18288">
                    <a:solidFill>
                      <a:srgbClr val="FFFDF8"/>
                    </a:solidFill>
                  </a:tcPr>
                </a:tc>
                <a:tc>
                  <a:txBody>
                    <a:bodyPr/>
                    <a:lstStyle/>
                    <a:p>
                      <a:r>
                        <a:rPr sz="1400" b="0" i="0" u="none">
                          <a:solidFill>
                            <a:srgbClr val="1C2B3A"/>
                          </a:solidFill>
                          <a:latin typeface="Barlow"/>
                        </a:rPr>
                        <a:t>≈ 10 min</a:t>
                      </a:r>
                    </a:p>
                  </a:txBody>
                  <a:tcPr marL="54864" marR="54864" marT="18288" marB="18288">
                    <a:solidFill>
                      <a:srgbClr val="FFFDF8"/>
                    </a:solidFill>
                  </a:tcPr>
                </a:tc>
              </a:tr>
            </a:tbl>
          </a:graphicData>
        </a:graphic>
      </p:graphicFrame>
      <p:sp>
        <p:nvSpPr>
          <p:cNvPr id="10" name="TextBox 9"/>
          <p:cNvSpPr txBox="1"/>
          <p:nvPr/>
        </p:nvSpPr>
        <p:spPr>
          <a:xfrm>
            <a:off x="548640" y="1691640"/>
            <a:ext cx="5212080" cy="2859024"/>
          </a:xfrm>
          <a:prstGeom prst="rect">
            <a:avLst/>
          </a:prstGeom>
          <a:noFill/>
        </p:spPr>
        <p:txBody>
          <a:bodyPr wrap="square" lIns="27432" rIns="27432" tIns="27432" bIns="27432">
            <a:spAutoFit/>
          </a:bodyPr>
          <a:lstStyle/>
          <a:p>
            <a:pPr>
              <a:lnSpc>
                <a:spcPct val="105000"/>
              </a:lnSpc>
              <a:spcAft>
                <a:spcPts val="600"/>
              </a:spcAft>
            </a:pPr>
            <a:r>
              <a:rPr sz="2000" b="1">
                <a:solidFill>
                  <a:srgbClr val="E0574F"/>
                </a:solidFill>
                <a:latin typeface="Barlow"/>
              </a:rPr>
              <a:t>▸  </a:t>
            </a:r>
            <a:r>
              <a:rPr sz="2000" b="0" i="0" u="none">
                <a:solidFill>
                  <a:srgbClr val="E8E1D3"/>
                </a:solidFill>
                <a:latin typeface="Barlow"/>
              </a:rPr>
              <a:t>Material: Szenario, Relationenschema oder ER-Modell, oft ein Datenausschnitt</a:t>
            </a:r>
          </a:p>
          <a:p>
            <a:pPr>
              <a:lnSpc>
                <a:spcPct val="105000"/>
              </a:lnSpc>
              <a:spcAft>
                <a:spcPts val="600"/>
              </a:spcAft>
            </a:pPr>
            <a:r>
              <a:rPr sz="2000" b="1">
                <a:solidFill>
                  <a:srgbClr val="E0574F"/>
                </a:solidFill>
                <a:latin typeface="Barlow"/>
              </a:rPr>
              <a:t>▸  </a:t>
            </a:r>
            <a:r>
              <a:rPr sz="2000" b="0" i="0" u="none">
                <a:solidFill>
                  <a:srgbClr val="E8E1D3"/>
                </a:solidFill>
                <a:latin typeface="Barlow"/>
              </a:rPr>
              <a:t>viele kleine Teilaufgaben (2–8 BE), je ein Operator</a:t>
            </a:r>
          </a:p>
          <a:p>
            <a:pPr>
              <a:lnSpc>
                <a:spcPct val="105000"/>
              </a:lnSpc>
              <a:spcAft>
                <a:spcPts val="600"/>
              </a:spcAft>
            </a:pPr>
            <a:r>
              <a:rPr sz="2000" b="1">
                <a:solidFill>
                  <a:srgbClr val="E0574F"/>
                </a:solidFill>
                <a:latin typeface="Barlow"/>
              </a:rPr>
              <a:t>▸  </a:t>
            </a:r>
            <a:r>
              <a:rPr sz="2000" b="0" i="0" u="none">
                <a:solidFill>
                  <a:srgbClr val="E8E1D3"/>
                </a:solidFill>
                <a:latin typeface="Barlow"/>
              </a:rPr>
              <a:t>SQL nach EH §8: Verbund nur mit </a:t>
            </a:r>
            <a:r>
              <a:rPr sz="1800" b="0" i="0" u="none">
                <a:solidFill>
                  <a:srgbClr val="D4B062"/>
                </a:solidFill>
                <a:latin typeface="IBM Plex Mono"/>
              </a:rPr>
              <a:t>FROM a, b WHERE</a:t>
            </a:r>
            <a:r>
              <a:rPr sz="2000" b="0" i="0" u="none">
                <a:solidFill>
                  <a:srgbClr val="E8E1D3"/>
                </a:solidFill>
                <a:latin typeface="Barlow"/>
              </a:rPr>
              <a:t>, GROUP-BY-Regel, kein Alias im HAVING</a:t>
            </a:r>
          </a:p>
          <a:p>
            <a:pPr>
              <a:lnSpc>
                <a:spcPct val="105000"/>
              </a:lnSpc>
              <a:spcAft>
                <a:spcPts val="600"/>
              </a:spcAft>
            </a:pPr>
            <a:r>
              <a:rPr sz="2000" b="1">
                <a:solidFill>
                  <a:srgbClr val="E0574F"/>
                </a:solidFill>
                <a:latin typeface="Barlow"/>
              </a:rPr>
              <a:t>▸  </a:t>
            </a:r>
            <a:r>
              <a:rPr sz="2000" b="0" i="0" u="none">
                <a:solidFill>
                  <a:srgbClr val="E8E1D3"/>
                </a:solidFill>
                <a:latin typeface="Barlow"/>
              </a:rPr>
              <a:t>Zeitbudget: </a:t>
            </a:r>
            <a:r>
              <a:rPr sz="2000" b="1" i="0" u="none">
                <a:solidFill>
                  <a:srgbClr val="E8E1D3"/>
                </a:solidFill>
                <a:latin typeface="Barlow"/>
              </a:rPr>
              <a:t>≈ 2 Minuten je 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Was die Operatoren verlangen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graphicFrame>
        <p:nvGraphicFramePr>
          <p:cNvPr id="8" name="Datentabelle"/>
          <p:cNvGraphicFramePr>
            <a:graphicFrameLocks noGrp="1"/>
          </p:cNvGraphicFramePr>
          <p:nvPr/>
        </p:nvGraphicFramePr>
        <p:xfrm>
          <a:off x="548640" y="1691640"/>
          <a:ext cx="7772399" cy="2362200"/>
        </p:xfrm>
        <a:graphic>
          <a:graphicData uri="http://schemas.openxmlformats.org/drawingml/2006/table">
            <a:tbl>
              <a:tblPr firstRow="1">
                <a:tableStyleId>{5C22544A-7EE6-4342-B048-85BDC9FD1C3A}</a:tableStyleId>
              </a:tblPr>
              <a:tblGrid>
                <a:gridCol w="2283301"/>
                <a:gridCol w="5489098"/>
              </a:tblGrid>
              <a:tr h="295275">
                <a:tc>
                  <a:txBody>
                    <a:bodyPr/>
                    <a:lstStyle/>
                    <a:p>
                      <a:r>
                        <a:rPr sz="1380" b="1" i="0" u="none">
                          <a:solidFill>
                            <a:srgbClr val="1C2B3A"/>
                          </a:solidFill>
                          <a:latin typeface="IBM Plex Mono"/>
                        </a:rPr>
                        <a:t>Operator</a:t>
                      </a:r>
                    </a:p>
                  </a:txBody>
                  <a:tcPr marL="54864" marR="54864" marT="18288" marB="18288">
                    <a:solidFill>
                      <a:srgbClr val="EBE2D2"/>
                    </a:solidFill>
                  </a:tcPr>
                </a:tc>
                <a:tc>
                  <a:txBody>
                    <a:bodyPr/>
                    <a:lstStyle/>
                    <a:p>
                      <a:r>
                        <a:rPr sz="1380" b="1" i="0" u="none">
                          <a:solidFill>
                            <a:srgbClr val="1C2B3A"/>
                          </a:solidFill>
                          <a:latin typeface="IBM Plex Mono"/>
                        </a:rPr>
                        <a:t>Was du lieferst</a:t>
                      </a:r>
                    </a:p>
                  </a:txBody>
                  <a:tcPr marL="54864" marR="54864" marT="18288" marB="18288">
                    <a:solidFill>
                      <a:srgbClr val="EBE2D2"/>
                    </a:solidFill>
                  </a:tcPr>
                </a:tc>
              </a:tr>
              <a:tr h="295275">
                <a:tc>
                  <a:txBody>
                    <a:bodyPr/>
                    <a:lstStyle/>
                    <a:p>
                      <a:r>
                        <a:rPr sz="1500" b="0" i="0" u="none">
                          <a:solidFill>
                            <a:srgbClr val="1C2B3A"/>
                          </a:solidFill>
                          <a:latin typeface="Barlow"/>
                        </a:rPr>
                        <a:t>nennen, angeben</a:t>
                      </a:r>
                    </a:p>
                  </a:txBody>
                  <a:tcPr marL="54864" marR="54864" marT="18288" marB="18288">
                    <a:solidFill>
                      <a:srgbClr val="FFFDF8"/>
                    </a:solidFill>
                  </a:tcPr>
                </a:tc>
                <a:tc>
                  <a:txBody>
                    <a:bodyPr/>
                    <a:lstStyle/>
                    <a:p>
                      <a:r>
                        <a:rPr sz="1500" b="0" i="0" u="none">
                          <a:solidFill>
                            <a:srgbClr val="1C2B3A"/>
                          </a:solidFill>
                          <a:latin typeface="Barlow"/>
                        </a:rPr>
                        <a:t>Fakten ohne Begründung</a:t>
                      </a:r>
                    </a:p>
                  </a:txBody>
                  <a:tcPr marL="54864" marR="54864" marT="18288" marB="18288">
                    <a:solidFill>
                      <a:srgbClr val="FFFDF8"/>
                    </a:solidFill>
                  </a:tcPr>
                </a:tc>
              </a:tr>
              <a:tr h="295275">
                <a:tc>
                  <a:txBody>
                    <a:bodyPr/>
                    <a:lstStyle/>
                    <a:p>
                      <a:r>
                        <a:rPr sz="1500" b="0" i="0" u="none">
                          <a:solidFill>
                            <a:srgbClr val="1C2B3A"/>
                          </a:solidFill>
                          <a:latin typeface="Barlow"/>
                        </a:rPr>
                        <a:t>beschreiben</a:t>
                      </a:r>
                    </a:p>
                  </a:txBody>
                  <a:tcPr marL="54864" marR="54864" marT="18288" marB="18288">
                    <a:solidFill>
                      <a:srgbClr val="FFFDF8"/>
                    </a:solidFill>
                  </a:tcPr>
                </a:tc>
                <a:tc>
                  <a:txBody>
                    <a:bodyPr/>
                    <a:lstStyle/>
                    <a:p>
                      <a:r>
                        <a:rPr sz="1500" b="0" i="0" u="none">
                          <a:solidFill>
                            <a:srgbClr val="1C2B3A"/>
                          </a:solidFill>
                          <a:latin typeface="Barlow"/>
                        </a:rPr>
                        <a:t>Sachverhalt in eigenen Worten, geordnet</a:t>
                      </a:r>
                    </a:p>
                  </a:txBody>
                  <a:tcPr marL="54864" marR="54864" marT="18288" marB="18288">
                    <a:solidFill>
                      <a:srgbClr val="FFFDF8"/>
                    </a:solidFill>
                  </a:tcPr>
                </a:tc>
              </a:tr>
              <a:tr h="295275">
                <a:tc>
                  <a:txBody>
                    <a:bodyPr/>
                    <a:lstStyle/>
                    <a:p>
                      <a:r>
                        <a:rPr sz="1500" b="0" i="0" u="none">
                          <a:solidFill>
                            <a:srgbClr val="1C2B3A"/>
                          </a:solidFill>
                          <a:latin typeface="Barlow"/>
                        </a:rPr>
                        <a:t>erläutern</a:t>
                      </a:r>
                    </a:p>
                  </a:txBody>
                  <a:tcPr marL="54864" marR="54864" marT="18288" marB="18288">
                    <a:solidFill>
                      <a:srgbClr val="FFFDF8"/>
                    </a:solidFill>
                  </a:tcPr>
                </a:tc>
                <a:tc>
                  <a:txBody>
                    <a:bodyPr/>
                    <a:lstStyle/>
                    <a:p>
                      <a:r>
                        <a:rPr sz="1500" b="0" i="0" u="none">
                          <a:solidFill>
                            <a:srgbClr val="1C2B3A"/>
                          </a:solidFill>
                          <a:latin typeface="Barlow"/>
                        </a:rPr>
                        <a:t>beschreiben </a:t>
                      </a:r>
                      <a:r>
                        <a:rPr sz="1500" b="1" i="0" u="none">
                          <a:solidFill>
                            <a:srgbClr val="1C2B3A"/>
                          </a:solidFill>
                          <a:latin typeface="Barlow"/>
                        </a:rPr>
                        <a:t>und</a:t>
                      </a:r>
                      <a:r>
                        <a:rPr sz="1500" b="0" i="0" u="none">
                          <a:solidFill>
                            <a:srgbClr val="1C2B3A"/>
                          </a:solidFill>
                          <a:latin typeface="Barlow"/>
                        </a:rPr>
                        <a:t> am Beispiel/Datensatz verständlich machen</a:t>
                      </a:r>
                    </a:p>
                  </a:txBody>
                  <a:tcPr marL="54864" marR="54864" marT="18288" marB="18288">
                    <a:solidFill>
                      <a:srgbClr val="FFFDF8"/>
                    </a:solidFill>
                  </a:tcPr>
                </a:tc>
              </a:tr>
              <a:tr h="295275">
                <a:tc>
                  <a:txBody>
                    <a:bodyPr/>
                    <a:lstStyle/>
                    <a:p>
                      <a:r>
                        <a:rPr sz="1500" b="0" i="0" u="none">
                          <a:solidFill>
                            <a:srgbClr val="1C2B3A"/>
                          </a:solidFill>
                          <a:latin typeface="Barlow"/>
                        </a:rPr>
                        <a:t>analysieren, untersuchen</a:t>
                      </a:r>
                    </a:p>
                  </a:txBody>
                  <a:tcPr marL="54864" marR="54864" marT="18288" marB="18288">
                    <a:solidFill>
                      <a:srgbClr val="FFFDF8"/>
                    </a:solidFill>
                  </a:tcPr>
                </a:tc>
                <a:tc>
                  <a:txBody>
                    <a:bodyPr/>
                    <a:lstStyle/>
                    <a:p>
                      <a:r>
                        <a:rPr sz="1500" b="0" i="0" u="none">
                          <a:solidFill>
                            <a:srgbClr val="1C2B3A"/>
                          </a:solidFill>
                          <a:latin typeface="Barlow"/>
                        </a:rPr>
                        <a:t>Merkmale gezielt herausarbeiten, im Sachzusammenhang</a:t>
                      </a:r>
                    </a:p>
                  </a:txBody>
                  <a:tcPr marL="54864" marR="54864" marT="18288" marB="18288">
                    <a:solidFill>
                      <a:srgbClr val="FFFDF8"/>
                    </a:solidFill>
                  </a:tcPr>
                </a:tc>
              </a:tr>
              <a:tr h="295275">
                <a:tc>
                  <a:txBody>
                    <a:bodyPr/>
                    <a:lstStyle/>
                    <a:p>
                      <a:r>
                        <a:rPr sz="1500" b="0" i="0" u="none">
                          <a:solidFill>
                            <a:srgbClr val="1C2B3A"/>
                          </a:solidFill>
                          <a:latin typeface="Barlow"/>
                        </a:rPr>
                        <a:t>begründen</a:t>
                      </a:r>
                    </a:p>
                  </a:txBody>
                  <a:tcPr marL="54864" marR="54864" marT="18288" marB="18288">
                    <a:solidFill>
                      <a:srgbClr val="FFFDF8"/>
                    </a:solidFill>
                  </a:tcPr>
                </a:tc>
                <a:tc>
                  <a:txBody>
                    <a:bodyPr/>
                    <a:lstStyle/>
                    <a:p>
                      <a:r>
                        <a:rPr sz="1500" b="0" i="0" u="none">
                          <a:solidFill>
                            <a:srgbClr val="1C2B3A"/>
                          </a:solidFill>
                          <a:latin typeface="Barlow"/>
                        </a:rPr>
                        <a:t>Aussage auf Gründe zurückführen („…, weil …“)</a:t>
                      </a:r>
                    </a:p>
                  </a:txBody>
                  <a:tcPr marL="54864" marR="54864" marT="18288" marB="18288">
                    <a:solidFill>
                      <a:srgbClr val="FFFDF8"/>
                    </a:solidFill>
                  </a:tcPr>
                </a:tc>
              </a:tr>
              <a:tr h="295275">
                <a:tc>
                  <a:txBody>
                    <a:bodyPr/>
                    <a:lstStyle/>
                    <a:p>
                      <a:r>
                        <a:rPr sz="1500" b="0" i="0" u="none">
                          <a:solidFill>
                            <a:srgbClr val="1C2B3A"/>
                          </a:solidFill>
                          <a:latin typeface="Barlow"/>
                        </a:rPr>
                        <a:t>beurteilen</a:t>
                      </a:r>
                    </a:p>
                  </a:txBody>
                  <a:tcPr marL="54864" marR="54864" marT="18288" marB="18288">
                    <a:solidFill>
                      <a:srgbClr val="FFFDF8"/>
                    </a:solidFill>
                  </a:tcPr>
                </a:tc>
                <a:tc>
                  <a:txBody>
                    <a:bodyPr/>
                    <a:lstStyle/>
                    <a:p>
                      <a:r>
                        <a:rPr sz="1500" b="0" i="0" u="none">
                          <a:solidFill>
                            <a:srgbClr val="1C2B3A"/>
                          </a:solidFill>
                          <a:latin typeface="Barlow"/>
                        </a:rPr>
                        <a:t>Urteil </a:t>
                      </a:r>
                      <a:r>
                        <a:rPr sz="1500" b="1" i="0" u="none">
                          <a:solidFill>
                            <a:srgbClr val="1C2B3A"/>
                          </a:solidFill>
                          <a:latin typeface="Barlow"/>
                        </a:rPr>
                        <a:t>mit Kriterien</a:t>
                      </a:r>
                      <a:r>
                        <a:rPr sz="1500" b="0" i="0" u="none">
                          <a:solidFill>
                            <a:srgbClr val="1C2B3A"/>
                          </a:solidFill>
                          <a:latin typeface="Barlow"/>
                        </a:rPr>
                        <a:t> und Begründung</a:t>
                      </a:r>
                    </a:p>
                  </a:txBody>
                  <a:tcPr marL="54864" marR="54864" marT="18288" marB="18288">
                    <a:solidFill>
                      <a:srgbClr val="FFFDF8"/>
                    </a:solidFill>
                  </a:tcPr>
                </a:tc>
              </a:tr>
              <a:tr h="295275">
                <a:tc>
                  <a:txBody>
                    <a:bodyPr/>
                    <a:lstStyle/>
                    <a:p>
                      <a:r>
                        <a:rPr sz="1500" b="0" i="0" u="none">
                          <a:solidFill>
                            <a:srgbClr val="1C2B3A"/>
                          </a:solidFill>
                          <a:latin typeface="Barlow"/>
                        </a:rPr>
                        <a:t>entwerfen, erstellen</a:t>
                      </a:r>
                    </a:p>
                  </a:txBody>
                  <a:tcPr marL="54864" marR="54864" marT="18288" marB="18288">
                    <a:solidFill>
                      <a:srgbClr val="FFFDF8"/>
                    </a:solidFill>
                  </a:tcPr>
                </a:tc>
                <a:tc>
                  <a:txBody>
                    <a:bodyPr/>
                    <a:lstStyle/>
                    <a:p>
                      <a:r>
                        <a:rPr sz="1500" b="0" i="0" u="none">
                          <a:solidFill>
                            <a:srgbClr val="1C2B3A"/>
                          </a:solidFill>
                          <a:latin typeface="Barlow"/>
                        </a:rPr>
                        <a:t>SQL, ER-Modell oder Schema selbst anlegen</a:t>
                      </a:r>
                    </a:p>
                  </a:txBody>
                  <a:tcPr marL="54864" marR="54864" marT="18288" marB="18288">
                    <a:solidFill>
                      <a:srgbClr val="FFFDF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SQL-Fallen I: P1 bis P4</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sp>
        <p:nvSpPr>
          <p:cNvPr id="8" name="Rounded Rectangle 7"/>
          <p:cNvSpPr/>
          <p:nvPr/>
        </p:nvSpPr>
        <p:spPr>
          <a:xfrm>
            <a:off x="548640" y="1691640"/>
            <a:ext cx="7772400" cy="701040"/>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Falle P1"/>
          <p:cNvSpPr/>
          <p:nvPr/>
        </p:nvSpPr>
        <p:spPr>
          <a:xfrm>
            <a:off x="685800" y="1828800"/>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1847088"/>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P1</a:t>
            </a:r>
          </a:p>
        </p:txBody>
      </p:sp>
      <p:sp>
        <p:nvSpPr>
          <p:cNvPr id="11" name="TextBox 10"/>
          <p:cNvSpPr txBox="1"/>
          <p:nvPr/>
        </p:nvSpPr>
        <p:spPr>
          <a:xfrm>
            <a:off x="1508760" y="1783080"/>
            <a:ext cx="6675120" cy="56387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WHERE ↔ HAVING</a:t>
            </a:r>
          </a:p>
          <a:p>
            <a:pPr>
              <a:lnSpc>
                <a:spcPct val="105000"/>
              </a:lnSpc>
              <a:spcAft>
                <a:spcPts val="400"/>
              </a:spcAft>
            </a:pPr>
            <a:r>
              <a:rPr sz="1600" b="0" i="0" u="none">
                <a:solidFill>
                  <a:srgbClr val="1C2B3A"/>
                </a:solidFill>
                <a:latin typeface="Barlow"/>
              </a:rPr>
              <a:t>Aggregat im WHERE; Zeilenbedingung im HAVING; Alias im HAVING.</a:t>
            </a:r>
          </a:p>
        </p:txBody>
      </p:sp>
      <p:sp>
        <p:nvSpPr>
          <p:cNvPr id="12" name="Rounded Rectangle 11"/>
          <p:cNvSpPr/>
          <p:nvPr/>
        </p:nvSpPr>
        <p:spPr>
          <a:xfrm>
            <a:off x="548640" y="2502408"/>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alle P2"/>
          <p:cNvSpPr/>
          <p:nvPr/>
        </p:nvSpPr>
        <p:spPr>
          <a:xfrm>
            <a:off x="685800" y="2639568"/>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657856"/>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P2</a:t>
            </a:r>
          </a:p>
        </p:txBody>
      </p:sp>
      <p:sp>
        <p:nvSpPr>
          <p:cNvPr id="15" name="TextBox 14"/>
          <p:cNvSpPr txBox="1"/>
          <p:nvPr/>
        </p:nvSpPr>
        <p:spPr>
          <a:xfrm>
            <a:off x="1508760" y="2593848"/>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Verbund fehlt oder vervielfacht</a:t>
            </a:r>
          </a:p>
          <a:p>
            <a:pPr>
              <a:lnSpc>
                <a:spcPct val="105000"/>
              </a:lnSpc>
              <a:spcAft>
                <a:spcPts val="400"/>
              </a:spcAft>
            </a:pPr>
            <a:r>
              <a:rPr sz="1600" b="0" i="0" u="none">
                <a:solidFill>
                  <a:srgbClr val="1C2B3A"/>
                </a:solidFill>
                <a:latin typeface="Barlow"/>
              </a:rPr>
              <a:t>Verbundbedingung vergessen, falscher FK-Pfad, Zeilen durch zwei 1:n-Verbünde vervielfacht.</a:t>
            </a:r>
          </a:p>
        </p:txBody>
      </p:sp>
      <p:sp>
        <p:nvSpPr>
          <p:cNvPr id="16" name="Rounded Rectangle 15"/>
          <p:cNvSpPr/>
          <p:nvPr/>
        </p:nvSpPr>
        <p:spPr>
          <a:xfrm>
            <a:off x="548640" y="3557016"/>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alle P3"/>
          <p:cNvSpPr/>
          <p:nvPr/>
        </p:nvSpPr>
        <p:spPr>
          <a:xfrm>
            <a:off x="685800" y="3694176"/>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712464"/>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P3</a:t>
            </a:r>
          </a:p>
        </p:txBody>
      </p:sp>
      <p:sp>
        <p:nvSpPr>
          <p:cNvPr id="19" name="TextBox 18"/>
          <p:cNvSpPr txBox="1"/>
          <p:nvPr/>
        </p:nvSpPr>
        <p:spPr>
          <a:xfrm>
            <a:off x="1508760" y="3648456"/>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GROUP-BY-Regel</a:t>
            </a:r>
          </a:p>
          <a:p>
            <a:pPr>
              <a:lnSpc>
                <a:spcPct val="105000"/>
              </a:lnSpc>
              <a:spcAft>
                <a:spcPts val="400"/>
              </a:spcAft>
            </a:pPr>
            <a:r>
              <a:rPr sz="1600" b="0" i="0" u="none">
                <a:solidFill>
                  <a:srgbClr val="1C2B3A"/>
                </a:solidFill>
                <a:latin typeface="Barlow"/>
              </a:rPr>
              <a:t>SELECT-Spalte weder aggregiert noch gruppiert; nach Name statt Schlüssel gruppiert.</a:t>
            </a:r>
          </a:p>
        </p:txBody>
      </p:sp>
      <p:sp>
        <p:nvSpPr>
          <p:cNvPr id="20" name="Rounded Rectangle 19"/>
          <p:cNvSpPr/>
          <p:nvPr/>
        </p:nvSpPr>
        <p:spPr>
          <a:xfrm>
            <a:off x="548640" y="4611624"/>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alle P4"/>
          <p:cNvSpPr/>
          <p:nvPr/>
        </p:nvSpPr>
        <p:spPr>
          <a:xfrm>
            <a:off x="685800" y="4748784"/>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4767072"/>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P4</a:t>
            </a:r>
          </a:p>
        </p:txBody>
      </p:sp>
      <p:sp>
        <p:nvSpPr>
          <p:cNvPr id="23" name="TextBox 22"/>
          <p:cNvSpPr txBox="1"/>
          <p:nvPr/>
        </p:nvSpPr>
        <p:spPr>
          <a:xfrm>
            <a:off x="1508760" y="4703064"/>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COUNT ↔ SUM</a:t>
            </a:r>
          </a:p>
          <a:p>
            <a:pPr>
              <a:lnSpc>
                <a:spcPct val="105000"/>
              </a:lnSpc>
              <a:spcAft>
                <a:spcPts val="400"/>
              </a:spcAft>
            </a:pPr>
            <a:r>
              <a:rPr sz="1600" b="0" i="0" u="none">
                <a:solidFill>
                  <a:srgbClr val="1C2B3A"/>
                </a:solidFill>
                <a:latin typeface="Barlow"/>
              </a:rPr>
              <a:t>Anzahl Zeilen gegen Summe eines Werts; </a:t>
            </a:r>
            <a:r>
              <a:rPr sz="1440" b="0" i="0" u="none">
                <a:solidFill>
                  <a:srgbClr val="1C2B3A"/>
                </a:solidFill>
                <a:latin typeface="IBM Plex Mono"/>
              </a:rPr>
              <a:t>COUNT(Spalte)</a:t>
            </a:r>
            <a:r>
              <a:rPr sz="1600" b="0" i="0" u="none">
                <a:solidFill>
                  <a:srgbClr val="1C2B3A"/>
                </a:solidFill>
                <a:latin typeface="Barlow"/>
              </a:rPr>
              <a:t> zählt NULL nicht.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P4 im Beispiel: COUNT(*) gegen COUNT(Spalte)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sp>
        <p:nvSpPr>
          <p:cNvPr id="8" name="Rounded Rectangle 7"/>
          <p:cNvSpPr/>
          <p:nvPr/>
        </p:nvSpPr>
        <p:spPr>
          <a:xfrm>
            <a:off x="8321040" y="1691640"/>
            <a:ext cx="3322015" cy="2026157"/>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0" y="1691640"/>
            <a:ext cx="73152" cy="2026157"/>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595360" y="1783080"/>
            <a:ext cx="2910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WARUM 6 UND 5?</a:t>
            </a:r>
          </a:p>
        </p:txBody>
      </p:sp>
      <p:sp>
        <p:nvSpPr>
          <p:cNvPr id="11" name="TextBox 10"/>
          <p:cNvSpPr txBox="1"/>
          <p:nvPr/>
        </p:nvSpPr>
        <p:spPr>
          <a:xfrm>
            <a:off x="8595360" y="2148840"/>
            <a:ext cx="2910535" cy="1523237"/>
          </a:xfrm>
          <a:prstGeom prst="rect">
            <a:avLst/>
          </a:prstGeom>
          <a:noFill/>
        </p:spPr>
        <p:txBody>
          <a:bodyPr wrap="square" lIns="27432" rIns="27432" tIns="27432" bIns="27432">
            <a:spAutoFit/>
          </a:bodyPr>
          <a:lstStyle/>
          <a:p>
            <a:pPr>
              <a:lnSpc>
                <a:spcPct val="105000"/>
              </a:lnSpc>
              <a:spcAft>
                <a:spcPts val="300"/>
              </a:spcAft>
            </a:pPr>
            <a:r>
              <a:rPr sz="1614" b="0" i="0" u="none">
                <a:solidFill>
                  <a:srgbClr val="1C2B3A"/>
                </a:solidFill>
                <a:latin typeface="Barlow"/>
              </a:rPr>
              <a:t>Eine Pokal-Partie hat noch kein Ergebnis (NULL).</a:t>
            </a:r>
          </a:p>
          <a:p>
            <a:pPr>
              <a:lnSpc>
                <a:spcPct val="105000"/>
              </a:lnSpc>
              <a:spcAft>
                <a:spcPts val="300"/>
              </a:spcAft>
            </a:pPr>
            <a:r>
              <a:rPr sz="1453" b="0" i="0" u="none">
                <a:solidFill>
                  <a:srgbClr val="1C2B3A"/>
                </a:solidFill>
                <a:latin typeface="IBM Plex Mono"/>
              </a:rPr>
              <a:t>COUNT(*)</a:t>
            </a:r>
            <a:r>
              <a:rPr sz="1614" b="0" i="0" u="none">
                <a:solidFill>
                  <a:srgbClr val="1C2B3A"/>
                </a:solidFill>
                <a:latin typeface="Barlow"/>
              </a:rPr>
              <a:t> zählt sie mit, </a:t>
            </a:r>
            <a:r>
              <a:rPr sz="1453" b="0" i="0" u="none">
                <a:solidFill>
                  <a:srgbClr val="1C2B3A"/>
                </a:solidFill>
                <a:latin typeface="IBM Plex Mono"/>
              </a:rPr>
              <a:t>COUNT(Partie.Ergebnis)</a:t>
            </a:r>
            <a:r>
              <a:rPr sz="1614" b="0" i="0" u="none">
                <a:solidFill>
                  <a:srgbClr val="1C2B3A"/>
                </a:solidFill>
                <a:latin typeface="Barlow"/>
              </a:rPr>
              <a:t> nicht.</a:t>
            </a:r>
          </a:p>
        </p:txBody>
      </p:sp>
      <p:sp>
        <p:nvSpPr>
          <p:cNvPr id="12" name="SQL-Hintergrund"/>
          <p:cNvSpPr/>
          <p:nvPr/>
        </p:nvSpPr>
        <p:spPr>
          <a:xfrm>
            <a:off x="548640" y="1691640"/>
            <a:ext cx="7498079" cy="135191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7132319" cy="1077595"/>
          </a:xfrm>
          <a:prstGeom prst="rect">
            <a:avLst/>
          </a:prstGeom>
          <a:noFill/>
        </p:spPr>
        <p:txBody>
          <a:bodyPr wrap="square" lIns="18288" rIns="18288" tIns="18288" bIns="18288">
            <a:spAutoFit/>
          </a:bodyPr>
          <a:lstStyle/>
          <a:p>
            <a:pPr>
              <a:lnSpc>
                <a:spcPct val="100000"/>
              </a:lnSpc>
            </a:pPr>
            <a:r>
              <a:rPr sz="1300" i="0">
                <a:solidFill>
                  <a:srgbClr val="F2A65A"/>
                </a:solidFill>
                <a:latin typeface="IBM Plex Mono"/>
              </a:rPr>
              <a:t>SELECT</a:t>
            </a:r>
            <a:r>
              <a:rPr sz="1300" i="0">
                <a:solidFill>
                  <a:srgbClr val="D8E3D0"/>
                </a:solidFill>
                <a:latin typeface="IBM Plex Mono"/>
              </a:rPr>
              <a:t> </a:t>
            </a:r>
            <a:r>
              <a:rPr sz="1300" i="0">
                <a:solidFill>
                  <a:srgbClr val="D8E3D0"/>
                </a:solidFill>
                <a:latin typeface="IBM Plex Mono"/>
              </a:rPr>
              <a:t>Turnier</a:t>
            </a:r>
            <a:r>
              <a:rPr sz="1300" i="0">
                <a:solidFill>
                  <a:srgbClr val="D8E3D0"/>
                </a:solidFill>
                <a:latin typeface="IBM Plex Mono"/>
              </a:rPr>
              <a:t>.</a:t>
            </a:r>
            <a:r>
              <a:rPr sz="1300" i="0">
                <a:solidFill>
                  <a:srgbClr val="D8E3D0"/>
                </a:solidFill>
                <a:latin typeface="IBM Plex Mono"/>
              </a:rPr>
              <a:t>TurnierNr</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Turnier</a:t>
            </a:r>
            <a:r>
              <a:rPr sz="1300" i="0">
                <a:solidFill>
                  <a:srgbClr val="D8E3D0"/>
                </a:solidFill>
                <a:latin typeface="IBM Plex Mono"/>
              </a:rPr>
              <a:t>.</a:t>
            </a:r>
            <a:r>
              <a:rPr sz="1300" i="0">
                <a:solidFill>
                  <a:srgbClr val="D8E3D0"/>
                </a:solidFill>
                <a:latin typeface="IBM Plex Mono"/>
              </a:rPr>
              <a:t>Bezeichnung</a:t>
            </a:r>
            <a:r>
              <a:rPr sz="1300" i="0">
                <a:solidFill>
                  <a:srgbClr val="D8E3D0"/>
                </a:solidFill>
                <a:latin typeface="IBM Plex Mono"/>
              </a:rPr>
              <a:t>,</a:t>
            </a:r>
            <a:r>
              <a:rPr sz="1300" i="0">
                <a:solidFill>
                  <a:srgbClr val="D8E3D0"/>
                </a:solidFill>
                <a:latin typeface="IBM Plex Mono"/>
              </a:rPr>
              <a:t> </a:t>
            </a:r>
            <a:r>
              <a:rPr sz="1300" i="0">
                <a:solidFill>
                  <a:srgbClr val="E6C77A"/>
                </a:solidFill>
                <a:latin typeface="IBM Plex Mono"/>
              </a:rPr>
              <a:t>COUNT</a:t>
            </a:r>
            <a:r>
              <a:rPr sz="1300" i="0">
                <a:solidFill>
                  <a:srgbClr val="D8E3D0"/>
                </a:solidFill>
                <a:latin typeface="IBM Plex Mono"/>
              </a:rPr>
              <a:t>(</a:t>
            </a:r>
            <a:r>
              <a:rPr sz="1300" i="0">
                <a:solidFill>
                  <a:srgbClr val="D8E3D0"/>
                </a:solidFill>
                <a:latin typeface="IBM Plex Mono"/>
              </a:rPr>
              <a:t>*</a:t>
            </a:r>
            <a:r>
              <a:rPr sz="1300" i="0">
                <a:solidFill>
                  <a:srgbClr val="D8E3D0"/>
                </a:solidFill>
                <a:latin typeface="IBM Plex Mono"/>
              </a:rPr>
              <a:t>)</a:t>
            </a:r>
            <a:r>
              <a:rPr sz="1300" i="0">
                <a:solidFill>
                  <a:srgbClr val="D8E3D0"/>
                </a:solidFill>
                <a:latin typeface="IBM Plex Mono"/>
              </a:rPr>
              <a:t> </a:t>
            </a:r>
            <a:r>
              <a:rPr sz="1300" i="0">
                <a:solidFill>
                  <a:srgbClr val="F2A65A"/>
                </a:solidFill>
                <a:latin typeface="IBM Plex Mono"/>
              </a:rPr>
              <a:t>AS</a:t>
            </a:r>
            <a:r>
              <a:rPr sz="1300" i="0">
                <a:solidFill>
                  <a:srgbClr val="D8E3D0"/>
                </a:solidFill>
                <a:latin typeface="IBM Plex Mono"/>
              </a:rPr>
              <a:t> </a:t>
            </a:r>
            <a:r>
              <a:rPr sz="1300" i="0">
                <a:solidFill>
                  <a:srgbClr val="D8E3D0"/>
                </a:solidFill>
                <a:latin typeface="IBM Plex Mono"/>
              </a:rPr>
              <a:t>Partien</a:t>
            </a:r>
            <a:r>
              <a:rPr sz="1300" i="0">
                <a:solidFill>
                  <a:srgbClr val="D8E3D0"/>
                </a:solidFill>
                <a:latin typeface="IBM Plex Mono"/>
              </a:rPr>
              <a:t>,</a:t>
            </a:r>
          </a:p>
          <a:p>
            <a:pPr>
              <a:lnSpc>
                <a:spcPct val="100000"/>
              </a:lnSpc>
            </a:pPr>
            <a:r>
              <a:rPr sz="1300" i="0">
                <a:solidFill>
                  <a:srgbClr val="D8E3D0"/>
                </a:solidFill>
                <a:latin typeface="IBM Plex Mono"/>
              </a:rPr>
              <a:t>       </a:t>
            </a:r>
            <a:r>
              <a:rPr sz="1300" i="0">
                <a:solidFill>
                  <a:srgbClr val="E6C77A"/>
                </a:solidFill>
                <a:latin typeface="IBM Plex Mono"/>
              </a:rPr>
              <a:t>COUNT</a:t>
            </a:r>
            <a:r>
              <a:rPr sz="1300" i="0">
                <a:solidFill>
                  <a:srgbClr val="D8E3D0"/>
                </a:solidFill>
                <a:latin typeface="IBM Plex Mono"/>
              </a:rPr>
              <a:t>(</a:t>
            </a:r>
            <a:r>
              <a:rPr sz="1300" i="0">
                <a:solidFill>
                  <a:srgbClr val="D8E3D0"/>
                </a:solidFill>
                <a:latin typeface="IBM Plex Mono"/>
              </a:rPr>
              <a:t>Partie</a:t>
            </a:r>
            <a:r>
              <a:rPr sz="1300" i="0">
                <a:solidFill>
                  <a:srgbClr val="D8E3D0"/>
                </a:solidFill>
                <a:latin typeface="IBM Plex Mono"/>
              </a:rPr>
              <a:t>.</a:t>
            </a:r>
            <a:r>
              <a:rPr sz="1300" i="0">
                <a:solidFill>
                  <a:srgbClr val="D8E3D0"/>
                </a:solidFill>
                <a:latin typeface="IBM Plex Mono"/>
              </a:rPr>
              <a:t>Ergebnis</a:t>
            </a:r>
            <a:r>
              <a:rPr sz="1300" i="0">
                <a:solidFill>
                  <a:srgbClr val="D8E3D0"/>
                </a:solidFill>
                <a:latin typeface="IBM Plex Mono"/>
              </a:rPr>
              <a:t>)</a:t>
            </a:r>
            <a:r>
              <a:rPr sz="1300" i="0">
                <a:solidFill>
                  <a:srgbClr val="D8E3D0"/>
                </a:solidFill>
                <a:latin typeface="IBM Plex Mono"/>
              </a:rPr>
              <a:t> </a:t>
            </a:r>
            <a:r>
              <a:rPr sz="1300" i="0">
                <a:solidFill>
                  <a:srgbClr val="F2A65A"/>
                </a:solidFill>
                <a:latin typeface="IBM Plex Mono"/>
              </a:rPr>
              <a:t>AS</a:t>
            </a:r>
            <a:r>
              <a:rPr sz="1300" i="0">
                <a:solidFill>
                  <a:srgbClr val="D8E3D0"/>
                </a:solidFill>
                <a:latin typeface="IBM Plex Mono"/>
              </a:rPr>
              <a:t> </a:t>
            </a:r>
            <a:r>
              <a:rPr sz="1300" i="0">
                <a:solidFill>
                  <a:srgbClr val="D8E3D0"/>
                </a:solidFill>
                <a:latin typeface="IBM Plex Mono"/>
              </a:rPr>
              <a:t>Beendet</a:t>
            </a:r>
          </a:p>
          <a:p>
            <a:pPr>
              <a:lnSpc>
                <a:spcPct val="100000"/>
              </a:lnSpc>
            </a:pPr>
            <a:r>
              <a:rPr sz="1300" i="0">
                <a:solidFill>
                  <a:srgbClr val="F2A65A"/>
                </a:solidFill>
                <a:latin typeface="IBM Plex Mono"/>
              </a:rPr>
              <a:t>FROM</a:t>
            </a:r>
            <a:r>
              <a:rPr sz="1300" i="0">
                <a:solidFill>
                  <a:srgbClr val="D8E3D0"/>
                </a:solidFill>
                <a:latin typeface="IBM Plex Mono"/>
              </a:rPr>
              <a:t> </a:t>
            </a:r>
            <a:r>
              <a:rPr sz="1300" i="0">
                <a:solidFill>
                  <a:srgbClr val="D8E3D0"/>
                </a:solidFill>
                <a:latin typeface="IBM Plex Mono"/>
              </a:rPr>
              <a:t>Turnier</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Partie</a:t>
            </a:r>
          </a:p>
          <a:p>
            <a:pPr>
              <a:lnSpc>
                <a:spcPct val="100000"/>
              </a:lnSpc>
            </a:pPr>
            <a:r>
              <a:rPr sz="1300" i="0">
                <a:solidFill>
                  <a:srgbClr val="F2A65A"/>
                </a:solidFill>
                <a:latin typeface="IBM Plex Mono"/>
              </a:rPr>
              <a:t>WHERE</a:t>
            </a:r>
            <a:r>
              <a:rPr sz="1300" i="0">
                <a:solidFill>
                  <a:srgbClr val="D8E3D0"/>
                </a:solidFill>
                <a:latin typeface="IBM Plex Mono"/>
              </a:rPr>
              <a:t> </a:t>
            </a:r>
            <a:r>
              <a:rPr sz="1300" i="0">
                <a:solidFill>
                  <a:srgbClr val="D8E3D0"/>
                </a:solidFill>
                <a:latin typeface="IBM Plex Mono"/>
              </a:rPr>
              <a:t>Turnier</a:t>
            </a:r>
            <a:r>
              <a:rPr sz="1300" i="0">
                <a:solidFill>
                  <a:srgbClr val="D8E3D0"/>
                </a:solidFill>
                <a:latin typeface="IBM Plex Mono"/>
              </a:rPr>
              <a:t>.</a:t>
            </a:r>
            <a:r>
              <a:rPr sz="1300" i="0">
                <a:solidFill>
                  <a:srgbClr val="D8E3D0"/>
                </a:solidFill>
                <a:latin typeface="IBM Plex Mono"/>
              </a:rPr>
              <a:t>TurnierNr</a:t>
            </a:r>
            <a:r>
              <a:rPr sz="1300" i="0">
                <a:solidFill>
                  <a:srgbClr val="D8E3D0"/>
                </a:solidFill>
                <a:latin typeface="IBM Plex Mono"/>
              </a:rPr>
              <a:t> </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Partie</a:t>
            </a:r>
            <a:r>
              <a:rPr sz="1300" i="0">
                <a:solidFill>
                  <a:srgbClr val="D8E3D0"/>
                </a:solidFill>
                <a:latin typeface="IBM Plex Mono"/>
              </a:rPr>
              <a:t>.</a:t>
            </a:r>
            <a:r>
              <a:rPr sz="1300" i="0">
                <a:solidFill>
                  <a:srgbClr val="D8E3D0"/>
                </a:solidFill>
                <a:latin typeface="IBM Plex Mono"/>
              </a:rPr>
              <a:t>TurnierNr</a:t>
            </a:r>
          </a:p>
          <a:p>
            <a:pPr>
              <a:lnSpc>
                <a:spcPct val="100000"/>
              </a:lnSpc>
            </a:pPr>
            <a:r>
              <a:rPr sz="1300" i="0">
                <a:solidFill>
                  <a:srgbClr val="F2A65A"/>
                </a:solidFill>
                <a:latin typeface="IBM Plex Mono"/>
              </a:rPr>
              <a:t>GROUP</a:t>
            </a:r>
            <a:r>
              <a:rPr sz="1300" i="0">
                <a:solidFill>
                  <a:srgbClr val="D8E3D0"/>
                </a:solidFill>
                <a:latin typeface="IBM Plex Mono"/>
              </a:rPr>
              <a:t> </a:t>
            </a:r>
            <a:r>
              <a:rPr sz="1300" i="0">
                <a:solidFill>
                  <a:srgbClr val="F2A65A"/>
                </a:solidFill>
                <a:latin typeface="IBM Plex Mono"/>
              </a:rPr>
              <a:t>BY</a:t>
            </a:r>
            <a:r>
              <a:rPr sz="1300" i="0">
                <a:solidFill>
                  <a:srgbClr val="D8E3D0"/>
                </a:solidFill>
                <a:latin typeface="IBM Plex Mono"/>
              </a:rPr>
              <a:t> </a:t>
            </a:r>
            <a:r>
              <a:rPr sz="1300" i="0">
                <a:solidFill>
                  <a:srgbClr val="D8E3D0"/>
                </a:solidFill>
                <a:latin typeface="IBM Plex Mono"/>
              </a:rPr>
              <a:t>Turnier</a:t>
            </a:r>
            <a:r>
              <a:rPr sz="1300" i="0">
                <a:solidFill>
                  <a:srgbClr val="D8E3D0"/>
                </a:solidFill>
                <a:latin typeface="IBM Plex Mono"/>
              </a:rPr>
              <a:t>.</a:t>
            </a:r>
            <a:r>
              <a:rPr sz="1300" i="0">
                <a:solidFill>
                  <a:srgbClr val="D8E3D0"/>
                </a:solidFill>
                <a:latin typeface="IBM Plex Mono"/>
              </a:rPr>
              <a:t>TurnierNr</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Turnier</a:t>
            </a:r>
            <a:r>
              <a:rPr sz="1300" i="0">
                <a:solidFill>
                  <a:srgbClr val="D8E3D0"/>
                </a:solidFill>
                <a:latin typeface="IBM Plex Mono"/>
              </a:rPr>
              <a:t>.</a:t>
            </a:r>
            <a:r>
              <a:rPr sz="1300" i="0">
                <a:solidFill>
                  <a:srgbClr val="D8E3D0"/>
                </a:solidFill>
                <a:latin typeface="IBM Plex Mono"/>
              </a:rPr>
              <a:t>Bezeichnung</a:t>
            </a:r>
          </a:p>
        </p:txBody>
      </p:sp>
      <p:sp>
        <p:nvSpPr>
          <p:cNvPr id="14" name="TextBox 13"/>
          <p:cNvSpPr txBox="1"/>
          <p:nvPr/>
        </p:nvSpPr>
        <p:spPr>
          <a:xfrm>
            <a:off x="548640" y="3116707"/>
            <a:ext cx="7498079"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2 ZEILEN</a:t>
            </a:r>
          </a:p>
        </p:txBody>
      </p:sp>
      <p:graphicFrame>
        <p:nvGraphicFramePr>
          <p:cNvPr id="15" name="Ergebnistabelle"/>
          <p:cNvGraphicFramePr>
            <a:graphicFrameLocks noGrp="1"/>
          </p:cNvGraphicFramePr>
          <p:nvPr/>
        </p:nvGraphicFramePr>
        <p:xfrm>
          <a:off x="548640" y="3427603"/>
          <a:ext cx="5877306" cy="885825"/>
        </p:xfrm>
        <a:graphic>
          <a:graphicData uri="http://schemas.openxmlformats.org/drawingml/2006/table">
            <a:tbl>
              <a:tblPr firstRow="1">
                <a:tableStyleId>{5C22544A-7EE6-4342-B048-85BDC9FD1C3A}</a:tableStyleId>
              </a:tblPr>
              <a:tblGrid>
                <a:gridCol w="1323594"/>
                <a:gridCol w="2372868"/>
                <a:gridCol w="1090422"/>
                <a:gridCol w="1090422"/>
              </a:tblGrid>
              <a:tr h="295275">
                <a:tc>
                  <a:txBody>
                    <a:bodyPr/>
                    <a:lstStyle/>
                    <a:p>
                      <a:r>
                        <a:rPr sz="1380" b="1" i="0" u="none">
                          <a:solidFill>
                            <a:srgbClr val="1C2B3A"/>
                          </a:solidFill>
                          <a:latin typeface="IBM Plex Mono"/>
                        </a:rPr>
                        <a:t>TurnierNr</a:t>
                      </a:r>
                    </a:p>
                  </a:txBody>
                  <a:tcPr marL="54864" marR="54864" marT="18288" marB="18288">
                    <a:solidFill>
                      <a:srgbClr val="EBE2D2"/>
                    </a:solidFill>
                  </a:tcPr>
                </a:tc>
                <a:tc>
                  <a:txBody>
                    <a:bodyPr/>
                    <a:lstStyle/>
                    <a:p>
                      <a:r>
                        <a:rPr sz="1380" b="1" i="0" u="none">
                          <a:solidFill>
                            <a:srgbClr val="1C2B3A"/>
                          </a:solidFill>
                          <a:latin typeface="IBM Plex Mono"/>
                        </a:rPr>
                        <a:t>Bezeichnung</a:t>
                      </a:r>
                    </a:p>
                  </a:txBody>
                  <a:tcPr marL="54864" marR="54864" marT="18288" marB="18288">
                    <a:solidFill>
                      <a:srgbClr val="EBE2D2"/>
                    </a:solidFill>
                  </a:tcPr>
                </a:tc>
                <a:tc>
                  <a:txBody>
                    <a:bodyPr/>
                    <a:lstStyle/>
                    <a:p>
                      <a:r>
                        <a:rPr sz="1380" b="1" i="0" u="none">
                          <a:solidFill>
                            <a:srgbClr val="1C2B3A"/>
                          </a:solidFill>
                          <a:latin typeface="IBM Plex Mono"/>
                        </a:rPr>
                        <a:t>Partien</a:t>
                      </a:r>
                    </a:p>
                  </a:txBody>
                  <a:tcPr marL="54864" marR="54864" marT="18288" marB="18288">
                    <a:solidFill>
                      <a:srgbClr val="EBE2D2"/>
                    </a:solidFill>
                  </a:tcPr>
                </a:tc>
                <a:tc>
                  <a:txBody>
                    <a:bodyPr/>
                    <a:lstStyle/>
                    <a:p>
                      <a:r>
                        <a:rPr sz="1380" b="1" i="0" u="none">
                          <a:solidFill>
                            <a:srgbClr val="1C2B3A"/>
                          </a:solidFill>
                          <a:latin typeface="IBM Plex Mono"/>
                        </a:rPr>
                        <a:t>Beendet</a:t>
                      </a:r>
                    </a:p>
                  </a:txBody>
                  <a:tcPr marL="54864" marR="54864" marT="18288" marB="18288">
                    <a:solidFill>
                      <a:srgbClr val="EBE2D2"/>
                    </a:solidFill>
                  </a:tcPr>
                </a:tc>
              </a:tr>
              <a:tr h="295275">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Frühjahrsblitz</a:t>
                      </a:r>
                    </a:p>
                  </a:txBody>
                  <a:tcPr marL="54864" marR="54864" marT="18288" marB="18288">
                    <a:solidFill>
                      <a:srgbClr val="FFFDF8"/>
                    </a:solidFill>
                  </a:tcPr>
                </a:tc>
                <a:tc>
                  <a:txBody>
                    <a:bodyPr/>
                    <a:lstStyle/>
                    <a:p>
                      <a:pPr algn="r"/>
                      <a:r>
                        <a:rPr sz="1500" b="0" i="0" u="none">
                          <a:solidFill>
                            <a:srgbClr val="1C2B3A"/>
                          </a:solidFill>
                          <a:latin typeface="Barlow"/>
                        </a:rPr>
                        <a:t>12</a:t>
                      </a:r>
                    </a:p>
                  </a:txBody>
                  <a:tcPr marL="54864" marR="54864" marT="18288" marB="18288">
                    <a:solidFill>
                      <a:srgbClr val="FFFDF8"/>
                    </a:solidFill>
                  </a:tcPr>
                </a:tc>
                <a:tc>
                  <a:txBody>
                    <a:bodyPr/>
                    <a:lstStyle/>
                    <a:p>
                      <a:pPr algn="r"/>
                      <a:r>
                        <a:rPr sz="1500" b="0" i="0" u="none">
                          <a:solidFill>
                            <a:srgbClr val="1C2B3A"/>
                          </a:solidFill>
                          <a:latin typeface="Barlow"/>
                        </a:rPr>
                        <a:t>12</a:t>
                      </a:r>
                    </a:p>
                  </a:txBody>
                  <a:tcPr marL="54864" marR="54864" marT="18288" marB="18288">
                    <a:solidFill>
                      <a:srgbClr val="FFFDF8"/>
                    </a:solidFill>
                  </a:tcPr>
                </a:tc>
              </a:tr>
              <a:tr h="295275">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Weserbrücken-Pokal</a:t>
                      </a:r>
                    </a:p>
                  </a:txBody>
                  <a:tcPr marL="54864" marR="54864" marT="18288" marB="18288">
                    <a:solidFill>
                      <a:srgbClr val="FFFDF8"/>
                    </a:solidFill>
                  </a:tcPr>
                </a:tc>
                <a:tc>
                  <a:txBody>
                    <a:bodyPr/>
                    <a:lstStyle/>
                    <a:p>
                      <a:pPr algn="r"/>
                      <a:r>
                        <a:rPr sz="1500" b="0" i="0" u="none">
                          <a:solidFill>
                            <a:srgbClr val="1C2B3A"/>
                          </a:solidFill>
                          <a:latin typeface="Barlow"/>
                        </a:rPr>
                        <a:t>6</a:t>
                      </a:r>
                    </a:p>
                  </a:txBody>
                  <a:tcPr marL="54864" marR="54864" marT="18288" marB="18288">
                    <a:solidFill>
                      <a:srgbClr val="FFFDF8"/>
                    </a:solidFill>
                  </a:tcPr>
                </a:tc>
                <a:tc>
                  <a:txBody>
                    <a:bodyPr/>
                    <a:lstStyle/>
                    <a:p>
                      <a:pPr algn="r"/>
                      <a:r>
                        <a:rPr sz="1500" b="0" i="0" u="none">
                          <a:solidFill>
                            <a:srgbClr val="1C2B3A"/>
                          </a:solidFill>
                          <a:latin typeface="Barlow"/>
                        </a:rPr>
                        <a:t>5</a:t>
                      </a:r>
                    </a:p>
                  </a:txBody>
                  <a:tcPr marL="54864" marR="54864" marT="18288" marB="18288">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SQL-Fallen II: P5 bis P7</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sp>
        <p:nvSpPr>
          <p:cNvPr id="8" name="Rounded Rectangle 7"/>
          <p:cNvSpPr/>
          <p:nvPr/>
        </p:nvSpPr>
        <p:spPr>
          <a:xfrm>
            <a:off x="548640" y="1691640"/>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Falle P5"/>
          <p:cNvSpPr/>
          <p:nvPr/>
        </p:nvSpPr>
        <p:spPr>
          <a:xfrm>
            <a:off x="685800" y="1828800"/>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1847088"/>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P5</a:t>
            </a:r>
          </a:p>
        </p:txBody>
      </p:sp>
      <p:sp>
        <p:nvSpPr>
          <p:cNvPr id="11" name="TextBox 10"/>
          <p:cNvSpPr txBox="1"/>
          <p:nvPr/>
        </p:nvSpPr>
        <p:spPr>
          <a:xfrm>
            <a:off x="1508760" y="1783080"/>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NULL und Literale</a:t>
            </a:r>
          </a:p>
          <a:p>
            <a:pPr>
              <a:lnSpc>
                <a:spcPct val="105000"/>
              </a:lnSpc>
              <a:spcAft>
                <a:spcPts val="400"/>
              </a:spcAft>
            </a:pPr>
            <a:r>
              <a:rPr sz="1440" b="0" i="0" u="none">
                <a:solidFill>
                  <a:srgbClr val="1C2B3A"/>
                </a:solidFill>
                <a:latin typeface="IBM Plex Mono"/>
              </a:rPr>
              <a:t>= NULL</a:t>
            </a:r>
            <a:r>
              <a:rPr sz="1600" b="0" i="0" u="none">
                <a:solidFill>
                  <a:srgbClr val="1C2B3A"/>
                </a:solidFill>
                <a:latin typeface="Barlow"/>
              </a:rPr>
              <a:t> statt </a:t>
            </a:r>
            <a:r>
              <a:rPr sz="1440" b="0" i="0" u="none">
                <a:solidFill>
                  <a:srgbClr val="1C2B3A"/>
                </a:solidFill>
                <a:latin typeface="IBM Plex Mono"/>
              </a:rPr>
              <a:t>IS NULL</a:t>
            </a:r>
            <a:r>
              <a:rPr sz="1600" b="0" i="0" u="none">
                <a:solidFill>
                  <a:srgbClr val="1C2B3A"/>
                </a:solidFill>
                <a:latin typeface="Barlow"/>
              </a:rPr>
              <a:t>; Text ohne Hochkommata; Datum nicht als </a:t>
            </a:r>
            <a:r>
              <a:rPr sz="1440" b="0" i="0" u="none">
                <a:solidFill>
                  <a:srgbClr val="1C2B3A"/>
                </a:solidFill>
                <a:latin typeface="IBM Plex Mono"/>
              </a:rPr>
              <a:t>'JJJJ-MM-TT'</a:t>
            </a:r>
            <a:r>
              <a:rPr sz="1600" b="0" i="0" u="none">
                <a:solidFill>
                  <a:srgbClr val="1C2B3A"/>
                </a:solidFill>
                <a:latin typeface="Barlow"/>
              </a:rPr>
              <a:t>.</a:t>
            </a:r>
          </a:p>
        </p:txBody>
      </p:sp>
      <p:sp>
        <p:nvSpPr>
          <p:cNvPr id="12" name="Rounded Rectangle 11"/>
          <p:cNvSpPr/>
          <p:nvPr/>
        </p:nvSpPr>
        <p:spPr>
          <a:xfrm>
            <a:off x="548640" y="2746248"/>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alle P6"/>
          <p:cNvSpPr/>
          <p:nvPr/>
        </p:nvSpPr>
        <p:spPr>
          <a:xfrm>
            <a:off x="685800" y="2883408"/>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901696"/>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P6</a:t>
            </a:r>
          </a:p>
        </p:txBody>
      </p:sp>
      <p:sp>
        <p:nvSpPr>
          <p:cNvPr id="15" name="TextBox 14"/>
          <p:cNvSpPr txBox="1"/>
          <p:nvPr/>
        </p:nvSpPr>
        <p:spPr>
          <a:xfrm>
            <a:off x="1508760" y="2837688"/>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Bedingungslogik</a:t>
            </a:r>
          </a:p>
          <a:p>
            <a:pPr>
              <a:lnSpc>
                <a:spcPct val="105000"/>
              </a:lnSpc>
              <a:spcAft>
                <a:spcPts val="400"/>
              </a:spcAft>
            </a:pPr>
            <a:r>
              <a:rPr sz="1600" b="0" i="0" u="none">
                <a:solidFill>
                  <a:srgbClr val="1C2B3A"/>
                </a:solidFill>
                <a:latin typeface="Barlow"/>
              </a:rPr>
              <a:t>AND/OR ohne Klammern; </a:t>
            </a:r>
            <a:r>
              <a:rPr sz="1440" b="0" i="0" u="none">
                <a:solidFill>
                  <a:srgbClr val="1C2B3A"/>
                </a:solidFill>
                <a:latin typeface="IBM Plex Mono"/>
              </a:rPr>
              <a:t>&gt;</a:t>
            </a:r>
            <a:r>
              <a:rPr sz="1600" b="0" i="0" u="none">
                <a:solidFill>
                  <a:srgbClr val="1C2B3A"/>
                </a:solidFill>
                <a:latin typeface="Barlow"/>
              </a:rPr>
              <a:t> statt </a:t>
            </a:r>
            <a:r>
              <a:rPr sz="1440" b="0" i="0" u="none">
                <a:solidFill>
                  <a:srgbClr val="1C2B3A"/>
                </a:solidFill>
                <a:latin typeface="IBM Plex Mono"/>
              </a:rPr>
              <a:t>&gt;=</a:t>
            </a:r>
            <a:r>
              <a:rPr sz="1600" b="0" i="0" u="none">
                <a:solidFill>
                  <a:srgbClr val="1C2B3A"/>
                </a:solidFill>
                <a:latin typeface="Barlow"/>
              </a:rPr>
              <a:t>; BETWEEN schließt Grenzen ein; LIKE-Platzhalter falsch.</a:t>
            </a:r>
          </a:p>
        </p:txBody>
      </p:sp>
      <p:sp>
        <p:nvSpPr>
          <p:cNvPr id="16" name="Rounded Rectangle 15"/>
          <p:cNvSpPr/>
          <p:nvPr/>
        </p:nvSpPr>
        <p:spPr>
          <a:xfrm>
            <a:off x="548640" y="3800856"/>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alle P7"/>
          <p:cNvSpPr/>
          <p:nvPr/>
        </p:nvSpPr>
        <p:spPr>
          <a:xfrm>
            <a:off x="685800" y="3938016"/>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956304"/>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P7</a:t>
            </a:r>
          </a:p>
        </p:txBody>
      </p:sp>
      <p:sp>
        <p:nvSpPr>
          <p:cNvPr id="19" name="TextBox 18"/>
          <p:cNvSpPr txBox="1"/>
          <p:nvPr/>
        </p:nvSpPr>
        <p:spPr>
          <a:xfrm>
            <a:off x="1508760" y="3892296"/>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Mehrdeutig oder falsch benannt</a:t>
            </a:r>
          </a:p>
          <a:p>
            <a:pPr>
              <a:lnSpc>
                <a:spcPct val="105000"/>
              </a:lnSpc>
              <a:spcAft>
                <a:spcPts val="400"/>
              </a:spcAft>
            </a:pPr>
            <a:r>
              <a:rPr sz="1600" b="0" i="0" u="none">
                <a:solidFill>
                  <a:srgbClr val="1C2B3A"/>
                </a:solidFill>
                <a:latin typeface="Barlow"/>
              </a:rPr>
              <a:t>Präfix fehlt bei gleichnamigen Spalten; FK heißt anders als der PK; Alias falsch verwendet.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Modellierungs-Fallen: P8 und P9</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Rounded Rectangle 7"/>
          <p:cNvSpPr/>
          <p:nvPr/>
        </p:nvSpPr>
        <p:spPr>
          <a:xfrm>
            <a:off x="6035040" y="1691640"/>
            <a:ext cx="5608015" cy="1932432"/>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932432"/>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GEGENMITTEL</a:t>
            </a:r>
          </a:p>
        </p:txBody>
      </p:sp>
      <p:sp>
        <p:nvSpPr>
          <p:cNvPr id="11" name="TextBox 10"/>
          <p:cNvSpPr txBox="1"/>
          <p:nvPr/>
        </p:nvSpPr>
        <p:spPr>
          <a:xfrm>
            <a:off x="6309359" y="2148840"/>
            <a:ext cx="5196535" cy="1429512"/>
          </a:xfrm>
          <a:prstGeom prst="rect">
            <a:avLst/>
          </a:prstGeom>
          <a:noFill/>
        </p:spPr>
        <p:txBody>
          <a:bodyPr wrap="square" lIns="27432" rIns="27432" tIns="27432" bIns="27432">
            <a:spAutoFit/>
          </a:bodyPr>
          <a:lstStyle/>
          <a:p>
            <a:pPr>
              <a:lnSpc>
                <a:spcPct val="105000"/>
              </a:lnSpc>
              <a:spcAft>
                <a:spcPts val="300"/>
              </a:spcAft>
            </a:pPr>
            <a:r>
              <a:rPr sz="1700" b="1">
                <a:solidFill>
                  <a:srgbClr val="2C5A85"/>
                </a:solidFill>
                <a:latin typeface="Barlow"/>
              </a:rPr>
              <a:t>▸  </a:t>
            </a:r>
            <a:r>
              <a:rPr sz="1700" b="0" i="0" u="none">
                <a:solidFill>
                  <a:srgbClr val="1C2B3A"/>
                </a:solidFill>
                <a:latin typeface="Barlow"/>
              </a:rPr>
              <a:t>Schlüssel: „Kann es das in der Realität zweimal geben?“</a:t>
            </a:r>
          </a:p>
          <a:p>
            <a:pPr>
              <a:lnSpc>
                <a:spcPct val="105000"/>
              </a:lnSpc>
              <a:spcAft>
                <a:spcPts val="300"/>
              </a:spcAft>
            </a:pPr>
            <a:r>
              <a:rPr sz="1700" b="1">
                <a:solidFill>
                  <a:srgbClr val="2C5A85"/>
                </a:solidFill>
                <a:latin typeface="Barlow"/>
              </a:rPr>
              <a:t>▸  </a:t>
            </a:r>
            <a:r>
              <a:rPr sz="1700" b="0" i="0" u="none">
                <a:solidFill>
                  <a:srgbClr val="1C2B3A"/>
                </a:solidFill>
                <a:latin typeface="Barlow"/>
              </a:rPr>
              <a:t>Kardinalität: zwei Fragen je Raute</a:t>
            </a:r>
          </a:p>
          <a:p>
            <a:pPr>
              <a:lnSpc>
                <a:spcPct val="105000"/>
              </a:lnSpc>
              <a:spcAft>
                <a:spcPts val="300"/>
              </a:spcAft>
            </a:pPr>
            <a:r>
              <a:rPr sz="1700" b="1">
                <a:solidFill>
                  <a:srgbClr val="2C5A85"/>
                </a:solidFill>
                <a:latin typeface="Barlow"/>
              </a:rPr>
              <a:t>▸  </a:t>
            </a:r>
            <a:r>
              <a:rPr sz="1700" b="0" i="0" u="none">
                <a:solidFill>
                  <a:srgbClr val="1C2B3A"/>
                </a:solidFill>
                <a:latin typeface="Barlow"/>
              </a:rPr>
              <a:t>1:n → FK auf die n-Seite</a:t>
            </a:r>
          </a:p>
        </p:txBody>
      </p:sp>
      <p:sp>
        <p:nvSpPr>
          <p:cNvPr id="12" name="Rounded Rectangle 11"/>
          <p:cNvSpPr/>
          <p:nvPr/>
        </p:nvSpPr>
        <p:spPr>
          <a:xfrm>
            <a:off x="548640" y="1691640"/>
            <a:ext cx="5212080" cy="118871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alle P8"/>
          <p:cNvSpPr/>
          <p:nvPr/>
        </p:nvSpPr>
        <p:spPr>
          <a:xfrm>
            <a:off x="685800" y="1828800"/>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1847088"/>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P8</a:t>
            </a:r>
          </a:p>
        </p:txBody>
      </p:sp>
      <p:sp>
        <p:nvSpPr>
          <p:cNvPr id="15" name="TextBox 14"/>
          <p:cNvSpPr txBox="1"/>
          <p:nvPr/>
        </p:nvSpPr>
        <p:spPr>
          <a:xfrm>
            <a:off x="1508760" y="1783080"/>
            <a:ext cx="4114800" cy="1051560"/>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Schlüssel falsch beurteilt</a:t>
            </a:r>
          </a:p>
          <a:p>
            <a:pPr>
              <a:lnSpc>
                <a:spcPct val="105000"/>
              </a:lnSpc>
              <a:spcAft>
                <a:spcPts val="400"/>
              </a:spcAft>
            </a:pPr>
            <a:r>
              <a:rPr sz="1600" b="0" i="0" u="none">
                <a:solidFill>
                  <a:srgbClr val="1C2B3A"/>
                </a:solidFill>
                <a:latin typeface="Barlow"/>
              </a:rPr>
              <a:t>Eindeutigkeit aus dem Datenausschnitt geschlossen; NULL im Schlüssel; nicht minimal; Mehrfachvorkommen übersehen.</a:t>
            </a:r>
          </a:p>
        </p:txBody>
      </p:sp>
      <p:sp>
        <p:nvSpPr>
          <p:cNvPr id="16" name="Rounded Rectangle 15"/>
          <p:cNvSpPr/>
          <p:nvPr/>
        </p:nvSpPr>
        <p:spPr>
          <a:xfrm>
            <a:off x="548640" y="2990088"/>
            <a:ext cx="5212080" cy="167639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alle P9"/>
          <p:cNvSpPr/>
          <p:nvPr/>
        </p:nvSpPr>
        <p:spPr>
          <a:xfrm>
            <a:off x="685800" y="3127248"/>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145536"/>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P9</a:t>
            </a:r>
          </a:p>
        </p:txBody>
      </p:sp>
      <p:sp>
        <p:nvSpPr>
          <p:cNvPr id="19" name="TextBox 18"/>
          <p:cNvSpPr txBox="1"/>
          <p:nvPr/>
        </p:nvSpPr>
        <p:spPr>
          <a:xfrm>
            <a:off x="1508760" y="3081528"/>
            <a:ext cx="4114800" cy="153923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ER oder Überführung fehlerhaft</a:t>
            </a:r>
          </a:p>
          <a:p>
            <a:pPr>
              <a:lnSpc>
                <a:spcPct val="105000"/>
              </a:lnSpc>
              <a:spcAft>
                <a:spcPts val="400"/>
              </a:spcAft>
            </a:pPr>
            <a:r>
              <a:rPr sz="1600" b="0" i="0" u="none">
                <a:solidFill>
                  <a:srgbClr val="1C2B3A"/>
                </a:solidFill>
                <a:latin typeface="Barlow"/>
              </a:rPr>
              <a:t>Kardinalität vertauscht, Schlüsselattribut nicht markiert, Beziehungsattribut falsch platziert, FK auf der falschen Seite, n:m ohne eigene Relation.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P10: Operator verfehlt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sp>
        <p:nvSpPr>
          <p:cNvPr id="8" name="TextBox 7"/>
          <p:cNvSpPr txBox="1"/>
          <p:nvPr/>
        </p:nvSpPr>
        <p:spPr>
          <a:xfrm>
            <a:off x="548640" y="1691640"/>
            <a:ext cx="7772400" cy="682751"/>
          </a:xfrm>
          <a:prstGeom prst="rect">
            <a:avLst/>
          </a:prstGeom>
          <a:noFill/>
        </p:spPr>
        <p:txBody>
          <a:bodyPr wrap="square" lIns="27432" rIns="27432" tIns="27432" bIns="27432">
            <a:spAutoFit/>
          </a:bodyPr>
          <a:lstStyle/>
          <a:p>
            <a:pPr>
              <a:lnSpc>
                <a:spcPct val="105000"/>
              </a:lnSpc>
              <a:spcAft>
                <a:spcPts val="400"/>
              </a:spcAft>
            </a:pPr>
            <a:r>
              <a:rPr sz="2000" b="1" i="0" u="none">
                <a:solidFill>
                  <a:srgbClr val="E8E1D3"/>
                </a:solidFill>
                <a:latin typeface="Barlow"/>
              </a:rPr>
              <a:t>Beurteilen</a:t>
            </a:r>
            <a:r>
              <a:rPr sz="2000" b="0" i="0" u="none">
                <a:solidFill>
                  <a:srgbClr val="E8E1D3"/>
                </a:solidFill>
                <a:latin typeface="Barlow"/>
              </a:rPr>
              <a:t> Sie, ob (Vorname, Nachname) als Primärschlüssel der Relation Spieler geeignet ist.</a:t>
            </a:r>
          </a:p>
        </p:txBody>
      </p:sp>
      <p:sp>
        <p:nvSpPr>
          <p:cNvPr id="9" name="Rounded Rectangle 8"/>
          <p:cNvSpPr/>
          <p:nvPr/>
        </p:nvSpPr>
        <p:spPr>
          <a:xfrm>
            <a:off x="548640" y="2410968"/>
            <a:ext cx="7772400" cy="954023"/>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410968"/>
            <a:ext cx="73152" cy="954023"/>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2502408"/>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 OHNE KRITERIUM (P10)</a:t>
            </a:r>
          </a:p>
        </p:txBody>
      </p:sp>
      <p:sp>
        <p:nvSpPr>
          <p:cNvPr id="12" name="TextBox 11"/>
          <p:cNvSpPr txBox="1"/>
          <p:nvPr/>
        </p:nvSpPr>
        <p:spPr>
          <a:xfrm>
            <a:off x="822959" y="2868168"/>
            <a:ext cx="7360920" cy="45110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„Nein, das ist nicht geeignet.“</a:t>
            </a:r>
          </a:p>
        </p:txBody>
      </p:sp>
      <p:sp>
        <p:nvSpPr>
          <p:cNvPr id="13" name="Rounded Rectangle 12"/>
          <p:cNvSpPr/>
          <p:nvPr/>
        </p:nvSpPr>
        <p:spPr>
          <a:xfrm>
            <a:off x="548640" y="3474720"/>
            <a:ext cx="7772400" cy="1990344"/>
          </a:xfrm>
          <a:prstGeom prst="roundRect">
            <a:avLst>
              <a:gd name="adj" fmla="val 4000"/>
            </a:avLst>
          </a:prstGeom>
          <a:solidFill>
            <a:srgbClr val="E0E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8640" y="3474720"/>
            <a:ext cx="73152" cy="1990344"/>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59" y="356616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F6B4F"/>
                </a:solidFill>
                <a:latin typeface="IBM Plex Mono"/>
              </a:rPr>
              <a:t>✔ MIT KRITERIEN BEURTEILT</a:t>
            </a:r>
          </a:p>
        </p:txBody>
      </p:sp>
      <p:sp>
        <p:nvSpPr>
          <p:cNvPr id="16" name="TextBox 15"/>
          <p:cNvSpPr txBox="1"/>
          <p:nvPr/>
        </p:nvSpPr>
        <p:spPr>
          <a:xfrm>
            <a:off x="822959" y="3931920"/>
            <a:ext cx="7360920" cy="1487424"/>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Ein Primärschlüssel muss für alle denkbaren Daten eindeutig und möglichst unveränderlich sein. Zwei Personen können gleich heißen (es gibt schon zwei Bargmanns, gleiche Vornamen sind möglich), Namen können sich ändern. (Vorname, Nachname) ist daher </a:t>
            </a:r>
            <a:r>
              <a:rPr sz="1700" b="1" i="0" u="none">
                <a:solidFill>
                  <a:srgbClr val="1C2B3A"/>
                </a:solidFill>
                <a:latin typeface="Barlow"/>
              </a:rPr>
              <a:t>nicht geeignet</a:t>
            </a:r>
            <a:r>
              <a:rPr sz="1700" b="0" i="0" u="none">
                <a:solidFill>
                  <a:srgbClr val="1C2B3A"/>
                </a:solidFill>
                <a:latin typeface="Barlow"/>
              </a:rPr>
              <a:t>; SpielerNr erfüllt beide Kriterien.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Kurz anhalten: Jetzt du!</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sp>
        <p:nvSpPr>
          <p:cNvPr id="8" name="Rounded Rectangle 7"/>
          <p:cNvSpPr/>
          <p:nvPr/>
        </p:nvSpPr>
        <p:spPr>
          <a:xfrm>
            <a:off x="6035040" y="1691640"/>
            <a:ext cx="5608015" cy="1383029"/>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17920" y="1801368"/>
            <a:ext cx="5242255" cy="1200149"/>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SCHEMA</a:t>
            </a:r>
          </a:p>
          <a:p>
            <a:pPr>
              <a:lnSpc>
                <a:spcPct val="105000"/>
              </a:lnSpc>
              <a:spcAft>
                <a:spcPts val="500"/>
              </a:spcAft>
            </a:pPr>
            <a:r>
              <a:rPr sz="1380" b="0" i="0" u="none">
                <a:solidFill>
                  <a:srgbClr val="1C2B3A"/>
                </a:solidFill>
                <a:latin typeface="IBM Plex Mono"/>
              </a:rPr>
              <a:t>Verein(</a:t>
            </a:r>
            <a:r>
              <a:rPr sz="1380" b="0" i="0" u="sng">
                <a:solidFill>
                  <a:srgbClr val="1C2B3A"/>
                </a:solidFill>
                <a:latin typeface="IBM Plex Mono"/>
              </a:rPr>
              <a:t>VereinNr</a:t>
            </a:r>
            <a:r>
              <a:rPr sz="1380" b="0" i="0" u="none">
                <a:solidFill>
                  <a:srgbClr val="1C2B3A"/>
                </a:solidFill>
                <a:latin typeface="IBM Plex Mono"/>
              </a:rPr>
              <a:t>, Name, Ort)</a:t>
            </a:r>
          </a:p>
          <a:p>
            <a:pPr>
              <a:lnSpc>
                <a:spcPct val="105000"/>
              </a:lnSpc>
              <a:spcAft>
                <a:spcPts val="500"/>
              </a:spcAft>
            </a:pPr>
            <a:r>
              <a:rPr sz="1380" b="0" i="0" u="none">
                <a:solidFill>
                  <a:srgbClr val="1C2B3A"/>
                </a:solidFill>
                <a:latin typeface="IBM Plex Mono"/>
              </a:rPr>
              <a:t>Spieler(</a:t>
            </a:r>
            <a:r>
              <a:rPr sz="1380" b="0" i="0" u="sng">
                <a:solidFill>
                  <a:srgbClr val="1C2B3A"/>
                </a:solidFill>
                <a:latin typeface="IBM Plex Mono"/>
              </a:rPr>
              <a:t>SpielerNr</a:t>
            </a:r>
            <a:r>
              <a:rPr sz="1380" b="0" i="0" u="none">
                <a:solidFill>
                  <a:srgbClr val="1C2B3A"/>
                </a:solidFill>
                <a:latin typeface="IBM Plex Mono"/>
              </a:rPr>
              <a:t>, Vorname, Nachname, Jahrgang, Wertung, </a:t>
            </a:r>
            <a:r>
              <a:rPr sz="1380" b="0" i="0" u="none">
                <a:solidFill>
                  <a:srgbClr val="B3261E"/>
                </a:solidFill>
                <a:latin typeface="IBM Plex Mono"/>
              </a:rPr>
              <a:t>↑</a:t>
            </a:r>
            <a:r>
              <a:rPr sz="1380" b="0" i="0" u="none">
                <a:solidFill>
                  <a:srgbClr val="1C2B3A"/>
                </a:solidFill>
                <a:latin typeface="IBM Plex Mono"/>
              </a:rPr>
              <a:t>VereinNr)</a:t>
            </a:r>
          </a:p>
        </p:txBody>
      </p:sp>
      <p:sp>
        <p:nvSpPr>
          <p:cNvPr id="10" name="Pause"/>
          <p:cNvSpPr/>
          <p:nvPr/>
        </p:nvSpPr>
        <p:spPr>
          <a:xfrm>
            <a:off x="548640" y="1691640"/>
            <a:ext cx="3108960" cy="457200"/>
          </a:xfrm>
          <a:prstGeom prst="roundRect">
            <a:avLst>
              <a:gd name="adj" fmla="val 4000"/>
            </a:avLst>
          </a:prstGeom>
          <a:solidFill>
            <a:srgbClr val="D4B0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1691640"/>
            <a:ext cx="3108960" cy="457200"/>
          </a:xfrm>
          <a:prstGeom prst="rect">
            <a:avLst/>
          </a:prstGeom>
          <a:noFill/>
        </p:spPr>
        <p:txBody>
          <a:bodyPr wrap="none" anchor="ctr">
            <a:spAutoFit/>
          </a:bodyPr>
          <a:lstStyle/>
          <a:p>
            <a:pPr algn="ctr"/>
            <a:r>
              <a:rPr sz="1500" b="1">
                <a:solidFill>
                  <a:srgbClr val="1C2B3A"/>
                </a:solidFill>
                <a:latin typeface="Segoe UI Symbol"/>
              </a:rPr>
              <a:t>⏸</a:t>
            </a:r>
            <a:r>
              <a:rPr sz="1500" b="1">
                <a:solidFill>
                  <a:srgbClr val="1C2B3A"/>
                </a:solidFill>
                <a:latin typeface="IBM Plex Mono"/>
              </a:rPr>
              <a:t>  VIDEO ANHALTEN</a:t>
            </a:r>
          </a:p>
        </p:txBody>
      </p:sp>
      <p:sp>
        <p:nvSpPr>
          <p:cNvPr id="12" name="TextBox 11"/>
          <p:cNvSpPr txBox="1"/>
          <p:nvPr/>
        </p:nvSpPr>
        <p:spPr>
          <a:xfrm>
            <a:off x="548640" y="2258568"/>
            <a:ext cx="5212080" cy="987552"/>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Gesucht: Vereine mit </a:t>
            </a:r>
            <a:r>
              <a:rPr sz="2000" b="1" i="0" u="none">
                <a:solidFill>
                  <a:srgbClr val="E8E1D3"/>
                </a:solidFill>
                <a:latin typeface="Barlow"/>
              </a:rPr>
              <a:t>mindestens drei</a:t>
            </a:r>
            <a:r>
              <a:rPr sz="2000" b="0" i="0" u="none">
                <a:solidFill>
                  <a:srgbClr val="E8E1D3"/>
                </a:solidFill>
                <a:latin typeface="Barlow"/>
              </a:rPr>
              <a:t> Mitgliedern – mit Name, Ort und Anzahl. </a:t>
            </a:r>
            <a:r>
              <a:rPr sz="2000" b="1" i="0" u="none">
                <a:solidFill>
                  <a:srgbClr val="E8E1D3"/>
                </a:solidFill>
                <a:latin typeface="Barlow"/>
              </a:rPr>
              <a:t>Finde alle Fallen</a:t>
            </a:r>
            <a:r>
              <a:rPr sz="2000" b="0" i="0" u="none">
                <a:solidFill>
                  <a:srgbClr val="E8E1D3"/>
                </a:solidFill>
                <a:latin typeface="Barlow"/>
              </a:rPr>
              <a:t> in dieser Abfrage:</a:t>
            </a:r>
          </a:p>
        </p:txBody>
      </p:sp>
      <p:sp>
        <p:nvSpPr>
          <p:cNvPr id="13" name="TextBox 12"/>
          <p:cNvSpPr txBox="1"/>
          <p:nvPr/>
        </p:nvSpPr>
        <p:spPr>
          <a:xfrm>
            <a:off x="548640" y="3282696"/>
            <a:ext cx="5212080"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E0574F"/>
                </a:solidFill>
                <a:latin typeface="IBM Plex Mono"/>
              </a:rPr>
              <a:t>✘ ENTHÄLT DREI FALLEN</a:t>
            </a:r>
          </a:p>
        </p:txBody>
      </p:sp>
      <p:sp>
        <p:nvSpPr>
          <p:cNvPr id="14" name="SQL-Hintergrund"/>
          <p:cNvSpPr/>
          <p:nvPr/>
        </p:nvSpPr>
        <p:spPr>
          <a:xfrm>
            <a:off x="548640" y="3593592"/>
            <a:ext cx="5212080" cy="1510664"/>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QL [fehlerhaft]"/>
          <p:cNvSpPr txBox="1"/>
          <p:nvPr/>
        </p:nvSpPr>
        <p:spPr>
          <a:xfrm>
            <a:off x="731520" y="3730752"/>
            <a:ext cx="4846320" cy="1236344"/>
          </a:xfrm>
          <a:prstGeom prst="rect">
            <a:avLst/>
          </a:prstGeom>
          <a:noFill/>
        </p:spPr>
        <p:txBody>
          <a:bodyPr wrap="square" lIns="18288" rIns="18288" tIns="18288" bIns="18288">
            <a:spAutoFit/>
          </a:bodyPr>
          <a:lstStyle/>
          <a:p>
            <a:pPr>
              <a:lnSpc>
                <a:spcPct val="100000"/>
              </a:lnSpc>
            </a:pPr>
            <a:r>
              <a:rPr sz="1500" i="0">
                <a:solidFill>
                  <a:srgbClr val="F2A65A"/>
                </a:solidFill>
                <a:latin typeface="IBM Plex Mono"/>
              </a:rPr>
              <a:t>SELECT</a:t>
            </a:r>
            <a:r>
              <a:rPr sz="1500" i="0">
                <a:solidFill>
                  <a:srgbClr val="D8E3D0"/>
                </a:solidFill>
                <a:latin typeface="IBM Plex Mono"/>
              </a:rPr>
              <a:t> </a:t>
            </a:r>
            <a:r>
              <a:rPr sz="1500" i="0">
                <a:solidFill>
                  <a:srgbClr val="D8E3D0"/>
                </a:solidFill>
                <a:latin typeface="IBM Plex Mono"/>
              </a:rPr>
              <a:t>Name</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Ort</a:t>
            </a:r>
            <a:r>
              <a:rPr sz="1500" i="0">
                <a:solidFill>
                  <a:srgbClr val="D8E3D0"/>
                </a:solidFill>
                <a:latin typeface="IBM Plex Mono"/>
              </a:rPr>
              <a:t>,</a:t>
            </a:r>
            <a:r>
              <a:rPr sz="1500" i="0">
                <a:solidFill>
                  <a:srgbClr val="D8E3D0"/>
                </a:solidFill>
                <a:latin typeface="IBM Plex Mono"/>
              </a:rPr>
              <a:t> </a:t>
            </a:r>
            <a:r>
              <a:rPr sz="1500" i="0">
                <a:solidFill>
                  <a:srgbClr val="E6C77A"/>
                </a:solidFill>
                <a:latin typeface="IBM Plex Mono"/>
              </a:rPr>
              <a:t>COUNT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 </a:t>
            </a:r>
            <a:r>
              <a:rPr sz="1500" i="0">
                <a:solidFill>
                  <a:srgbClr val="F2A65A"/>
                </a:solidFill>
                <a:latin typeface="IBM Plex Mono"/>
              </a:rPr>
              <a:t>AS</a:t>
            </a:r>
            <a:r>
              <a:rPr sz="1500" i="0">
                <a:solidFill>
                  <a:srgbClr val="D8E3D0"/>
                </a:solidFill>
                <a:latin typeface="IBM Plex Mono"/>
              </a:rPr>
              <a:t> </a:t>
            </a:r>
            <a:r>
              <a:rPr sz="1500" i="0">
                <a:solidFill>
                  <a:srgbClr val="D8E3D0"/>
                </a:solidFill>
                <a:latin typeface="IBM Plex Mono"/>
              </a:rPr>
              <a:t>Mitglieder</a:t>
            </a:r>
          </a:p>
          <a:p>
            <a:pPr>
              <a:lnSpc>
                <a:spcPct val="100000"/>
              </a:lnSpc>
            </a:pPr>
            <a:r>
              <a:rPr sz="1500" i="0">
                <a:solidFill>
                  <a:srgbClr val="F2A65A"/>
                </a:solidFill>
                <a:latin typeface="IBM Plex Mono"/>
              </a:rPr>
              <a:t>FROM</a:t>
            </a:r>
            <a:r>
              <a:rPr sz="1500" i="0">
                <a:solidFill>
                  <a:srgbClr val="D8E3D0"/>
                </a:solidFill>
                <a:latin typeface="IBM Plex Mono"/>
              </a:rPr>
              <a:t> </a:t>
            </a:r>
            <a:r>
              <a:rPr sz="1500" i="0">
                <a:solidFill>
                  <a:srgbClr val="D8E3D0"/>
                </a:solidFill>
                <a:latin typeface="IBM Plex Mono"/>
              </a:rPr>
              <a:t>Spieler</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Verein</a:t>
            </a:r>
          </a:p>
          <a:p>
            <a:pPr>
              <a:lnSpc>
                <a:spcPct val="100000"/>
              </a:lnSpc>
            </a:pPr>
            <a:r>
              <a:rPr sz="1500" i="0">
                <a:solidFill>
                  <a:srgbClr val="F2A65A"/>
                </a:solidFill>
                <a:latin typeface="IBM Plex Mono"/>
              </a:rPr>
              <a:t>WHERE</a:t>
            </a:r>
            <a:r>
              <a:rPr sz="1500" i="0">
                <a:solidFill>
                  <a:srgbClr val="D8E3D0"/>
                </a:solidFill>
                <a:latin typeface="IBM Plex Mono"/>
              </a:rPr>
              <a:t> </a:t>
            </a:r>
            <a:r>
              <a:rPr sz="1500" i="0">
                <a:solidFill>
                  <a:srgbClr val="D8E3D0"/>
                </a:solidFill>
                <a:latin typeface="IBM Plex Mono"/>
              </a:rPr>
              <a:t>Spieler</a:t>
            </a:r>
            <a:r>
              <a:rPr sz="1500" i="0">
                <a:solidFill>
                  <a:srgbClr val="D8E3D0"/>
                </a:solidFill>
                <a:latin typeface="IBM Plex Mono"/>
              </a:rPr>
              <a:t>.</a:t>
            </a:r>
            <a:r>
              <a:rPr sz="1500" i="0">
                <a:solidFill>
                  <a:srgbClr val="D8E3D0"/>
                </a:solidFill>
                <a:latin typeface="IBM Plex Mono"/>
              </a:rPr>
              <a:t>VereinNr</a:t>
            </a:r>
            <a:r>
              <a:rPr sz="1500" i="0">
                <a:solidFill>
                  <a:srgbClr val="D8E3D0"/>
                </a:solidFill>
                <a:latin typeface="IBM Plex Mono"/>
              </a:rPr>
              <a:t> </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Verein</a:t>
            </a:r>
            <a:r>
              <a:rPr sz="1500" i="0">
                <a:solidFill>
                  <a:srgbClr val="D8E3D0"/>
                </a:solidFill>
                <a:latin typeface="IBM Plex Mono"/>
              </a:rPr>
              <a:t>.</a:t>
            </a:r>
            <a:r>
              <a:rPr sz="1500" i="0">
                <a:solidFill>
                  <a:srgbClr val="D8E3D0"/>
                </a:solidFill>
                <a:latin typeface="IBM Plex Mono"/>
              </a:rPr>
              <a:t>VereinNr</a:t>
            </a:r>
          </a:p>
          <a:p>
            <a:pPr>
              <a:lnSpc>
                <a:spcPct val="100000"/>
              </a:lnSpc>
            </a:pPr>
            <a:r>
              <a:rPr sz="1500" i="0">
                <a:solidFill>
                  <a:srgbClr val="D8E3D0"/>
                </a:solidFill>
                <a:latin typeface="IBM Plex Mono"/>
              </a:rPr>
              <a:t>  </a:t>
            </a:r>
            <a:r>
              <a:rPr sz="1500" i="0">
                <a:solidFill>
                  <a:srgbClr val="F2A65A"/>
                </a:solidFill>
                <a:latin typeface="IBM Plex Mono"/>
              </a:rPr>
              <a:t>AND</a:t>
            </a:r>
            <a:r>
              <a:rPr sz="1500" i="0">
                <a:solidFill>
                  <a:srgbClr val="D8E3D0"/>
                </a:solidFill>
                <a:latin typeface="IBM Plex Mono"/>
              </a:rPr>
              <a:t> </a:t>
            </a:r>
            <a:r>
              <a:rPr sz="1500" i="0">
                <a:solidFill>
                  <a:srgbClr val="E6C77A"/>
                </a:solidFill>
                <a:latin typeface="IBM Plex Mono"/>
              </a:rPr>
              <a:t>COUNT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&gt;</a:t>
            </a:r>
            <a:r>
              <a:rPr sz="1500" i="0">
                <a:solidFill>
                  <a:srgbClr val="D8E3D0"/>
                </a:solidFill>
                <a:latin typeface="IBM Plex Mono"/>
              </a:rPr>
              <a:t>=</a:t>
            </a:r>
            <a:r>
              <a:rPr sz="1500" i="0">
                <a:solidFill>
                  <a:srgbClr val="D8E3D0"/>
                </a:solidFill>
                <a:latin typeface="IBM Plex Mono"/>
              </a:rPr>
              <a:t> </a:t>
            </a:r>
            <a:r>
              <a:rPr sz="1500" i="0">
                <a:solidFill>
                  <a:srgbClr val="8CC4FF"/>
                </a:solidFill>
                <a:latin typeface="IBM Plex Mono"/>
              </a:rPr>
              <a:t>3</a:t>
            </a:r>
          </a:p>
          <a:p>
            <a:pPr>
              <a:lnSpc>
                <a:spcPct val="100000"/>
              </a:lnSpc>
            </a:pPr>
            <a:r>
              <a:rPr sz="1500" i="0">
                <a:solidFill>
                  <a:srgbClr val="F2A65A"/>
                </a:solidFill>
                <a:latin typeface="IBM Plex Mono"/>
              </a:rPr>
              <a:t>GROUP</a:t>
            </a:r>
            <a:r>
              <a:rPr sz="1500" i="0">
                <a:solidFill>
                  <a:srgbClr val="D8E3D0"/>
                </a:solidFill>
                <a:latin typeface="IBM Plex Mono"/>
              </a:rPr>
              <a:t> </a:t>
            </a:r>
            <a:r>
              <a:rPr sz="1500" i="0">
                <a:solidFill>
                  <a:srgbClr val="F2A65A"/>
                </a:solidFill>
                <a:latin typeface="IBM Plex Mono"/>
              </a:rPr>
              <a:t>BY</a:t>
            </a:r>
            <a:r>
              <a:rPr sz="1500" i="0">
                <a:solidFill>
                  <a:srgbClr val="D8E3D0"/>
                </a:solidFill>
                <a:latin typeface="IBM Plex Mono"/>
              </a:rPr>
              <a:t> </a:t>
            </a:r>
            <a:r>
              <a:rPr sz="1500" i="0">
                <a:solidFill>
                  <a:srgbClr val="D8E3D0"/>
                </a:solidFill>
                <a:latin typeface="IBM Plex Mono"/>
              </a:rPr>
              <a:t>VereinNr</a:t>
            </a:r>
          </a:p>
        </p:txBody>
      </p:sp>
      <p:sp>
        <p:nvSpPr>
          <p:cNvPr id="16" name="Rectangle 15"/>
          <p:cNvSpPr/>
          <p:nvPr/>
        </p:nvSpPr>
        <p:spPr>
          <a:xfrm>
            <a:off x="548640" y="3593592"/>
            <a:ext cx="64008" cy="1510664"/>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Auflösung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8" name="Rounded Rectangle 7"/>
          <p:cNvSpPr/>
          <p:nvPr/>
        </p:nvSpPr>
        <p:spPr>
          <a:xfrm>
            <a:off x="8321040" y="1691640"/>
            <a:ext cx="3322015" cy="1997202"/>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0" y="1691640"/>
            <a:ext cx="73152" cy="1997202"/>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595360" y="1783080"/>
            <a:ext cx="2910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DIE DREI FALLEN</a:t>
            </a:r>
          </a:p>
        </p:txBody>
      </p:sp>
      <p:sp>
        <p:nvSpPr>
          <p:cNvPr id="11" name="TextBox 10"/>
          <p:cNvSpPr txBox="1"/>
          <p:nvPr/>
        </p:nvSpPr>
        <p:spPr>
          <a:xfrm>
            <a:off x="8595360" y="2148840"/>
            <a:ext cx="2910535" cy="1494282"/>
          </a:xfrm>
          <a:prstGeom prst="rect">
            <a:avLst/>
          </a:prstGeom>
          <a:noFill/>
        </p:spPr>
        <p:txBody>
          <a:bodyPr wrap="square" lIns="27432" rIns="27432" tIns="27432" bIns="27432">
            <a:spAutoFit/>
          </a:bodyPr>
          <a:lstStyle/>
          <a:p>
            <a:pPr>
              <a:lnSpc>
                <a:spcPct val="105000"/>
              </a:lnSpc>
              <a:spcAft>
                <a:spcPts val="300"/>
              </a:spcAft>
            </a:pPr>
            <a:r>
              <a:rPr sz="1445" b="1">
                <a:solidFill>
                  <a:srgbClr val="B3261E"/>
                </a:solidFill>
                <a:latin typeface="Barlow"/>
              </a:rPr>
              <a:t>▸  </a:t>
            </a:r>
            <a:r>
              <a:rPr sz="1445" b="1" i="0" u="none">
                <a:solidFill>
                  <a:srgbClr val="1C2B3A"/>
                </a:solidFill>
                <a:latin typeface="Barlow"/>
              </a:rPr>
              <a:t>P1</a:t>
            </a:r>
            <a:r>
              <a:rPr sz="1445" b="0" i="0" u="none">
                <a:solidFill>
                  <a:srgbClr val="1C2B3A"/>
                </a:solidFill>
                <a:latin typeface="Barlow"/>
              </a:rPr>
              <a:t>: </a:t>
            </a:r>
            <a:r>
              <a:rPr sz="1300" b="0" i="0" u="none">
                <a:solidFill>
                  <a:srgbClr val="1C2B3A"/>
                </a:solidFill>
                <a:latin typeface="IBM Plex Mono"/>
              </a:rPr>
              <a:t>COUNT(*)</a:t>
            </a:r>
            <a:r>
              <a:rPr sz="1445" b="0" i="0" u="none">
                <a:solidFill>
                  <a:srgbClr val="1C2B3A"/>
                </a:solidFill>
                <a:latin typeface="Barlow"/>
              </a:rPr>
              <a:t> im WHERE → HAVING</a:t>
            </a:r>
          </a:p>
          <a:p>
            <a:pPr>
              <a:lnSpc>
                <a:spcPct val="105000"/>
              </a:lnSpc>
              <a:spcAft>
                <a:spcPts val="300"/>
              </a:spcAft>
            </a:pPr>
            <a:r>
              <a:rPr sz="1445" b="1">
                <a:solidFill>
                  <a:srgbClr val="B3261E"/>
                </a:solidFill>
                <a:latin typeface="Barlow"/>
              </a:rPr>
              <a:t>▸  </a:t>
            </a:r>
            <a:r>
              <a:rPr sz="1445" b="1" i="0" u="none">
                <a:solidFill>
                  <a:srgbClr val="1C2B3A"/>
                </a:solidFill>
                <a:latin typeface="Barlow"/>
              </a:rPr>
              <a:t>P3</a:t>
            </a:r>
            <a:r>
              <a:rPr sz="1445" b="0" i="0" u="none">
                <a:solidFill>
                  <a:srgbClr val="1C2B3A"/>
                </a:solidFill>
                <a:latin typeface="Barlow"/>
              </a:rPr>
              <a:t>: Name, Ort weder gruppiert noch aggregiert</a:t>
            </a:r>
          </a:p>
          <a:p>
            <a:pPr>
              <a:lnSpc>
                <a:spcPct val="105000"/>
              </a:lnSpc>
              <a:spcAft>
                <a:spcPts val="300"/>
              </a:spcAft>
            </a:pPr>
            <a:r>
              <a:rPr sz="1445" b="1">
                <a:solidFill>
                  <a:srgbClr val="B3261E"/>
                </a:solidFill>
                <a:latin typeface="Barlow"/>
              </a:rPr>
              <a:t>▸  </a:t>
            </a:r>
            <a:r>
              <a:rPr sz="1445" b="1" i="0" u="none">
                <a:solidFill>
                  <a:srgbClr val="1C2B3A"/>
                </a:solidFill>
                <a:latin typeface="Barlow"/>
              </a:rPr>
              <a:t>P7</a:t>
            </a:r>
            <a:r>
              <a:rPr sz="1445" b="0" i="0" u="none">
                <a:solidFill>
                  <a:srgbClr val="1C2B3A"/>
                </a:solidFill>
                <a:latin typeface="Barlow"/>
              </a:rPr>
              <a:t>: </a:t>
            </a:r>
            <a:r>
              <a:rPr sz="1300" b="0" i="0" u="none">
                <a:solidFill>
                  <a:srgbClr val="1C2B3A"/>
                </a:solidFill>
                <a:latin typeface="IBM Plex Mono"/>
              </a:rPr>
              <a:t>VereinNr</a:t>
            </a:r>
            <a:r>
              <a:rPr sz="1445" b="0" i="0" u="none">
                <a:solidFill>
                  <a:srgbClr val="1C2B3A"/>
                </a:solidFill>
                <a:latin typeface="Barlow"/>
              </a:rPr>
              <a:t> ohne Präfix – mehrdeutig</a:t>
            </a:r>
          </a:p>
        </p:txBody>
      </p:sp>
      <p:sp>
        <p:nvSpPr>
          <p:cNvPr id="12" name="TextBox 11"/>
          <p:cNvSpPr txBox="1"/>
          <p:nvPr/>
        </p:nvSpPr>
        <p:spPr>
          <a:xfrm>
            <a:off x="548640" y="1691640"/>
            <a:ext cx="7498079"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5FAF86"/>
                </a:solidFill>
                <a:latin typeface="IBM Plex Mono"/>
              </a:rPr>
              <a:t>✔ VERBESSERT</a:t>
            </a:r>
          </a:p>
        </p:txBody>
      </p:sp>
      <p:sp>
        <p:nvSpPr>
          <p:cNvPr id="13" name="SQL-Hintergrund"/>
          <p:cNvSpPr/>
          <p:nvPr/>
        </p:nvSpPr>
        <p:spPr>
          <a:xfrm>
            <a:off x="548640" y="2002536"/>
            <a:ext cx="7498079" cy="135191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QL"/>
          <p:cNvSpPr txBox="1"/>
          <p:nvPr/>
        </p:nvSpPr>
        <p:spPr>
          <a:xfrm>
            <a:off x="731520" y="2139696"/>
            <a:ext cx="7132319" cy="1077595"/>
          </a:xfrm>
          <a:prstGeom prst="rect">
            <a:avLst/>
          </a:prstGeom>
          <a:noFill/>
        </p:spPr>
        <p:txBody>
          <a:bodyPr wrap="square" lIns="18288" rIns="18288" tIns="18288" bIns="18288">
            <a:spAutoFit/>
          </a:bodyPr>
          <a:lstStyle/>
          <a:p>
            <a:pPr>
              <a:lnSpc>
                <a:spcPct val="100000"/>
              </a:lnSpc>
            </a:pPr>
            <a:r>
              <a:rPr sz="1300" i="0">
                <a:solidFill>
                  <a:srgbClr val="F2A65A"/>
                </a:solidFill>
                <a:latin typeface="IBM Plex Mono"/>
              </a:rPr>
              <a:t>SELECT</a:t>
            </a:r>
            <a:r>
              <a:rPr sz="1300" i="0">
                <a:solidFill>
                  <a:srgbClr val="D8E3D0"/>
                </a:solidFill>
                <a:latin typeface="IBM Plex Mono"/>
              </a:rPr>
              <a:t> </a:t>
            </a:r>
            <a:r>
              <a:rPr sz="1300" i="0">
                <a:solidFill>
                  <a:srgbClr val="D8E3D0"/>
                </a:solidFill>
                <a:latin typeface="IBM Plex Mono"/>
              </a:rPr>
              <a:t>Verein</a:t>
            </a:r>
            <a:r>
              <a:rPr sz="1300" i="0">
                <a:solidFill>
                  <a:srgbClr val="D8E3D0"/>
                </a:solidFill>
                <a:latin typeface="IBM Plex Mono"/>
              </a:rPr>
              <a:t>.</a:t>
            </a:r>
            <a:r>
              <a:rPr sz="1300" i="0">
                <a:solidFill>
                  <a:srgbClr val="D8E3D0"/>
                </a:solidFill>
                <a:latin typeface="IBM Plex Mono"/>
              </a:rPr>
              <a:t>VereinNr</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Verein</a:t>
            </a:r>
            <a:r>
              <a:rPr sz="1300" i="0">
                <a:solidFill>
                  <a:srgbClr val="D8E3D0"/>
                </a:solidFill>
                <a:latin typeface="IBM Plex Mono"/>
              </a:rPr>
              <a:t>.</a:t>
            </a:r>
            <a:r>
              <a:rPr sz="1300" i="0">
                <a:solidFill>
                  <a:srgbClr val="D8E3D0"/>
                </a:solidFill>
                <a:latin typeface="IBM Plex Mono"/>
              </a:rPr>
              <a:t>Name</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Verein</a:t>
            </a:r>
            <a:r>
              <a:rPr sz="1300" i="0">
                <a:solidFill>
                  <a:srgbClr val="D8E3D0"/>
                </a:solidFill>
                <a:latin typeface="IBM Plex Mono"/>
              </a:rPr>
              <a:t>.</a:t>
            </a:r>
            <a:r>
              <a:rPr sz="1300" i="0">
                <a:solidFill>
                  <a:srgbClr val="D8E3D0"/>
                </a:solidFill>
                <a:latin typeface="IBM Plex Mono"/>
              </a:rPr>
              <a:t>Ort</a:t>
            </a:r>
            <a:r>
              <a:rPr sz="1300" i="0">
                <a:solidFill>
                  <a:srgbClr val="D8E3D0"/>
                </a:solidFill>
                <a:latin typeface="IBM Plex Mono"/>
              </a:rPr>
              <a:t>,</a:t>
            </a:r>
            <a:r>
              <a:rPr sz="1300" i="0">
                <a:solidFill>
                  <a:srgbClr val="D8E3D0"/>
                </a:solidFill>
                <a:latin typeface="IBM Plex Mono"/>
              </a:rPr>
              <a:t> </a:t>
            </a:r>
            <a:r>
              <a:rPr sz="1300" i="0">
                <a:solidFill>
                  <a:srgbClr val="E6C77A"/>
                </a:solidFill>
                <a:latin typeface="IBM Plex Mono"/>
              </a:rPr>
              <a:t>COUNT</a:t>
            </a:r>
            <a:r>
              <a:rPr sz="1300" i="0">
                <a:solidFill>
                  <a:srgbClr val="D8E3D0"/>
                </a:solidFill>
                <a:latin typeface="IBM Plex Mono"/>
              </a:rPr>
              <a:t>(</a:t>
            </a:r>
            <a:r>
              <a:rPr sz="1300" i="0">
                <a:solidFill>
                  <a:srgbClr val="D8E3D0"/>
                </a:solidFill>
                <a:latin typeface="IBM Plex Mono"/>
              </a:rPr>
              <a:t>*</a:t>
            </a:r>
            <a:r>
              <a:rPr sz="1300" i="0">
                <a:solidFill>
                  <a:srgbClr val="D8E3D0"/>
                </a:solidFill>
                <a:latin typeface="IBM Plex Mono"/>
              </a:rPr>
              <a:t>)</a:t>
            </a:r>
            <a:r>
              <a:rPr sz="1300" i="0">
                <a:solidFill>
                  <a:srgbClr val="D8E3D0"/>
                </a:solidFill>
                <a:latin typeface="IBM Plex Mono"/>
              </a:rPr>
              <a:t> </a:t>
            </a:r>
            <a:r>
              <a:rPr sz="1300" i="0">
                <a:solidFill>
                  <a:srgbClr val="F2A65A"/>
                </a:solidFill>
                <a:latin typeface="IBM Plex Mono"/>
              </a:rPr>
              <a:t>AS</a:t>
            </a:r>
            <a:r>
              <a:rPr sz="1300" i="0">
                <a:solidFill>
                  <a:srgbClr val="D8E3D0"/>
                </a:solidFill>
                <a:latin typeface="IBM Plex Mono"/>
              </a:rPr>
              <a:t> </a:t>
            </a:r>
            <a:r>
              <a:rPr sz="1300" i="0">
                <a:solidFill>
                  <a:srgbClr val="D8E3D0"/>
                </a:solidFill>
                <a:latin typeface="IBM Plex Mono"/>
              </a:rPr>
              <a:t>Mitglieder</a:t>
            </a:r>
          </a:p>
          <a:p>
            <a:pPr>
              <a:lnSpc>
                <a:spcPct val="100000"/>
              </a:lnSpc>
            </a:pPr>
            <a:r>
              <a:rPr sz="1300" i="0">
                <a:solidFill>
                  <a:srgbClr val="F2A65A"/>
                </a:solidFill>
                <a:latin typeface="IBM Plex Mono"/>
              </a:rPr>
              <a:t>FROM</a:t>
            </a:r>
            <a:r>
              <a:rPr sz="1300" i="0">
                <a:solidFill>
                  <a:srgbClr val="D8E3D0"/>
                </a:solidFill>
                <a:latin typeface="IBM Plex Mono"/>
              </a:rPr>
              <a:t> </a:t>
            </a:r>
            <a:r>
              <a:rPr sz="1300" i="0">
                <a:solidFill>
                  <a:srgbClr val="D8E3D0"/>
                </a:solidFill>
                <a:latin typeface="IBM Plex Mono"/>
              </a:rPr>
              <a:t>Spieler</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Verein</a:t>
            </a:r>
          </a:p>
          <a:p>
            <a:pPr>
              <a:lnSpc>
                <a:spcPct val="100000"/>
              </a:lnSpc>
            </a:pPr>
            <a:r>
              <a:rPr sz="1300" i="0">
                <a:solidFill>
                  <a:srgbClr val="F2A65A"/>
                </a:solidFill>
                <a:latin typeface="IBM Plex Mono"/>
              </a:rPr>
              <a:t>WHERE</a:t>
            </a:r>
            <a:r>
              <a:rPr sz="1300" i="0">
                <a:solidFill>
                  <a:srgbClr val="D8E3D0"/>
                </a:solidFill>
                <a:latin typeface="IBM Plex Mono"/>
              </a:rPr>
              <a:t> </a:t>
            </a:r>
            <a:r>
              <a:rPr sz="1300" i="0">
                <a:solidFill>
                  <a:srgbClr val="D8E3D0"/>
                </a:solidFill>
                <a:latin typeface="IBM Plex Mono"/>
              </a:rPr>
              <a:t>Spieler</a:t>
            </a:r>
            <a:r>
              <a:rPr sz="1300" i="0">
                <a:solidFill>
                  <a:srgbClr val="D8E3D0"/>
                </a:solidFill>
                <a:latin typeface="IBM Plex Mono"/>
              </a:rPr>
              <a:t>.</a:t>
            </a:r>
            <a:r>
              <a:rPr sz="1300" i="0">
                <a:solidFill>
                  <a:srgbClr val="D8E3D0"/>
                </a:solidFill>
                <a:latin typeface="IBM Plex Mono"/>
              </a:rPr>
              <a:t>VereinNr</a:t>
            </a:r>
            <a:r>
              <a:rPr sz="1300" i="0">
                <a:solidFill>
                  <a:srgbClr val="D8E3D0"/>
                </a:solidFill>
                <a:latin typeface="IBM Plex Mono"/>
              </a:rPr>
              <a:t> </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Verein</a:t>
            </a:r>
            <a:r>
              <a:rPr sz="1300" i="0">
                <a:solidFill>
                  <a:srgbClr val="D8E3D0"/>
                </a:solidFill>
                <a:latin typeface="IBM Plex Mono"/>
              </a:rPr>
              <a:t>.</a:t>
            </a:r>
            <a:r>
              <a:rPr sz="1300" i="0">
                <a:solidFill>
                  <a:srgbClr val="D8E3D0"/>
                </a:solidFill>
                <a:latin typeface="IBM Plex Mono"/>
              </a:rPr>
              <a:t>VereinNr</a:t>
            </a:r>
          </a:p>
          <a:p>
            <a:pPr>
              <a:lnSpc>
                <a:spcPct val="100000"/>
              </a:lnSpc>
            </a:pPr>
            <a:r>
              <a:rPr sz="1300" i="0">
                <a:solidFill>
                  <a:srgbClr val="F2A65A"/>
                </a:solidFill>
                <a:latin typeface="IBM Plex Mono"/>
              </a:rPr>
              <a:t>GROUP</a:t>
            </a:r>
            <a:r>
              <a:rPr sz="1300" i="0">
                <a:solidFill>
                  <a:srgbClr val="D8E3D0"/>
                </a:solidFill>
                <a:latin typeface="IBM Plex Mono"/>
              </a:rPr>
              <a:t> </a:t>
            </a:r>
            <a:r>
              <a:rPr sz="1300" i="0">
                <a:solidFill>
                  <a:srgbClr val="F2A65A"/>
                </a:solidFill>
                <a:latin typeface="IBM Plex Mono"/>
              </a:rPr>
              <a:t>BY</a:t>
            </a:r>
            <a:r>
              <a:rPr sz="1300" i="0">
                <a:solidFill>
                  <a:srgbClr val="D8E3D0"/>
                </a:solidFill>
                <a:latin typeface="IBM Plex Mono"/>
              </a:rPr>
              <a:t> </a:t>
            </a:r>
            <a:r>
              <a:rPr sz="1300" i="0">
                <a:solidFill>
                  <a:srgbClr val="D8E3D0"/>
                </a:solidFill>
                <a:latin typeface="IBM Plex Mono"/>
              </a:rPr>
              <a:t>Verein</a:t>
            </a:r>
            <a:r>
              <a:rPr sz="1300" i="0">
                <a:solidFill>
                  <a:srgbClr val="D8E3D0"/>
                </a:solidFill>
                <a:latin typeface="IBM Plex Mono"/>
              </a:rPr>
              <a:t>.</a:t>
            </a:r>
            <a:r>
              <a:rPr sz="1300" i="0">
                <a:solidFill>
                  <a:srgbClr val="D8E3D0"/>
                </a:solidFill>
                <a:latin typeface="IBM Plex Mono"/>
              </a:rPr>
              <a:t>VereinNr</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Verein</a:t>
            </a:r>
            <a:r>
              <a:rPr sz="1300" i="0">
                <a:solidFill>
                  <a:srgbClr val="D8E3D0"/>
                </a:solidFill>
                <a:latin typeface="IBM Plex Mono"/>
              </a:rPr>
              <a:t>.</a:t>
            </a:r>
            <a:r>
              <a:rPr sz="1300" i="0">
                <a:solidFill>
                  <a:srgbClr val="D8E3D0"/>
                </a:solidFill>
                <a:latin typeface="IBM Plex Mono"/>
              </a:rPr>
              <a:t>Name</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Verein</a:t>
            </a:r>
            <a:r>
              <a:rPr sz="1300" i="0">
                <a:solidFill>
                  <a:srgbClr val="D8E3D0"/>
                </a:solidFill>
                <a:latin typeface="IBM Plex Mono"/>
              </a:rPr>
              <a:t>.</a:t>
            </a:r>
            <a:r>
              <a:rPr sz="1300" i="0">
                <a:solidFill>
                  <a:srgbClr val="D8E3D0"/>
                </a:solidFill>
                <a:latin typeface="IBM Plex Mono"/>
              </a:rPr>
              <a:t>Ort</a:t>
            </a:r>
          </a:p>
          <a:p>
            <a:pPr>
              <a:lnSpc>
                <a:spcPct val="100000"/>
              </a:lnSpc>
            </a:pPr>
            <a:r>
              <a:rPr sz="1300" i="0">
                <a:solidFill>
                  <a:srgbClr val="F2A65A"/>
                </a:solidFill>
                <a:latin typeface="IBM Plex Mono"/>
              </a:rPr>
              <a:t>HAVING</a:t>
            </a:r>
            <a:r>
              <a:rPr sz="1300" i="0">
                <a:solidFill>
                  <a:srgbClr val="D8E3D0"/>
                </a:solidFill>
                <a:latin typeface="IBM Plex Mono"/>
              </a:rPr>
              <a:t> </a:t>
            </a:r>
            <a:r>
              <a:rPr sz="1300" i="0">
                <a:solidFill>
                  <a:srgbClr val="E6C77A"/>
                </a:solidFill>
                <a:latin typeface="IBM Plex Mono"/>
              </a:rPr>
              <a:t>COUNT</a:t>
            </a:r>
            <a:r>
              <a:rPr sz="1300" i="0">
                <a:solidFill>
                  <a:srgbClr val="D8E3D0"/>
                </a:solidFill>
                <a:latin typeface="IBM Plex Mono"/>
              </a:rPr>
              <a:t>(</a:t>
            </a:r>
            <a:r>
              <a:rPr sz="1300" i="0">
                <a:solidFill>
                  <a:srgbClr val="D8E3D0"/>
                </a:solidFill>
                <a:latin typeface="IBM Plex Mono"/>
              </a:rPr>
              <a:t>*</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&gt;</a:t>
            </a:r>
            <a:r>
              <a:rPr sz="1300" i="0">
                <a:solidFill>
                  <a:srgbClr val="D8E3D0"/>
                </a:solidFill>
                <a:latin typeface="IBM Plex Mono"/>
              </a:rPr>
              <a:t>=</a:t>
            </a:r>
            <a:r>
              <a:rPr sz="1300" i="0">
                <a:solidFill>
                  <a:srgbClr val="D8E3D0"/>
                </a:solidFill>
                <a:latin typeface="IBM Plex Mono"/>
              </a:rPr>
              <a:t> </a:t>
            </a:r>
            <a:r>
              <a:rPr sz="1300" i="0">
                <a:solidFill>
                  <a:srgbClr val="8CC4FF"/>
                </a:solidFill>
                <a:latin typeface="IBM Plex Mono"/>
              </a:rPr>
              <a:t>3</a:t>
            </a:r>
          </a:p>
        </p:txBody>
      </p:sp>
      <p:sp>
        <p:nvSpPr>
          <p:cNvPr id="15" name="Rectangle 14"/>
          <p:cNvSpPr/>
          <p:nvPr/>
        </p:nvSpPr>
        <p:spPr>
          <a:xfrm>
            <a:off x="548640" y="2002536"/>
            <a:ext cx="64008" cy="1351915"/>
          </a:xfrm>
          <a:prstGeom prst="rect">
            <a:avLst/>
          </a:prstGeom>
          <a:solidFill>
            <a:srgbClr val="5FA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8640" y="3427603"/>
            <a:ext cx="7498079"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2 ZEILEN</a:t>
            </a:r>
          </a:p>
        </p:txBody>
      </p:sp>
      <p:graphicFrame>
        <p:nvGraphicFramePr>
          <p:cNvPr id="17" name="Ergebnistabelle"/>
          <p:cNvGraphicFramePr>
            <a:graphicFrameLocks noGrp="1"/>
          </p:cNvGraphicFramePr>
          <p:nvPr/>
        </p:nvGraphicFramePr>
        <p:xfrm>
          <a:off x="548640" y="3738499"/>
          <a:ext cx="6227064" cy="885825"/>
        </p:xfrm>
        <a:graphic>
          <a:graphicData uri="http://schemas.openxmlformats.org/drawingml/2006/table">
            <a:tbl>
              <a:tblPr firstRow="1">
                <a:tableStyleId>{5C22544A-7EE6-4342-B048-85BDC9FD1C3A}</a:tableStyleId>
              </a:tblPr>
              <a:tblGrid>
                <a:gridCol w="1207008"/>
                <a:gridCol w="2139696"/>
                <a:gridCol w="1440180"/>
                <a:gridCol w="1440180"/>
              </a:tblGrid>
              <a:tr h="295275">
                <a:tc>
                  <a:txBody>
                    <a:bodyPr/>
                    <a:lstStyle/>
                    <a:p>
                      <a:r>
                        <a:rPr sz="1380" b="1" i="0" u="none">
                          <a:solidFill>
                            <a:srgbClr val="1C2B3A"/>
                          </a:solidFill>
                          <a:latin typeface="IBM Plex Mono"/>
                        </a:rPr>
                        <a:t>VereinNr</a:t>
                      </a:r>
                    </a:p>
                  </a:txBody>
                  <a:tcPr marL="54864" marR="54864" marT="18288" marB="18288">
                    <a:solidFill>
                      <a:srgbClr val="EBE2D2"/>
                    </a:solidFill>
                  </a:tcPr>
                </a:tc>
                <a:tc>
                  <a:txBody>
                    <a:bodyPr/>
                    <a:lstStyle/>
                    <a:p>
                      <a:r>
                        <a:rPr sz="1380" b="1" i="0" u="none">
                          <a:solidFill>
                            <a:srgbClr val="1C2B3A"/>
                          </a:solidFill>
                          <a:latin typeface="IBM Plex Mono"/>
                        </a:rPr>
                        <a:t>Name</a:t>
                      </a:r>
                    </a:p>
                  </a:txBody>
                  <a:tcPr marL="54864" marR="54864" marT="18288" marB="18288">
                    <a:solidFill>
                      <a:srgbClr val="EBE2D2"/>
                    </a:solidFill>
                  </a:tcPr>
                </a:tc>
                <a:tc>
                  <a:txBody>
                    <a:bodyPr/>
                    <a:lstStyle/>
                    <a:p>
                      <a:r>
                        <a:rPr sz="1380" b="1" i="0" u="none">
                          <a:solidFill>
                            <a:srgbClr val="1C2B3A"/>
                          </a:solidFill>
                          <a:latin typeface="IBM Plex Mono"/>
                        </a:rPr>
                        <a:t>Ort</a:t>
                      </a:r>
                    </a:p>
                  </a:txBody>
                  <a:tcPr marL="54864" marR="54864" marT="18288" marB="18288">
                    <a:solidFill>
                      <a:srgbClr val="EBE2D2"/>
                    </a:solidFill>
                  </a:tcPr>
                </a:tc>
                <a:tc>
                  <a:txBody>
                    <a:bodyPr/>
                    <a:lstStyle/>
                    <a:p>
                      <a:r>
                        <a:rPr sz="1380" b="1" i="0" u="none">
                          <a:solidFill>
                            <a:srgbClr val="1C2B3A"/>
                          </a:solidFill>
                          <a:latin typeface="IBM Plex Mono"/>
                        </a:rPr>
                        <a:t>Mitglieder</a:t>
                      </a:r>
                    </a:p>
                  </a:txBody>
                  <a:tcPr marL="54864" marR="54864" marT="18288" marB="18288">
                    <a:solidFill>
                      <a:srgbClr val="EBE2D2"/>
                    </a:solidFill>
                  </a:tcPr>
                </a:tc>
              </a:tr>
              <a:tr h="295275">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SK Weserspringer</a:t>
                      </a:r>
                    </a:p>
                  </a:txBody>
                  <a:tcPr marL="54864" marR="54864" marT="18288" marB="18288">
                    <a:solidFill>
                      <a:srgbClr val="FFFDF8"/>
                    </a:solidFill>
                  </a:tcPr>
                </a:tc>
                <a:tc>
                  <a:txBody>
                    <a:bodyPr/>
                    <a:lstStyle/>
                    <a:p>
                      <a:r>
                        <a:rPr sz="1500" b="0" i="0" u="none">
                          <a:solidFill>
                            <a:srgbClr val="1C2B3A"/>
                          </a:solidFill>
                          <a:latin typeface="Barlow"/>
                        </a:rPr>
                        <a:t>Weserstedt</a:t>
                      </a:r>
                    </a:p>
                  </a:txBody>
                  <a:tcPr marL="54864" marR="54864" marT="18288" marB="18288">
                    <a:solidFill>
                      <a:srgbClr val="FFFDF8"/>
                    </a:solidFill>
                  </a:tcPr>
                </a:tc>
                <a:tc>
                  <a:txBody>
                    <a:bodyPr/>
                    <a:lstStyle/>
                    <a:p>
                      <a:pPr algn="r"/>
                      <a:r>
                        <a:rPr sz="1500" b="0" i="0" u="none">
                          <a:solidFill>
                            <a:srgbClr val="1C2B3A"/>
                          </a:solidFill>
                          <a:latin typeface="Barlow"/>
                        </a:rPr>
                        <a:t>3</a:t>
                      </a:r>
                    </a:p>
                  </a:txBody>
                  <a:tcPr marL="54864" marR="54864" marT="18288" marB="18288">
                    <a:solidFill>
                      <a:srgbClr val="FFFDF8"/>
                    </a:solidFill>
                  </a:tcPr>
                </a:tc>
              </a:tr>
              <a:tr h="295275">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Turm Lindenhof</a:t>
                      </a:r>
                    </a:p>
                  </a:txBody>
                  <a:tcPr marL="54864" marR="54864" marT="18288" marB="18288">
                    <a:solidFill>
                      <a:srgbClr val="FFFDF8"/>
                    </a:solidFill>
                  </a:tcPr>
                </a:tc>
                <a:tc>
                  <a:txBody>
                    <a:bodyPr/>
                    <a:lstStyle/>
                    <a:p>
                      <a:r>
                        <a:rPr sz="1500" b="0" i="0" u="none">
                          <a:solidFill>
                            <a:srgbClr val="1C2B3A"/>
                          </a:solidFill>
                          <a:latin typeface="Barlow"/>
                        </a:rPr>
                        <a:t>Weserstedt</a:t>
                      </a:r>
                    </a:p>
                  </a:txBody>
                  <a:tcPr marL="54864" marR="54864" marT="18288" marB="18288">
                    <a:solidFill>
                      <a:srgbClr val="FFFDF8"/>
                    </a:solidFill>
                  </a:tcPr>
                </a:tc>
                <a:tc>
                  <a:txBody>
                    <a:bodyPr/>
                    <a:lstStyle/>
                    <a:p>
                      <a:pPr algn="r"/>
                      <a:r>
                        <a:rPr sz="1500" b="0" i="0" u="none">
                          <a:solidFill>
                            <a:srgbClr val="1C2B3A"/>
                          </a:solidFill>
                          <a:latin typeface="Barlow"/>
                        </a:rPr>
                        <a:t>3</a:t>
                      </a:r>
                    </a:p>
                  </a:txBody>
                  <a:tcPr marL="54864" marR="54864" marT="18288" marB="18288">
                    <a:solidFill>
                      <a:srgbClr val="FFFD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Checkliste vor der Abgabe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8" name="Rounded Rectangle 7"/>
          <p:cNvSpPr/>
          <p:nvPr/>
        </p:nvSpPr>
        <p:spPr>
          <a:xfrm>
            <a:off x="548640" y="1691640"/>
            <a:ext cx="7772400" cy="429768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4297680"/>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ERMITTLER-NOTIZ</a:t>
            </a:r>
          </a:p>
        </p:txBody>
      </p:sp>
      <p:sp>
        <p:nvSpPr>
          <p:cNvPr id="11" name="TextBox 10"/>
          <p:cNvSpPr txBox="1"/>
          <p:nvPr/>
        </p:nvSpPr>
        <p:spPr>
          <a:xfrm>
            <a:off x="822959" y="2148840"/>
            <a:ext cx="7360920" cy="3794760"/>
          </a:xfrm>
          <a:prstGeom prst="rect">
            <a:avLst/>
          </a:prstGeom>
          <a:noFill/>
        </p:spPr>
        <p:txBody>
          <a:bodyPr wrap="square" lIns="27432" rIns="27432" tIns="27432" bIns="27432">
            <a:spAutoFit/>
          </a:bodyPr>
          <a:lstStyle/>
          <a:p>
            <a:pPr>
              <a:lnSpc>
                <a:spcPct val="105000"/>
              </a:lnSpc>
              <a:spcAft>
                <a:spcPts val="300"/>
              </a:spcAft>
            </a:pPr>
            <a:r>
              <a:rPr sz="2100" b="1">
                <a:solidFill>
                  <a:srgbClr val="2C5A85"/>
                </a:solidFill>
                <a:latin typeface="Barlow"/>
              </a:rPr>
              <a:t>▸  </a:t>
            </a:r>
            <a:r>
              <a:rPr sz="2100" b="0" i="0" u="none">
                <a:solidFill>
                  <a:srgbClr val="1C2B3A"/>
                </a:solidFill>
                <a:latin typeface="Barlow"/>
              </a:rPr>
              <a:t>Operator gelesen? Erläutern = am Beispiel, begründen = weil, beurteilen = Kriterien + Urteil.</a:t>
            </a:r>
          </a:p>
          <a:p>
            <a:pPr>
              <a:lnSpc>
                <a:spcPct val="105000"/>
              </a:lnSpc>
              <a:spcAft>
                <a:spcPts val="300"/>
              </a:spcAft>
            </a:pPr>
            <a:r>
              <a:rPr sz="2100" b="1">
                <a:solidFill>
                  <a:srgbClr val="2C5A85"/>
                </a:solidFill>
                <a:latin typeface="Barlow"/>
              </a:rPr>
              <a:t>▸  </a:t>
            </a:r>
            <a:r>
              <a:rPr sz="2100" b="0" i="0" u="none">
                <a:solidFill>
                  <a:srgbClr val="1C2B3A"/>
                </a:solidFill>
                <a:latin typeface="Barlow"/>
              </a:rPr>
              <a:t>Jede Tabelle im FROM verbunden (n − 1 Bedingungen), Präfixe gesetzt?</a:t>
            </a:r>
          </a:p>
          <a:p>
            <a:pPr>
              <a:lnSpc>
                <a:spcPct val="105000"/>
              </a:lnSpc>
              <a:spcAft>
                <a:spcPts val="300"/>
              </a:spcAft>
            </a:pPr>
            <a:r>
              <a:rPr sz="2100" b="1">
                <a:solidFill>
                  <a:srgbClr val="2C5A85"/>
                </a:solidFill>
                <a:latin typeface="Barlow"/>
              </a:rPr>
              <a:t>▸  </a:t>
            </a:r>
            <a:r>
              <a:rPr sz="2100" b="0" i="0" u="none">
                <a:solidFill>
                  <a:srgbClr val="1C2B3A"/>
                </a:solidFill>
                <a:latin typeface="Barlow"/>
              </a:rPr>
              <a:t>WHERE für Zeilen, HAVING für Gruppen; GROUP-BY-Regel erfüllt?</a:t>
            </a:r>
          </a:p>
          <a:p>
            <a:pPr>
              <a:lnSpc>
                <a:spcPct val="105000"/>
              </a:lnSpc>
              <a:spcAft>
                <a:spcPts val="300"/>
              </a:spcAft>
            </a:pPr>
            <a:r>
              <a:rPr sz="2100" b="1">
                <a:solidFill>
                  <a:srgbClr val="2C5A85"/>
                </a:solidFill>
                <a:latin typeface="Barlow"/>
              </a:rPr>
              <a:t>▸  </a:t>
            </a:r>
            <a:r>
              <a:rPr sz="2100" b="0" i="0" u="none">
                <a:solidFill>
                  <a:srgbClr val="1C2B3A"/>
                </a:solidFill>
                <a:latin typeface="Barlow"/>
              </a:rPr>
              <a:t>NULL mit IS NULL, Texte in Hochkommata, Klammern bei AND/OR?</a:t>
            </a:r>
          </a:p>
          <a:p>
            <a:pPr>
              <a:lnSpc>
                <a:spcPct val="105000"/>
              </a:lnSpc>
              <a:spcAft>
                <a:spcPts val="300"/>
              </a:spcAft>
            </a:pPr>
            <a:r>
              <a:rPr sz="2100" b="1">
                <a:solidFill>
                  <a:srgbClr val="2C5A85"/>
                </a:solidFill>
                <a:latin typeface="Barlow"/>
              </a:rPr>
              <a:t>▸  </a:t>
            </a:r>
            <a:r>
              <a:rPr sz="2100" b="0" i="0" u="none">
                <a:solidFill>
                  <a:srgbClr val="1C2B3A"/>
                </a:solidFill>
                <a:latin typeface="Barlow"/>
              </a:rPr>
              <a:t>Schlüssel und Kardinalitäten begründet – nicht aus dem Ausschnitt geschlossen?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7 · AKTE 7 · DIE ERMITTLERPRÜFUNG</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Weiter im Lab</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12</a:t>
            </a:r>
          </a:p>
        </p:txBody>
      </p:sp>
      <p:sp>
        <p:nvSpPr>
          <p:cNvPr id="8" name="Rounded Rectangle 7"/>
          <p:cNvSpPr/>
          <p:nvPr/>
        </p:nvSpPr>
        <p:spPr>
          <a:xfrm>
            <a:off x="548640" y="1691640"/>
            <a:ext cx="7772400" cy="1837943"/>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1837943"/>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SPUR IM LAB</a:t>
            </a:r>
          </a:p>
        </p:txBody>
      </p:sp>
      <p:sp>
        <p:nvSpPr>
          <p:cNvPr id="11" name="TextBox 10"/>
          <p:cNvSpPr txBox="1"/>
          <p:nvPr/>
        </p:nvSpPr>
        <p:spPr>
          <a:xfrm>
            <a:off x="822959" y="2148840"/>
            <a:ext cx="7360920" cy="1335023"/>
          </a:xfrm>
          <a:prstGeom prst="rect">
            <a:avLst/>
          </a:prstGeom>
          <a:noFill/>
        </p:spPr>
        <p:txBody>
          <a:bodyPr wrap="square" lIns="27432" rIns="27432" tIns="27432" bIns="27432">
            <a:spAutoFit/>
          </a:bodyPr>
          <a:lstStyle/>
          <a:p>
            <a:pPr>
              <a:lnSpc>
                <a:spcPct val="105000"/>
              </a:lnSpc>
              <a:spcAft>
                <a:spcPts val="300"/>
              </a:spcAft>
            </a:pPr>
            <a:r>
              <a:rPr sz="1709" b="1">
                <a:solidFill>
                  <a:srgbClr val="2C5A85"/>
                </a:solidFill>
                <a:latin typeface="Barlow"/>
              </a:rPr>
              <a:t>▸  </a:t>
            </a:r>
            <a:r>
              <a:rPr sz="1709" b="1" i="0" u="none">
                <a:solidFill>
                  <a:srgbClr val="1C2B3A"/>
                </a:solidFill>
                <a:latin typeface="Barlow"/>
              </a:rPr>
              <a:t>Verhör 7 · Mensa</a:t>
            </a:r>
            <a:r>
              <a:rPr sz="1709" b="0" i="0" u="none">
                <a:solidFill>
                  <a:srgbClr val="1C2B3A"/>
                </a:solidFill>
                <a:latin typeface="Barlow"/>
              </a:rPr>
              <a:t> – die Lab-Generalprobe unter Zeitdruck (nach Freischaltung)</a:t>
            </a:r>
          </a:p>
          <a:p>
            <a:pPr>
              <a:lnSpc>
                <a:spcPct val="105000"/>
              </a:lnSpc>
              <a:spcAft>
                <a:spcPts val="300"/>
              </a:spcAft>
            </a:pPr>
            <a:r>
              <a:rPr sz="1709" b="1">
                <a:solidFill>
                  <a:srgbClr val="2C5A85"/>
                </a:solidFill>
                <a:latin typeface="Barlow"/>
              </a:rPr>
              <a:t>▸  </a:t>
            </a:r>
            <a:r>
              <a:rPr sz="1709" b="1" i="0" u="none">
                <a:solidFill>
                  <a:srgbClr val="1C2B3A"/>
                </a:solidFill>
                <a:latin typeface="Barlow"/>
              </a:rPr>
              <a:t>Trainingsplatz</a:t>
            </a:r>
            <a:r>
              <a:rPr sz="1709" b="0" i="0" u="none">
                <a:solidFill>
                  <a:srgbClr val="1C2B3A"/>
                </a:solidFill>
                <a:latin typeface="Barlow"/>
              </a:rPr>
              <a:t> und </a:t>
            </a:r>
            <a:r>
              <a:rPr sz="1709" b="1" i="0" u="none">
                <a:solidFill>
                  <a:srgbClr val="1C2B3A"/>
                </a:solidFill>
                <a:latin typeface="Barlow"/>
              </a:rPr>
              <a:t>Warm-up-Karten</a:t>
            </a:r>
            <a:r>
              <a:rPr sz="1709" b="0" i="0" u="none">
                <a:solidFill>
                  <a:srgbClr val="1C2B3A"/>
                </a:solidFill>
                <a:latin typeface="Barlow"/>
              </a:rPr>
              <a:t> – gezielt die eigenen Fallen üben („Deine Fallen“ im Profil)</a:t>
            </a:r>
          </a:p>
        </p:txBody>
      </p:sp>
      <p:sp>
        <p:nvSpPr>
          <p:cNvPr id="12" name="Rounded Rectangle 11"/>
          <p:cNvSpPr/>
          <p:nvPr/>
        </p:nvSpPr>
        <p:spPr>
          <a:xfrm>
            <a:off x="548640" y="3639312"/>
            <a:ext cx="7772400" cy="128778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3639312"/>
            <a:ext cx="73152" cy="1287780"/>
          </a:xfrm>
          <a:prstGeom prst="rect">
            <a:avLst/>
          </a:prstGeom>
          <a:solidFill>
            <a:srgbClr val="586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373075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ARBEITSBLATT UND TRAINING</a:t>
            </a:r>
          </a:p>
        </p:txBody>
      </p:sp>
      <p:sp>
        <p:nvSpPr>
          <p:cNvPr id="15" name="TextBox 14"/>
          <p:cNvSpPr txBox="1"/>
          <p:nvPr/>
        </p:nvSpPr>
        <p:spPr>
          <a:xfrm>
            <a:off x="822959" y="4096512"/>
            <a:ext cx="7360920" cy="784859"/>
          </a:xfrm>
          <a:prstGeom prst="rect">
            <a:avLst/>
          </a:prstGeom>
          <a:noFill/>
        </p:spPr>
        <p:txBody>
          <a:bodyPr wrap="square" lIns="27432" rIns="27432" tIns="27432" bIns="27432">
            <a:spAutoFit/>
          </a:bodyPr>
          <a:lstStyle/>
          <a:p>
            <a:pPr>
              <a:lnSpc>
                <a:spcPct val="105000"/>
              </a:lnSpc>
              <a:spcAft>
                <a:spcPts val="300"/>
              </a:spcAft>
            </a:pPr>
            <a:r>
              <a:rPr sz="1614" b="1">
                <a:solidFill>
                  <a:srgbClr val="58626D"/>
                </a:solidFill>
                <a:latin typeface="Barlow"/>
              </a:rPr>
              <a:t>▸  </a:t>
            </a:r>
            <a:r>
              <a:rPr sz="1614" b="0" i="0" u="none">
                <a:solidFill>
                  <a:srgbClr val="1C2B3A"/>
                </a:solidFill>
                <a:latin typeface="Barlow"/>
              </a:rPr>
              <a:t>Generalprobe eA/gA (DS 13) mit Peer-Korrektur</a:t>
            </a:r>
          </a:p>
          <a:p>
            <a:pPr>
              <a:lnSpc>
                <a:spcPct val="105000"/>
              </a:lnSpc>
              <a:spcAft>
                <a:spcPts val="300"/>
              </a:spcAft>
            </a:pPr>
            <a:r>
              <a:rPr sz="1614" b="1">
                <a:solidFill>
                  <a:srgbClr val="58626D"/>
                </a:solidFill>
                <a:latin typeface="Barlow"/>
              </a:rPr>
              <a:t>▸  </a:t>
            </a:r>
            <a:r>
              <a:rPr sz="1614" b="0" i="0" u="none">
                <a:solidFill>
                  <a:srgbClr val="1C2B3A"/>
                </a:solidFill>
                <a:latin typeface="Barlow"/>
              </a:rPr>
              <a:t>Ermittler-Handbuch: Werkzeugkarte 7 (Operatoren) und 8 (Abi-Check P1–P10)</a:t>
            </a:r>
          </a:p>
        </p:txBody>
      </p:sp>
      <p:sp>
        <p:nvSpPr>
          <p:cNvPr id="16" name="Rounded Rectangle 15"/>
          <p:cNvSpPr/>
          <p:nvPr/>
        </p:nvSpPr>
        <p:spPr>
          <a:xfrm>
            <a:off x="548640" y="5036820"/>
            <a:ext cx="7772400" cy="1187196"/>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5036820"/>
            <a:ext cx="73152" cy="1187196"/>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512826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NÄCHSTES VIDEO</a:t>
            </a:r>
          </a:p>
        </p:txBody>
      </p:sp>
      <p:sp>
        <p:nvSpPr>
          <p:cNvPr id="19" name="TextBox 18"/>
          <p:cNvSpPr txBox="1"/>
          <p:nvPr/>
        </p:nvSpPr>
        <p:spPr>
          <a:xfrm>
            <a:off x="822959" y="5494020"/>
            <a:ext cx="7360920" cy="684276"/>
          </a:xfrm>
          <a:prstGeom prst="rect">
            <a:avLst/>
          </a:prstGeom>
          <a:noFill/>
        </p:spPr>
        <p:txBody>
          <a:bodyPr wrap="square" lIns="27432" rIns="27432" tIns="27432" bIns="27432">
            <a:spAutoFit/>
          </a:bodyPr>
          <a:lstStyle/>
          <a:p>
            <a:pPr>
              <a:lnSpc>
                <a:spcPct val="105000"/>
              </a:lnSpc>
              <a:spcAft>
                <a:spcPts val="300"/>
              </a:spcAft>
            </a:pPr>
            <a:r>
              <a:rPr sz="1614" b="0" i="0" u="none">
                <a:solidFill>
                  <a:srgbClr val="1C2B3A"/>
                </a:solidFill>
                <a:latin typeface="Barlow"/>
              </a:rPr>
              <a:t>Alle Videos der Playlist „Datendetektei“ – zum Wiederholen vor der Klausur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Abi-Check Datenbanken: 10 Fallen und die Operatoren</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7</vt:lpwstr>
  </property>
  <property fmtid="{D5CDD505-2E9C-101B-9397-08002B2CF9AE}" pid="3" name="DD-Art">
    <vt:lpwstr>video</vt:lpwstr>
  </property>
  <property fmtid="{D5CDD505-2E9C-101B-9397-08002B2CF9AE}" pid="4" name="DD-Datenbank">
    <vt:lpwstr>video/schachturnier</vt:lpwstr>
  </property>
  <property fmtid="{D5CDD505-2E9C-101B-9397-08002B2CF9AE}" pid="5" name="DD-Kamera-Zone">
    <vt:lpwstr>ja</vt:lpwstr>
  </property>
  <property fmtid="{D5CDD505-2E9C-101B-9397-08002B2CF9AE}" pid="6" name="DD-Kuer">
    <vt:lpwstr>nein</vt:lpwstr>
  </property>
  <property fmtid="{D5CDD505-2E9C-101B-9397-08002B2CF9AE}" pid="7" name="DD-Video">
    <vt:lpwstr>7</vt:lpwstr>
  </property>
  <property fmtid="{D5CDD505-2E9C-101B-9397-08002B2CF9AE}" pid="8" name="DD-Video-Quelle">
    <vt:lpwstr>cd545260f4ebebdf9ef5058114ea88ea6f26be7fa4a1cee4aed9a8f7421cc631</vt:lpwstr>
  </property>
</Properties>
</file>