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[Regie: Kamera unten rechts, Titelfolie im Hintergrund.]</a:t>
            </a:r>
          </a:p>
          <a:p/>
          <a:p>
            <a:r>
              <a:t>Bevor eine Datenbank gebaut wird, wird sie geplant – mit einem Bauplan, dem ER-Modell. Im Abitur zeichnest du solche Modelle selbst oder liest sie. Nach diesem Video kennst du alle Bausteine der Chen-Notation, bestimmst Kardinalitäten sicher und modellierst auch rekursive und ternäre Beziehungen.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Unser Beispiel ist ein Tierheim. Ein Entitätstyp ist eine Art von Dingen, über die wir Daten speichern – hier Tier und Gehege. Er steht in einem Rechteck und heißt immer im Singular. Seine Attribute stehen in Ellipsen. Das Attribut, das jedes Tier eindeutig kennzeichnet, ist das Schlüsselattribut – es wird unterstrichen, hier die TierNr. Die Raute ist der Beziehungstyp: ein Verb in lowerCamelCase, hier lebtIn. An die Kanten schreibst du die Kardinalitäten – nur 1, n und m, keine Krähenfüße und keine Min-Max-Paare.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Kardinalitäten bestimmst du mit zwei Fragen, immer aus Sicht eines einzelnen Objekts. Erstens: In wie vielen Gehegen lebt ein Tier? In genau einem – also steht die 1 am Gehege. Zweitens: Wie viele Tiere leben in einem Gehege? Viele – also steht n am Tier. Das ist eine 1-zu-n-Beziehung. Unten eine 1-zu-1-Beziehung: Ein Tier trägt genau einen Chip, und ein Chip gehört zu genau einem Tier. Stell dir die beiden Fragen bei jeder Raute – laut, auch in der Klausur im Kopf.</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Ehrenamtliche Helferinnen und Helfer betreuen die Tiere. Ein Helfer betreut mehrere Tiere, und ein Tier wird von mehreren Helfern betreut – auf beiden Seiten viele, also n zu m. Jetzt soll gespeichert werden, seit wann jemand ein Tier betreut. Wohin gehört dieses Attribut? Nicht zum Helfer, denn er betreut jedes Tier unterschiedlich lange. Nicht zum Tier, aus demselben Grund. Seit gehört zum Paar aus Helfer und Tier – also an die Raute. Das nennt man ein Beziehungsattribut.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Manchmal steht ein Entitätstyp mit sich selbst in Beziehung. Im Tierheim kommen Jungtiere zur Welt, und wir wollen wissen, welches Tier die Mutter ist. Beide Kanten der Raute stammtAb führen zu Tier. Damit klar ist, wer wer ist, schreibst du Rollen an die Kanten: Mutter und Jungtier. Die Kardinalitäten liest du wie gewohnt: Eine Mutter hat viele Jungtiere, jedes Jungtier hat genau eine Mutter. Rekursive Beziehungen stehen neu im Beispiel der Ergänzenden Hinweise – rechne damit.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 wenn drei Dinge zusammengehören? Bevor jemand ein Tier adoptiert, gibt es Kennenlerntermine: Ein Interessent lernt ein Tier kennen, begleitet von einem Helfer, an einem bestimmten Datum. Diese Information hängt an allen dreien gleichzeitig – keine zwei reichen. Deshalb gibt es eine Raute mit drei Kanten, eine ternäre Beziehung. Die Kardinalitäten heißen dann n, m und p. Das Datum ist wieder ein Beziehungsattribut.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Jetzt du. Entwirf ein ER-Modell: Jede Futtersorte wird von genau einem Lieferanten geliefert, ein Lieferant liefert mehrere Sorten. Jedes Tier bekommt mehrere Futtersorten, und eine Sorte wird an mehrere Tiere verfüttert – jeweils mit einer Tagesmenge. Zeichne das ER-Modell mit Schlüsselattributen und Kardinalitäten. Halte das Video an – oder zeichne es direkt im Bauplan-Tisch.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Auflösung: Lieferant und Futtersorte sind über liefert verbunden – eine Futtersorte hat genau einen Lieferanten, also steht die 1 beim Lieferanten und das n bei der Futtersorte. Tier und Futtersorte sind n zu m verbunden, und die Tagesmenge gehört zum Paar aus Tier und Sorte, also an die Raute frisst. Typische Fehler: 1 und n vertauscht, die Tagesmenge am Tier, ein vergessenes Schlüsselattribut.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Falle im ER-Modell heißt P9. Kardinalitäten werden vertauscht oder vergessen – stell immer die zwei Fragen. Ein Entitätstyp ohne unterstrichenes Schlüsselattribut. Und ein Beziehungsattribut am falschen Ort. Wenn im Abitur verlangt wird, eine Kardinalität zu begründen, schreib beide Richtungen im Sachzusammenhang auf – ein Satz pro Richtung. Sonst droht P10.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nimmst du mit: Rechteck, Ellipse, Raute – Entitätstyp im Singular, Attribut, Beziehungstyp als Verb. Schlüsselattribute werden unterstrichen. Kardinalitäten bestimmst du mit zwei Fragen, in beide Richtungen. Attribute eines Paars gehören an die Raute. Und bei rekursiven Beziehungen schreibst du Rollen an die Kanten, bei ternären n, m und 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 ins Lab! In Akte 5 liest und zeichnest du den Bauplan der Detektei auf dem Bauplan-Tisch. Im nächsten Video machen wir aus einem ER-Modell eine Datenbank: vom ER-Modell zum Relationenschema in fünf Regeln.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5 · AKTE 5 · DER BAUPLAN</a:t>
            </a:r>
          </a:p>
        </p:txBody>
      </p:sp>
      <p:sp>
        <p:nvSpPr>
          <p:cNvPr id="3" name="TextBox 2"/>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a:t>
            </a:r>
          </a:p>
        </p:txBody>
      </p:sp>
      <p:sp>
        <p:nvSpPr>
          <p:cNvPr id="4" name="TextBox 3"/>
          <p:cNvSpPr txBox="1"/>
          <p:nvPr/>
        </p:nvSpPr>
        <p:spPr>
          <a:xfrm>
            <a:off x="548640" y="960120"/>
            <a:ext cx="7772400" cy="365760"/>
          </a:xfrm>
          <a:prstGeom prst="rect">
            <a:avLst/>
          </a:prstGeom>
          <a:noFill/>
        </p:spPr>
        <p:txBody>
          <a:bodyPr wrap="square" lIns="27432" rIns="27432" tIns="27432" bIns="27432">
            <a:spAutoFit/>
          </a:bodyPr>
          <a:lstStyle/>
          <a:p>
            <a:pPr>
              <a:lnSpc>
                <a:spcPct val="105000"/>
              </a:lnSpc>
              <a:spcAft>
                <a:spcPts val="400"/>
              </a:spcAft>
            </a:pPr>
            <a:r>
              <a:rPr sz="1400" b="1" i="0" u="none">
                <a:solidFill>
                  <a:srgbClr val="D4B062"/>
                </a:solidFill>
                <a:latin typeface="IBM Plex Mono"/>
              </a:rPr>
              <a:t>ERKLÄRVIDEO 5</a:t>
            </a:r>
          </a:p>
        </p:txBody>
      </p:sp>
      <p:sp>
        <p:nvSpPr>
          <p:cNvPr id="5" name="TextBox 4"/>
          <p:cNvSpPr txBox="1"/>
          <p:nvPr/>
        </p:nvSpPr>
        <p:spPr>
          <a:xfrm>
            <a:off x="548640" y="1371600"/>
            <a:ext cx="7772400" cy="1231392"/>
          </a:xfrm>
          <a:prstGeom prst="rect">
            <a:avLst/>
          </a:prstGeom>
          <a:noFill/>
        </p:spPr>
        <p:txBody>
          <a:bodyPr wrap="square" lIns="27432" rIns="27432" tIns="27432" bIns="27432" anchor="t">
            <a:spAutoFit/>
          </a:bodyPr>
          <a:lstStyle/>
          <a:p>
            <a:pPr>
              <a:lnSpc>
                <a:spcPct val="105000"/>
              </a:lnSpc>
              <a:spcAft>
                <a:spcPts val="400"/>
              </a:spcAft>
            </a:pPr>
            <a:r>
              <a:rPr sz="4000" b="0" i="0" u="none">
                <a:solidFill>
                  <a:srgbClr val="E8E1D3"/>
                </a:solidFill>
                <a:latin typeface="Barlow Condensed SemiBold"/>
              </a:rPr>
              <a:t>ER-Modelle nach den Ergänzenden Hinweisen</a:t>
            </a:r>
          </a:p>
        </p:txBody>
      </p:sp>
      <p:cxnSp>
        <p:nvCxnSpPr>
          <p:cNvPr id="6" name="Roter Faden"/>
          <p:cNvCxnSpPr/>
          <p:nvPr/>
        </p:nvCxnSpPr>
        <p:spPr>
          <a:xfrm>
            <a:off x="548640" y="274015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484632" y="267614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579047" y="267614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2923032"/>
            <a:ext cx="7772400" cy="713231"/>
          </a:xfrm>
          <a:prstGeom prst="rect">
            <a:avLst/>
          </a:prstGeom>
          <a:noFill/>
        </p:spPr>
        <p:txBody>
          <a:bodyPr wrap="square" lIns="27432" rIns="27432" tIns="27432" bIns="27432">
            <a:spAutoFit/>
          </a:bodyPr>
          <a:lstStyle/>
          <a:p>
            <a:pPr>
              <a:lnSpc>
                <a:spcPct val="105000"/>
              </a:lnSpc>
              <a:spcAft>
                <a:spcPts val="400"/>
              </a:spcAft>
            </a:pPr>
            <a:r>
              <a:rPr sz="2100" b="0" i="0" u="none">
                <a:solidFill>
                  <a:srgbClr val="BDB6A9"/>
                </a:solidFill>
                <a:latin typeface="Barlow"/>
              </a:rPr>
              <a:t>Chen-Notation, Kardinalitäten 1/n/m, Schlüssel- und Beziehungsattribute, rekursive und ternäre Beziehungstypen</a:t>
            </a:r>
          </a:p>
        </p:txBody>
      </p:sp>
      <p:sp>
        <p:nvSpPr>
          <p:cNvPr id="10" name="TextBox 9"/>
          <p:cNvSpPr txBox="1"/>
          <p:nvPr/>
        </p:nvSpPr>
        <p:spPr>
          <a:xfrm>
            <a:off x="548640" y="5943600"/>
            <a:ext cx="7772400" cy="365760"/>
          </a:xfrm>
          <a:prstGeom prst="rect">
            <a:avLst/>
          </a:prstGeom>
          <a:noFill/>
        </p:spPr>
        <p:txBody>
          <a:bodyPr wrap="square" lIns="27432" rIns="27432" tIns="27432" bIns="27432">
            <a:spAutoFit/>
          </a:bodyPr>
          <a:lstStyle/>
          <a:p>
            <a:pPr>
              <a:lnSpc>
                <a:spcPct val="105000"/>
              </a:lnSpc>
              <a:spcAft>
                <a:spcPts val="400"/>
              </a:spcAft>
            </a:pPr>
            <a:r>
              <a:rPr sz="1250" b="0" i="0" u="none">
                <a:solidFill>
                  <a:srgbClr val="BDB6A9"/>
                </a:solidFill>
                <a:latin typeface="IBM Plex Mono"/>
              </a:rPr>
              <a:t>Akte 5 · DS 9–10 · eA · 10–12 min</a:t>
            </a:r>
          </a:p>
        </p:txBody>
      </p:sp>
      <p:pic>
        <p:nvPicPr>
          <p:cNvPr id="11" name="Picture 10" descr="stempel.png"/>
          <p:cNvPicPr>
            <a:picLocks noChangeAspect="1"/>
          </p:cNvPicPr>
          <p:nvPr/>
        </p:nvPicPr>
        <p:blipFill>
          <a:blip r:embed="rId3"/>
          <a:stretch>
            <a:fillRect/>
          </a:stretch>
        </p:blipFill>
        <p:spPr>
          <a:xfrm>
            <a:off x="8869680" y="1051560"/>
            <a:ext cx="2773375" cy="985718"/>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5 · 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Die Bausteine der Chen-Notation</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2</a:t>
            </a:r>
          </a:p>
        </p:txBody>
      </p:sp>
      <p:pic>
        <p:nvPicPr>
          <p:cNvPr id="8" name="Bild er_basis" descr="er_basis.png"/>
          <p:cNvPicPr>
            <a:picLocks noChangeAspect="1"/>
          </p:cNvPicPr>
          <p:nvPr/>
        </p:nvPicPr>
        <p:blipFill>
          <a:blip r:embed="rId3"/>
          <a:stretch>
            <a:fillRect/>
          </a:stretch>
        </p:blipFill>
        <p:spPr>
          <a:xfrm>
            <a:off x="548640" y="1691640"/>
            <a:ext cx="11094415" cy="2179742"/>
          </a:xfrm>
          <a:prstGeom prst="rect">
            <a:avLst/>
          </a:prstGeom>
          <a:ln w="9525">
            <a:solidFill>
              <a:srgbClr val="BDB6A9"/>
            </a:solidFill>
          </a:ln>
        </p:spPr>
      </p:pic>
      <p:sp>
        <p:nvSpPr>
          <p:cNvPr id="9" name="Rounded Rectangle 8"/>
          <p:cNvSpPr/>
          <p:nvPr/>
        </p:nvSpPr>
        <p:spPr>
          <a:xfrm>
            <a:off x="548640" y="4008542"/>
            <a:ext cx="7772400" cy="2033015"/>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48640" y="4008542"/>
            <a:ext cx="73152" cy="2033015"/>
          </a:xfrm>
          <a:prstGeom prst="rect">
            <a:avLst/>
          </a:prstGeom>
          <a:solidFill>
            <a:srgbClr val="2C5A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22959" y="4099982"/>
            <a:ext cx="7360920"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2C5A85"/>
                </a:solidFill>
                <a:latin typeface="IBM Plex Mono"/>
              </a:rPr>
              <a:t>NOTATION (EH §7)</a:t>
            </a:r>
          </a:p>
        </p:txBody>
      </p:sp>
      <p:sp>
        <p:nvSpPr>
          <p:cNvPr id="12" name="TextBox 11"/>
          <p:cNvSpPr txBox="1"/>
          <p:nvPr/>
        </p:nvSpPr>
        <p:spPr>
          <a:xfrm>
            <a:off x="822959" y="4465742"/>
            <a:ext cx="7360920" cy="1530095"/>
          </a:xfrm>
          <a:prstGeom prst="rect">
            <a:avLst/>
          </a:prstGeom>
          <a:noFill/>
        </p:spPr>
        <p:txBody>
          <a:bodyPr wrap="square" lIns="27432" rIns="27432" tIns="27432" bIns="27432">
            <a:spAutoFit/>
          </a:bodyPr>
          <a:lstStyle/>
          <a:p>
            <a:pPr>
              <a:lnSpc>
                <a:spcPct val="105000"/>
              </a:lnSpc>
              <a:spcAft>
                <a:spcPts val="300"/>
              </a:spcAft>
            </a:pPr>
            <a:r>
              <a:rPr sz="1700" b="1">
                <a:solidFill>
                  <a:srgbClr val="2C5A85"/>
                </a:solidFill>
                <a:latin typeface="Barlow"/>
              </a:rPr>
              <a:t>▸  </a:t>
            </a:r>
            <a:r>
              <a:rPr sz="1700" b="0" i="0" u="none">
                <a:solidFill>
                  <a:srgbClr val="1C2B3A"/>
                </a:solidFill>
                <a:latin typeface="Barlow"/>
              </a:rPr>
              <a:t>Rechteck: </a:t>
            </a:r>
            <a:r>
              <a:rPr sz="1700" b="1" i="0" u="none">
                <a:solidFill>
                  <a:srgbClr val="1C2B3A"/>
                </a:solidFill>
                <a:latin typeface="Barlow"/>
              </a:rPr>
              <a:t>Entitätstyp</a:t>
            </a:r>
            <a:r>
              <a:rPr sz="1700" b="0" i="0" u="none">
                <a:solidFill>
                  <a:srgbClr val="1C2B3A"/>
                </a:solidFill>
                <a:latin typeface="Barlow"/>
              </a:rPr>
              <a:t>, Singular</a:t>
            </a:r>
          </a:p>
          <a:p>
            <a:pPr>
              <a:lnSpc>
                <a:spcPct val="105000"/>
              </a:lnSpc>
              <a:spcAft>
                <a:spcPts val="300"/>
              </a:spcAft>
            </a:pPr>
            <a:r>
              <a:rPr sz="1700" b="1">
                <a:solidFill>
                  <a:srgbClr val="2C5A85"/>
                </a:solidFill>
                <a:latin typeface="Barlow"/>
              </a:rPr>
              <a:t>▸  </a:t>
            </a:r>
            <a:r>
              <a:rPr sz="1700" b="0" i="0" u="none">
                <a:solidFill>
                  <a:srgbClr val="1C2B3A"/>
                </a:solidFill>
                <a:latin typeface="Barlow"/>
              </a:rPr>
              <a:t>Ellipse: Attribut, </a:t>
            </a:r>
            <a:r>
              <a:rPr sz="1700" b="1" i="0" u="none">
                <a:solidFill>
                  <a:srgbClr val="1C2B3A"/>
                </a:solidFill>
                <a:latin typeface="Barlow"/>
              </a:rPr>
              <a:t>Schlüsselattribut unterstrichen</a:t>
            </a:r>
          </a:p>
          <a:p>
            <a:pPr>
              <a:lnSpc>
                <a:spcPct val="105000"/>
              </a:lnSpc>
              <a:spcAft>
                <a:spcPts val="300"/>
              </a:spcAft>
            </a:pPr>
            <a:r>
              <a:rPr sz="1700" b="1">
                <a:solidFill>
                  <a:srgbClr val="2C5A85"/>
                </a:solidFill>
                <a:latin typeface="Barlow"/>
              </a:rPr>
              <a:t>▸  </a:t>
            </a:r>
            <a:r>
              <a:rPr sz="1700" b="0" i="0" u="none">
                <a:solidFill>
                  <a:srgbClr val="1C2B3A"/>
                </a:solidFill>
                <a:latin typeface="Barlow"/>
              </a:rPr>
              <a:t>Raute: </a:t>
            </a:r>
            <a:r>
              <a:rPr sz="1700" b="1" i="0" u="none">
                <a:solidFill>
                  <a:srgbClr val="1C2B3A"/>
                </a:solidFill>
                <a:latin typeface="Barlow"/>
              </a:rPr>
              <a:t>Beziehungstyp</a:t>
            </a:r>
            <a:r>
              <a:rPr sz="1700" b="0" i="0" u="none">
                <a:solidFill>
                  <a:srgbClr val="1C2B3A"/>
                </a:solidFill>
                <a:latin typeface="Barlow"/>
              </a:rPr>
              <a:t>, Verb in lowerCamelCase</a:t>
            </a:r>
          </a:p>
          <a:p>
            <a:pPr>
              <a:lnSpc>
                <a:spcPct val="105000"/>
              </a:lnSpc>
              <a:spcAft>
                <a:spcPts val="300"/>
              </a:spcAft>
            </a:pPr>
            <a:r>
              <a:rPr sz="1700" b="1">
                <a:solidFill>
                  <a:srgbClr val="2C5A85"/>
                </a:solidFill>
                <a:latin typeface="Barlow"/>
              </a:rPr>
              <a:t>▸  </a:t>
            </a:r>
            <a:r>
              <a:rPr sz="1700" b="0" i="0" u="none">
                <a:solidFill>
                  <a:srgbClr val="1C2B3A"/>
                </a:solidFill>
                <a:latin typeface="Barlow"/>
              </a:rPr>
              <a:t>Kanten mit Kardinalität </a:t>
            </a:r>
            <a:r>
              <a:rPr sz="1700" b="1" i="0" u="none">
                <a:solidFill>
                  <a:srgbClr val="1C2B3A"/>
                </a:solidFill>
                <a:latin typeface="Barlow"/>
              </a:rPr>
              <a:t>1</a:t>
            </a:r>
            <a:r>
              <a:rPr sz="1700" b="0" i="0" u="none">
                <a:solidFill>
                  <a:srgbClr val="1C2B3A"/>
                </a:solidFill>
                <a:latin typeface="Barlow"/>
              </a:rPr>
              <a:t>, </a:t>
            </a:r>
            <a:r>
              <a:rPr sz="1700" b="1" i="0" u="none">
                <a:solidFill>
                  <a:srgbClr val="1C2B3A"/>
                </a:solidFill>
                <a:latin typeface="Barlow"/>
              </a:rPr>
              <a:t>n</a:t>
            </a:r>
            <a:r>
              <a:rPr sz="1700" b="0" i="0" u="none">
                <a:solidFill>
                  <a:srgbClr val="1C2B3A"/>
                </a:solidFill>
                <a:latin typeface="Barlow"/>
              </a:rPr>
              <a:t>, </a:t>
            </a:r>
            <a:r>
              <a:rPr sz="1700" b="1" i="0" u="none">
                <a:solidFill>
                  <a:srgbClr val="1C2B3A"/>
                </a:solidFill>
                <a:latin typeface="Barlow"/>
              </a:rPr>
              <a:t>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5 · 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Kardinalitäten bestimmen: 1:n und 1:1</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3</a:t>
            </a:r>
          </a:p>
        </p:txBody>
      </p:sp>
      <p:pic>
        <p:nvPicPr>
          <p:cNvPr id="8" name="Bild er_eins" descr="er_eins.png"/>
          <p:cNvPicPr>
            <a:picLocks noChangeAspect="1"/>
          </p:cNvPicPr>
          <p:nvPr/>
        </p:nvPicPr>
        <p:blipFill>
          <a:blip r:embed="rId3"/>
          <a:stretch>
            <a:fillRect/>
          </a:stretch>
        </p:blipFill>
        <p:spPr>
          <a:xfrm>
            <a:off x="631537" y="1691640"/>
            <a:ext cx="10928619" cy="2240279"/>
          </a:xfrm>
          <a:prstGeom prst="rect">
            <a:avLst/>
          </a:prstGeom>
          <a:ln w="9525">
            <a:solidFill>
              <a:srgbClr val="BDB6A9"/>
            </a:solidFill>
          </a:ln>
        </p:spPr>
      </p:pic>
      <p:sp>
        <p:nvSpPr>
          <p:cNvPr id="9" name="Rounded Rectangle 8"/>
          <p:cNvSpPr/>
          <p:nvPr/>
        </p:nvSpPr>
        <p:spPr>
          <a:xfrm>
            <a:off x="548640" y="4069079"/>
            <a:ext cx="7772400" cy="1673351"/>
          </a:xfrm>
          <a:prstGeom prst="roundRect">
            <a:avLst>
              <a:gd name="adj" fmla="val 4000"/>
            </a:avLst>
          </a:prstGeom>
          <a:solidFill>
            <a:srgbClr val="F3E8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48640" y="4069079"/>
            <a:ext cx="73152" cy="1673351"/>
          </a:xfrm>
          <a:prstGeom prst="rect">
            <a:avLst/>
          </a:prstGeom>
          <a:solidFill>
            <a:srgbClr val="7A5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22959" y="4160519"/>
            <a:ext cx="7360920"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7A5E1F"/>
                </a:solidFill>
                <a:latin typeface="IBM Plex Mono"/>
              </a:rPr>
              <a:t>LESETRICK: ZWEI FRAGEN</a:t>
            </a:r>
          </a:p>
        </p:txBody>
      </p:sp>
      <p:sp>
        <p:nvSpPr>
          <p:cNvPr id="12" name="TextBox 11"/>
          <p:cNvSpPr txBox="1"/>
          <p:nvPr/>
        </p:nvSpPr>
        <p:spPr>
          <a:xfrm>
            <a:off x="822959" y="4526279"/>
            <a:ext cx="7360920" cy="1170431"/>
          </a:xfrm>
          <a:prstGeom prst="rect">
            <a:avLst/>
          </a:prstGeom>
          <a:noFill/>
        </p:spPr>
        <p:txBody>
          <a:bodyPr wrap="square" lIns="27432" rIns="27432" tIns="27432" bIns="27432">
            <a:spAutoFit/>
          </a:bodyPr>
          <a:lstStyle/>
          <a:p>
            <a:pPr>
              <a:lnSpc>
                <a:spcPct val="105000"/>
              </a:lnSpc>
              <a:spcAft>
                <a:spcPts val="300"/>
              </a:spcAft>
            </a:pPr>
            <a:r>
              <a:rPr sz="1700" b="0" i="0" u="none">
                <a:solidFill>
                  <a:srgbClr val="1C2B3A"/>
                </a:solidFill>
                <a:latin typeface="Barlow"/>
              </a:rPr>
              <a:t>In wie vielen Gehegen lebt </a:t>
            </a:r>
            <a:r>
              <a:rPr sz="1700" b="1" i="0" u="none">
                <a:solidFill>
                  <a:srgbClr val="1C2B3A"/>
                </a:solidFill>
                <a:latin typeface="Barlow"/>
              </a:rPr>
              <a:t>ein</a:t>
            </a:r>
            <a:r>
              <a:rPr sz="1700" b="0" i="0" u="none">
                <a:solidFill>
                  <a:srgbClr val="1C2B3A"/>
                </a:solidFill>
                <a:latin typeface="Barlow"/>
              </a:rPr>
              <a:t> Tier? → 1</a:t>
            </a:r>
          </a:p>
          <a:p>
            <a:pPr>
              <a:lnSpc>
                <a:spcPct val="105000"/>
              </a:lnSpc>
              <a:spcAft>
                <a:spcPts val="300"/>
              </a:spcAft>
            </a:pPr>
            <a:r>
              <a:rPr sz="1700" b="0" i="0" u="none">
                <a:solidFill>
                  <a:srgbClr val="1C2B3A"/>
                </a:solidFill>
                <a:latin typeface="Barlow"/>
              </a:rPr>
              <a:t>Wie viele Tiere leben in </a:t>
            </a:r>
            <a:r>
              <a:rPr sz="1700" b="1" i="0" u="none">
                <a:solidFill>
                  <a:srgbClr val="1C2B3A"/>
                </a:solidFill>
                <a:latin typeface="Barlow"/>
              </a:rPr>
              <a:t>einem</a:t>
            </a:r>
            <a:r>
              <a:rPr sz="1700" b="0" i="0" u="none">
                <a:solidFill>
                  <a:srgbClr val="1C2B3A"/>
                </a:solidFill>
                <a:latin typeface="Barlow"/>
              </a:rPr>
              <a:t> Gehege? → n</a:t>
            </a:r>
          </a:p>
          <a:p>
            <a:pPr>
              <a:lnSpc>
                <a:spcPct val="105000"/>
              </a:lnSpc>
              <a:spcAft>
                <a:spcPts val="300"/>
              </a:spcAft>
            </a:pPr>
            <a:r>
              <a:rPr sz="1700" b="0" i="0" u="none">
                <a:solidFill>
                  <a:srgbClr val="1C2B3A"/>
                </a:solidFill>
                <a:latin typeface="Barlow"/>
              </a:rPr>
              <a:t>Die Zahl steht beim Entitätstyp, der „gezählt“ wird.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5 · 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n:m mit Beziehungsattribut</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4</a:t>
            </a:r>
          </a:p>
        </p:txBody>
      </p:sp>
      <p:pic>
        <p:nvPicPr>
          <p:cNvPr id="8" name="Bild er_nm" descr="er_nm.png"/>
          <p:cNvPicPr>
            <a:picLocks noChangeAspect="1"/>
          </p:cNvPicPr>
          <p:nvPr/>
        </p:nvPicPr>
        <p:blipFill>
          <a:blip r:embed="rId3"/>
          <a:stretch>
            <a:fillRect/>
          </a:stretch>
        </p:blipFill>
        <p:spPr>
          <a:xfrm>
            <a:off x="2545091" y="1691640"/>
            <a:ext cx="7101512" cy="2240279"/>
          </a:xfrm>
          <a:prstGeom prst="rect">
            <a:avLst/>
          </a:prstGeom>
          <a:ln w="9525">
            <a:solidFill>
              <a:srgbClr val="BDB6A9"/>
            </a:solidFill>
          </a:ln>
        </p:spPr>
      </p:pic>
      <p:sp>
        <p:nvSpPr>
          <p:cNvPr id="9" name="Rounded Rectangle 8"/>
          <p:cNvSpPr/>
          <p:nvPr/>
        </p:nvSpPr>
        <p:spPr>
          <a:xfrm>
            <a:off x="548640" y="4069079"/>
            <a:ext cx="7772400" cy="1831848"/>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48640" y="4069079"/>
            <a:ext cx="73152" cy="1831848"/>
          </a:xfrm>
          <a:prstGeom prst="rect">
            <a:avLst/>
          </a:prstGeom>
          <a:solidFill>
            <a:srgbClr val="2C5A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22959" y="4160519"/>
            <a:ext cx="7360920"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2C5A85"/>
                </a:solidFill>
                <a:latin typeface="IBM Plex Mono"/>
              </a:rPr>
              <a:t>WOHIN GEHÖRT „SEIT“?</a:t>
            </a:r>
          </a:p>
        </p:txBody>
      </p:sp>
      <p:sp>
        <p:nvSpPr>
          <p:cNvPr id="12" name="TextBox 11"/>
          <p:cNvSpPr txBox="1"/>
          <p:nvPr/>
        </p:nvSpPr>
        <p:spPr>
          <a:xfrm>
            <a:off x="822959" y="4526279"/>
            <a:ext cx="7360920" cy="1328928"/>
          </a:xfrm>
          <a:prstGeom prst="rect">
            <a:avLst/>
          </a:prstGeom>
          <a:noFill/>
        </p:spPr>
        <p:txBody>
          <a:bodyPr wrap="square" lIns="27432" rIns="27432" tIns="27432" bIns="27432">
            <a:spAutoFit/>
          </a:bodyPr>
          <a:lstStyle/>
          <a:p>
            <a:pPr>
              <a:lnSpc>
                <a:spcPct val="105000"/>
              </a:lnSpc>
              <a:spcAft>
                <a:spcPts val="300"/>
              </a:spcAft>
            </a:pPr>
            <a:r>
              <a:rPr sz="1700" b="0" i="0" u="none">
                <a:solidFill>
                  <a:srgbClr val="1C2B3A"/>
                </a:solidFill>
                <a:latin typeface="Barlow"/>
              </a:rPr>
              <a:t>Ein Helfer betreut viele Tiere, ein Tier wird von vielen Helfern betreut → </a:t>
            </a:r>
            <a:r>
              <a:rPr sz="1700" b="1" i="0" u="none">
                <a:solidFill>
                  <a:srgbClr val="1C2B3A"/>
                </a:solidFill>
                <a:latin typeface="Barlow"/>
              </a:rPr>
              <a:t>n:m</a:t>
            </a:r>
            <a:r>
              <a:rPr sz="1700" b="0" i="0" u="none">
                <a:solidFill>
                  <a:srgbClr val="1C2B3A"/>
                </a:solidFill>
                <a:latin typeface="Barlow"/>
              </a:rPr>
              <a:t>.</a:t>
            </a:r>
          </a:p>
          <a:p>
            <a:pPr>
              <a:lnSpc>
                <a:spcPct val="105000"/>
              </a:lnSpc>
              <a:spcAft>
                <a:spcPts val="300"/>
              </a:spcAft>
            </a:pPr>
            <a:r>
              <a:rPr sz="1700" b="0" i="0" u="none">
                <a:solidFill>
                  <a:srgbClr val="1C2B3A"/>
                </a:solidFill>
                <a:latin typeface="Barlow"/>
              </a:rPr>
              <a:t>„Seit“ beschreibt das </a:t>
            </a:r>
            <a:r>
              <a:rPr sz="1700" b="1" i="0" u="none">
                <a:solidFill>
                  <a:srgbClr val="1C2B3A"/>
                </a:solidFill>
                <a:latin typeface="Barlow"/>
              </a:rPr>
              <a:t>Paar</a:t>
            </a:r>
            <a:r>
              <a:rPr sz="1700" b="0" i="0" u="none">
                <a:solidFill>
                  <a:srgbClr val="1C2B3A"/>
                </a:solidFill>
                <a:latin typeface="Barlow"/>
              </a:rPr>
              <a:t> Helfer–Tier, nicht den Helfer und nicht das Tier → Attribut </a:t>
            </a:r>
            <a:r>
              <a:rPr sz="1700" b="1" i="0" u="none">
                <a:solidFill>
                  <a:srgbClr val="1C2B3A"/>
                </a:solidFill>
                <a:latin typeface="Barlow"/>
              </a:rPr>
              <a:t>an der Raute</a:t>
            </a:r>
            <a:r>
              <a:rPr sz="1700" b="0" i="0" u="none">
                <a:solidFill>
                  <a:srgbClr val="1C2B3A"/>
                </a:solidFill>
                <a:latin typeface="Barlow"/>
              </a:rP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5 · 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Rekursiv: ein Entitätstyp, zwei Rollen</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5</a:t>
            </a:r>
          </a:p>
        </p:txBody>
      </p:sp>
      <p:sp>
        <p:nvSpPr>
          <p:cNvPr id="8" name="Rounded Rectangle 7"/>
          <p:cNvSpPr/>
          <p:nvPr/>
        </p:nvSpPr>
        <p:spPr>
          <a:xfrm>
            <a:off x="7315200" y="1691640"/>
            <a:ext cx="4327855" cy="2191512"/>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0" y="1691640"/>
            <a:ext cx="73152" cy="2191512"/>
          </a:xfrm>
          <a:prstGeom prst="rect">
            <a:avLst/>
          </a:prstGeom>
          <a:solidFill>
            <a:srgbClr val="2C5A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589520" y="1783080"/>
            <a:ext cx="3916375"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2C5A85"/>
                </a:solidFill>
                <a:latin typeface="IBM Plex Mono"/>
              </a:rPr>
              <a:t>ROLLEN</a:t>
            </a:r>
          </a:p>
        </p:txBody>
      </p:sp>
      <p:sp>
        <p:nvSpPr>
          <p:cNvPr id="11" name="TextBox 10"/>
          <p:cNvSpPr txBox="1"/>
          <p:nvPr/>
        </p:nvSpPr>
        <p:spPr>
          <a:xfrm>
            <a:off x="7589520" y="2148840"/>
            <a:ext cx="3916375" cy="1688591"/>
          </a:xfrm>
          <a:prstGeom prst="rect">
            <a:avLst/>
          </a:prstGeom>
          <a:noFill/>
        </p:spPr>
        <p:txBody>
          <a:bodyPr wrap="square" lIns="27432" rIns="27432" tIns="27432" bIns="27432">
            <a:spAutoFit/>
          </a:bodyPr>
          <a:lstStyle/>
          <a:p>
            <a:pPr>
              <a:lnSpc>
                <a:spcPct val="105000"/>
              </a:lnSpc>
              <a:spcAft>
                <a:spcPts val="300"/>
              </a:spcAft>
            </a:pPr>
            <a:r>
              <a:rPr sz="1700" b="0" i="0" u="none">
                <a:solidFill>
                  <a:srgbClr val="1C2B3A"/>
                </a:solidFill>
                <a:latin typeface="Barlow"/>
              </a:rPr>
              <a:t>Beide Kanten führen zu </a:t>
            </a:r>
            <a:r>
              <a:rPr sz="1700" b="1" i="0" u="none">
                <a:solidFill>
                  <a:srgbClr val="1C2B3A"/>
                </a:solidFill>
                <a:latin typeface="Barlow"/>
              </a:rPr>
              <a:t>Tier</a:t>
            </a:r>
            <a:r>
              <a:rPr sz="1700" b="0" i="0" u="none">
                <a:solidFill>
                  <a:srgbClr val="1C2B3A"/>
                </a:solidFill>
                <a:latin typeface="Barlow"/>
              </a:rPr>
              <a:t>.</a:t>
            </a:r>
          </a:p>
          <a:p>
            <a:pPr>
              <a:lnSpc>
                <a:spcPct val="105000"/>
              </a:lnSpc>
              <a:spcAft>
                <a:spcPts val="300"/>
              </a:spcAft>
            </a:pPr>
            <a:r>
              <a:rPr sz="1700" b="0" i="0" u="none">
                <a:solidFill>
                  <a:srgbClr val="1C2B3A"/>
                </a:solidFill>
                <a:latin typeface="Barlow"/>
              </a:rPr>
              <a:t>Rollen klären, wer wer ist: </a:t>
            </a:r>
            <a:r>
              <a:rPr sz="1700" b="1" i="0" u="none">
                <a:solidFill>
                  <a:srgbClr val="1C2B3A"/>
                </a:solidFill>
                <a:latin typeface="Barlow"/>
              </a:rPr>
              <a:t>Mutter</a:t>
            </a:r>
            <a:r>
              <a:rPr sz="1700" b="0" i="0" u="none">
                <a:solidFill>
                  <a:srgbClr val="1C2B3A"/>
                </a:solidFill>
                <a:latin typeface="Barlow"/>
              </a:rPr>
              <a:t> (1) und </a:t>
            </a:r>
            <a:r>
              <a:rPr sz="1700" b="1" i="0" u="none">
                <a:solidFill>
                  <a:srgbClr val="1C2B3A"/>
                </a:solidFill>
                <a:latin typeface="Barlow"/>
              </a:rPr>
              <a:t>Jungtier</a:t>
            </a:r>
            <a:r>
              <a:rPr sz="1700" b="0" i="0" u="none">
                <a:solidFill>
                  <a:srgbClr val="1C2B3A"/>
                </a:solidFill>
                <a:latin typeface="Barlow"/>
              </a:rPr>
              <a:t> (n).</a:t>
            </a:r>
          </a:p>
          <a:p>
            <a:pPr>
              <a:lnSpc>
                <a:spcPct val="105000"/>
              </a:lnSpc>
              <a:spcAft>
                <a:spcPts val="300"/>
              </a:spcAft>
            </a:pPr>
            <a:r>
              <a:rPr sz="1700" b="0" i="0" u="none">
                <a:solidFill>
                  <a:srgbClr val="1C2B3A"/>
                </a:solidFill>
                <a:latin typeface="Barlow"/>
              </a:rPr>
              <a:t>Eine Mutter hat viele Jungtiere, jedes Jungtier hat eine Mutter.</a:t>
            </a:r>
          </a:p>
        </p:txBody>
      </p:sp>
      <p:pic>
        <p:nvPicPr>
          <p:cNvPr id="12" name="Bild er_rek" descr="er_rek.png"/>
          <p:cNvPicPr>
            <a:picLocks noChangeAspect="1"/>
          </p:cNvPicPr>
          <p:nvPr/>
        </p:nvPicPr>
        <p:blipFill>
          <a:blip r:embed="rId3"/>
          <a:stretch>
            <a:fillRect/>
          </a:stretch>
        </p:blipFill>
        <p:spPr>
          <a:xfrm>
            <a:off x="2016441" y="1691640"/>
            <a:ext cx="3556637" cy="4572000"/>
          </a:xfrm>
          <a:prstGeom prst="rect">
            <a:avLst/>
          </a:prstGeom>
          <a:ln w="9525">
            <a:solidFill>
              <a:srgbClr val="BDB6A9"/>
            </a:solidFill>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5 · 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Ternär: drei Entitätstypen an einer Raute</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6</a:t>
            </a:r>
          </a:p>
        </p:txBody>
      </p:sp>
      <p:sp>
        <p:nvSpPr>
          <p:cNvPr id="8" name="Rounded Rectangle 7"/>
          <p:cNvSpPr/>
          <p:nvPr/>
        </p:nvSpPr>
        <p:spPr>
          <a:xfrm>
            <a:off x="7315200" y="1691640"/>
            <a:ext cx="4327855" cy="2194560"/>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0" y="1691640"/>
            <a:ext cx="73152" cy="2194560"/>
          </a:xfrm>
          <a:prstGeom prst="rect">
            <a:avLst/>
          </a:prstGeom>
          <a:solidFill>
            <a:srgbClr val="2C5A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589520" y="1783080"/>
            <a:ext cx="3916375"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2C5A85"/>
                </a:solidFill>
                <a:latin typeface="IBM Plex Mono"/>
              </a:rPr>
              <a:t>KENNENLERNTERMIN</a:t>
            </a:r>
          </a:p>
        </p:txBody>
      </p:sp>
      <p:sp>
        <p:nvSpPr>
          <p:cNvPr id="11" name="TextBox 10"/>
          <p:cNvSpPr txBox="1"/>
          <p:nvPr/>
        </p:nvSpPr>
        <p:spPr>
          <a:xfrm>
            <a:off x="7589520" y="2148840"/>
            <a:ext cx="3916375" cy="1691639"/>
          </a:xfrm>
          <a:prstGeom prst="rect">
            <a:avLst/>
          </a:prstGeom>
          <a:noFill/>
        </p:spPr>
        <p:txBody>
          <a:bodyPr wrap="square" lIns="27432" rIns="27432" tIns="27432" bIns="27432">
            <a:spAutoFit/>
          </a:bodyPr>
          <a:lstStyle/>
          <a:p>
            <a:pPr>
              <a:lnSpc>
                <a:spcPct val="105000"/>
              </a:lnSpc>
              <a:spcAft>
                <a:spcPts val="300"/>
              </a:spcAft>
            </a:pPr>
            <a:r>
              <a:rPr sz="1530" b="0" i="0" u="none">
                <a:solidFill>
                  <a:srgbClr val="1C2B3A"/>
                </a:solidFill>
                <a:latin typeface="Barlow"/>
              </a:rPr>
              <a:t>Ein Interessent lernt ein Tier kennen – begleitet von einem Helfer, an einem Datum.</a:t>
            </a:r>
          </a:p>
          <a:p>
            <a:pPr>
              <a:lnSpc>
                <a:spcPct val="105000"/>
              </a:lnSpc>
              <a:spcAft>
                <a:spcPts val="300"/>
              </a:spcAft>
            </a:pPr>
            <a:r>
              <a:rPr sz="1530" b="0" i="0" u="none">
                <a:solidFill>
                  <a:srgbClr val="1C2B3A"/>
                </a:solidFill>
                <a:latin typeface="Barlow"/>
              </a:rPr>
              <a:t>Nur alle drei zusammen beschreiben den Termin → </a:t>
            </a:r>
            <a:r>
              <a:rPr sz="1530" b="1" i="0" u="none">
                <a:solidFill>
                  <a:srgbClr val="1C2B3A"/>
                </a:solidFill>
                <a:latin typeface="Barlow"/>
              </a:rPr>
              <a:t>ternär</a:t>
            </a:r>
            <a:r>
              <a:rPr sz="1530" b="0" i="0" u="none">
                <a:solidFill>
                  <a:srgbClr val="1C2B3A"/>
                </a:solidFill>
                <a:latin typeface="Barlow"/>
              </a:rPr>
              <a:t>, Kardinalitäten </a:t>
            </a:r>
            <a:r>
              <a:rPr sz="1530" b="1" i="0" u="none">
                <a:solidFill>
                  <a:srgbClr val="1C2B3A"/>
                </a:solidFill>
                <a:latin typeface="Barlow"/>
              </a:rPr>
              <a:t>n, m, p</a:t>
            </a:r>
            <a:r>
              <a:rPr sz="1530" b="0" i="0" u="none">
                <a:solidFill>
                  <a:srgbClr val="1C2B3A"/>
                </a:solidFill>
                <a:latin typeface="Barlow"/>
              </a:rPr>
              <a:t>.</a:t>
            </a:r>
          </a:p>
        </p:txBody>
      </p:sp>
      <p:pic>
        <p:nvPicPr>
          <p:cNvPr id="12" name="Bild er_ter" descr="er_ter.png"/>
          <p:cNvPicPr>
            <a:picLocks noChangeAspect="1"/>
          </p:cNvPicPr>
          <p:nvPr/>
        </p:nvPicPr>
        <p:blipFill>
          <a:blip r:embed="rId3"/>
          <a:stretch>
            <a:fillRect/>
          </a:stretch>
        </p:blipFill>
        <p:spPr>
          <a:xfrm>
            <a:off x="548640" y="1691640"/>
            <a:ext cx="6492240" cy="3536068"/>
          </a:xfrm>
          <a:prstGeom prst="rect">
            <a:avLst/>
          </a:prstGeom>
          <a:ln w="9525">
            <a:solidFill>
              <a:srgbClr val="BDB6A9"/>
            </a:solidFill>
          </a:ln>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5 · 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Kurz anhalten: Jetzt du!</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7</a:t>
            </a:r>
          </a:p>
        </p:txBody>
      </p:sp>
      <p:sp>
        <p:nvSpPr>
          <p:cNvPr id="8" name="Rounded Rectangle 7"/>
          <p:cNvSpPr/>
          <p:nvPr/>
        </p:nvSpPr>
        <p:spPr>
          <a:xfrm>
            <a:off x="6035040" y="1691640"/>
            <a:ext cx="5608015" cy="1313687"/>
          </a:xfrm>
          <a:prstGeom prst="roundRect">
            <a:avLst>
              <a:gd name="adj" fmla="val 4000"/>
            </a:avLst>
          </a:prstGeom>
          <a:solidFill>
            <a:srgbClr val="F3E8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035040" y="1691640"/>
            <a:ext cx="73152" cy="1313687"/>
          </a:xfrm>
          <a:prstGeom prst="rect">
            <a:avLst/>
          </a:prstGeom>
          <a:solidFill>
            <a:srgbClr val="7A5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309359" y="1783080"/>
            <a:ext cx="5196535"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7A5E1F"/>
                </a:solidFill>
                <a:latin typeface="IBM Plex Mono"/>
              </a:rPr>
              <a:t>TIPP</a:t>
            </a:r>
          </a:p>
        </p:txBody>
      </p:sp>
      <p:sp>
        <p:nvSpPr>
          <p:cNvPr id="11" name="TextBox 10"/>
          <p:cNvSpPr txBox="1"/>
          <p:nvPr/>
        </p:nvSpPr>
        <p:spPr>
          <a:xfrm>
            <a:off x="6309359" y="2148840"/>
            <a:ext cx="5196535" cy="810767"/>
          </a:xfrm>
          <a:prstGeom prst="rect">
            <a:avLst/>
          </a:prstGeom>
          <a:noFill/>
        </p:spPr>
        <p:txBody>
          <a:bodyPr wrap="square" lIns="27432" rIns="27432" tIns="27432" bIns="27432">
            <a:spAutoFit/>
          </a:bodyPr>
          <a:lstStyle/>
          <a:p>
            <a:pPr>
              <a:lnSpc>
                <a:spcPct val="105000"/>
              </a:lnSpc>
              <a:spcAft>
                <a:spcPts val="300"/>
              </a:spcAft>
            </a:pPr>
            <a:r>
              <a:rPr sz="1700" b="0" i="0" u="none">
                <a:solidFill>
                  <a:srgbClr val="1C2B3A"/>
                </a:solidFill>
                <a:latin typeface="Barlow"/>
              </a:rPr>
              <a:t>Zwei Fragen je Raute.</a:t>
            </a:r>
          </a:p>
          <a:p>
            <a:pPr>
              <a:lnSpc>
                <a:spcPct val="105000"/>
              </a:lnSpc>
              <a:spcAft>
                <a:spcPts val="300"/>
              </a:spcAft>
            </a:pPr>
            <a:r>
              <a:rPr sz="1700" b="0" i="0" u="none">
                <a:solidFill>
                  <a:srgbClr val="1C2B3A"/>
                </a:solidFill>
                <a:latin typeface="Barlow"/>
              </a:rPr>
              <a:t>Zu wem gehört die Tagesmenge?</a:t>
            </a:r>
          </a:p>
        </p:txBody>
      </p:sp>
      <p:sp>
        <p:nvSpPr>
          <p:cNvPr id="12" name="Pause"/>
          <p:cNvSpPr/>
          <p:nvPr/>
        </p:nvSpPr>
        <p:spPr>
          <a:xfrm>
            <a:off x="548640" y="1691640"/>
            <a:ext cx="3108960" cy="457200"/>
          </a:xfrm>
          <a:prstGeom prst="roundRect">
            <a:avLst>
              <a:gd name="adj" fmla="val 4000"/>
            </a:avLst>
          </a:prstGeom>
          <a:solidFill>
            <a:srgbClr val="D4B0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48640" y="1691640"/>
            <a:ext cx="3108960" cy="457200"/>
          </a:xfrm>
          <a:prstGeom prst="rect">
            <a:avLst/>
          </a:prstGeom>
          <a:noFill/>
        </p:spPr>
        <p:txBody>
          <a:bodyPr wrap="none" anchor="ctr">
            <a:spAutoFit/>
          </a:bodyPr>
          <a:lstStyle/>
          <a:p>
            <a:pPr algn="ctr"/>
            <a:r>
              <a:rPr sz="1500" b="1">
                <a:solidFill>
                  <a:srgbClr val="1C2B3A"/>
                </a:solidFill>
                <a:latin typeface="Segoe UI Symbol"/>
              </a:rPr>
              <a:t>⏸</a:t>
            </a:r>
            <a:r>
              <a:rPr sz="1500" b="1">
                <a:solidFill>
                  <a:srgbClr val="1C2B3A"/>
                </a:solidFill>
                <a:latin typeface="IBM Plex Mono"/>
              </a:rPr>
              <a:t>  VIDEO ANHALTEN</a:t>
            </a:r>
          </a:p>
        </p:txBody>
      </p:sp>
      <p:sp>
        <p:nvSpPr>
          <p:cNvPr id="14" name="TextBox 13"/>
          <p:cNvSpPr txBox="1"/>
          <p:nvPr/>
        </p:nvSpPr>
        <p:spPr>
          <a:xfrm>
            <a:off x="548640" y="2258568"/>
            <a:ext cx="5212080" cy="377952"/>
          </a:xfrm>
          <a:prstGeom prst="rect">
            <a:avLst/>
          </a:prstGeom>
          <a:noFill/>
        </p:spPr>
        <p:txBody>
          <a:bodyPr wrap="square" lIns="27432" rIns="27432" tIns="27432" bIns="27432">
            <a:spAutoFit/>
          </a:bodyPr>
          <a:lstStyle/>
          <a:p>
            <a:pPr>
              <a:lnSpc>
                <a:spcPct val="105000"/>
              </a:lnSpc>
              <a:spcAft>
                <a:spcPts val="400"/>
              </a:spcAft>
            </a:pPr>
            <a:r>
              <a:rPr sz="2000" b="0" i="0" u="none">
                <a:solidFill>
                  <a:srgbClr val="E8E1D3"/>
                </a:solidFill>
                <a:latin typeface="Barlow"/>
              </a:rPr>
              <a:t>Entwirf ein ER-Modell in Chen-Notation:</a:t>
            </a:r>
          </a:p>
        </p:txBody>
      </p:sp>
      <p:sp>
        <p:nvSpPr>
          <p:cNvPr id="15" name="TextBox 14"/>
          <p:cNvSpPr txBox="1"/>
          <p:nvPr/>
        </p:nvSpPr>
        <p:spPr>
          <a:xfrm>
            <a:off x="548640" y="2673096"/>
            <a:ext cx="5212080" cy="2676144"/>
          </a:xfrm>
          <a:prstGeom prst="rect">
            <a:avLst/>
          </a:prstGeom>
          <a:noFill/>
        </p:spPr>
        <p:txBody>
          <a:bodyPr wrap="square" lIns="27432" rIns="27432" tIns="27432" bIns="27432">
            <a:spAutoFit/>
          </a:bodyPr>
          <a:lstStyle/>
          <a:p>
            <a:pPr>
              <a:lnSpc>
                <a:spcPct val="105000"/>
              </a:lnSpc>
              <a:spcAft>
                <a:spcPts val="600"/>
              </a:spcAft>
            </a:pPr>
            <a:r>
              <a:rPr sz="2000" b="1">
                <a:solidFill>
                  <a:srgbClr val="E0574F"/>
                </a:solidFill>
                <a:latin typeface="Barlow"/>
              </a:rPr>
              <a:t>▸  </a:t>
            </a:r>
            <a:r>
              <a:rPr sz="2000" b="0" i="0" u="none">
                <a:solidFill>
                  <a:srgbClr val="E8E1D3"/>
                </a:solidFill>
                <a:latin typeface="Barlow"/>
              </a:rPr>
              <a:t>Jede </a:t>
            </a:r>
            <a:r>
              <a:rPr sz="2000" b="1" i="0" u="none">
                <a:solidFill>
                  <a:srgbClr val="E8E1D3"/>
                </a:solidFill>
                <a:latin typeface="Barlow"/>
              </a:rPr>
              <a:t>Futtersorte</a:t>
            </a:r>
            <a:r>
              <a:rPr sz="2000" b="0" i="0" u="none">
                <a:solidFill>
                  <a:srgbClr val="E8E1D3"/>
                </a:solidFill>
                <a:latin typeface="Barlow"/>
              </a:rPr>
              <a:t> (SorteNr, Bezeichnung) wird von genau </a:t>
            </a:r>
            <a:r>
              <a:rPr sz="2000" b="1" i="0" u="none">
                <a:solidFill>
                  <a:srgbClr val="E8E1D3"/>
                </a:solidFill>
                <a:latin typeface="Barlow"/>
              </a:rPr>
              <a:t>einem Lieferanten</a:t>
            </a:r>
            <a:r>
              <a:rPr sz="2000" b="0" i="0" u="none">
                <a:solidFill>
                  <a:srgbClr val="E8E1D3"/>
                </a:solidFill>
                <a:latin typeface="Barlow"/>
              </a:rPr>
              <a:t> (LieferantNr, Firma) geliefert; ein Lieferant liefert mehrere Sorten.</a:t>
            </a:r>
          </a:p>
          <a:p>
            <a:pPr>
              <a:lnSpc>
                <a:spcPct val="105000"/>
              </a:lnSpc>
              <a:spcAft>
                <a:spcPts val="600"/>
              </a:spcAft>
            </a:pPr>
            <a:r>
              <a:rPr sz="2000" b="1">
                <a:solidFill>
                  <a:srgbClr val="E0574F"/>
                </a:solidFill>
                <a:latin typeface="Barlow"/>
              </a:rPr>
              <a:t>▸  </a:t>
            </a:r>
            <a:r>
              <a:rPr sz="2000" b="0" i="0" u="none">
                <a:solidFill>
                  <a:srgbClr val="E8E1D3"/>
                </a:solidFill>
                <a:latin typeface="Barlow"/>
              </a:rPr>
              <a:t>Jedes </a:t>
            </a:r>
            <a:r>
              <a:rPr sz="2000" b="1" i="0" u="none">
                <a:solidFill>
                  <a:srgbClr val="E8E1D3"/>
                </a:solidFill>
                <a:latin typeface="Barlow"/>
              </a:rPr>
              <a:t>Tier</a:t>
            </a:r>
            <a:r>
              <a:rPr sz="2000" b="0" i="0" u="none">
                <a:solidFill>
                  <a:srgbClr val="E8E1D3"/>
                </a:solidFill>
                <a:latin typeface="Barlow"/>
              </a:rPr>
              <a:t> bekommt mehrere Futtersorten, eine Sorte wird an mehrere Tiere verfüttert – jeweils mit einer </a:t>
            </a:r>
            <a:r>
              <a:rPr sz="2000" b="1" i="0" u="none">
                <a:solidFill>
                  <a:srgbClr val="E8E1D3"/>
                </a:solidFill>
                <a:latin typeface="Barlow"/>
              </a:rPr>
              <a:t>Tagesmenge</a:t>
            </a:r>
            <a:r>
              <a:rPr sz="2000" b="0" i="0" u="none">
                <a:solidFill>
                  <a:srgbClr val="E8E1D3"/>
                </a:solidFill>
                <a:latin typeface="Barlow"/>
              </a:rP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5 · 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Auflösung</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8</a:t>
            </a:r>
          </a:p>
        </p:txBody>
      </p:sp>
      <p:pic>
        <p:nvPicPr>
          <p:cNvPr id="8" name="Bild er_pause" descr="er_pause.png"/>
          <p:cNvPicPr>
            <a:picLocks noChangeAspect="1"/>
          </p:cNvPicPr>
          <p:nvPr/>
        </p:nvPicPr>
        <p:blipFill>
          <a:blip r:embed="rId3"/>
          <a:stretch>
            <a:fillRect/>
          </a:stretch>
        </p:blipFill>
        <p:spPr>
          <a:xfrm>
            <a:off x="548640" y="1691640"/>
            <a:ext cx="11094415" cy="2210651"/>
          </a:xfrm>
          <a:prstGeom prst="rect">
            <a:avLst/>
          </a:prstGeom>
          <a:ln w="9525">
            <a:solidFill>
              <a:srgbClr val="BDB6A9"/>
            </a:solidFill>
          </a:ln>
        </p:spPr>
      </p:pic>
      <p:sp>
        <p:nvSpPr>
          <p:cNvPr id="9" name="Rounded Rectangle 8"/>
          <p:cNvSpPr/>
          <p:nvPr/>
        </p:nvSpPr>
        <p:spPr>
          <a:xfrm>
            <a:off x="548640" y="4039451"/>
            <a:ext cx="7772400" cy="2033015"/>
          </a:xfrm>
          <a:prstGeom prst="roundRect">
            <a:avLst>
              <a:gd name="adj" fmla="val 4000"/>
            </a:avLst>
          </a:prstGeom>
          <a:solidFill>
            <a:srgbClr val="F8E3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48640" y="4039451"/>
            <a:ext cx="73152" cy="2033015"/>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22959" y="4130891"/>
            <a:ext cx="7360920"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B3261E"/>
                </a:solidFill>
                <a:latin typeface="IBM Plex Mono"/>
              </a:rPr>
              <a:t>TYPISCHE FEHLER</a:t>
            </a:r>
          </a:p>
        </p:txBody>
      </p:sp>
      <p:sp>
        <p:nvSpPr>
          <p:cNvPr id="12" name="TextBox 11"/>
          <p:cNvSpPr txBox="1"/>
          <p:nvPr/>
        </p:nvSpPr>
        <p:spPr>
          <a:xfrm>
            <a:off x="822959" y="4496651"/>
            <a:ext cx="7360920" cy="1530095"/>
          </a:xfrm>
          <a:prstGeom prst="rect">
            <a:avLst/>
          </a:prstGeom>
          <a:noFill/>
        </p:spPr>
        <p:txBody>
          <a:bodyPr wrap="square" lIns="27432" rIns="27432" tIns="27432" bIns="27432">
            <a:spAutoFit/>
          </a:bodyPr>
          <a:lstStyle/>
          <a:p>
            <a:pPr>
              <a:lnSpc>
                <a:spcPct val="105000"/>
              </a:lnSpc>
              <a:spcAft>
                <a:spcPts val="300"/>
              </a:spcAft>
            </a:pPr>
            <a:r>
              <a:rPr sz="1700" b="1">
                <a:solidFill>
                  <a:srgbClr val="B3261E"/>
                </a:solidFill>
                <a:latin typeface="Barlow"/>
              </a:rPr>
              <a:t>▸  </a:t>
            </a:r>
            <a:r>
              <a:rPr sz="1700" b="0" i="0" u="none">
                <a:solidFill>
                  <a:srgbClr val="1C2B3A"/>
                </a:solidFill>
                <a:latin typeface="Barlow"/>
              </a:rPr>
              <a:t>1 und n vertauscht (P9)</a:t>
            </a:r>
          </a:p>
          <a:p>
            <a:pPr>
              <a:lnSpc>
                <a:spcPct val="105000"/>
              </a:lnSpc>
              <a:spcAft>
                <a:spcPts val="300"/>
              </a:spcAft>
            </a:pPr>
            <a:r>
              <a:rPr sz="1700" b="1">
                <a:solidFill>
                  <a:srgbClr val="B3261E"/>
                </a:solidFill>
                <a:latin typeface="Barlow"/>
              </a:rPr>
              <a:t>▸  </a:t>
            </a:r>
            <a:r>
              <a:rPr sz="1700" b="0" i="0" u="none">
                <a:solidFill>
                  <a:srgbClr val="1C2B3A"/>
                </a:solidFill>
                <a:latin typeface="Barlow"/>
              </a:rPr>
              <a:t>Tagesmenge an Tier oder Futtersorte (P9)</a:t>
            </a:r>
          </a:p>
          <a:p>
            <a:pPr>
              <a:lnSpc>
                <a:spcPct val="105000"/>
              </a:lnSpc>
              <a:spcAft>
                <a:spcPts val="300"/>
              </a:spcAft>
            </a:pPr>
            <a:r>
              <a:rPr sz="1700" b="1">
                <a:solidFill>
                  <a:srgbClr val="B3261E"/>
                </a:solidFill>
                <a:latin typeface="Barlow"/>
              </a:rPr>
              <a:t>▸  </a:t>
            </a:r>
            <a:r>
              <a:rPr sz="1700" b="0" i="0" u="none">
                <a:solidFill>
                  <a:srgbClr val="1C2B3A"/>
                </a:solidFill>
                <a:latin typeface="Barlow"/>
              </a:rPr>
              <a:t>Schlüsselattribut nicht unterstrichen (P9)</a:t>
            </a:r>
          </a:p>
          <a:p>
            <a:pPr>
              <a:lnSpc>
                <a:spcPct val="105000"/>
              </a:lnSpc>
              <a:spcAft>
                <a:spcPts val="300"/>
              </a:spcAft>
            </a:pPr>
            <a:r>
              <a:rPr sz="1700" b="1">
                <a:solidFill>
                  <a:srgbClr val="B3261E"/>
                </a:solidFill>
                <a:latin typeface="Barlow"/>
              </a:rPr>
              <a:t>▸  </a:t>
            </a:r>
            <a:r>
              <a:rPr sz="1700" b="0" i="0" u="none">
                <a:solidFill>
                  <a:srgbClr val="1C2B3A"/>
                </a:solidFill>
                <a:latin typeface="Barlow"/>
              </a:rPr>
              <a:t>Plural „Tiere“ statt Entitätstyp Tier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5 · 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Die Falle P9 im ER-Modell</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9</a:t>
            </a:r>
          </a:p>
        </p:txBody>
      </p:sp>
      <p:sp>
        <p:nvSpPr>
          <p:cNvPr id="8" name="Rounded Rectangle 7"/>
          <p:cNvSpPr/>
          <p:nvPr/>
        </p:nvSpPr>
        <p:spPr>
          <a:xfrm>
            <a:off x="548640" y="1691640"/>
            <a:ext cx="7772400" cy="944879"/>
          </a:xfrm>
          <a:prstGeom prst="roundRect">
            <a:avLst>
              <a:gd name="adj" fmla="val 4000"/>
            </a:avLst>
          </a:prstGeom>
          <a:solidFill>
            <a:srgbClr val="F4EDE1"/>
          </a:solidFill>
          <a:ln w="19050">
            <a:solidFill>
              <a:srgbClr val="E057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Falle P9"/>
          <p:cNvSpPr/>
          <p:nvPr/>
        </p:nvSpPr>
        <p:spPr>
          <a:xfrm>
            <a:off x="685800" y="1828800"/>
            <a:ext cx="685800" cy="384048"/>
          </a:xfrm>
          <a:prstGeom prst="roundRect">
            <a:avLst>
              <a:gd name="adj" fmla="val 4000"/>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1847088"/>
            <a:ext cx="685800" cy="347472"/>
          </a:xfrm>
          <a:prstGeom prst="rect">
            <a:avLst/>
          </a:prstGeom>
          <a:noFill/>
        </p:spPr>
        <p:txBody>
          <a:bodyPr wrap="square" lIns="27432" rIns="27432" tIns="27432" bIns="27432">
            <a:spAutoFit/>
          </a:bodyPr>
          <a:lstStyle/>
          <a:p>
            <a:pPr algn="ctr">
              <a:lnSpc>
                <a:spcPct val="105000"/>
              </a:lnSpc>
              <a:spcAft>
                <a:spcPts val="400"/>
              </a:spcAft>
            </a:pPr>
            <a:r>
              <a:rPr sz="1500" b="1" i="0" u="none">
                <a:solidFill>
                  <a:srgbClr val="FFFDF8"/>
                </a:solidFill>
                <a:latin typeface="Barlow"/>
              </a:rPr>
              <a:t>P9</a:t>
            </a:r>
          </a:p>
        </p:txBody>
      </p:sp>
      <p:sp>
        <p:nvSpPr>
          <p:cNvPr id="11" name="TextBox 10"/>
          <p:cNvSpPr txBox="1"/>
          <p:nvPr/>
        </p:nvSpPr>
        <p:spPr>
          <a:xfrm>
            <a:off x="1508760" y="1783080"/>
            <a:ext cx="6675120" cy="807719"/>
          </a:xfrm>
          <a:prstGeom prst="rect">
            <a:avLst/>
          </a:prstGeom>
          <a:noFill/>
        </p:spPr>
        <p:txBody>
          <a:bodyPr wrap="square" lIns="27432" rIns="27432" tIns="27432" bIns="27432">
            <a:spAutoFit/>
          </a:bodyPr>
          <a:lstStyle/>
          <a:p>
            <a:pPr>
              <a:lnSpc>
                <a:spcPct val="105000"/>
              </a:lnSpc>
              <a:spcAft>
                <a:spcPts val="200"/>
              </a:spcAft>
            </a:pPr>
            <a:r>
              <a:rPr sz="1700" b="1" i="0" u="none">
                <a:solidFill>
                  <a:srgbClr val="1C2B3A"/>
                </a:solidFill>
                <a:latin typeface="Barlow"/>
              </a:rPr>
              <a:t>Kardinalität vertauscht oder fehlt</a:t>
            </a:r>
          </a:p>
          <a:p>
            <a:pPr>
              <a:lnSpc>
                <a:spcPct val="105000"/>
              </a:lnSpc>
              <a:spcAft>
                <a:spcPts val="400"/>
              </a:spcAft>
            </a:pPr>
            <a:r>
              <a:rPr sz="1600" b="0" i="0" u="none">
                <a:solidFill>
                  <a:srgbClr val="1C2B3A"/>
                </a:solidFill>
                <a:latin typeface="Barlow"/>
              </a:rPr>
              <a:t>Immer die zwei Fragen stellen – die Zahl steht bei dem Entitätstyp, dessen Anzahl gefragt ist.</a:t>
            </a:r>
          </a:p>
        </p:txBody>
      </p:sp>
      <p:sp>
        <p:nvSpPr>
          <p:cNvPr id="12" name="Rounded Rectangle 11"/>
          <p:cNvSpPr/>
          <p:nvPr/>
        </p:nvSpPr>
        <p:spPr>
          <a:xfrm>
            <a:off x="548640" y="2746248"/>
            <a:ext cx="7772400" cy="701040"/>
          </a:xfrm>
          <a:prstGeom prst="roundRect">
            <a:avLst>
              <a:gd name="adj" fmla="val 4000"/>
            </a:avLst>
          </a:prstGeom>
          <a:solidFill>
            <a:srgbClr val="F4EDE1"/>
          </a:solidFill>
          <a:ln w="19050">
            <a:solidFill>
              <a:srgbClr val="E057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Falle P9"/>
          <p:cNvSpPr/>
          <p:nvPr/>
        </p:nvSpPr>
        <p:spPr>
          <a:xfrm>
            <a:off x="685800" y="2883408"/>
            <a:ext cx="685800" cy="384048"/>
          </a:xfrm>
          <a:prstGeom prst="roundRect">
            <a:avLst>
              <a:gd name="adj" fmla="val 4000"/>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85800" y="2901696"/>
            <a:ext cx="685800" cy="347472"/>
          </a:xfrm>
          <a:prstGeom prst="rect">
            <a:avLst/>
          </a:prstGeom>
          <a:noFill/>
        </p:spPr>
        <p:txBody>
          <a:bodyPr wrap="square" lIns="27432" rIns="27432" tIns="27432" bIns="27432">
            <a:spAutoFit/>
          </a:bodyPr>
          <a:lstStyle/>
          <a:p>
            <a:pPr algn="ctr">
              <a:lnSpc>
                <a:spcPct val="105000"/>
              </a:lnSpc>
              <a:spcAft>
                <a:spcPts val="400"/>
              </a:spcAft>
            </a:pPr>
            <a:r>
              <a:rPr sz="1500" b="1" i="0" u="none">
                <a:solidFill>
                  <a:srgbClr val="FFFDF8"/>
                </a:solidFill>
                <a:latin typeface="Barlow"/>
              </a:rPr>
              <a:t>P9</a:t>
            </a:r>
          </a:p>
        </p:txBody>
      </p:sp>
      <p:sp>
        <p:nvSpPr>
          <p:cNvPr id="15" name="TextBox 14"/>
          <p:cNvSpPr txBox="1"/>
          <p:nvPr/>
        </p:nvSpPr>
        <p:spPr>
          <a:xfrm>
            <a:off x="1508760" y="2837688"/>
            <a:ext cx="6675120" cy="563879"/>
          </a:xfrm>
          <a:prstGeom prst="rect">
            <a:avLst/>
          </a:prstGeom>
          <a:noFill/>
        </p:spPr>
        <p:txBody>
          <a:bodyPr wrap="square" lIns="27432" rIns="27432" tIns="27432" bIns="27432">
            <a:spAutoFit/>
          </a:bodyPr>
          <a:lstStyle/>
          <a:p>
            <a:pPr>
              <a:lnSpc>
                <a:spcPct val="105000"/>
              </a:lnSpc>
              <a:spcAft>
                <a:spcPts val="200"/>
              </a:spcAft>
            </a:pPr>
            <a:r>
              <a:rPr sz="1700" b="1" i="0" u="none">
                <a:solidFill>
                  <a:srgbClr val="1C2B3A"/>
                </a:solidFill>
                <a:latin typeface="Barlow"/>
              </a:rPr>
              <a:t>Schlüsselattribut nicht markiert</a:t>
            </a:r>
          </a:p>
          <a:p>
            <a:pPr>
              <a:lnSpc>
                <a:spcPct val="105000"/>
              </a:lnSpc>
              <a:spcAft>
                <a:spcPts val="400"/>
              </a:spcAft>
            </a:pPr>
            <a:r>
              <a:rPr sz="1600" b="0" i="0" u="none">
                <a:solidFill>
                  <a:srgbClr val="1C2B3A"/>
                </a:solidFill>
                <a:latin typeface="Barlow"/>
              </a:rPr>
              <a:t>Jeder Entitätstyp braucht ein unterstrichenes Schlüsselattribut.</a:t>
            </a:r>
          </a:p>
        </p:txBody>
      </p:sp>
      <p:sp>
        <p:nvSpPr>
          <p:cNvPr id="16" name="Rounded Rectangle 15"/>
          <p:cNvSpPr/>
          <p:nvPr/>
        </p:nvSpPr>
        <p:spPr>
          <a:xfrm>
            <a:off x="548640" y="3557016"/>
            <a:ext cx="7772400" cy="701040"/>
          </a:xfrm>
          <a:prstGeom prst="roundRect">
            <a:avLst>
              <a:gd name="adj" fmla="val 4000"/>
            </a:avLst>
          </a:prstGeom>
          <a:solidFill>
            <a:srgbClr val="F4EDE1"/>
          </a:solidFill>
          <a:ln w="19050">
            <a:solidFill>
              <a:srgbClr val="E057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Falle P9"/>
          <p:cNvSpPr/>
          <p:nvPr/>
        </p:nvSpPr>
        <p:spPr>
          <a:xfrm>
            <a:off x="685800" y="3694176"/>
            <a:ext cx="685800" cy="384048"/>
          </a:xfrm>
          <a:prstGeom prst="roundRect">
            <a:avLst>
              <a:gd name="adj" fmla="val 4000"/>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85800" y="3712464"/>
            <a:ext cx="685800" cy="347472"/>
          </a:xfrm>
          <a:prstGeom prst="rect">
            <a:avLst/>
          </a:prstGeom>
          <a:noFill/>
        </p:spPr>
        <p:txBody>
          <a:bodyPr wrap="square" lIns="27432" rIns="27432" tIns="27432" bIns="27432">
            <a:spAutoFit/>
          </a:bodyPr>
          <a:lstStyle/>
          <a:p>
            <a:pPr algn="ctr">
              <a:lnSpc>
                <a:spcPct val="105000"/>
              </a:lnSpc>
              <a:spcAft>
                <a:spcPts val="400"/>
              </a:spcAft>
            </a:pPr>
            <a:r>
              <a:rPr sz="1500" b="1" i="0" u="none">
                <a:solidFill>
                  <a:srgbClr val="FFFDF8"/>
                </a:solidFill>
                <a:latin typeface="Barlow"/>
              </a:rPr>
              <a:t>P9</a:t>
            </a:r>
          </a:p>
        </p:txBody>
      </p:sp>
      <p:sp>
        <p:nvSpPr>
          <p:cNvPr id="19" name="TextBox 18"/>
          <p:cNvSpPr txBox="1"/>
          <p:nvPr/>
        </p:nvSpPr>
        <p:spPr>
          <a:xfrm>
            <a:off x="1508760" y="3648456"/>
            <a:ext cx="6675120" cy="563879"/>
          </a:xfrm>
          <a:prstGeom prst="rect">
            <a:avLst/>
          </a:prstGeom>
          <a:noFill/>
        </p:spPr>
        <p:txBody>
          <a:bodyPr wrap="square" lIns="27432" rIns="27432" tIns="27432" bIns="27432">
            <a:spAutoFit/>
          </a:bodyPr>
          <a:lstStyle/>
          <a:p>
            <a:pPr>
              <a:lnSpc>
                <a:spcPct val="105000"/>
              </a:lnSpc>
              <a:spcAft>
                <a:spcPts val="200"/>
              </a:spcAft>
            </a:pPr>
            <a:r>
              <a:rPr sz="1700" b="1" i="0" u="none">
                <a:solidFill>
                  <a:srgbClr val="1C2B3A"/>
                </a:solidFill>
                <a:latin typeface="Barlow"/>
              </a:rPr>
              <a:t>Beziehungsattribut falsch platziert</a:t>
            </a:r>
          </a:p>
          <a:p>
            <a:pPr>
              <a:lnSpc>
                <a:spcPct val="105000"/>
              </a:lnSpc>
              <a:spcAft>
                <a:spcPts val="400"/>
              </a:spcAft>
            </a:pPr>
            <a:r>
              <a:rPr sz="1600" b="0" i="0" u="none">
                <a:solidFill>
                  <a:srgbClr val="1C2B3A"/>
                </a:solidFill>
                <a:latin typeface="Barlow"/>
              </a:rPr>
              <a:t>Gehört ein Wert zu einem Paar oder Tripel, steht er an der Raute.</a:t>
            </a:r>
          </a:p>
        </p:txBody>
      </p:sp>
      <p:sp>
        <p:nvSpPr>
          <p:cNvPr id="20" name="Rounded Rectangle 19"/>
          <p:cNvSpPr/>
          <p:nvPr/>
        </p:nvSpPr>
        <p:spPr>
          <a:xfrm>
            <a:off x="548640" y="4367784"/>
            <a:ext cx="7772400" cy="701040"/>
          </a:xfrm>
          <a:prstGeom prst="roundRect">
            <a:avLst>
              <a:gd name="adj" fmla="val 4000"/>
            </a:avLst>
          </a:prstGeom>
          <a:solidFill>
            <a:srgbClr val="F4EDE1"/>
          </a:solidFill>
          <a:ln w="19050">
            <a:solidFill>
              <a:srgbClr val="E057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Falle P10"/>
          <p:cNvSpPr/>
          <p:nvPr/>
        </p:nvSpPr>
        <p:spPr>
          <a:xfrm>
            <a:off x="685800" y="4504944"/>
            <a:ext cx="685800" cy="384048"/>
          </a:xfrm>
          <a:prstGeom prst="roundRect">
            <a:avLst>
              <a:gd name="adj" fmla="val 4000"/>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85800" y="4523232"/>
            <a:ext cx="685800" cy="347472"/>
          </a:xfrm>
          <a:prstGeom prst="rect">
            <a:avLst/>
          </a:prstGeom>
          <a:noFill/>
        </p:spPr>
        <p:txBody>
          <a:bodyPr wrap="square" lIns="27432" rIns="27432" tIns="27432" bIns="27432">
            <a:spAutoFit/>
          </a:bodyPr>
          <a:lstStyle/>
          <a:p>
            <a:pPr algn="ctr">
              <a:lnSpc>
                <a:spcPct val="105000"/>
              </a:lnSpc>
              <a:spcAft>
                <a:spcPts val="400"/>
              </a:spcAft>
            </a:pPr>
            <a:r>
              <a:rPr sz="1500" b="1" i="0" u="none">
                <a:solidFill>
                  <a:srgbClr val="FFFDF8"/>
                </a:solidFill>
                <a:latin typeface="Barlow"/>
              </a:rPr>
              <a:t>P10</a:t>
            </a:r>
          </a:p>
        </p:txBody>
      </p:sp>
      <p:sp>
        <p:nvSpPr>
          <p:cNvPr id="23" name="TextBox 22"/>
          <p:cNvSpPr txBox="1"/>
          <p:nvPr/>
        </p:nvSpPr>
        <p:spPr>
          <a:xfrm>
            <a:off x="1508760" y="4459223"/>
            <a:ext cx="6675120" cy="563879"/>
          </a:xfrm>
          <a:prstGeom prst="rect">
            <a:avLst/>
          </a:prstGeom>
          <a:noFill/>
        </p:spPr>
        <p:txBody>
          <a:bodyPr wrap="square" lIns="27432" rIns="27432" tIns="27432" bIns="27432">
            <a:spAutoFit/>
          </a:bodyPr>
          <a:lstStyle/>
          <a:p>
            <a:pPr>
              <a:lnSpc>
                <a:spcPct val="105000"/>
              </a:lnSpc>
              <a:spcAft>
                <a:spcPts val="200"/>
              </a:spcAft>
            </a:pPr>
            <a:r>
              <a:rPr sz="1700" b="1" i="0" u="none">
                <a:solidFill>
                  <a:srgbClr val="1C2B3A"/>
                </a:solidFill>
                <a:latin typeface="Barlow"/>
              </a:rPr>
              <a:t>Kardinalität nicht begründet</a:t>
            </a:r>
          </a:p>
          <a:p>
            <a:pPr>
              <a:lnSpc>
                <a:spcPct val="105000"/>
              </a:lnSpc>
              <a:spcAft>
                <a:spcPts val="400"/>
              </a:spcAft>
            </a:pPr>
            <a:r>
              <a:rPr sz="1600" b="0" i="0" u="none">
                <a:solidFill>
                  <a:srgbClr val="1C2B3A"/>
                </a:solidFill>
                <a:latin typeface="Barlow"/>
              </a:rPr>
              <a:t>„Begründen“ heißt: beide Richtungen im Sachzusammenhang formulieren.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5 · 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Das nimmst du mit</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10</a:t>
            </a:r>
          </a:p>
        </p:txBody>
      </p:sp>
      <p:sp>
        <p:nvSpPr>
          <p:cNvPr id="8" name="Rounded Rectangle 7"/>
          <p:cNvSpPr/>
          <p:nvPr/>
        </p:nvSpPr>
        <p:spPr>
          <a:xfrm>
            <a:off x="548640" y="1691640"/>
            <a:ext cx="7772400" cy="3337560"/>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691640"/>
            <a:ext cx="73152" cy="3337560"/>
          </a:xfrm>
          <a:prstGeom prst="rect">
            <a:avLst/>
          </a:prstGeom>
          <a:solidFill>
            <a:srgbClr val="2C5A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22959" y="1783080"/>
            <a:ext cx="7360920"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2C5A85"/>
                </a:solidFill>
                <a:latin typeface="IBM Plex Mono"/>
              </a:rPr>
              <a:t>ERMITTLER-NOTIZ</a:t>
            </a:r>
          </a:p>
        </p:txBody>
      </p:sp>
      <p:sp>
        <p:nvSpPr>
          <p:cNvPr id="11" name="TextBox 10"/>
          <p:cNvSpPr txBox="1"/>
          <p:nvPr/>
        </p:nvSpPr>
        <p:spPr>
          <a:xfrm>
            <a:off x="822959" y="2148840"/>
            <a:ext cx="7360920" cy="2834640"/>
          </a:xfrm>
          <a:prstGeom prst="rect">
            <a:avLst/>
          </a:prstGeom>
          <a:noFill/>
        </p:spPr>
        <p:txBody>
          <a:bodyPr wrap="square" lIns="27432" rIns="27432" tIns="27432" bIns="27432">
            <a:spAutoFit/>
          </a:bodyPr>
          <a:lstStyle/>
          <a:p>
            <a:pPr>
              <a:lnSpc>
                <a:spcPct val="105000"/>
              </a:lnSpc>
              <a:spcAft>
                <a:spcPts val="300"/>
              </a:spcAft>
            </a:pPr>
            <a:r>
              <a:rPr sz="2100" b="1">
                <a:solidFill>
                  <a:srgbClr val="2C5A85"/>
                </a:solidFill>
                <a:latin typeface="Barlow"/>
              </a:rPr>
              <a:t>▸  </a:t>
            </a:r>
            <a:r>
              <a:rPr sz="2100" b="0" i="0" u="none">
                <a:solidFill>
                  <a:srgbClr val="1C2B3A"/>
                </a:solidFill>
                <a:latin typeface="Barlow"/>
              </a:rPr>
              <a:t>Rechteck = Entitätstyp (Singular), Ellipse = Attribut, Raute = Beziehungstyp (Verb).</a:t>
            </a:r>
          </a:p>
          <a:p>
            <a:pPr>
              <a:lnSpc>
                <a:spcPct val="105000"/>
              </a:lnSpc>
              <a:spcAft>
                <a:spcPts val="300"/>
              </a:spcAft>
            </a:pPr>
            <a:r>
              <a:rPr sz="2100" b="1">
                <a:solidFill>
                  <a:srgbClr val="2C5A85"/>
                </a:solidFill>
                <a:latin typeface="Barlow"/>
              </a:rPr>
              <a:t>▸  </a:t>
            </a:r>
            <a:r>
              <a:rPr sz="2100" b="0" i="0" u="none">
                <a:solidFill>
                  <a:srgbClr val="1C2B3A"/>
                </a:solidFill>
                <a:latin typeface="Barlow"/>
              </a:rPr>
              <a:t>Schlüsselattribute werden unterstrichen.</a:t>
            </a:r>
          </a:p>
          <a:p>
            <a:pPr>
              <a:lnSpc>
                <a:spcPct val="105000"/>
              </a:lnSpc>
              <a:spcAft>
                <a:spcPts val="300"/>
              </a:spcAft>
            </a:pPr>
            <a:r>
              <a:rPr sz="2100" b="1">
                <a:solidFill>
                  <a:srgbClr val="2C5A85"/>
                </a:solidFill>
                <a:latin typeface="Barlow"/>
              </a:rPr>
              <a:t>▸  </a:t>
            </a:r>
            <a:r>
              <a:rPr sz="2100" b="0" i="0" u="none">
                <a:solidFill>
                  <a:srgbClr val="1C2B3A"/>
                </a:solidFill>
                <a:latin typeface="Barlow"/>
              </a:rPr>
              <a:t>Kardinalität: „Mit wie vielen B ist </a:t>
            </a:r>
            <a:r>
              <a:rPr sz="2100" b="1" i="0" u="none">
                <a:solidFill>
                  <a:srgbClr val="1C2B3A"/>
                </a:solidFill>
                <a:latin typeface="Barlow"/>
              </a:rPr>
              <a:t>ein</a:t>
            </a:r>
            <a:r>
              <a:rPr sz="2100" b="0" i="0" u="none">
                <a:solidFill>
                  <a:srgbClr val="1C2B3A"/>
                </a:solidFill>
                <a:latin typeface="Barlow"/>
              </a:rPr>
              <a:t> A verbunden?“ – beide Richtungen.</a:t>
            </a:r>
          </a:p>
          <a:p>
            <a:pPr>
              <a:lnSpc>
                <a:spcPct val="105000"/>
              </a:lnSpc>
              <a:spcAft>
                <a:spcPts val="300"/>
              </a:spcAft>
            </a:pPr>
            <a:r>
              <a:rPr sz="2100" b="1">
                <a:solidFill>
                  <a:srgbClr val="2C5A85"/>
                </a:solidFill>
                <a:latin typeface="Barlow"/>
              </a:rPr>
              <a:t>▸  </a:t>
            </a:r>
            <a:r>
              <a:rPr sz="2100" b="0" i="0" u="none">
                <a:solidFill>
                  <a:srgbClr val="1C2B3A"/>
                </a:solidFill>
                <a:latin typeface="Barlow"/>
              </a:rPr>
              <a:t>Attribute eines Paars oder Tripels gehören an die Raute.</a:t>
            </a:r>
          </a:p>
          <a:p>
            <a:pPr>
              <a:lnSpc>
                <a:spcPct val="105000"/>
              </a:lnSpc>
              <a:spcAft>
                <a:spcPts val="300"/>
              </a:spcAft>
            </a:pPr>
            <a:r>
              <a:rPr sz="2100" b="1">
                <a:solidFill>
                  <a:srgbClr val="2C5A85"/>
                </a:solidFill>
                <a:latin typeface="Barlow"/>
              </a:rPr>
              <a:t>▸  </a:t>
            </a:r>
            <a:r>
              <a:rPr sz="2100" b="0" i="0" u="none">
                <a:solidFill>
                  <a:srgbClr val="1C2B3A"/>
                </a:solidFill>
                <a:latin typeface="Barlow"/>
              </a:rPr>
              <a:t>Rekursiv: Rollen an die Kanten; ternär: n, m,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5 · AKTE 5 · DER BAUPLAN</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Weiter im Lab</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11</a:t>
            </a:r>
          </a:p>
        </p:txBody>
      </p:sp>
      <p:sp>
        <p:nvSpPr>
          <p:cNvPr id="8" name="Rounded Rectangle 7"/>
          <p:cNvSpPr/>
          <p:nvPr/>
        </p:nvSpPr>
        <p:spPr>
          <a:xfrm>
            <a:off x="548640" y="1691640"/>
            <a:ext cx="7772400" cy="1892807"/>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691640"/>
            <a:ext cx="73152" cy="1892807"/>
          </a:xfrm>
          <a:prstGeom prst="rect">
            <a:avLst/>
          </a:prstGeom>
          <a:solidFill>
            <a:srgbClr val="2C5A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22959" y="1783080"/>
            <a:ext cx="7360920"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2C5A85"/>
                </a:solidFill>
                <a:latin typeface="IBM Plex Mono"/>
              </a:rPr>
              <a:t>SPUR IM LAB</a:t>
            </a:r>
          </a:p>
        </p:txBody>
      </p:sp>
      <p:sp>
        <p:nvSpPr>
          <p:cNvPr id="11" name="TextBox 10"/>
          <p:cNvSpPr txBox="1"/>
          <p:nvPr/>
        </p:nvSpPr>
        <p:spPr>
          <a:xfrm>
            <a:off x="822959" y="2148840"/>
            <a:ext cx="7360920" cy="1389887"/>
          </a:xfrm>
          <a:prstGeom prst="rect">
            <a:avLst/>
          </a:prstGeom>
          <a:noFill/>
        </p:spPr>
        <p:txBody>
          <a:bodyPr wrap="square" lIns="27432" rIns="27432" tIns="27432" bIns="27432">
            <a:spAutoFit/>
          </a:bodyPr>
          <a:lstStyle/>
          <a:p>
            <a:pPr>
              <a:lnSpc>
                <a:spcPct val="105000"/>
              </a:lnSpc>
              <a:spcAft>
                <a:spcPts val="300"/>
              </a:spcAft>
            </a:pPr>
            <a:r>
              <a:rPr sz="1800" b="1">
                <a:solidFill>
                  <a:srgbClr val="2C5A85"/>
                </a:solidFill>
                <a:latin typeface="Barlow"/>
              </a:rPr>
              <a:t>▸  </a:t>
            </a:r>
            <a:r>
              <a:rPr sz="1800" b="1" i="0" u="none">
                <a:solidFill>
                  <a:srgbClr val="1C2B3A"/>
                </a:solidFill>
                <a:latin typeface="Barlow"/>
              </a:rPr>
              <a:t>Ermittlung 5.1 „Baupläne lesen“</a:t>
            </a:r>
            <a:r>
              <a:rPr sz="1800" b="0" i="0" u="none">
                <a:solidFill>
                  <a:srgbClr val="1C2B3A"/>
                </a:solidFill>
                <a:latin typeface="Barlow"/>
              </a:rPr>
              <a:t> · A5-E1-01 … 08 · Werkzeug: Bauplan-Tisch</a:t>
            </a:r>
          </a:p>
          <a:p>
            <a:pPr>
              <a:lnSpc>
                <a:spcPct val="105000"/>
              </a:lnSpc>
              <a:spcAft>
                <a:spcPts val="300"/>
              </a:spcAft>
            </a:pPr>
            <a:r>
              <a:rPr sz="1800" b="1">
                <a:solidFill>
                  <a:srgbClr val="2C5A85"/>
                </a:solidFill>
                <a:latin typeface="Barlow"/>
              </a:rPr>
              <a:t>▸  </a:t>
            </a:r>
            <a:r>
              <a:rPr sz="1800" b="1" i="0" u="none">
                <a:solidFill>
                  <a:srgbClr val="1C2B3A"/>
                </a:solidFill>
                <a:latin typeface="Barlow"/>
              </a:rPr>
              <a:t>Ermittlung 5.2 „Der Architekturwettbewerb“</a:t>
            </a:r>
            <a:r>
              <a:rPr sz="1800" b="0" i="0" u="none">
                <a:solidFill>
                  <a:srgbClr val="1C2B3A"/>
                </a:solidFill>
                <a:latin typeface="Barlow"/>
              </a:rPr>
              <a:t> · A5-E2-01 … 08 · Werkzeug: Bauplan-Tisch</a:t>
            </a:r>
          </a:p>
        </p:txBody>
      </p:sp>
      <p:sp>
        <p:nvSpPr>
          <p:cNvPr id="12" name="Rounded Rectangle 11"/>
          <p:cNvSpPr/>
          <p:nvPr/>
        </p:nvSpPr>
        <p:spPr>
          <a:xfrm>
            <a:off x="548640" y="3694176"/>
            <a:ext cx="7772400" cy="1313687"/>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48640" y="3694176"/>
            <a:ext cx="73152" cy="1313687"/>
          </a:xfrm>
          <a:prstGeom prst="rect">
            <a:avLst/>
          </a:prstGeom>
          <a:solidFill>
            <a:srgbClr val="5862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22959" y="3785615"/>
            <a:ext cx="7360920"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58626D"/>
                </a:solidFill>
                <a:latin typeface="IBM Plex Mono"/>
              </a:rPr>
              <a:t>ARBEITSBLATT UND TRAINING</a:t>
            </a:r>
          </a:p>
        </p:txBody>
      </p:sp>
      <p:sp>
        <p:nvSpPr>
          <p:cNvPr id="15" name="TextBox 14"/>
          <p:cNvSpPr txBox="1"/>
          <p:nvPr/>
        </p:nvSpPr>
        <p:spPr>
          <a:xfrm>
            <a:off x="822959" y="4151376"/>
            <a:ext cx="7360920" cy="810767"/>
          </a:xfrm>
          <a:prstGeom prst="rect">
            <a:avLst/>
          </a:prstGeom>
          <a:noFill/>
        </p:spPr>
        <p:txBody>
          <a:bodyPr wrap="square" lIns="27432" rIns="27432" tIns="27432" bIns="27432">
            <a:spAutoFit/>
          </a:bodyPr>
          <a:lstStyle/>
          <a:p>
            <a:pPr>
              <a:lnSpc>
                <a:spcPct val="105000"/>
              </a:lnSpc>
              <a:spcAft>
                <a:spcPts val="300"/>
              </a:spcAft>
            </a:pPr>
            <a:r>
              <a:rPr sz="1700" b="1">
                <a:solidFill>
                  <a:srgbClr val="58626D"/>
                </a:solidFill>
                <a:latin typeface="Barlow"/>
              </a:rPr>
              <a:t>▸  </a:t>
            </a:r>
            <a:r>
              <a:rPr sz="1700" b="0" i="0" u="none">
                <a:solidFill>
                  <a:srgbClr val="1C2B3A"/>
                </a:solidFill>
                <a:latin typeface="Barlow"/>
              </a:rPr>
              <a:t>AB 5.1 „Baupläne lesen“ und AB 5.2 „Der Architekturwettbewerb“</a:t>
            </a:r>
          </a:p>
          <a:p>
            <a:pPr>
              <a:lnSpc>
                <a:spcPct val="105000"/>
              </a:lnSpc>
              <a:spcAft>
                <a:spcPts val="300"/>
              </a:spcAft>
            </a:pPr>
            <a:r>
              <a:rPr sz="1700" b="1">
                <a:solidFill>
                  <a:srgbClr val="58626D"/>
                </a:solidFill>
                <a:latin typeface="Barlow"/>
              </a:rPr>
              <a:t>▸  </a:t>
            </a:r>
            <a:r>
              <a:rPr sz="1700" b="0" i="0" u="none">
                <a:solidFill>
                  <a:srgbClr val="1C2B3A"/>
                </a:solidFill>
                <a:latin typeface="Barlow"/>
              </a:rPr>
              <a:t>Bauplan-Tisch frei zum Üben: /werkzeug/bauplan</a:t>
            </a:r>
          </a:p>
        </p:txBody>
      </p:sp>
      <p:sp>
        <p:nvSpPr>
          <p:cNvPr id="16" name="Rounded Rectangle 15"/>
          <p:cNvSpPr/>
          <p:nvPr/>
        </p:nvSpPr>
        <p:spPr>
          <a:xfrm>
            <a:off x="548640" y="5117592"/>
            <a:ext cx="7772400" cy="954023"/>
          </a:xfrm>
          <a:prstGeom prst="roundRect">
            <a:avLst>
              <a:gd name="adj" fmla="val 4000"/>
            </a:avLst>
          </a:prstGeom>
          <a:solidFill>
            <a:srgbClr val="F3E8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48640" y="5117592"/>
            <a:ext cx="73152" cy="954023"/>
          </a:xfrm>
          <a:prstGeom prst="rect">
            <a:avLst/>
          </a:prstGeom>
          <a:solidFill>
            <a:srgbClr val="7A5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2959" y="5209032"/>
            <a:ext cx="7360920"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7A5E1F"/>
                </a:solidFill>
                <a:latin typeface="IBM Plex Mono"/>
              </a:rPr>
              <a:t>NÄCHSTES VIDEO</a:t>
            </a:r>
          </a:p>
        </p:txBody>
      </p:sp>
      <p:sp>
        <p:nvSpPr>
          <p:cNvPr id="19" name="TextBox 18"/>
          <p:cNvSpPr txBox="1"/>
          <p:nvPr/>
        </p:nvSpPr>
        <p:spPr>
          <a:xfrm>
            <a:off x="822959" y="5574792"/>
            <a:ext cx="7360920" cy="451103"/>
          </a:xfrm>
          <a:prstGeom prst="rect">
            <a:avLst/>
          </a:prstGeom>
          <a:noFill/>
        </p:spPr>
        <p:txBody>
          <a:bodyPr wrap="square" lIns="27432" rIns="27432" tIns="27432" bIns="27432">
            <a:spAutoFit/>
          </a:bodyPr>
          <a:lstStyle/>
          <a:p>
            <a:pPr>
              <a:lnSpc>
                <a:spcPct val="105000"/>
              </a:lnSpc>
              <a:spcAft>
                <a:spcPts val="300"/>
              </a:spcAft>
            </a:pPr>
            <a:r>
              <a:rPr sz="1700" b="0" i="0" u="none">
                <a:solidFill>
                  <a:srgbClr val="1C2B3A"/>
                </a:solidFill>
                <a:latin typeface="Barlow"/>
              </a:rPr>
              <a:t>Video 6 – Vom ER-Modell zum Relationenschema in 5 Regeln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ER-Modelle nach den Ergänzenden Hinweisen</dc:title>
  <dc:subject/>
  <dc:creator>Datendetektei Weserstedt</dc:creator>
  <cp:keywords/>
  <dc:description>generated using python-pptx</dc:description>
  <cp:lastModifiedBy>Datendetektei Weserstedt</cp:lastModifiedBy>
  <cp:revision>1</cp:revision>
  <dcterms:created xsi:type="dcterms:W3CDTF">2013-01-27T09:14:16Z</dcterms:created>
  <dcterms:modified xsi:type="dcterms:W3CDTF">2013-01-27T09:15:58Z</dcterms:modified>
  <cp:category/>
  <dc:language>de-DE</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D-Akte">
    <vt:lpwstr>5</vt:lpwstr>
  </property>
  <property fmtid="{D5CDD505-2E9C-101B-9397-08002B2CF9AE}" pid="3" name="DD-Art">
    <vt:lpwstr>video</vt:lpwstr>
  </property>
  <property fmtid="{D5CDD505-2E9C-101B-9397-08002B2CF9AE}" pid="4" name="DD-Kamera-Zone">
    <vt:lpwstr>ja</vt:lpwstr>
  </property>
  <property fmtid="{D5CDD505-2E9C-101B-9397-08002B2CF9AE}" pid="5" name="DD-Kuer">
    <vt:lpwstr>nein</vt:lpwstr>
  </property>
  <property fmtid="{D5CDD505-2E9C-101B-9397-08002B2CF9AE}" pid="6" name="DD-Video">
    <vt:lpwstr>5</vt:lpwstr>
  </property>
  <property fmtid="{D5CDD505-2E9C-101B-9397-08002B2CF9AE}" pid="7" name="DD-Video-Quelle">
    <vt:lpwstr>8cc8e8aace54c8e438dd5cf9fcf21c603213cc4c44f87f41812c5570cc726fcf</vt:lpwstr>
  </property>
</Properties>
</file>