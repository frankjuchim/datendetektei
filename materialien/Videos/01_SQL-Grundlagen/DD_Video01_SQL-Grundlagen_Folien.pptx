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Willkommen in der Datendetektei! Jede Ermittlung beginnt mit einer Frage an die Datenbank – und die stellst du in SQL. Nach diesem Video kannst du Spalten auswählen, Zeilen gezielt filtern und sortieren. Und du kennst die zwei Fallen, über die im Abitur fast alle einmal stolpern: AND und OR ohne Klammern und der Vergleich mit NULL.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Beispieldaten kommen nicht aus dem Fundbüro, sondern von einem Jugend-Schachturnier in Weserstedt. Die Tabelle Spieler hat zehn Zeilen. Jede Person hat eine SpielerNr – das ist der Primärschlüssel, deshalb ist er unterstrichen. Dazu Vorname, Nachname, Jahrgang und eine Wertung, also eine Spielstärke. VereinNr ist ein Fremdschlüssel, erkennbar am Pfeil: Er verweist auf eine zweite Tabelle Verein, die brauchen wir erst im nächsten Video. Achte schon jetzt auf die Einträge NULL: Joris und Keno haben noch keine Wertung, Keno und Levke spielen ohne Verein. NULL heißt: Hier steht kein Wert.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Beim Sprechen die Schritte rechts von oben nach unten zeigen.]</a:t>
            </a:r>
          </a:p>
          <a:p/>
          <a:p>
            <a:r>
              <a:t>Das Grundgerüst jeder Abfrage hat drei Teile. Geschrieben wird SELECT, FROM, WHERE – gedacht wird aber in einer anderen Reihenfolge. Zuerst FROM: Aus welcher Tabelle kommen die Daten? Dann WHERE: Die Datenbank prüft jede einzelne Zeile, ob die Bedingung wahr ist – hier: Jahrgang größer oder gleich 2009. Nur die passenden Zeilen bleiben übrig. Zum Schluss SELECT: Welche Spalten willst du sehen? Ergebnis: fünf Personen. Merke dir: WHERE filtert Zeilen, SELECT wählt Spalten. Und im Abitur-Stil steht jede Klausel in einer eigenen Zeile, Schlüsselwörter groß.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wird es knifflig. Gesucht sind Mitglieder von Verein 1 oder 2, die 2009 oder später geboren sind. Die Abfrage links sieht vernünftig aus – aber im Ergebnis steht Imke Bargmann mit Jahrgang 2008. Warum? AND bindet stärker als OR, so wie Punkt- vor Strichrechnung. Die Datenbank liest also: VereinNr gleich 1 – oder: VereinNr gleich 2 und Jahrgang ab 2009. Für Verein 1 wird das Alter gar nicht geprüft. Das ist Falle P6, Bedingungslogik.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Lösung sind Klammern. Erst wird das OR geklammert: Verein 1 oder Verein 2. Dann muss für alle zusätzlich der Jahrgang passen. Jetzt bleiben drei Personen übrig: Mats, Joris und Hauke – und alle drei sind 2009 oder später geboren. Gewöhn dir an: Sobald AND und OR gemeinsam auftauchen, setzt du Klammern. Und prüfe am Ende jede Zeile des Ergebnisses gegen die Frage. Das kostet zehn Sekunden und rettet Punkte.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Manchmal kennst du nur einen Teil eines Textes. Dafür gibt es LIKE mit zwei Platzhaltern. Das Prozentzeichen steht für beliebig viele Zeichen – auch für gar keins. Der Unterstrich steht für genau ein Zeichen. Prozent k e findet also alle Vornamen, die auf k e enden: Imke, Hauke, Tomke und Levke. Und B Prozent würde alle Nachnamen finden, die mit B beginnen. Eine typische Falle: LIKE ohne Prozentzeichen sucht genau diesen Text und findet dann oft nichts.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Bereiche gibt es BETWEEN. Wertung zwischen 1480 und 1690 liefert vier Personen. Schau genau hin: Mats hat genau 1480 und Arne genau 1690 – beide sind dabei. BETWEEN schließt die Grenzen nämlich ein. Es ist dasselbe wie größer gleich 1480 und kleiner gleich 1690. Wer stattdessen größer und kleiner schreibt, verliert genau die Grenzfälle – auch das zählt zu Falle P6. Lies im Abitur deshalb genau: Heißt es „mindestens“, „mehr als“ oder „bis einschließlich“?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Joris und Keno haben noch keine Wertung. Die naheliegende Abfrage „Wertung gleich NULL“ liefert aber keine einzige Zeile. NULL ist kein Wert, sondern bedeutet „unbekannt“ – und ob etwas Unbekanntes gleich etwas anderem ist, ist wieder unbekannt, also nie wahr. Richtig ist IS NULL, beziehungsweise IS NOT NULL für alle mit Wertung. Das ist Falle P5. Dazu gehören auch Literale: Texte stehen immer in einfachen Hochkommata, etwa Nachname gleich 'Onken', und ein Datum schreibst du als Text im Format Jahr-Monat-Tag.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stärksten Spielerinnen und Spieler? Erst sortieren, dann begrenzen. ORDER BY Wertung DESC sortiert absteigend, ASC wäre aufsteigend und ist der Standard. LIMIT 3 schneidet danach die ersten drei Zeilen ab: Tomke, Fenja und Arne. Du kannst auch mehrstufig sortieren, zum Beispiel erst nach Nachname und bei Gleichstand nach Vorname – bei uns wichtig, denn es gibt zwei Bargmanns. Kleiner Hinweis zu NULL: In SQLite stehen fehlende Werte beim aufsteigenden Sortieren oben, beim absteigenden unten.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Gesucht sind alle aus Verein 3 oder ohne Verein, mit Vorname, Nachname und VereinNr, sortiert nach Nachname. Halte das Video an und schreib die Abfrage auf. Überleg dir auch, wie viele Zeilen herauskommen müssten.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Auflösung. In der Bedingung steht VereinNr gleich 3 oder VereinNr IS NULL. Da es nur OR ist, brauchst du keine Klammern. Danach ORDER BY Nachname. Ergebnis: vier Zeilen – Smilla Onken und Tomke Saathoff aus Verein 3, dazu Keno Uphoff und Levke Wilms ohne Verein. Wer VereinNr gleich NULL geschrieben hat, bekommt nur die zwei aus Verein 3 – genau Falle P5.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die Fallen zusammen. P6, Bedingungslogik: AND und OR ohne Klammern, größer statt größer gleich, und LIKE ohne Prozentzeichen. P5, NULL und Literale: gleich NULL statt IS NULL, Texte ohne Hochkommata, ein Datum im falschen Format. Und ein allgemeiner Tipp: Kontrolliere dein Ergebnis Zeile für Zeile gegen die Frage. In der Datendetektei hilft dir dabei die Zeitlupe – sie zeigt dir Klausel für Klausel, welche Zeilen übrig bleiben.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nimmst du mit: Gedacht wird FROM, WHERE, SELECT, dann sortieren und begrenzen. WHERE filtert Zeilen, SELECT wählt Spalten. AND bindet stärker als OR, also bei Mischung immer Klammern. BETWEEN schließt beide Grenzen ein, LIKE arbeitet mit Prozent und Unterstrich. Und fehlende Werte findest du nur mit IS NULL.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ab ins Lab! In den Ermittlungen 1.1 und 1.2 im Fundbüro wartet ein echter Fall auf dich – mit Konsole und Zeitlupe. Im nächsten Video verbinden wir zwei und drei Tabellen miteinander – ganz ohne JOIN, so wie im Abitur. Bis dann!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1</a:t>
            </a:r>
          </a:p>
        </p:txBody>
      </p:sp>
      <p:sp>
        <p:nvSpPr>
          <p:cNvPr id="5" name="TextBox 4"/>
          <p:cNvSpPr txBox="1"/>
          <p:nvPr/>
        </p:nvSpPr>
        <p:spPr>
          <a:xfrm>
            <a:off x="548640" y="1371600"/>
            <a:ext cx="7772400" cy="1231392"/>
          </a:xfrm>
          <a:prstGeom prst="rect">
            <a:avLst/>
          </a:prstGeom>
          <a:noFill/>
        </p:spPr>
        <p:txBody>
          <a:bodyPr wrap="square" lIns="27432" rIns="27432" tIns="27432" bIns="27432" anchor="t">
            <a:spAutoFit/>
          </a:bodyPr>
          <a:lstStyle/>
          <a:p>
            <a:pPr>
              <a:lnSpc>
                <a:spcPct val="105000"/>
              </a:lnSpc>
              <a:spcAft>
                <a:spcPts val="400"/>
              </a:spcAft>
            </a:pPr>
            <a:r>
              <a:rPr sz="4000" b="0" i="0" u="none">
                <a:solidFill>
                  <a:srgbClr val="E8E1D3"/>
                </a:solidFill>
                <a:latin typeface="Barlow Condensed SemiBold"/>
              </a:rPr>
              <a:t>SQL-Grundlagen: SELECT, WHERE und die Bedingungsfallen</a:t>
            </a:r>
          </a:p>
        </p:txBody>
      </p:sp>
      <p:cxnSp>
        <p:nvCxnSpPr>
          <p:cNvPr id="6" name="Roter Faden"/>
          <p:cNvCxnSpPr/>
          <p:nvPr/>
        </p:nvCxnSpPr>
        <p:spPr>
          <a:xfrm>
            <a:off x="548640" y="274015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923032"/>
            <a:ext cx="7772400" cy="71323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Spalten wählen, Zeilen filtern, sortieren – und die Fallen bei AND/OR und NULL umgehen</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Akte 1 · DS 1–2 · 8–10 min</a:t>
            </a:r>
          </a:p>
        </p:txBody>
      </p:sp>
      <p:pic>
        <p:nvPicPr>
          <p:cNvPr id="11" name="Picture 10" descr="stempel.png"/>
          <p:cNvPicPr>
            <a:picLocks noChangeAspect="1"/>
          </p:cNvPicPr>
          <p:nvPr/>
        </p:nvPicPr>
        <p:blipFill>
          <a:blip r:embed="rId3"/>
          <a:stretch>
            <a:fillRect/>
          </a:stretch>
        </p:blipFill>
        <p:spPr>
          <a:xfrm>
            <a:off x="8869680" y="1051560"/>
            <a:ext cx="2773375" cy="94279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Unsere Beispieldaten: ein Schachturnier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548640" y="1691640"/>
            <a:ext cx="7772400" cy="120316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801368"/>
            <a:ext cx="7406640" cy="102028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KURZSCHREIBWEISE</a:t>
            </a:r>
          </a:p>
          <a:p>
            <a:pPr>
              <a:lnSpc>
                <a:spcPct val="105000"/>
              </a:lnSpc>
              <a:spcAft>
                <a:spcPts val="500"/>
              </a:spcAft>
            </a:pPr>
            <a:r>
              <a:rPr sz="1748" b="0" i="0" u="none">
                <a:solidFill>
                  <a:srgbClr val="1C2B3A"/>
                </a:solidFill>
                <a:latin typeface="IBM Plex Mono"/>
              </a:rPr>
              <a:t>Spieler(</a:t>
            </a:r>
            <a:r>
              <a:rPr sz="1748" b="0" i="0" u="sng">
                <a:solidFill>
                  <a:srgbClr val="1C2B3A"/>
                </a:solidFill>
                <a:latin typeface="IBM Plex Mono"/>
              </a:rPr>
              <a:t>SpielerNr</a:t>
            </a:r>
            <a:r>
              <a:rPr sz="1748" b="0" i="0" u="none">
                <a:solidFill>
                  <a:srgbClr val="1C2B3A"/>
                </a:solidFill>
                <a:latin typeface="IBM Plex Mono"/>
              </a:rPr>
              <a:t>, Vorname, Nachname, Jahrgang, Wertung, </a:t>
            </a:r>
            <a:r>
              <a:rPr sz="1748" b="0" i="0" u="none">
                <a:solidFill>
                  <a:srgbClr val="B3261E"/>
                </a:solidFill>
                <a:latin typeface="IBM Plex Mono"/>
              </a:rPr>
              <a:t>↑</a:t>
            </a:r>
            <a:r>
              <a:rPr sz="1748" b="0" i="0" u="none">
                <a:solidFill>
                  <a:srgbClr val="1C2B3A"/>
                </a:solidFill>
                <a:latin typeface="IBM Plex Mono"/>
              </a:rPr>
              <a:t>VereinNr)</a:t>
            </a:r>
          </a:p>
        </p:txBody>
      </p:sp>
      <p:sp>
        <p:nvSpPr>
          <p:cNvPr id="10" name="TextBox 9"/>
          <p:cNvSpPr txBox="1"/>
          <p:nvPr/>
        </p:nvSpPr>
        <p:spPr>
          <a:xfrm>
            <a:off x="548640" y="3004535"/>
            <a:ext cx="7772400"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TABELLE SPIELER (VOLLSTÄNDIG)</a:t>
            </a:r>
          </a:p>
        </p:txBody>
      </p:sp>
      <p:graphicFrame>
        <p:nvGraphicFramePr>
          <p:cNvPr id="11" name="Datentabelle"/>
          <p:cNvGraphicFramePr>
            <a:graphicFrameLocks noGrp="1"/>
          </p:cNvGraphicFramePr>
          <p:nvPr/>
        </p:nvGraphicFramePr>
        <p:xfrm>
          <a:off x="548640" y="3297143"/>
          <a:ext cx="6394853" cy="2814955"/>
        </p:xfrm>
        <a:graphic>
          <a:graphicData uri="http://schemas.openxmlformats.org/drawingml/2006/table">
            <a:tbl>
              <a:tblPr firstRow="1">
                <a:tableStyleId>{5C22544A-7EE6-4342-B048-85BDC9FD1C3A}</a:tableStyleId>
              </a:tblPr>
              <a:tblGrid>
                <a:gridCol w="1183690"/>
                <a:gridCol w="981608"/>
                <a:gridCol w="1082649"/>
                <a:gridCol w="1082649"/>
                <a:gridCol w="981608"/>
                <a:gridCol w="1082649"/>
              </a:tblGrid>
              <a:tr h="255905">
                <a:tc>
                  <a:txBody>
                    <a:bodyPr/>
                    <a:lstStyle/>
                    <a:p>
                      <a:r>
                        <a:rPr sz="1196" b="1" i="0" u="sng">
                          <a:solidFill>
                            <a:srgbClr val="1C2B3A"/>
                          </a:solidFill>
                          <a:latin typeface="IBM Plex Mono"/>
                        </a:rPr>
                        <a:t>SpielerNr</a:t>
                      </a:r>
                    </a:p>
                  </a:txBody>
                  <a:tcPr marL="54864" marR="54864" marT="18288" marB="18288">
                    <a:solidFill>
                      <a:srgbClr val="EBE2D2"/>
                    </a:solidFill>
                  </a:tcPr>
                </a:tc>
                <a:tc>
                  <a:txBody>
                    <a:bodyPr/>
                    <a:lstStyle/>
                    <a:p>
                      <a:r>
                        <a:rPr sz="1196" b="1" i="0" u="none">
                          <a:solidFill>
                            <a:srgbClr val="1C2B3A"/>
                          </a:solidFill>
                          <a:latin typeface="IBM Plex Mono"/>
                        </a:rPr>
                        <a:t>Vorname</a:t>
                      </a:r>
                    </a:p>
                  </a:txBody>
                  <a:tcPr marL="54864" marR="54864" marT="18288" marB="18288">
                    <a:solidFill>
                      <a:srgbClr val="EBE2D2"/>
                    </a:solidFill>
                  </a:tcPr>
                </a:tc>
                <a:tc>
                  <a:txBody>
                    <a:bodyPr/>
                    <a:lstStyle/>
                    <a:p>
                      <a:r>
                        <a:rPr sz="1196" b="1" i="0" u="none">
                          <a:solidFill>
                            <a:srgbClr val="1C2B3A"/>
                          </a:solidFill>
                          <a:latin typeface="IBM Plex Mono"/>
                        </a:rPr>
                        <a:t>Nachname</a:t>
                      </a:r>
                    </a:p>
                  </a:txBody>
                  <a:tcPr marL="54864" marR="54864" marT="18288" marB="18288">
                    <a:solidFill>
                      <a:srgbClr val="EBE2D2"/>
                    </a:solidFill>
                  </a:tcPr>
                </a:tc>
                <a:tc>
                  <a:txBody>
                    <a:bodyPr/>
                    <a:lstStyle/>
                    <a:p>
                      <a:r>
                        <a:rPr sz="1196" b="1" i="0" u="none">
                          <a:solidFill>
                            <a:srgbClr val="1C2B3A"/>
                          </a:solidFill>
                          <a:latin typeface="IBM Plex Mono"/>
                        </a:rPr>
                        <a:t>Jahrgang</a:t>
                      </a:r>
                    </a:p>
                  </a:txBody>
                  <a:tcPr marL="54864" marR="54864" marT="18288" marB="18288">
                    <a:solidFill>
                      <a:srgbClr val="EBE2D2"/>
                    </a:solidFill>
                  </a:tcPr>
                </a:tc>
                <a:tc>
                  <a:txBody>
                    <a:bodyPr/>
                    <a:lstStyle/>
                    <a:p>
                      <a:r>
                        <a:rPr sz="1196" b="1" i="0" u="none">
                          <a:solidFill>
                            <a:srgbClr val="1C2B3A"/>
                          </a:solidFill>
                          <a:latin typeface="IBM Plex Mono"/>
                        </a:rPr>
                        <a:t>Wertung</a:t>
                      </a:r>
                    </a:p>
                  </a:txBody>
                  <a:tcPr marL="54864" marR="54864" marT="18288" marB="18288">
                    <a:solidFill>
                      <a:srgbClr val="EBE2D2"/>
                    </a:solidFill>
                  </a:tcPr>
                </a:tc>
                <a:tc>
                  <a:txBody>
                    <a:bodyPr/>
                    <a:lstStyle/>
                    <a:p>
                      <a:r>
                        <a:rPr sz="1196" b="1" i="0" u="none">
                          <a:solidFill>
                            <a:srgbClr val="B3261E"/>
                          </a:solidFill>
                          <a:latin typeface="IBM Plex Mono"/>
                        </a:rPr>
                        <a:t>↑</a:t>
                      </a:r>
                      <a:r>
                        <a:rPr sz="1196" b="1" i="0" u="none">
                          <a:solidFill>
                            <a:srgbClr val="1C2B3A"/>
                          </a:solidFill>
                          <a:latin typeface="IBM Plex Mono"/>
                        </a:rPr>
                        <a:t>VereinNr</a:t>
                      </a:r>
                    </a:p>
                  </a:txBody>
                  <a:tcPr marL="54864" marR="54864" marT="18288" marB="18288">
                    <a:solidFill>
                      <a:srgbClr val="EBE2D2"/>
                    </a:solidFill>
                  </a:tcPr>
                </a:tc>
              </a:tr>
              <a:tr h="255905">
                <a:tc>
                  <a:txBody>
                    <a:bodyPr/>
                    <a:lstStyle/>
                    <a:p>
                      <a:pPr algn="r"/>
                      <a:r>
                        <a:rPr sz="1300" b="0" i="0" u="none">
                          <a:solidFill>
                            <a:srgbClr val="1C2B3A"/>
                          </a:solidFill>
                          <a:latin typeface="Barlow"/>
                        </a:rPr>
                        <a:t>1</a:t>
                      </a:r>
                    </a:p>
                  </a:txBody>
                  <a:tcPr marL="54864" marR="54864" marT="18288" marB="18288">
                    <a:solidFill>
                      <a:srgbClr val="FFFDF8"/>
                    </a:solidFill>
                  </a:tcPr>
                </a:tc>
                <a:tc>
                  <a:txBody>
                    <a:bodyPr/>
                    <a:lstStyle/>
                    <a:p>
                      <a:r>
                        <a:rPr sz="1300" b="0" i="0" u="none">
                          <a:solidFill>
                            <a:srgbClr val="1C2B3A"/>
                          </a:solidFill>
                          <a:latin typeface="Barlow"/>
                        </a:rPr>
                        <a:t>Imke</a:t>
                      </a:r>
                    </a:p>
                  </a:txBody>
                  <a:tcPr marL="54864" marR="54864" marT="18288" marB="18288">
                    <a:solidFill>
                      <a:srgbClr val="FFFDF8"/>
                    </a:solidFill>
                  </a:tcPr>
                </a:tc>
                <a:tc>
                  <a:txBody>
                    <a:bodyPr/>
                    <a:lstStyle/>
                    <a:p>
                      <a:r>
                        <a:rPr sz="1300" b="0" i="0" u="none">
                          <a:solidFill>
                            <a:srgbClr val="1C2B3A"/>
                          </a:solidFill>
                          <a:latin typeface="Barlow"/>
                        </a:rPr>
                        <a:t>Bargmann</a:t>
                      </a:r>
                    </a:p>
                  </a:txBody>
                  <a:tcPr marL="54864" marR="54864" marT="18288" marB="18288">
                    <a:solidFill>
                      <a:srgbClr val="FFFDF8"/>
                    </a:solidFill>
                  </a:tcPr>
                </a:tc>
                <a:tc>
                  <a:txBody>
                    <a:bodyPr/>
                    <a:lstStyle/>
                    <a:p>
                      <a:pPr algn="r"/>
                      <a:r>
                        <a:rPr sz="1300" b="0" i="0" u="none">
                          <a:solidFill>
                            <a:srgbClr val="1C2B3A"/>
                          </a:solidFill>
                          <a:latin typeface="Barlow"/>
                        </a:rPr>
                        <a:t>2008</a:t>
                      </a:r>
                    </a:p>
                  </a:txBody>
                  <a:tcPr marL="54864" marR="54864" marT="18288" marB="18288">
                    <a:solidFill>
                      <a:srgbClr val="FFFDF8"/>
                    </a:solidFill>
                  </a:tcPr>
                </a:tc>
                <a:tc>
                  <a:txBody>
                    <a:bodyPr/>
                    <a:lstStyle/>
                    <a:p>
                      <a:pPr algn="r"/>
                      <a:r>
                        <a:rPr sz="1300" b="0" i="0" u="none">
                          <a:solidFill>
                            <a:srgbClr val="1C2B3A"/>
                          </a:solidFill>
                          <a:latin typeface="Barlow"/>
                        </a:rPr>
                        <a:t>1620</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r h="255905">
                <a:tc>
                  <a:txBody>
                    <a:bodyPr/>
                    <a:lstStyle/>
                    <a:p>
                      <a:pPr algn="r"/>
                      <a:r>
                        <a:rPr sz="1300" b="0" i="0" u="none">
                          <a:solidFill>
                            <a:srgbClr val="1C2B3A"/>
                          </a:solidFill>
                          <a:latin typeface="Barlow"/>
                        </a:rPr>
                        <a:t>2</a:t>
                      </a:r>
                    </a:p>
                  </a:txBody>
                  <a:tcPr marL="54864" marR="54864" marT="18288" marB="18288">
                    <a:solidFill>
                      <a:srgbClr val="FFFDF8"/>
                    </a:solidFill>
                  </a:tcPr>
                </a:tc>
                <a:tc>
                  <a:txBody>
                    <a:bodyPr/>
                    <a:lstStyle/>
                    <a:p>
                      <a:r>
                        <a:rPr sz="1300" b="0" i="0" u="none">
                          <a:solidFill>
                            <a:srgbClr val="1C2B3A"/>
                          </a:solidFill>
                          <a:latin typeface="Barlow"/>
                        </a:rPr>
                        <a:t>Mats</a:t>
                      </a:r>
                    </a:p>
                  </a:txBody>
                  <a:tcPr marL="54864" marR="54864" marT="18288" marB="18288">
                    <a:solidFill>
                      <a:srgbClr val="FFFDF8"/>
                    </a:solidFill>
                  </a:tcPr>
                </a:tc>
                <a:tc>
                  <a:txBody>
                    <a:bodyPr/>
                    <a:lstStyle/>
                    <a:p>
                      <a:r>
                        <a:rPr sz="1300" b="0" i="0" u="none">
                          <a:solidFill>
                            <a:srgbClr val="1C2B3A"/>
                          </a:solidFill>
                          <a:latin typeface="Barlow"/>
                        </a:rPr>
                        <a:t>Okafor</a:t>
                      </a:r>
                    </a:p>
                  </a:txBody>
                  <a:tcPr marL="54864" marR="54864" marT="18288" marB="18288">
                    <a:solidFill>
                      <a:srgbClr val="FFFDF8"/>
                    </a:solidFill>
                  </a:tcPr>
                </a:tc>
                <a:tc>
                  <a:txBody>
                    <a:bodyPr/>
                    <a:lstStyle/>
                    <a:p>
                      <a:pPr algn="r"/>
                      <a:r>
                        <a:rPr sz="1300" b="0" i="0" u="none">
                          <a:solidFill>
                            <a:srgbClr val="1C2B3A"/>
                          </a:solidFill>
                          <a:latin typeface="Barlow"/>
                        </a:rPr>
                        <a:t>2009</a:t>
                      </a:r>
                    </a:p>
                  </a:txBody>
                  <a:tcPr marL="54864" marR="54864" marT="18288" marB="18288">
                    <a:solidFill>
                      <a:srgbClr val="FFFDF8"/>
                    </a:solidFill>
                  </a:tcPr>
                </a:tc>
                <a:tc>
                  <a:txBody>
                    <a:bodyPr/>
                    <a:lstStyle/>
                    <a:p>
                      <a:pPr algn="r"/>
                      <a:r>
                        <a:rPr sz="1300" b="0" i="0" u="none">
                          <a:solidFill>
                            <a:srgbClr val="1C2B3A"/>
                          </a:solidFill>
                          <a:latin typeface="Barlow"/>
                        </a:rPr>
                        <a:t>1480</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r h="255905">
                <a:tc>
                  <a:txBody>
                    <a:bodyPr/>
                    <a:lstStyle/>
                    <a:p>
                      <a:pPr algn="r"/>
                      <a:r>
                        <a:rPr sz="1300" b="0" i="0" u="none">
                          <a:solidFill>
                            <a:srgbClr val="1C2B3A"/>
                          </a:solidFill>
                          <a:latin typeface="Barlow"/>
                        </a:rPr>
                        <a:t>3</a:t>
                      </a:r>
                    </a:p>
                  </a:txBody>
                  <a:tcPr marL="54864" marR="54864" marT="18288" marB="18288">
                    <a:solidFill>
                      <a:srgbClr val="FFFDF8"/>
                    </a:solidFill>
                  </a:tcPr>
                </a:tc>
                <a:tc>
                  <a:txBody>
                    <a:bodyPr/>
                    <a:lstStyle/>
                    <a:p>
                      <a:r>
                        <a:rPr sz="1300" b="0" i="0" u="none">
                          <a:solidFill>
                            <a:srgbClr val="1C2B3A"/>
                          </a:solidFill>
                          <a:latin typeface="Barlow"/>
                        </a:rPr>
                        <a:t>Fenja</a:t>
                      </a:r>
                    </a:p>
                  </a:txBody>
                  <a:tcPr marL="54864" marR="54864" marT="18288" marB="18288">
                    <a:solidFill>
                      <a:srgbClr val="FFFDF8"/>
                    </a:solidFill>
                  </a:tcPr>
                </a:tc>
                <a:tc>
                  <a:txBody>
                    <a:bodyPr/>
                    <a:lstStyle/>
                    <a:p>
                      <a:r>
                        <a:rPr sz="1300" b="0" i="0" u="none">
                          <a:solidFill>
                            <a:srgbClr val="1C2B3A"/>
                          </a:solidFill>
                          <a:latin typeface="Barlow"/>
                        </a:rPr>
                        <a:t>Harjes</a:t>
                      </a:r>
                    </a:p>
                  </a:txBody>
                  <a:tcPr marL="54864" marR="54864" marT="18288" marB="18288">
                    <a:solidFill>
                      <a:srgbClr val="FFFDF8"/>
                    </a:solidFill>
                  </a:tcPr>
                </a:tc>
                <a:tc>
                  <a:txBody>
                    <a:bodyPr/>
                    <a:lstStyle/>
                    <a:p>
                      <a:pPr algn="r"/>
                      <a:r>
                        <a:rPr sz="1300" b="0" i="0" u="none">
                          <a:solidFill>
                            <a:srgbClr val="1C2B3A"/>
                          </a:solidFill>
                          <a:latin typeface="Barlow"/>
                        </a:rPr>
                        <a:t>2007</a:t>
                      </a:r>
                    </a:p>
                  </a:txBody>
                  <a:tcPr marL="54864" marR="54864" marT="18288" marB="18288">
                    <a:solidFill>
                      <a:srgbClr val="FFFDF8"/>
                    </a:solidFill>
                  </a:tcPr>
                </a:tc>
                <a:tc>
                  <a:txBody>
                    <a:bodyPr/>
                    <a:lstStyle/>
                    <a:p>
                      <a:pPr algn="r"/>
                      <a:r>
                        <a:rPr sz="1300" b="0" i="0" u="none">
                          <a:solidFill>
                            <a:srgbClr val="1C2B3A"/>
                          </a:solidFill>
                          <a:latin typeface="Barlow"/>
                        </a:rPr>
                        <a:t>1755</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r h="255905">
                <a:tc>
                  <a:txBody>
                    <a:bodyPr/>
                    <a:lstStyle/>
                    <a:p>
                      <a:pPr algn="r"/>
                      <a:r>
                        <a:rPr sz="1300" b="0" i="0" u="none">
                          <a:solidFill>
                            <a:srgbClr val="1C2B3A"/>
                          </a:solidFill>
                          <a:latin typeface="Barlow"/>
                        </a:rPr>
                        <a:t>4</a:t>
                      </a:r>
                    </a:p>
                  </a:txBody>
                  <a:tcPr marL="54864" marR="54864" marT="18288" marB="18288">
                    <a:solidFill>
                      <a:srgbClr val="FFFDF8"/>
                    </a:solidFill>
                  </a:tcPr>
                </a:tc>
                <a:tc>
                  <a:txBody>
                    <a:bodyPr/>
                    <a:lstStyle/>
                    <a:p>
                      <a:r>
                        <a:rPr sz="1300" b="0" i="0" u="none">
                          <a:solidFill>
                            <a:srgbClr val="1C2B3A"/>
                          </a:solidFill>
                          <a:latin typeface="Barlow"/>
                        </a:rPr>
                        <a:t>Joris</a:t>
                      </a:r>
                    </a:p>
                  </a:txBody>
                  <a:tcPr marL="54864" marR="54864" marT="18288" marB="18288">
                    <a:solidFill>
                      <a:srgbClr val="FFFDF8"/>
                    </a:solidFill>
                  </a:tcPr>
                </a:tc>
                <a:tc>
                  <a:txBody>
                    <a:bodyPr/>
                    <a:lstStyle/>
                    <a:p>
                      <a:r>
                        <a:rPr sz="1300" b="0" i="0" u="none">
                          <a:solidFill>
                            <a:srgbClr val="1C2B3A"/>
                          </a:solidFill>
                          <a:latin typeface="Barlow"/>
                        </a:rPr>
                        <a:t>Kampen</a:t>
                      </a:r>
                    </a:p>
                  </a:txBody>
                  <a:tcPr marL="54864" marR="54864" marT="18288" marB="18288">
                    <a:solidFill>
                      <a:srgbClr val="FFFDF8"/>
                    </a:solidFill>
                  </a:tcPr>
                </a:tc>
                <a:tc>
                  <a:txBody>
                    <a:bodyPr/>
                    <a:lstStyle/>
                    <a:p>
                      <a:pPr algn="r"/>
                      <a:r>
                        <a:rPr sz="1300" b="0" i="0" u="none">
                          <a:solidFill>
                            <a:srgbClr val="1C2B3A"/>
                          </a:solidFill>
                          <a:latin typeface="Barlow"/>
                        </a:rPr>
                        <a:t>2010</a:t>
                      </a:r>
                    </a:p>
                  </a:txBody>
                  <a:tcPr marL="54864" marR="54864" marT="18288" marB="18288">
                    <a:solidFill>
                      <a:srgbClr val="FFFDF8"/>
                    </a:solidFill>
                  </a:tcPr>
                </a:tc>
                <a:tc>
                  <a:txBody>
                    <a:bodyPr/>
                    <a:lstStyle/>
                    <a:p>
                      <a:r>
                        <a:rPr sz="1105" b="0" i="1" u="none">
                          <a:solidFill>
                            <a:srgbClr val="58626D"/>
                          </a:solidFill>
                          <a:latin typeface="IBM Plex Mono"/>
                        </a:rPr>
                        <a:t>NULL</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r h="255905">
                <a:tc>
                  <a:txBody>
                    <a:bodyPr/>
                    <a:lstStyle/>
                    <a:p>
                      <a:pPr algn="r"/>
                      <a:r>
                        <a:rPr sz="1300" b="0" i="0" u="none">
                          <a:solidFill>
                            <a:srgbClr val="1C2B3A"/>
                          </a:solidFill>
                          <a:latin typeface="Barlow"/>
                        </a:rPr>
                        <a:t>5</a:t>
                      </a:r>
                    </a:p>
                  </a:txBody>
                  <a:tcPr marL="54864" marR="54864" marT="18288" marB="18288">
                    <a:solidFill>
                      <a:srgbClr val="FFFDF8"/>
                    </a:solidFill>
                  </a:tcPr>
                </a:tc>
                <a:tc>
                  <a:txBody>
                    <a:bodyPr/>
                    <a:lstStyle/>
                    <a:p>
                      <a:r>
                        <a:rPr sz="1300" b="0" i="0" u="none">
                          <a:solidFill>
                            <a:srgbClr val="1C2B3A"/>
                          </a:solidFill>
                          <a:latin typeface="Barlow"/>
                        </a:rPr>
                        <a:t>Smilla</a:t>
                      </a:r>
                    </a:p>
                  </a:txBody>
                  <a:tcPr marL="54864" marR="54864" marT="18288" marB="18288">
                    <a:solidFill>
                      <a:srgbClr val="FFFDF8"/>
                    </a:solidFill>
                  </a:tcPr>
                </a:tc>
                <a:tc>
                  <a:txBody>
                    <a:bodyPr/>
                    <a:lstStyle/>
                    <a:p>
                      <a:r>
                        <a:rPr sz="1300" b="0" i="0" u="none">
                          <a:solidFill>
                            <a:srgbClr val="1C2B3A"/>
                          </a:solidFill>
                          <a:latin typeface="Barlow"/>
                        </a:rPr>
                        <a:t>Onken</a:t>
                      </a:r>
                    </a:p>
                  </a:txBody>
                  <a:tcPr marL="54864" marR="54864" marT="18288" marB="18288">
                    <a:solidFill>
                      <a:srgbClr val="FFFDF8"/>
                    </a:solidFill>
                  </a:tcPr>
                </a:tc>
                <a:tc>
                  <a:txBody>
                    <a:bodyPr/>
                    <a:lstStyle/>
                    <a:p>
                      <a:pPr algn="r"/>
                      <a:r>
                        <a:rPr sz="1300" b="0" i="0" u="none">
                          <a:solidFill>
                            <a:srgbClr val="1C2B3A"/>
                          </a:solidFill>
                          <a:latin typeface="Barlow"/>
                        </a:rPr>
                        <a:t>2008</a:t>
                      </a:r>
                    </a:p>
                  </a:txBody>
                  <a:tcPr marL="54864" marR="54864" marT="18288" marB="18288">
                    <a:solidFill>
                      <a:srgbClr val="FFFDF8"/>
                    </a:solidFill>
                  </a:tcPr>
                </a:tc>
                <a:tc>
                  <a:txBody>
                    <a:bodyPr/>
                    <a:lstStyle/>
                    <a:p>
                      <a:pPr algn="r"/>
                      <a:r>
                        <a:rPr sz="1300" b="0" i="0" u="none">
                          <a:solidFill>
                            <a:srgbClr val="1C2B3A"/>
                          </a:solidFill>
                          <a:latin typeface="Barlow"/>
                        </a:rPr>
                        <a:t>1390</a:t>
                      </a:r>
                    </a:p>
                  </a:txBody>
                  <a:tcPr marL="54864" marR="54864" marT="18288" marB="18288">
                    <a:solidFill>
                      <a:srgbClr val="FFFDF8"/>
                    </a:solidFill>
                  </a:tcPr>
                </a:tc>
                <a:tc>
                  <a:txBody>
                    <a:bodyPr/>
                    <a:lstStyle/>
                    <a:p>
                      <a:pPr algn="r"/>
                      <a:r>
                        <a:rPr sz="1300" b="0" i="0" u="none">
                          <a:solidFill>
                            <a:srgbClr val="1C2B3A"/>
                          </a:solidFill>
                          <a:latin typeface="Barlow"/>
                        </a:rPr>
                        <a:t>3</a:t>
                      </a:r>
                    </a:p>
                  </a:txBody>
                  <a:tcPr marL="54864" marR="54864" marT="18288" marB="18288">
                    <a:solidFill>
                      <a:srgbClr val="FFFDF8"/>
                    </a:solidFill>
                  </a:tcPr>
                </a:tc>
              </a:tr>
              <a:tr h="255905">
                <a:tc>
                  <a:txBody>
                    <a:bodyPr/>
                    <a:lstStyle/>
                    <a:p>
                      <a:pPr algn="r"/>
                      <a:r>
                        <a:rPr sz="1300" b="0" i="0" u="none">
                          <a:solidFill>
                            <a:srgbClr val="1C2B3A"/>
                          </a:solidFill>
                          <a:latin typeface="Barlow"/>
                        </a:rPr>
                        <a:t>6</a:t>
                      </a:r>
                    </a:p>
                  </a:txBody>
                  <a:tcPr marL="54864" marR="54864" marT="18288" marB="18288">
                    <a:solidFill>
                      <a:srgbClr val="FFFDF8"/>
                    </a:solidFill>
                  </a:tcPr>
                </a:tc>
                <a:tc>
                  <a:txBody>
                    <a:bodyPr/>
                    <a:lstStyle/>
                    <a:p>
                      <a:r>
                        <a:rPr sz="1300" b="0" i="0" u="none">
                          <a:solidFill>
                            <a:srgbClr val="1C2B3A"/>
                          </a:solidFill>
                          <a:latin typeface="Barlow"/>
                        </a:rPr>
                        <a:t>Keno</a:t>
                      </a:r>
                    </a:p>
                  </a:txBody>
                  <a:tcPr marL="54864" marR="54864" marT="18288" marB="18288">
                    <a:solidFill>
                      <a:srgbClr val="FFFDF8"/>
                    </a:solidFill>
                  </a:tcPr>
                </a:tc>
                <a:tc>
                  <a:txBody>
                    <a:bodyPr/>
                    <a:lstStyle/>
                    <a:p>
                      <a:r>
                        <a:rPr sz="1300" b="0" i="0" u="none">
                          <a:solidFill>
                            <a:srgbClr val="1C2B3A"/>
                          </a:solidFill>
                          <a:latin typeface="Barlow"/>
                        </a:rPr>
                        <a:t>Uphoff</a:t>
                      </a:r>
                    </a:p>
                  </a:txBody>
                  <a:tcPr marL="54864" marR="54864" marT="18288" marB="18288">
                    <a:solidFill>
                      <a:srgbClr val="FFFDF8"/>
                    </a:solidFill>
                  </a:tcPr>
                </a:tc>
                <a:tc>
                  <a:txBody>
                    <a:bodyPr/>
                    <a:lstStyle/>
                    <a:p>
                      <a:pPr algn="r"/>
                      <a:r>
                        <a:rPr sz="1300" b="0" i="0" u="none">
                          <a:solidFill>
                            <a:srgbClr val="1C2B3A"/>
                          </a:solidFill>
                          <a:latin typeface="Barlow"/>
                        </a:rPr>
                        <a:t>2009</a:t>
                      </a:r>
                    </a:p>
                  </a:txBody>
                  <a:tcPr marL="54864" marR="54864" marT="18288" marB="18288">
                    <a:solidFill>
                      <a:srgbClr val="FFFDF8"/>
                    </a:solidFill>
                  </a:tcPr>
                </a:tc>
                <a:tc>
                  <a:txBody>
                    <a:bodyPr/>
                    <a:lstStyle/>
                    <a:p>
                      <a:r>
                        <a:rPr sz="1105" b="0" i="1" u="none">
                          <a:solidFill>
                            <a:srgbClr val="58626D"/>
                          </a:solidFill>
                          <a:latin typeface="IBM Plex Mono"/>
                        </a:rPr>
                        <a:t>NULL</a:t>
                      </a:r>
                    </a:p>
                  </a:txBody>
                  <a:tcPr marL="54864" marR="54864" marT="18288" marB="18288">
                    <a:solidFill>
                      <a:srgbClr val="FFFDF8"/>
                    </a:solidFill>
                  </a:tcPr>
                </a:tc>
                <a:tc>
                  <a:txBody>
                    <a:bodyPr/>
                    <a:lstStyle/>
                    <a:p>
                      <a:r>
                        <a:rPr sz="1105" b="0" i="1" u="none">
                          <a:solidFill>
                            <a:srgbClr val="58626D"/>
                          </a:solidFill>
                          <a:latin typeface="IBM Plex Mono"/>
                        </a:rPr>
                        <a:t>NULL</a:t>
                      </a:r>
                    </a:p>
                  </a:txBody>
                  <a:tcPr marL="54864" marR="54864" marT="18288" marB="18288">
                    <a:solidFill>
                      <a:srgbClr val="FFFDF8"/>
                    </a:solidFill>
                  </a:tcPr>
                </a:tc>
              </a:tr>
              <a:tr h="255905">
                <a:tc>
                  <a:txBody>
                    <a:bodyPr/>
                    <a:lstStyle/>
                    <a:p>
                      <a:pPr algn="r"/>
                      <a:r>
                        <a:rPr sz="1300" b="0" i="0" u="none">
                          <a:solidFill>
                            <a:srgbClr val="1C2B3A"/>
                          </a:solidFill>
                          <a:latin typeface="Barlow"/>
                        </a:rPr>
                        <a:t>7</a:t>
                      </a:r>
                    </a:p>
                  </a:txBody>
                  <a:tcPr marL="54864" marR="54864" marT="18288" marB="18288">
                    <a:solidFill>
                      <a:srgbClr val="FFFDF8"/>
                    </a:solidFill>
                  </a:tcPr>
                </a:tc>
                <a:tc>
                  <a:txBody>
                    <a:bodyPr/>
                    <a:lstStyle/>
                    <a:p>
                      <a:r>
                        <a:rPr sz="1300" b="0" i="0" u="none">
                          <a:solidFill>
                            <a:srgbClr val="1C2B3A"/>
                          </a:solidFill>
                          <a:latin typeface="Barlow"/>
                        </a:rPr>
                        <a:t>Tomke</a:t>
                      </a:r>
                    </a:p>
                  </a:txBody>
                  <a:tcPr marL="54864" marR="54864" marT="18288" marB="18288">
                    <a:solidFill>
                      <a:srgbClr val="FFFDF8"/>
                    </a:solidFill>
                  </a:tcPr>
                </a:tc>
                <a:tc>
                  <a:txBody>
                    <a:bodyPr/>
                    <a:lstStyle/>
                    <a:p>
                      <a:r>
                        <a:rPr sz="1300" b="0" i="0" u="none">
                          <a:solidFill>
                            <a:srgbClr val="1C2B3A"/>
                          </a:solidFill>
                          <a:latin typeface="Barlow"/>
                        </a:rPr>
                        <a:t>Saathoff</a:t>
                      </a:r>
                    </a:p>
                  </a:txBody>
                  <a:tcPr marL="54864" marR="54864" marT="18288" marB="18288">
                    <a:solidFill>
                      <a:srgbClr val="FFFDF8"/>
                    </a:solidFill>
                  </a:tcPr>
                </a:tc>
                <a:tc>
                  <a:txBody>
                    <a:bodyPr/>
                    <a:lstStyle/>
                    <a:p>
                      <a:pPr algn="r"/>
                      <a:r>
                        <a:rPr sz="1300" b="0" i="0" u="none">
                          <a:solidFill>
                            <a:srgbClr val="1C2B3A"/>
                          </a:solidFill>
                          <a:latin typeface="Barlow"/>
                        </a:rPr>
                        <a:t>2007</a:t>
                      </a:r>
                    </a:p>
                  </a:txBody>
                  <a:tcPr marL="54864" marR="54864" marT="18288" marB="18288">
                    <a:solidFill>
                      <a:srgbClr val="FFFDF8"/>
                    </a:solidFill>
                  </a:tcPr>
                </a:tc>
                <a:tc>
                  <a:txBody>
                    <a:bodyPr/>
                    <a:lstStyle/>
                    <a:p>
                      <a:pPr algn="r"/>
                      <a:r>
                        <a:rPr sz="1300" b="0" i="0" u="none">
                          <a:solidFill>
                            <a:srgbClr val="1C2B3A"/>
                          </a:solidFill>
                          <a:latin typeface="Barlow"/>
                        </a:rPr>
                        <a:t>1830</a:t>
                      </a:r>
                    </a:p>
                  </a:txBody>
                  <a:tcPr marL="54864" marR="54864" marT="18288" marB="18288">
                    <a:solidFill>
                      <a:srgbClr val="FFFDF8"/>
                    </a:solidFill>
                  </a:tcPr>
                </a:tc>
                <a:tc>
                  <a:txBody>
                    <a:bodyPr/>
                    <a:lstStyle/>
                    <a:p>
                      <a:pPr algn="r"/>
                      <a:r>
                        <a:rPr sz="1300" b="0" i="0" u="none">
                          <a:solidFill>
                            <a:srgbClr val="1C2B3A"/>
                          </a:solidFill>
                          <a:latin typeface="Barlow"/>
                        </a:rPr>
                        <a:t>3</a:t>
                      </a:r>
                    </a:p>
                  </a:txBody>
                  <a:tcPr marL="54864" marR="54864" marT="18288" marB="18288">
                    <a:solidFill>
                      <a:srgbClr val="FFFDF8"/>
                    </a:solidFill>
                  </a:tcPr>
                </a:tc>
              </a:tr>
              <a:tr h="255905">
                <a:tc>
                  <a:txBody>
                    <a:bodyPr/>
                    <a:lstStyle/>
                    <a:p>
                      <a:pPr algn="r"/>
                      <a:r>
                        <a:rPr sz="1300" b="0" i="0" u="none">
                          <a:solidFill>
                            <a:srgbClr val="1C2B3A"/>
                          </a:solidFill>
                          <a:latin typeface="Barlow"/>
                        </a:rPr>
                        <a:t>8</a:t>
                      </a:r>
                    </a:p>
                  </a:txBody>
                  <a:tcPr marL="54864" marR="54864" marT="18288" marB="18288">
                    <a:solidFill>
                      <a:srgbClr val="FFFDF8"/>
                    </a:solidFill>
                  </a:tcPr>
                </a:tc>
                <a:tc>
                  <a:txBody>
                    <a:bodyPr/>
                    <a:lstStyle/>
                    <a:p>
                      <a:r>
                        <a:rPr sz="1300" b="0" i="0" u="none">
                          <a:solidFill>
                            <a:srgbClr val="1C2B3A"/>
                          </a:solidFill>
                          <a:latin typeface="Barlow"/>
                        </a:rPr>
                        <a:t>Hauke</a:t>
                      </a:r>
                    </a:p>
                  </a:txBody>
                  <a:tcPr marL="54864" marR="54864" marT="18288" marB="18288">
                    <a:solidFill>
                      <a:srgbClr val="FFFDF8"/>
                    </a:solidFill>
                  </a:tcPr>
                </a:tc>
                <a:tc>
                  <a:txBody>
                    <a:bodyPr/>
                    <a:lstStyle/>
                    <a:p>
                      <a:r>
                        <a:rPr sz="1300" b="0" i="0" u="none">
                          <a:solidFill>
                            <a:srgbClr val="1C2B3A"/>
                          </a:solidFill>
                          <a:latin typeface="Barlow"/>
                        </a:rPr>
                        <a:t>Demir</a:t>
                      </a:r>
                    </a:p>
                  </a:txBody>
                  <a:tcPr marL="54864" marR="54864" marT="18288" marB="18288">
                    <a:solidFill>
                      <a:srgbClr val="FFFDF8"/>
                    </a:solidFill>
                  </a:tcPr>
                </a:tc>
                <a:tc>
                  <a:txBody>
                    <a:bodyPr/>
                    <a:lstStyle/>
                    <a:p>
                      <a:pPr algn="r"/>
                      <a:r>
                        <a:rPr sz="1300" b="0" i="0" u="none">
                          <a:solidFill>
                            <a:srgbClr val="1C2B3A"/>
                          </a:solidFill>
                          <a:latin typeface="Barlow"/>
                        </a:rPr>
                        <a:t>2010</a:t>
                      </a:r>
                    </a:p>
                  </a:txBody>
                  <a:tcPr marL="54864" marR="54864" marT="18288" marB="18288">
                    <a:solidFill>
                      <a:srgbClr val="FFFDF8"/>
                    </a:solidFill>
                  </a:tcPr>
                </a:tc>
                <a:tc>
                  <a:txBody>
                    <a:bodyPr/>
                    <a:lstStyle/>
                    <a:p>
                      <a:pPr algn="r"/>
                      <a:r>
                        <a:rPr sz="1300" b="0" i="0" u="none">
                          <a:solidFill>
                            <a:srgbClr val="1C2B3A"/>
                          </a:solidFill>
                          <a:latin typeface="Barlow"/>
                        </a:rPr>
                        <a:t>1210</a:t>
                      </a:r>
                    </a:p>
                  </a:txBody>
                  <a:tcPr marL="54864" marR="54864" marT="18288" marB="18288">
                    <a:solidFill>
                      <a:srgbClr val="FFFDF8"/>
                    </a:solidFill>
                  </a:tcPr>
                </a:tc>
                <a:tc>
                  <a:txBody>
                    <a:bodyPr/>
                    <a:lstStyle/>
                    <a:p>
                      <a:pPr algn="r"/>
                      <a:r>
                        <a:rPr sz="1300" b="0" i="0" u="none">
                          <a:solidFill>
                            <a:srgbClr val="1C2B3A"/>
                          </a:solidFill>
                          <a:latin typeface="Barlow"/>
                        </a:rPr>
                        <a:t>1</a:t>
                      </a:r>
                    </a:p>
                  </a:txBody>
                  <a:tcPr marL="54864" marR="54864" marT="18288" marB="18288">
                    <a:solidFill>
                      <a:srgbClr val="FFFDF8"/>
                    </a:solidFill>
                  </a:tcPr>
                </a:tc>
              </a:tr>
              <a:tr h="255905">
                <a:tc>
                  <a:txBody>
                    <a:bodyPr/>
                    <a:lstStyle/>
                    <a:p>
                      <a:pPr algn="r"/>
                      <a:r>
                        <a:rPr sz="1300" b="0" i="0" u="none">
                          <a:solidFill>
                            <a:srgbClr val="1C2B3A"/>
                          </a:solidFill>
                          <a:latin typeface="Barlow"/>
                        </a:rPr>
                        <a:t>9</a:t>
                      </a:r>
                    </a:p>
                  </a:txBody>
                  <a:tcPr marL="54864" marR="54864" marT="18288" marB="18288">
                    <a:solidFill>
                      <a:srgbClr val="FFFDF8"/>
                    </a:solidFill>
                  </a:tcPr>
                </a:tc>
                <a:tc>
                  <a:txBody>
                    <a:bodyPr/>
                    <a:lstStyle/>
                    <a:p>
                      <a:r>
                        <a:rPr sz="1300" b="0" i="0" u="none">
                          <a:solidFill>
                            <a:srgbClr val="1C2B3A"/>
                          </a:solidFill>
                          <a:latin typeface="Barlow"/>
                        </a:rPr>
                        <a:t>Levke</a:t>
                      </a:r>
                    </a:p>
                  </a:txBody>
                  <a:tcPr marL="54864" marR="54864" marT="18288" marB="18288">
                    <a:solidFill>
                      <a:srgbClr val="FFFDF8"/>
                    </a:solidFill>
                  </a:tcPr>
                </a:tc>
                <a:tc>
                  <a:txBody>
                    <a:bodyPr/>
                    <a:lstStyle/>
                    <a:p>
                      <a:r>
                        <a:rPr sz="1300" b="0" i="0" u="none">
                          <a:solidFill>
                            <a:srgbClr val="1C2B3A"/>
                          </a:solidFill>
                          <a:latin typeface="Barlow"/>
                        </a:rPr>
                        <a:t>Wilms</a:t>
                      </a:r>
                    </a:p>
                  </a:txBody>
                  <a:tcPr marL="54864" marR="54864" marT="18288" marB="18288">
                    <a:solidFill>
                      <a:srgbClr val="FFFDF8"/>
                    </a:solidFill>
                  </a:tcPr>
                </a:tc>
                <a:tc>
                  <a:txBody>
                    <a:bodyPr/>
                    <a:lstStyle/>
                    <a:p>
                      <a:pPr algn="r"/>
                      <a:r>
                        <a:rPr sz="1300" b="0" i="0" u="none">
                          <a:solidFill>
                            <a:srgbClr val="1C2B3A"/>
                          </a:solidFill>
                          <a:latin typeface="Barlow"/>
                        </a:rPr>
                        <a:t>2009</a:t>
                      </a:r>
                    </a:p>
                  </a:txBody>
                  <a:tcPr marL="54864" marR="54864" marT="18288" marB="18288">
                    <a:solidFill>
                      <a:srgbClr val="FFFDF8"/>
                    </a:solidFill>
                  </a:tcPr>
                </a:tc>
                <a:tc>
                  <a:txBody>
                    <a:bodyPr/>
                    <a:lstStyle/>
                    <a:p>
                      <a:pPr algn="r"/>
                      <a:r>
                        <a:rPr sz="1300" b="0" i="0" u="none">
                          <a:solidFill>
                            <a:srgbClr val="1C2B3A"/>
                          </a:solidFill>
                          <a:latin typeface="Barlow"/>
                        </a:rPr>
                        <a:t>1545</a:t>
                      </a:r>
                    </a:p>
                  </a:txBody>
                  <a:tcPr marL="54864" marR="54864" marT="18288" marB="18288">
                    <a:solidFill>
                      <a:srgbClr val="FFFDF8"/>
                    </a:solidFill>
                  </a:tcPr>
                </a:tc>
                <a:tc>
                  <a:txBody>
                    <a:bodyPr/>
                    <a:lstStyle/>
                    <a:p>
                      <a:r>
                        <a:rPr sz="1105" b="0" i="1" u="none">
                          <a:solidFill>
                            <a:srgbClr val="58626D"/>
                          </a:solidFill>
                          <a:latin typeface="IBM Plex Mono"/>
                        </a:rPr>
                        <a:t>NULL</a:t>
                      </a:r>
                    </a:p>
                  </a:txBody>
                  <a:tcPr marL="54864" marR="54864" marT="18288" marB="18288">
                    <a:solidFill>
                      <a:srgbClr val="FFFDF8"/>
                    </a:solidFill>
                  </a:tcPr>
                </a:tc>
              </a:tr>
              <a:tr h="255905">
                <a:tc>
                  <a:txBody>
                    <a:bodyPr/>
                    <a:lstStyle/>
                    <a:p>
                      <a:pPr algn="r"/>
                      <a:r>
                        <a:rPr sz="1300" b="0" i="0" u="none">
                          <a:solidFill>
                            <a:srgbClr val="1C2B3A"/>
                          </a:solidFill>
                          <a:latin typeface="Barlow"/>
                        </a:rPr>
                        <a:t>10</a:t>
                      </a:r>
                    </a:p>
                  </a:txBody>
                  <a:tcPr marL="54864" marR="54864" marT="18288" marB="18288">
                    <a:solidFill>
                      <a:srgbClr val="FFFDF8"/>
                    </a:solidFill>
                  </a:tcPr>
                </a:tc>
                <a:tc>
                  <a:txBody>
                    <a:bodyPr/>
                    <a:lstStyle/>
                    <a:p>
                      <a:r>
                        <a:rPr sz="1300" b="0" i="0" u="none">
                          <a:solidFill>
                            <a:srgbClr val="1C2B3A"/>
                          </a:solidFill>
                          <a:latin typeface="Barlow"/>
                        </a:rPr>
                        <a:t>Arne</a:t>
                      </a:r>
                    </a:p>
                  </a:txBody>
                  <a:tcPr marL="54864" marR="54864" marT="18288" marB="18288">
                    <a:solidFill>
                      <a:srgbClr val="FFFDF8"/>
                    </a:solidFill>
                  </a:tcPr>
                </a:tc>
                <a:tc>
                  <a:txBody>
                    <a:bodyPr/>
                    <a:lstStyle/>
                    <a:p>
                      <a:r>
                        <a:rPr sz="1300" b="0" i="0" u="none">
                          <a:solidFill>
                            <a:srgbClr val="1C2B3A"/>
                          </a:solidFill>
                          <a:latin typeface="Barlow"/>
                        </a:rPr>
                        <a:t>Bargmann</a:t>
                      </a:r>
                    </a:p>
                  </a:txBody>
                  <a:tcPr marL="54864" marR="54864" marT="18288" marB="18288">
                    <a:solidFill>
                      <a:srgbClr val="FFFDF8"/>
                    </a:solidFill>
                  </a:tcPr>
                </a:tc>
                <a:tc>
                  <a:txBody>
                    <a:bodyPr/>
                    <a:lstStyle/>
                    <a:p>
                      <a:pPr algn="r"/>
                      <a:r>
                        <a:rPr sz="1300" b="0" i="0" u="none">
                          <a:solidFill>
                            <a:srgbClr val="1C2B3A"/>
                          </a:solidFill>
                          <a:latin typeface="Barlow"/>
                        </a:rPr>
                        <a:t>2006</a:t>
                      </a:r>
                    </a:p>
                  </a:txBody>
                  <a:tcPr marL="54864" marR="54864" marT="18288" marB="18288">
                    <a:solidFill>
                      <a:srgbClr val="FFFDF8"/>
                    </a:solidFill>
                  </a:tcPr>
                </a:tc>
                <a:tc>
                  <a:txBody>
                    <a:bodyPr/>
                    <a:lstStyle/>
                    <a:p>
                      <a:pPr algn="r"/>
                      <a:r>
                        <a:rPr sz="1300" b="0" i="0" u="none">
                          <a:solidFill>
                            <a:srgbClr val="1C2B3A"/>
                          </a:solidFill>
                          <a:latin typeface="Barlow"/>
                        </a:rPr>
                        <a:t>1690</a:t>
                      </a:r>
                    </a:p>
                  </a:txBody>
                  <a:tcPr marL="54864" marR="54864" marT="18288" marB="18288">
                    <a:solidFill>
                      <a:srgbClr val="FFFDF8"/>
                    </a:solidFill>
                  </a:tcPr>
                </a:tc>
                <a:tc>
                  <a:txBody>
                    <a:bodyPr/>
                    <a:lstStyle/>
                    <a:p>
                      <a:pPr algn="r"/>
                      <a:r>
                        <a:rPr sz="1300" b="0" i="0" u="none">
                          <a:solidFill>
                            <a:srgbClr val="1C2B3A"/>
                          </a:solidFill>
                          <a:latin typeface="Barlow"/>
                        </a:rPr>
                        <a:t>2</a:t>
                      </a:r>
                    </a:p>
                  </a:txBody>
                  <a:tcPr marL="54864" marR="54864" marT="18288" marB="18288">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Abfrage-Gerüst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6035040" y="1691640"/>
            <a:ext cx="5608015"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72200" y="1728216"/>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1</a:t>
            </a:r>
          </a:p>
        </p:txBody>
      </p:sp>
      <p:sp>
        <p:nvSpPr>
          <p:cNvPr id="11" name="TextBox 10"/>
          <p:cNvSpPr txBox="1"/>
          <p:nvPr/>
        </p:nvSpPr>
        <p:spPr>
          <a:xfrm>
            <a:off x="6583679" y="1746504"/>
            <a:ext cx="4967935"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FROM</a:t>
            </a:r>
            <a:r>
              <a:rPr sz="1600" b="0" i="0" u="none">
                <a:solidFill>
                  <a:srgbClr val="1C2B3A"/>
                </a:solidFill>
                <a:latin typeface="Barlow"/>
              </a:rPr>
              <a:t> – aus welcher Tabelle? Hier: Spieler</a:t>
            </a:r>
          </a:p>
        </p:txBody>
      </p:sp>
      <p:sp>
        <p:nvSpPr>
          <p:cNvPr id="12" name="Rounded Rectangle 11"/>
          <p:cNvSpPr/>
          <p:nvPr/>
        </p:nvSpPr>
        <p:spPr>
          <a:xfrm>
            <a:off x="6035040" y="2350008"/>
            <a:ext cx="5608015"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035040" y="2350008"/>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72200" y="2386584"/>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2</a:t>
            </a:r>
          </a:p>
        </p:txBody>
      </p:sp>
      <p:sp>
        <p:nvSpPr>
          <p:cNvPr id="15" name="TextBox 14"/>
          <p:cNvSpPr txBox="1"/>
          <p:nvPr/>
        </p:nvSpPr>
        <p:spPr>
          <a:xfrm>
            <a:off x="6583679" y="2404872"/>
            <a:ext cx="4967935"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WHERE</a:t>
            </a:r>
            <a:r>
              <a:rPr sz="1600" b="0" i="0" u="none">
                <a:solidFill>
                  <a:srgbClr val="1C2B3A"/>
                </a:solidFill>
                <a:latin typeface="Barlow"/>
              </a:rPr>
              <a:t> – jede Zeile prüfen: Jahrgang &gt;= 2009?</a:t>
            </a:r>
          </a:p>
        </p:txBody>
      </p:sp>
      <p:sp>
        <p:nvSpPr>
          <p:cNvPr id="16" name="Rounded Rectangle 15"/>
          <p:cNvSpPr/>
          <p:nvPr/>
        </p:nvSpPr>
        <p:spPr>
          <a:xfrm>
            <a:off x="6035040" y="3008376"/>
            <a:ext cx="5608015"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035040" y="3008376"/>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72200" y="3044952"/>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3</a:t>
            </a:r>
          </a:p>
        </p:txBody>
      </p:sp>
      <p:sp>
        <p:nvSpPr>
          <p:cNvPr id="19" name="TextBox 18"/>
          <p:cNvSpPr txBox="1"/>
          <p:nvPr/>
        </p:nvSpPr>
        <p:spPr>
          <a:xfrm>
            <a:off x="6583679" y="3063240"/>
            <a:ext cx="4967935"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SELECT</a:t>
            </a:r>
            <a:r>
              <a:rPr sz="1600" b="0" i="0" u="none">
                <a:solidFill>
                  <a:srgbClr val="1C2B3A"/>
                </a:solidFill>
                <a:latin typeface="Barlow"/>
              </a:rPr>
              <a:t> – nur diese Spalten anzeigen</a:t>
            </a:r>
          </a:p>
        </p:txBody>
      </p:sp>
      <p:sp>
        <p:nvSpPr>
          <p:cNvPr id="20" name="SQL-Hintergrund"/>
          <p:cNvSpPr/>
          <p:nvPr/>
        </p:nvSpPr>
        <p:spPr>
          <a:xfrm>
            <a:off x="548640" y="1691640"/>
            <a:ext cx="5212080" cy="117729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QL"/>
          <p:cNvSpPr txBox="1"/>
          <p:nvPr/>
        </p:nvSpPr>
        <p:spPr>
          <a:xfrm>
            <a:off x="731520" y="1828800"/>
            <a:ext cx="4846320" cy="902970"/>
          </a:xfrm>
          <a:prstGeom prst="rect">
            <a:avLst/>
          </a:prstGeom>
          <a:noFill/>
        </p:spPr>
        <p:txBody>
          <a:bodyPr wrap="square" lIns="18288" rIns="18288" tIns="18288" bIns="18288">
            <a:spAutoFit/>
          </a:bodyPr>
          <a:lstStyle/>
          <a:p>
            <a:pPr>
              <a:lnSpc>
                <a:spcPct val="100000"/>
              </a:lnSpc>
            </a:pPr>
            <a:r>
              <a:rPr sz="1800" i="0">
                <a:solidFill>
                  <a:srgbClr val="F2A65A"/>
                </a:solidFill>
                <a:latin typeface="IBM Plex Mono"/>
              </a:rPr>
              <a:t>SELECT</a:t>
            </a:r>
            <a:r>
              <a:rPr sz="1800" i="0">
                <a:solidFill>
                  <a:srgbClr val="D8E3D0"/>
                </a:solidFill>
                <a:latin typeface="IBM Plex Mono"/>
              </a:rPr>
              <a:t> </a:t>
            </a:r>
            <a:r>
              <a:rPr sz="1800" i="0">
                <a:solidFill>
                  <a:srgbClr val="D8E3D0"/>
                </a:solidFill>
                <a:latin typeface="IBM Plex Mono"/>
              </a:rPr>
              <a:t>Vorname</a:t>
            </a:r>
            <a:r>
              <a:rPr sz="1800" i="0">
                <a:solidFill>
                  <a:srgbClr val="D8E3D0"/>
                </a:solidFill>
                <a:latin typeface="IBM Plex Mono"/>
              </a:rPr>
              <a:t>,</a:t>
            </a:r>
            <a:r>
              <a:rPr sz="1800" i="0">
                <a:solidFill>
                  <a:srgbClr val="D8E3D0"/>
                </a:solidFill>
                <a:latin typeface="IBM Plex Mono"/>
              </a:rPr>
              <a:t> </a:t>
            </a:r>
            <a:r>
              <a:rPr sz="1800" i="0">
                <a:solidFill>
                  <a:srgbClr val="D8E3D0"/>
                </a:solidFill>
                <a:latin typeface="IBM Plex Mono"/>
              </a:rPr>
              <a:t>Nachname</a:t>
            </a:r>
            <a:r>
              <a:rPr sz="1800" i="0">
                <a:solidFill>
                  <a:srgbClr val="D8E3D0"/>
                </a:solidFill>
                <a:latin typeface="IBM Plex Mono"/>
              </a:rPr>
              <a:t>,</a:t>
            </a:r>
            <a:r>
              <a:rPr sz="1800" i="0">
                <a:solidFill>
                  <a:srgbClr val="D8E3D0"/>
                </a:solidFill>
                <a:latin typeface="IBM Plex Mono"/>
              </a:rPr>
              <a:t> </a:t>
            </a:r>
            <a:r>
              <a:rPr sz="1800" i="0">
                <a:solidFill>
                  <a:srgbClr val="D8E3D0"/>
                </a:solidFill>
                <a:latin typeface="IBM Plex Mono"/>
              </a:rPr>
              <a:t>Jahrgang</a:t>
            </a:r>
          </a:p>
          <a:p>
            <a:pPr>
              <a:lnSpc>
                <a:spcPct val="100000"/>
              </a:lnSpc>
            </a:pPr>
            <a:r>
              <a:rPr sz="1800" i="0">
                <a:solidFill>
                  <a:srgbClr val="F2A65A"/>
                </a:solidFill>
                <a:latin typeface="IBM Plex Mono"/>
              </a:rPr>
              <a:t>FROM</a:t>
            </a:r>
            <a:r>
              <a:rPr sz="1800" i="0">
                <a:solidFill>
                  <a:srgbClr val="D8E3D0"/>
                </a:solidFill>
                <a:latin typeface="IBM Plex Mono"/>
              </a:rPr>
              <a:t> </a:t>
            </a:r>
            <a:r>
              <a:rPr sz="1800" i="0">
                <a:solidFill>
                  <a:srgbClr val="D8E3D0"/>
                </a:solidFill>
                <a:latin typeface="IBM Plex Mono"/>
              </a:rPr>
              <a:t>Spieler</a:t>
            </a:r>
          </a:p>
          <a:p>
            <a:pPr>
              <a:lnSpc>
                <a:spcPct val="100000"/>
              </a:lnSpc>
            </a:pPr>
            <a:r>
              <a:rPr sz="1800" i="0">
                <a:solidFill>
                  <a:srgbClr val="F2A65A"/>
                </a:solidFill>
                <a:latin typeface="IBM Plex Mono"/>
              </a:rPr>
              <a:t>WHERE</a:t>
            </a:r>
            <a:r>
              <a:rPr sz="1800" i="0">
                <a:solidFill>
                  <a:srgbClr val="D8E3D0"/>
                </a:solidFill>
                <a:latin typeface="IBM Plex Mono"/>
              </a:rPr>
              <a:t> </a:t>
            </a:r>
            <a:r>
              <a:rPr sz="1800" i="0">
                <a:solidFill>
                  <a:srgbClr val="D8E3D0"/>
                </a:solidFill>
                <a:latin typeface="IBM Plex Mono"/>
              </a:rPr>
              <a:t>Jahrgang</a:t>
            </a:r>
            <a:r>
              <a:rPr sz="1800" i="0">
                <a:solidFill>
                  <a:srgbClr val="D8E3D0"/>
                </a:solidFill>
                <a:latin typeface="IBM Plex Mono"/>
              </a:rPr>
              <a:t> </a:t>
            </a:r>
            <a:r>
              <a:rPr sz="1800" i="0">
                <a:solidFill>
                  <a:srgbClr val="D8E3D0"/>
                </a:solidFill>
                <a:latin typeface="IBM Plex Mono"/>
              </a:rPr>
              <a:t>&gt;</a:t>
            </a:r>
            <a:r>
              <a:rPr sz="1800" i="0">
                <a:solidFill>
                  <a:srgbClr val="D8E3D0"/>
                </a:solidFill>
                <a:latin typeface="IBM Plex Mono"/>
              </a:rPr>
              <a:t>=</a:t>
            </a:r>
            <a:r>
              <a:rPr sz="1800" i="0">
                <a:solidFill>
                  <a:srgbClr val="D8E3D0"/>
                </a:solidFill>
                <a:latin typeface="IBM Plex Mono"/>
              </a:rPr>
              <a:t> </a:t>
            </a:r>
            <a:r>
              <a:rPr sz="1800" i="0">
                <a:solidFill>
                  <a:srgbClr val="8CC4FF"/>
                </a:solidFill>
                <a:latin typeface="IBM Plex Mono"/>
              </a:rPr>
              <a:t>2009</a:t>
            </a:r>
          </a:p>
        </p:txBody>
      </p:sp>
      <p:sp>
        <p:nvSpPr>
          <p:cNvPr id="22" name="TextBox 21"/>
          <p:cNvSpPr txBox="1"/>
          <p:nvPr/>
        </p:nvSpPr>
        <p:spPr>
          <a:xfrm>
            <a:off x="548640" y="2942082"/>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5 ZEILEN</a:t>
            </a:r>
          </a:p>
        </p:txBody>
      </p:sp>
      <p:graphicFrame>
        <p:nvGraphicFramePr>
          <p:cNvPr id="23" name="Ergebnistabelle"/>
          <p:cNvGraphicFramePr>
            <a:graphicFrameLocks noGrp="1"/>
          </p:cNvGraphicFramePr>
          <p:nvPr/>
        </p:nvGraphicFramePr>
        <p:xfrm>
          <a:off x="548640" y="3252978"/>
          <a:ext cx="3504438" cy="1771650"/>
        </p:xfrm>
        <a:graphic>
          <a:graphicData uri="http://schemas.openxmlformats.org/drawingml/2006/table">
            <a:tbl>
              <a:tblPr firstRow="1">
                <a:tableStyleId>{5C22544A-7EE6-4342-B048-85BDC9FD1C3A}</a:tableStyleId>
              </a:tblPr>
              <a:tblGrid>
                <a:gridCol w="1090422"/>
                <a:gridCol w="1207008"/>
                <a:gridCol w="1207008"/>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Jahrgang</a:t>
                      </a:r>
                    </a:p>
                  </a:txBody>
                  <a:tcPr marL="54864" marR="54864" marT="18288" marB="18288">
                    <a:solidFill>
                      <a:srgbClr val="EBE2D2"/>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Okafor</a:t>
                      </a:r>
                    </a:p>
                  </a:txBody>
                  <a:tcPr marL="54864" marR="54864" marT="18288" marB="18288">
                    <a:solidFill>
                      <a:srgbClr val="FFFDF8"/>
                    </a:solidFill>
                  </a:tcPr>
                </a:tc>
                <a:tc>
                  <a:txBody>
                    <a:bodyPr/>
                    <a:lstStyle/>
                    <a:p>
                      <a:pPr algn="r"/>
                      <a:r>
                        <a:rPr sz="1500" b="0" i="0" u="none">
                          <a:solidFill>
                            <a:srgbClr val="1C2B3A"/>
                          </a:solidFill>
                          <a:latin typeface="Barlow"/>
                        </a:rPr>
                        <a:t>2009</a:t>
                      </a:r>
                    </a:p>
                  </a:txBody>
                  <a:tcPr marL="54864" marR="54864" marT="18288" marB="18288">
                    <a:solidFill>
                      <a:srgbClr val="FFFDF8"/>
                    </a:solidFill>
                  </a:tcPr>
                </a:tc>
              </a:tr>
              <a:tr h="295275">
                <a:tc>
                  <a:txBody>
                    <a:bodyPr/>
                    <a:lstStyle/>
                    <a:p>
                      <a:r>
                        <a:rPr sz="1500" b="0" i="0" u="none">
                          <a:solidFill>
                            <a:srgbClr val="1C2B3A"/>
                          </a:solidFill>
                          <a:latin typeface="Barlow"/>
                        </a:rPr>
                        <a:t>Joris</a:t>
                      </a:r>
                    </a:p>
                  </a:txBody>
                  <a:tcPr marL="54864" marR="54864" marT="18288" marB="18288">
                    <a:solidFill>
                      <a:srgbClr val="FFFDF8"/>
                    </a:solidFill>
                  </a:tcPr>
                </a:tc>
                <a:tc>
                  <a:txBody>
                    <a:bodyPr/>
                    <a:lstStyle/>
                    <a:p>
                      <a:r>
                        <a:rPr sz="1500" b="0" i="0" u="none">
                          <a:solidFill>
                            <a:srgbClr val="1C2B3A"/>
                          </a:solidFill>
                          <a:latin typeface="Barlow"/>
                        </a:rPr>
                        <a:t>Kampen</a:t>
                      </a:r>
                    </a:p>
                  </a:txBody>
                  <a:tcPr marL="54864" marR="54864" marT="18288" marB="18288">
                    <a:solidFill>
                      <a:srgbClr val="FFFDF8"/>
                    </a:solidFill>
                  </a:tcPr>
                </a:tc>
                <a:tc>
                  <a:txBody>
                    <a:bodyPr/>
                    <a:lstStyle/>
                    <a:p>
                      <a:pPr algn="r"/>
                      <a:r>
                        <a:rPr sz="1500" b="0" i="0" u="none">
                          <a:solidFill>
                            <a:srgbClr val="1C2B3A"/>
                          </a:solidFill>
                          <a:latin typeface="Barlow"/>
                        </a:rPr>
                        <a:t>2010</a:t>
                      </a:r>
                    </a:p>
                  </a:txBody>
                  <a:tcPr marL="54864" marR="54864" marT="18288" marB="18288">
                    <a:solidFill>
                      <a:srgbClr val="FFFDF8"/>
                    </a:solidFill>
                  </a:tcPr>
                </a:tc>
              </a:tr>
              <a:tr h="295275">
                <a:tc>
                  <a:txBody>
                    <a:bodyPr/>
                    <a:lstStyle/>
                    <a:p>
                      <a:r>
                        <a:rPr sz="1500" b="0" i="0" u="none">
                          <a:solidFill>
                            <a:srgbClr val="1C2B3A"/>
                          </a:solidFill>
                          <a:latin typeface="Barlow"/>
                        </a:rPr>
                        <a:t>Keno</a:t>
                      </a:r>
                    </a:p>
                  </a:txBody>
                  <a:tcPr marL="54864" marR="54864" marT="18288" marB="18288">
                    <a:solidFill>
                      <a:srgbClr val="FFFDF8"/>
                    </a:solidFill>
                  </a:tcPr>
                </a:tc>
                <a:tc>
                  <a:txBody>
                    <a:bodyPr/>
                    <a:lstStyle/>
                    <a:p>
                      <a:r>
                        <a:rPr sz="1500" b="0" i="0" u="none">
                          <a:solidFill>
                            <a:srgbClr val="1C2B3A"/>
                          </a:solidFill>
                          <a:latin typeface="Barlow"/>
                        </a:rPr>
                        <a:t>Uphoff</a:t>
                      </a:r>
                    </a:p>
                  </a:txBody>
                  <a:tcPr marL="54864" marR="54864" marT="18288" marB="18288">
                    <a:solidFill>
                      <a:srgbClr val="FFFDF8"/>
                    </a:solidFill>
                  </a:tcPr>
                </a:tc>
                <a:tc>
                  <a:txBody>
                    <a:bodyPr/>
                    <a:lstStyle/>
                    <a:p>
                      <a:pPr algn="r"/>
                      <a:r>
                        <a:rPr sz="1500" b="0" i="0" u="none">
                          <a:solidFill>
                            <a:srgbClr val="1C2B3A"/>
                          </a:solidFill>
                          <a:latin typeface="Barlow"/>
                        </a:rPr>
                        <a:t>2009</a:t>
                      </a:r>
                    </a:p>
                  </a:txBody>
                  <a:tcPr marL="54864" marR="54864" marT="18288" marB="18288">
                    <a:solidFill>
                      <a:srgbClr val="FFFDF8"/>
                    </a:solidFill>
                  </a:tcPr>
                </a:tc>
              </a:tr>
              <a:tr h="295275">
                <a:tc>
                  <a:txBody>
                    <a:bodyPr/>
                    <a:lstStyle/>
                    <a:p>
                      <a:r>
                        <a:rPr sz="1500" b="0" i="0" u="none">
                          <a:solidFill>
                            <a:srgbClr val="1C2B3A"/>
                          </a:solidFill>
                          <a:latin typeface="Barlow"/>
                        </a:rPr>
                        <a:t>Hauke</a:t>
                      </a:r>
                    </a:p>
                  </a:txBody>
                  <a:tcPr marL="54864" marR="54864" marT="18288" marB="18288">
                    <a:solidFill>
                      <a:srgbClr val="FFFDF8"/>
                    </a:solidFill>
                  </a:tcPr>
                </a:tc>
                <a:tc>
                  <a:txBody>
                    <a:bodyPr/>
                    <a:lstStyle/>
                    <a:p>
                      <a:r>
                        <a:rPr sz="1500" b="0" i="0" u="none">
                          <a:solidFill>
                            <a:srgbClr val="1C2B3A"/>
                          </a:solidFill>
                          <a:latin typeface="Barlow"/>
                        </a:rPr>
                        <a:t>Demir</a:t>
                      </a:r>
                    </a:p>
                  </a:txBody>
                  <a:tcPr marL="54864" marR="54864" marT="18288" marB="18288">
                    <a:solidFill>
                      <a:srgbClr val="FFFDF8"/>
                    </a:solidFill>
                  </a:tcPr>
                </a:tc>
                <a:tc>
                  <a:txBody>
                    <a:bodyPr/>
                    <a:lstStyle/>
                    <a:p>
                      <a:pPr algn="r"/>
                      <a:r>
                        <a:rPr sz="1500" b="0" i="0" u="none">
                          <a:solidFill>
                            <a:srgbClr val="1C2B3A"/>
                          </a:solidFill>
                          <a:latin typeface="Barlow"/>
                        </a:rPr>
                        <a:t>2010</a:t>
                      </a:r>
                    </a:p>
                  </a:txBody>
                  <a:tcPr marL="54864" marR="54864" marT="18288" marB="18288">
                    <a:solidFill>
                      <a:srgbClr val="FFFDF8"/>
                    </a:solidFill>
                  </a:tcPr>
                </a:tc>
              </a:tr>
              <a:tr h="295275">
                <a:tc>
                  <a:txBody>
                    <a:bodyPr/>
                    <a:lstStyle/>
                    <a:p>
                      <a:r>
                        <a:rPr sz="1500" b="0" i="0" u="none">
                          <a:solidFill>
                            <a:srgbClr val="1C2B3A"/>
                          </a:solidFill>
                          <a:latin typeface="Barlow"/>
                        </a:rPr>
                        <a:t>Levke</a:t>
                      </a:r>
                    </a:p>
                  </a:txBody>
                  <a:tcPr marL="54864" marR="54864" marT="18288" marB="18288">
                    <a:solidFill>
                      <a:srgbClr val="FFFDF8"/>
                    </a:solidFill>
                  </a:tcPr>
                </a:tc>
                <a:tc>
                  <a:txBody>
                    <a:bodyPr/>
                    <a:lstStyle/>
                    <a:p>
                      <a:r>
                        <a:rPr sz="1500" b="0" i="0" u="none">
                          <a:solidFill>
                            <a:srgbClr val="1C2B3A"/>
                          </a:solidFill>
                          <a:latin typeface="Barlow"/>
                        </a:rPr>
                        <a:t>Wilms</a:t>
                      </a:r>
                    </a:p>
                  </a:txBody>
                  <a:tcPr marL="54864" marR="54864" marT="18288" marB="18288">
                    <a:solidFill>
                      <a:srgbClr val="FFFDF8"/>
                    </a:solidFill>
                  </a:tcPr>
                </a:tc>
                <a:tc>
                  <a:txBody>
                    <a:bodyPr/>
                    <a:lstStyle/>
                    <a:p>
                      <a:pPr algn="r"/>
                      <a:r>
                        <a:rPr sz="1500" b="0" i="0" u="none">
                          <a:solidFill>
                            <a:srgbClr val="1C2B3A"/>
                          </a:solidFill>
                          <a:latin typeface="Barlow"/>
                        </a:rPr>
                        <a:t>2009</a:t>
                      </a:r>
                    </a:p>
                  </a:txBody>
                  <a:tcPr marL="54864" marR="54864" marT="18288" marB="18288">
                    <a:solidFill>
                      <a:srgbClr val="FFFD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AND bindet stärker als OR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6035040" y="1691640"/>
            <a:ext cx="5608015" cy="1831848"/>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83184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WAS DIE DATENBANK LIEST</a:t>
            </a:r>
          </a:p>
        </p:txBody>
      </p:sp>
      <p:sp>
        <p:nvSpPr>
          <p:cNvPr id="11" name="TextBox 10"/>
          <p:cNvSpPr txBox="1"/>
          <p:nvPr/>
        </p:nvSpPr>
        <p:spPr>
          <a:xfrm>
            <a:off x="6309359" y="2148840"/>
            <a:ext cx="5196535" cy="1328928"/>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IBM Plex Mono"/>
              </a:rPr>
              <a:t>VereinNr = 1 OR (VereinNr = 2 AND Jahrgang &gt;= 2009)</a:t>
            </a:r>
          </a:p>
          <a:p>
            <a:pPr>
              <a:lnSpc>
                <a:spcPct val="105000"/>
              </a:lnSpc>
              <a:spcAft>
                <a:spcPts val="300"/>
              </a:spcAft>
            </a:pPr>
            <a:r>
              <a:rPr sz="1700" b="0" i="0" u="none">
                <a:solidFill>
                  <a:srgbClr val="1C2B3A"/>
                </a:solidFill>
                <a:latin typeface="Barlow"/>
              </a:rPr>
              <a:t>Alle aus Verein 1 kommen durch – auch Imke, Jahrgang </a:t>
            </a:r>
            <a:r>
              <a:rPr sz="1700" b="1" i="0" u="none">
                <a:solidFill>
                  <a:srgbClr val="1C2B3A"/>
                </a:solidFill>
                <a:latin typeface="Barlow"/>
              </a:rPr>
              <a:t>2008</a:t>
            </a:r>
            <a:r>
              <a:rPr sz="1700" b="0" i="0" u="none">
                <a:solidFill>
                  <a:srgbClr val="1C2B3A"/>
                </a:solidFill>
                <a:latin typeface="Barlow"/>
              </a:rPr>
              <a:t>.</a:t>
            </a:r>
          </a:p>
        </p:txBody>
      </p:sp>
      <p:sp>
        <p:nvSpPr>
          <p:cNvPr id="12" name="TextBox 11"/>
          <p:cNvSpPr txBox="1"/>
          <p:nvPr/>
        </p:nvSpPr>
        <p:spPr>
          <a:xfrm>
            <a:off x="548640" y="1691640"/>
            <a:ext cx="521208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Gesucht: Mitglieder von Verein 1 </a:t>
            </a:r>
            <a:r>
              <a:rPr sz="2000" b="1" i="0" u="none">
                <a:solidFill>
                  <a:srgbClr val="E8E1D3"/>
                </a:solidFill>
                <a:latin typeface="Barlow"/>
              </a:rPr>
              <a:t>oder</a:t>
            </a:r>
            <a:r>
              <a:rPr sz="2000" b="0" i="0" u="none">
                <a:solidFill>
                  <a:srgbClr val="E8E1D3"/>
                </a:solidFill>
                <a:latin typeface="Barlow"/>
              </a:rPr>
              <a:t> 2, die 2009 oder später geboren sind.</a:t>
            </a:r>
          </a:p>
        </p:txBody>
      </p:sp>
      <p:sp>
        <p:nvSpPr>
          <p:cNvPr id="13" name="TextBox 12"/>
          <p:cNvSpPr txBox="1"/>
          <p:nvPr/>
        </p:nvSpPr>
        <p:spPr>
          <a:xfrm>
            <a:off x="548640" y="2410968"/>
            <a:ext cx="521208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E0574F"/>
                </a:solidFill>
                <a:latin typeface="IBM Plex Mono"/>
              </a:rPr>
              <a:t>✘ OHNE KLAMMERN · FALLE P6</a:t>
            </a:r>
          </a:p>
        </p:txBody>
      </p:sp>
      <p:sp>
        <p:nvSpPr>
          <p:cNvPr id="14" name="SQL-Hintergrund"/>
          <p:cNvSpPr/>
          <p:nvPr/>
        </p:nvSpPr>
        <p:spPr>
          <a:xfrm>
            <a:off x="548640" y="2721864"/>
            <a:ext cx="5212080" cy="1463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QL"/>
          <p:cNvSpPr txBox="1"/>
          <p:nvPr/>
        </p:nvSpPr>
        <p:spPr>
          <a:xfrm>
            <a:off x="731520" y="2859024"/>
            <a:ext cx="4846320" cy="1188720"/>
          </a:xfrm>
          <a:prstGeom prst="rect">
            <a:avLst/>
          </a:prstGeom>
          <a:noFill/>
        </p:spPr>
        <p:txBody>
          <a:bodyPr wrap="square" lIns="18288" rIns="18288" tIns="18288" bIns="18288">
            <a:spAutoFit/>
          </a:bodyPr>
          <a:lstStyle/>
          <a:p>
            <a:pPr>
              <a:lnSpc>
                <a:spcPct val="100000"/>
              </a:lnSpc>
            </a:pPr>
            <a:r>
              <a:rPr sz="1800" i="0">
                <a:solidFill>
                  <a:srgbClr val="F2A65A"/>
                </a:solidFill>
                <a:latin typeface="IBM Plex Mono"/>
              </a:rPr>
              <a:t>SELECT</a:t>
            </a:r>
            <a:r>
              <a:rPr sz="1800" i="0">
                <a:solidFill>
                  <a:srgbClr val="D8E3D0"/>
                </a:solidFill>
                <a:latin typeface="IBM Plex Mono"/>
              </a:rPr>
              <a:t> </a:t>
            </a:r>
            <a:r>
              <a:rPr sz="1800" i="0">
                <a:solidFill>
                  <a:srgbClr val="D8E3D0"/>
                </a:solidFill>
                <a:latin typeface="IBM Plex Mono"/>
              </a:rPr>
              <a:t>Vorname</a:t>
            </a:r>
            <a:r>
              <a:rPr sz="1800" i="0">
                <a:solidFill>
                  <a:srgbClr val="D8E3D0"/>
                </a:solidFill>
                <a:latin typeface="IBM Plex Mono"/>
              </a:rPr>
              <a:t>,</a:t>
            </a:r>
            <a:r>
              <a:rPr sz="1800" i="0">
                <a:solidFill>
                  <a:srgbClr val="D8E3D0"/>
                </a:solidFill>
                <a:latin typeface="IBM Plex Mono"/>
              </a:rPr>
              <a:t> </a:t>
            </a:r>
            <a:r>
              <a:rPr sz="1800" i="0">
                <a:solidFill>
                  <a:srgbClr val="D8E3D0"/>
                </a:solidFill>
                <a:latin typeface="IBM Plex Mono"/>
              </a:rPr>
              <a:t>Nachname</a:t>
            </a:r>
            <a:r>
              <a:rPr sz="1800" i="0">
                <a:solidFill>
                  <a:srgbClr val="D8E3D0"/>
                </a:solidFill>
                <a:latin typeface="IBM Plex Mono"/>
              </a:rPr>
              <a:t>,</a:t>
            </a:r>
            <a:r>
              <a:rPr sz="1800" i="0">
                <a:solidFill>
                  <a:srgbClr val="D8E3D0"/>
                </a:solidFill>
                <a:latin typeface="IBM Plex Mono"/>
              </a:rPr>
              <a:t> </a:t>
            </a:r>
            <a:r>
              <a:rPr sz="1800" i="0">
                <a:solidFill>
                  <a:srgbClr val="D8E3D0"/>
                </a:solidFill>
                <a:latin typeface="IBM Plex Mono"/>
              </a:rPr>
              <a:t>Jahrgang</a:t>
            </a:r>
          </a:p>
          <a:p>
            <a:pPr>
              <a:lnSpc>
                <a:spcPct val="100000"/>
              </a:lnSpc>
            </a:pPr>
            <a:r>
              <a:rPr sz="1800" i="0">
                <a:solidFill>
                  <a:srgbClr val="F2A65A"/>
                </a:solidFill>
                <a:latin typeface="IBM Plex Mono"/>
              </a:rPr>
              <a:t>FROM</a:t>
            </a:r>
            <a:r>
              <a:rPr sz="1800" i="0">
                <a:solidFill>
                  <a:srgbClr val="D8E3D0"/>
                </a:solidFill>
                <a:latin typeface="IBM Plex Mono"/>
              </a:rPr>
              <a:t> </a:t>
            </a:r>
            <a:r>
              <a:rPr sz="1800" i="0">
                <a:solidFill>
                  <a:srgbClr val="D8E3D0"/>
                </a:solidFill>
                <a:latin typeface="IBM Plex Mono"/>
              </a:rPr>
              <a:t>Spieler</a:t>
            </a:r>
          </a:p>
          <a:p>
            <a:pPr>
              <a:lnSpc>
                <a:spcPct val="100000"/>
              </a:lnSpc>
            </a:pPr>
            <a:r>
              <a:rPr sz="1800" i="0">
                <a:solidFill>
                  <a:srgbClr val="F2A65A"/>
                </a:solidFill>
                <a:latin typeface="IBM Plex Mono"/>
              </a:rPr>
              <a:t>WHERE</a:t>
            </a:r>
            <a:r>
              <a:rPr sz="1800" i="0">
                <a:solidFill>
                  <a:srgbClr val="D8E3D0"/>
                </a:solidFill>
                <a:latin typeface="IBM Plex Mono"/>
              </a:rPr>
              <a:t> </a:t>
            </a:r>
            <a:r>
              <a:rPr sz="1800" i="0">
                <a:solidFill>
                  <a:srgbClr val="D8E3D0"/>
                </a:solidFill>
                <a:latin typeface="IBM Plex Mono"/>
              </a:rPr>
              <a:t>VereinNr</a:t>
            </a:r>
            <a:r>
              <a:rPr sz="1800" i="0">
                <a:solidFill>
                  <a:srgbClr val="D8E3D0"/>
                </a:solidFill>
                <a:latin typeface="IBM Plex Mono"/>
              </a:rPr>
              <a:t> </a:t>
            </a:r>
            <a:r>
              <a:rPr sz="1800" i="0">
                <a:solidFill>
                  <a:srgbClr val="D8E3D0"/>
                </a:solidFill>
                <a:latin typeface="IBM Plex Mono"/>
              </a:rPr>
              <a:t>=</a:t>
            </a:r>
            <a:r>
              <a:rPr sz="1800" i="0">
                <a:solidFill>
                  <a:srgbClr val="D8E3D0"/>
                </a:solidFill>
                <a:latin typeface="IBM Plex Mono"/>
              </a:rPr>
              <a:t> </a:t>
            </a:r>
            <a:r>
              <a:rPr sz="1800" i="0">
                <a:solidFill>
                  <a:srgbClr val="8CC4FF"/>
                </a:solidFill>
                <a:latin typeface="IBM Plex Mono"/>
              </a:rPr>
              <a:t>1</a:t>
            </a:r>
            <a:r>
              <a:rPr sz="1800" i="0">
                <a:solidFill>
                  <a:srgbClr val="D8E3D0"/>
                </a:solidFill>
                <a:latin typeface="IBM Plex Mono"/>
              </a:rPr>
              <a:t> </a:t>
            </a:r>
            <a:r>
              <a:rPr sz="1800" i="0">
                <a:solidFill>
                  <a:srgbClr val="F2A65A"/>
                </a:solidFill>
                <a:latin typeface="IBM Plex Mono"/>
              </a:rPr>
              <a:t>OR</a:t>
            </a:r>
            <a:r>
              <a:rPr sz="1800" i="0">
                <a:solidFill>
                  <a:srgbClr val="D8E3D0"/>
                </a:solidFill>
                <a:latin typeface="IBM Plex Mono"/>
              </a:rPr>
              <a:t> </a:t>
            </a:r>
            <a:r>
              <a:rPr sz="1800" i="0">
                <a:solidFill>
                  <a:srgbClr val="D8E3D0"/>
                </a:solidFill>
                <a:latin typeface="IBM Plex Mono"/>
              </a:rPr>
              <a:t>VereinNr</a:t>
            </a:r>
            <a:r>
              <a:rPr sz="1800" i="0">
                <a:solidFill>
                  <a:srgbClr val="D8E3D0"/>
                </a:solidFill>
                <a:latin typeface="IBM Plex Mono"/>
              </a:rPr>
              <a:t> </a:t>
            </a:r>
            <a:r>
              <a:rPr sz="1800" i="0">
                <a:solidFill>
                  <a:srgbClr val="D8E3D0"/>
                </a:solidFill>
                <a:latin typeface="IBM Plex Mono"/>
              </a:rPr>
              <a:t>=</a:t>
            </a:r>
            <a:r>
              <a:rPr sz="1800" i="0">
                <a:solidFill>
                  <a:srgbClr val="D8E3D0"/>
                </a:solidFill>
                <a:latin typeface="IBM Plex Mono"/>
              </a:rPr>
              <a:t> </a:t>
            </a:r>
            <a:r>
              <a:rPr sz="1800" i="0">
                <a:solidFill>
                  <a:srgbClr val="8CC4FF"/>
                </a:solidFill>
                <a:latin typeface="IBM Plex Mono"/>
              </a:rPr>
              <a:t>2</a:t>
            </a:r>
          </a:p>
          <a:p>
            <a:pPr>
              <a:lnSpc>
                <a:spcPct val="100000"/>
              </a:lnSpc>
            </a:pPr>
            <a:r>
              <a:rPr sz="1800" i="0">
                <a:solidFill>
                  <a:srgbClr val="D8E3D0"/>
                </a:solidFill>
                <a:latin typeface="IBM Plex Mono"/>
              </a:rPr>
              <a:t>  </a:t>
            </a:r>
            <a:r>
              <a:rPr sz="1800" i="0">
                <a:solidFill>
                  <a:srgbClr val="F2A65A"/>
                </a:solidFill>
                <a:latin typeface="IBM Plex Mono"/>
              </a:rPr>
              <a:t>AND</a:t>
            </a:r>
            <a:r>
              <a:rPr sz="1800" i="0">
                <a:solidFill>
                  <a:srgbClr val="D8E3D0"/>
                </a:solidFill>
                <a:latin typeface="IBM Plex Mono"/>
              </a:rPr>
              <a:t> </a:t>
            </a:r>
            <a:r>
              <a:rPr sz="1800" i="0">
                <a:solidFill>
                  <a:srgbClr val="D8E3D0"/>
                </a:solidFill>
                <a:latin typeface="IBM Plex Mono"/>
              </a:rPr>
              <a:t>Jahrgang</a:t>
            </a:r>
            <a:r>
              <a:rPr sz="1800" i="0">
                <a:solidFill>
                  <a:srgbClr val="D8E3D0"/>
                </a:solidFill>
                <a:latin typeface="IBM Plex Mono"/>
              </a:rPr>
              <a:t> </a:t>
            </a:r>
            <a:r>
              <a:rPr sz="1800" i="0">
                <a:solidFill>
                  <a:srgbClr val="D8E3D0"/>
                </a:solidFill>
                <a:latin typeface="IBM Plex Mono"/>
              </a:rPr>
              <a:t>&gt;</a:t>
            </a:r>
            <a:r>
              <a:rPr sz="1800" i="0">
                <a:solidFill>
                  <a:srgbClr val="D8E3D0"/>
                </a:solidFill>
                <a:latin typeface="IBM Plex Mono"/>
              </a:rPr>
              <a:t>=</a:t>
            </a:r>
            <a:r>
              <a:rPr sz="1800" i="0">
                <a:solidFill>
                  <a:srgbClr val="D8E3D0"/>
                </a:solidFill>
                <a:latin typeface="IBM Plex Mono"/>
              </a:rPr>
              <a:t> </a:t>
            </a:r>
            <a:r>
              <a:rPr sz="1800" i="0">
                <a:solidFill>
                  <a:srgbClr val="8CC4FF"/>
                </a:solidFill>
                <a:latin typeface="IBM Plex Mono"/>
              </a:rPr>
              <a:t>2009</a:t>
            </a:r>
          </a:p>
        </p:txBody>
      </p:sp>
      <p:sp>
        <p:nvSpPr>
          <p:cNvPr id="16" name="Rectangle 15"/>
          <p:cNvSpPr/>
          <p:nvPr/>
        </p:nvSpPr>
        <p:spPr>
          <a:xfrm>
            <a:off x="548640" y="2721863"/>
            <a:ext cx="64008" cy="14630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4258056"/>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4 ZEILEN</a:t>
            </a:r>
          </a:p>
        </p:txBody>
      </p:sp>
      <p:graphicFrame>
        <p:nvGraphicFramePr>
          <p:cNvPr id="18" name="Ergebnistabelle"/>
          <p:cNvGraphicFramePr>
            <a:graphicFrameLocks noGrp="1"/>
          </p:cNvGraphicFramePr>
          <p:nvPr/>
        </p:nvGraphicFramePr>
        <p:xfrm>
          <a:off x="548640" y="4568951"/>
          <a:ext cx="3504438" cy="1476375"/>
        </p:xfrm>
        <a:graphic>
          <a:graphicData uri="http://schemas.openxmlformats.org/drawingml/2006/table">
            <a:tbl>
              <a:tblPr firstRow="1">
                <a:tableStyleId>{5C22544A-7EE6-4342-B048-85BDC9FD1C3A}</a:tableStyleId>
              </a:tblPr>
              <a:tblGrid>
                <a:gridCol w="1090422"/>
                <a:gridCol w="1207008"/>
                <a:gridCol w="1207008"/>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Jahrgang</a:t>
                      </a:r>
                    </a:p>
                  </a:txBody>
                  <a:tcPr marL="54864" marR="54864" marT="18288" marB="18288">
                    <a:solidFill>
                      <a:srgbClr val="EBE2D2"/>
                    </a:solidFill>
                  </a:tcPr>
                </a:tc>
              </a:tr>
              <a:tr h="295275">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c>
                  <a:txBody>
                    <a:bodyPr/>
                    <a:lstStyle/>
                    <a:p>
                      <a:pPr algn="r"/>
                      <a:r>
                        <a:rPr sz="1500" b="0" i="0" u="none">
                          <a:solidFill>
                            <a:srgbClr val="1C2B3A"/>
                          </a:solidFill>
                          <a:latin typeface="Barlow"/>
                        </a:rPr>
                        <a:t>2008</a:t>
                      </a:r>
                    </a:p>
                  </a:txBody>
                  <a:tcPr marL="54864" marR="54864" marT="18288" marB="18288">
                    <a:solidFill>
                      <a:srgbClr val="FFFDF8"/>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Okafor</a:t>
                      </a:r>
                    </a:p>
                  </a:txBody>
                  <a:tcPr marL="54864" marR="54864" marT="18288" marB="18288">
                    <a:solidFill>
                      <a:srgbClr val="FFFDF8"/>
                    </a:solidFill>
                  </a:tcPr>
                </a:tc>
                <a:tc>
                  <a:txBody>
                    <a:bodyPr/>
                    <a:lstStyle/>
                    <a:p>
                      <a:pPr algn="r"/>
                      <a:r>
                        <a:rPr sz="1500" b="0" i="0" u="none">
                          <a:solidFill>
                            <a:srgbClr val="1C2B3A"/>
                          </a:solidFill>
                          <a:latin typeface="Barlow"/>
                        </a:rPr>
                        <a:t>2009</a:t>
                      </a:r>
                    </a:p>
                  </a:txBody>
                  <a:tcPr marL="54864" marR="54864" marT="18288" marB="18288">
                    <a:solidFill>
                      <a:srgbClr val="FFFDF8"/>
                    </a:solidFill>
                  </a:tcPr>
                </a:tc>
              </a:tr>
              <a:tr h="295275">
                <a:tc>
                  <a:txBody>
                    <a:bodyPr/>
                    <a:lstStyle/>
                    <a:p>
                      <a:r>
                        <a:rPr sz="1500" b="0" i="0" u="none">
                          <a:solidFill>
                            <a:srgbClr val="1C2B3A"/>
                          </a:solidFill>
                          <a:latin typeface="Barlow"/>
                        </a:rPr>
                        <a:t>Joris</a:t>
                      </a:r>
                    </a:p>
                  </a:txBody>
                  <a:tcPr marL="54864" marR="54864" marT="18288" marB="18288">
                    <a:solidFill>
                      <a:srgbClr val="FFFDF8"/>
                    </a:solidFill>
                  </a:tcPr>
                </a:tc>
                <a:tc>
                  <a:txBody>
                    <a:bodyPr/>
                    <a:lstStyle/>
                    <a:p>
                      <a:r>
                        <a:rPr sz="1500" b="0" i="0" u="none">
                          <a:solidFill>
                            <a:srgbClr val="1C2B3A"/>
                          </a:solidFill>
                          <a:latin typeface="Barlow"/>
                        </a:rPr>
                        <a:t>Kampen</a:t>
                      </a:r>
                    </a:p>
                  </a:txBody>
                  <a:tcPr marL="54864" marR="54864" marT="18288" marB="18288">
                    <a:solidFill>
                      <a:srgbClr val="FFFDF8"/>
                    </a:solidFill>
                  </a:tcPr>
                </a:tc>
                <a:tc>
                  <a:txBody>
                    <a:bodyPr/>
                    <a:lstStyle/>
                    <a:p>
                      <a:pPr algn="r"/>
                      <a:r>
                        <a:rPr sz="1500" b="0" i="0" u="none">
                          <a:solidFill>
                            <a:srgbClr val="1C2B3A"/>
                          </a:solidFill>
                          <a:latin typeface="Barlow"/>
                        </a:rPr>
                        <a:t>2010</a:t>
                      </a:r>
                    </a:p>
                  </a:txBody>
                  <a:tcPr marL="54864" marR="54864" marT="18288" marB="18288">
                    <a:solidFill>
                      <a:srgbClr val="FFFDF8"/>
                    </a:solidFill>
                  </a:tcPr>
                </a:tc>
              </a:tr>
              <a:tr h="295275">
                <a:tc>
                  <a:txBody>
                    <a:bodyPr/>
                    <a:lstStyle/>
                    <a:p>
                      <a:r>
                        <a:rPr sz="1500" b="0" i="0" u="none">
                          <a:solidFill>
                            <a:srgbClr val="1C2B3A"/>
                          </a:solidFill>
                          <a:latin typeface="Barlow"/>
                        </a:rPr>
                        <a:t>Hauke</a:t>
                      </a:r>
                    </a:p>
                  </a:txBody>
                  <a:tcPr marL="54864" marR="54864" marT="18288" marB="18288">
                    <a:solidFill>
                      <a:srgbClr val="FFFDF8"/>
                    </a:solidFill>
                  </a:tcPr>
                </a:tc>
                <a:tc>
                  <a:txBody>
                    <a:bodyPr/>
                    <a:lstStyle/>
                    <a:p>
                      <a:r>
                        <a:rPr sz="1500" b="0" i="0" u="none">
                          <a:solidFill>
                            <a:srgbClr val="1C2B3A"/>
                          </a:solidFill>
                          <a:latin typeface="Barlow"/>
                        </a:rPr>
                        <a:t>Demir</a:t>
                      </a:r>
                    </a:p>
                  </a:txBody>
                  <a:tcPr marL="54864" marR="54864" marT="18288" marB="18288">
                    <a:solidFill>
                      <a:srgbClr val="FFFDF8"/>
                    </a:solidFill>
                  </a:tcPr>
                </a:tc>
                <a:tc>
                  <a:txBody>
                    <a:bodyPr/>
                    <a:lstStyle/>
                    <a:p>
                      <a:pPr algn="r"/>
                      <a:r>
                        <a:rPr sz="1500" b="0" i="0" u="none">
                          <a:solidFill>
                            <a:srgbClr val="1C2B3A"/>
                          </a:solidFill>
                          <a:latin typeface="Barlow"/>
                        </a:rPr>
                        <a:t>2010</a:t>
                      </a:r>
                    </a:p>
                  </a:txBody>
                  <a:tcPr marL="54864" marR="54864" marT="18288" marB="18288">
                    <a:solidFill>
                      <a:srgbClr val="FFFD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Mit Klammern stimmt es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6035040" y="1691640"/>
            <a:ext cx="5608015" cy="1572767"/>
          </a:xfrm>
          <a:prstGeom prst="roundRect">
            <a:avLst>
              <a:gd name="adj" fmla="val 4000"/>
            </a:avLst>
          </a:prstGeom>
          <a:solidFill>
            <a:srgbClr val="E0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572767"/>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F6B4F"/>
                </a:solidFill>
                <a:latin typeface="IBM Plex Mono"/>
              </a:rPr>
              <a:t>REGEL</a:t>
            </a:r>
          </a:p>
        </p:txBody>
      </p:sp>
      <p:sp>
        <p:nvSpPr>
          <p:cNvPr id="11" name="TextBox 10"/>
          <p:cNvSpPr txBox="1"/>
          <p:nvPr/>
        </p:nvSpPr>
        <p:spPr>
          <a:xfrm>
            <a:off x="6309359" y="2148840"/>
            <a:ext cx="5196535" cy="1069847"/>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Kommen AND und OR in einer Bedingung vor: </a:t>
            </a:r>
            <a:r>
              <a:rPr sz="1700" b="1" i="0" u="none">
                <a:solidFill>
                  <a:srgbClr val="1C2B3A"/>
                </a:solidFill>
                <a:latin typeface="Barlow"/>
              </a:rPr>
              <a:t>immer Klammern setzen</a:t>
            </a:r>
            <a:r>
              <a:rPr sz="1700" b="0" i="0" u="none">
                <a:solidFill>
                  <a:srgbClr val="1C2B3A"/>
                </a:solidFill>
                <a:latin typeface="Barlow"/>
              </a:rPr>
              <a:t>.</a:t>
            </a:r>
          </a:p>
          <a:p>
            <a:pPr>
              <a:lnSpc>
                <a:spcPct val="105000"/>
              </a:lnSpc>
              <a:spcAft>
                <a:spcPts val="300"/>
              </a:spcAft>
            </a:pPr>
            <a:r>
              <a:rPr sz="1700" b="0" i="0" u="none">
                <a:solidFill>
                  <a:srgbClr val="1C2B3A"/>
                </a:solidFill>
                <a:latin typeface="Barlow"/>
              </a:rPr>
              <a:t>Kontrolle: Passt </a:t>
            </a:r>
            <a:r>
              <a:rPr sz="1700" b="1" i="0" u="none">
                <a:solidFill>
                  <a:srgbClr val="1C2B3A"/>
                </a:solidFill>
                <a:latin typeface="Barlow"/>
              </a:rPr>
              <a:t>jede</a:t>
            </a:r>
            <a:r>
              <a:rPr sz="1700" b="0" i="0" u="none">
                <a:solidFill>
                  <a:srgbClr val="1C2B3A"/>
                </a:solidFill>
                <a:latin typeface="Barlow"/>
              </a:rPr>
              <a:t> Ergebniszeile zur Frage?</a:t>
            </a:r>
          </a:p>
        </p:txBody>
      </p:sp>
      <p:sp>
        <p:nvSpPr>
          <p:cNvPr id="12" name="TextBox 11"/>
          <p:cNvSpPr txBox="1"/>
          <p:nvPr/>
        </p:nvSpPr>
        <p:spPr>
          <a:xfrm>
            <a:off x="548640" y="1691640"/>
            <a:ext cx="521208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5FAF86"/>
                </a:solidFill>
                <a:latin typeface="IBM Plex Mono"/>
              </a:rPr>
              <a:t>✔ MIT KLAMMERN</a:t>
            </a:r>
          </a:p>
        </p:txBody>
      </p:sp>
      <p:sp>
        <p:nvSpPr>
          <p:cNvPr id="13" name="SQL-Hintergrund"/>
          <p:cNvSpPr/>
          <p:nvPr/>
        </p:nvSpPr>
        <p:spPr>
          <a:xfrm>
            <a:off x="548640" y="2002536"/>
            <a:ext cx="5212080" cy="1399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QL"/>
          <p:cNvSpPr txBox="1"/>
          <p:nvPr/>
        </p:nvSpPr>
        <p:spPr>
          <a:xfrm>
            <a:off x="731520" y="2139696"/>
            <a:ext cx="4846320" cy="1125219"/>
          </a:xfrm>
          <a:prstGeom prst="rect">
            <a:avLst/>
          </a:prstGeom>
          <a:noFill/>
        </p:spPr>
        <p:txBody>
          <a:bodyPr wrap="square" lIns="18288" rIns="18288" tIns="18288" bIns="18288">
            <a:spAutoFit/>
          </a:bodyPr>
          <a:lstStyle/>
          <a:p>
            <a:pPr>
              <a:lnSpc>
                <a:spcPct val="100000"/>
              </a:lnSpc>
            </a:pPr>
            <a:r>
              <a:rPr sz="1700" i="0">
                <a:solidFill>
                  <a:srgbClr val="F2A65A"/>
                </a:solidFill>
                <a:latin typeface="IBM Plex Mono"/>
              </a:rPr>
              <a:t>SELECT</a:t>
            </a:r>
            <a:r>
              <a:rPr sz="1700" i="0">
                <a:solidFill>
                  <a:srgbClr val="D8E3D0"/>
                </a:solidFill>
                <a:latin typeface="IBM Plex Mono"/>
              </a:rPr>
              <a:t> </a:t>
            </a:r>
            <a:r>
              <a:rPr sz="1700" i="0">
                <a:solidFill>
                  <a:srgbClr val="D8E3D0"/>
                </a:solidFill>
                <a:latin typeface="IBM Plex Mono"/>
              </a:rPr>
              <a:t>Vorname</a:t>
            </a:r>
            <a:r>
              <a:rPr sz="1700" i="0">
                <a:solidFill>
                  <a:srgbClr val="D8E3D0"/>
                </a:solidFill>
                <a:latin typeface="IBM Plex Mono"/>
              </a:rPr>
              <a:t>,</a:t>
            </a:r>
            <a:r>
              <a:rPr sz="1700" i="0">
                <a:solidFill>
                  <a:srgbClr val="D8E3D0"/>
                </a:solidFill>
                <a:latin typeface="IBM Plex Mono"/>
              </a:rPr>
              <a:t> </a:t>
            </a:r>
            <a:r>
              <a:rPr sz="1700" i="0">
                <a:solidFill>
                  <a:srgbClr val="D8E3D0"/>
                </a:solidFill>
                <a:latin typeface="IBM Plex Mono"/>
              </a:rPr>
              <a:t>Nachname</a:t>
            </a:r>
            <a:r>
              <a:rPr sz="1700" i="0">
                <a:solidFill>
                  <a:srgbClr val="D8E3D0"/>
                </a:solidFill>
                <a:latin typeface="IBM Plex Mono"/>
              </a:rPr>
              <a:t>,</a:t>
            </a:r>
            <a:r>
              <a:rPr sz="1700" i="0">
                <a:solidFill>
                  <a:srgbClr val="D8E3D0"/>
                </a:solidFill>
                <a:latin typeface="IBM Plex Mono"/>
              </a:rPr>
              <a:t> </a:t>
            </a:r>
            <a:r>
              <a:rPr sz="1700" i="0">
                <a:solidFill>
                  <a:srgbClr val="D8E3D0"/>
                </a:solidFill>
                <a:latin typeface="IBM Plex Mono"/>
              </a:rPr>
              <a:t>Jahrgang</a:t>
            </a:r>
          </a:p>
          <a:p>
            <a:pPr>
              <a:lnSpc>
                <a:spcPct val="100000"/>
              </a:lnSpc>
            </a:pPr>
            <a:r>
              <a:rPr sz="1700" i="0">
                <a:solidFill>
                  <a:srgbClr val="F2A65A"/>
                </a:solidFill>
                <a:latin typeface="IBM Plex Mono"/>
              </a:rPr>
              <a:t>FROM</a:t>
            </a:r>
            <a:r>
              <a:rPr sz="1700" i="0">
                <a:solidFill>
                  <a:srgbClr val="D8E3D0"/>
                </a:solidFill>
                <a:latin typeface="IBM Plex Mono"/>
              </a:rPr>
              <a:t> </a:t>
            </a:r>
            <a:r>
              <a:rPr sz="1700" i="0">
                <a:solidFill>
                  <a:srgbClr val="D8E3D0"/>
                </a:solidFill>
                <a:latin typeface="IBM Plex Mono"/>
              </a:rPr>
              <a:t>Spieler</a:t>
            </a:r>
          </a:p>
          <a:p>
            <a:pPr>
              <a:lnSpc>
                <a:spcPct val="100000"/>
              </a:lnSpc>
            </a:pPr>
            <a:r>
              <a:rPr sz="1700" i="0">
                <a:solidFill>
                  <a:srgbClr val="F2A65A"/>
                </a:solidFill>
                <a:latin typeface="IBM Plex Mono"/>
              </a:rPr>
              <a:t>WHERE</a:t>
            </a:r>
            <a:r>
              <a:rPr sz="1700" i="0">
                <a:solidFill>
                  <a:srgbClr val="D8E3D0"/>
                </a:solidFill>
                <a:latin typeface="IBM Plex Mono"/>
              </a:rPr>
              <a:t> </a:t>
            </a:r>
            <a:r>
              <a:rPr sz="1700" i="0">
                <a:solidFill>
                  <a:srgbClr val="D8E3D0"/>
                </a:solidFill>
                <a:latin typeface="IBM Plex Mono"/>
              </a:rPr>
              <a:t>(</a:t>
            </a:r>
            <a:r>
              <a:rPr sz="1700" i="0">
                <a:solidFill>
                  <a:srgbClr val="D8E3D0"/>
                </a:solidFill>
                <a:latin typeface="IBM Plex Mono"/>
              </a:rPr>
              <a:t>VereinNr</a:t>
            </a:r>
            <a:r>
              <a:rPr sz="1700" i="0">
                <a:solidFill>
                  <a:srgbClr val="D8E3D0"/>
                </a:solidFill>
                <a:latin typeface="IBM Plex Mono"/>
              </a:rPr>
              <a:t> </a:t>
            </a:r>
            <a:r>
              <a:rPr sz="1700" i="0">
                <a:solidFill>
                  <a:srgbClr val="D8E3D0"/>
                </a:solidFill>
                <a:latin typeface="IBM Plex Mono"/>
              </a:rPr>
              <a:t>=</a:t>
            </a:r>
            <a:r>
              <a:rPr sz="1700" i="0">
                <a:solidFill>
                  <a:srgbClr val="D8E3D0"/>
                </a:solidFill>
                <a:latin typeface="IBM Plex Mono"/>
              </a:rPr>
              <a:t> </a:t>
            </a:r>
            <a:r>
              <a:rPr sz="1700" i="0">
                <a:solidFill>
                  <a:srgbClr val="8CC4FF"/>
                </a:solidFill>
                <a:latin typeface="IBM Plex Mono"/>
              </a:rPr>
              <a:t>1</a:t>
            </a:r>
            <a:r>
              <a:rPr sz="1700" i="0">
                <a:solidFill>
                  <a:srgbClr val="D8E3D0"/>
                </a:solidFill>
                <a:latin typeface="IBM Plex Mono"/>
              </a:rPr>
              <a:t> </a:t>
            </a:r>
            <a:r>
              <a:rPr sz="1700" i="0">
                <a:solidFill>
                  <a:srgbClr val="F2A65A"/>
                </a:solidFill>
                <a:latin typeface="IBM Plex Mono"/>
              </a:rPr>
              <a:t>OR</a:t>
            </a:r>
            <a:r>
              <a:rPr sz="1700" i="0">
                <a:solidFill>
                  <a:srgbClr val="D8E3D0"/>
                </a:solidFill>
                <a:latin typeface="IBM Plex Mono"/>
              </a:rPr>
              <a:t> </a:t>
            </a:r>
            <a:r>
              <a:rPr sz="1700" i="0">
                <a:solidFill>
                  <a:srgbClr val="D8E3D0"/>
                </a:solidFill>
                <a:latin typeface="IBM Plex Mono"/>
              </a:rPr>
              <a:t>VereinNr</a:t>
            </a:r>
            <a:r>
              <a:rPr sz="1700" i="0">
                <a:solidFill>
                  <a:srgbClr val="D8E3D0"/>
                </a:solidFill>
                <a:latin typeface="IBM Plex Mono"/>
              </a:rPr>
              <a:t> </a:t>
            </a:r>
            <a:r>
              <a:rPr sz="1700" i="0">
                <a:solidFill>
                  <a:srgbClr val="D8E3D0"/>
                </a:solidFill>
                <a:latin typeface="IBM Plex Mono"/>
              </a:rPr>
              <a:t>=</a:t>
            </a:r>
            <a:r>
              <a:rPr sz="1700" i="0">
                <a:solidFill>
                  <a:srgbClr val="D8E3D0"/>
                </a:solidFill>
                <a:latin typeface="IBM Plex Mono"/>
              </a:rPr>
              <a:t> </a:t>
            </a:r>
            <a:r>
              <a:rPr sz="1700" i="0">
                <a:solidFill>
                  <a:srgbClr val="8CC4FF"/>
                </a:solidFill>
                <a:latin typeface="IBM Plex Mono"/>
              </a:rPr>
              <a:t>2</a:t>
            </a:r>
            <a:r>
              <a:rPr sz="1700" i="0">
                <a:solidFill>
                  <a:srgbClr val="D8E3D0"/>
                </a:solidFill>
                <a:latin typeface="IBM Plex Mono"/>
              </a:rPr>
              <a:t>)</a:t>
            </a:r>
          </a:p>
          <a:p>
            <a:pPr>
              <a:lnSpc>
                <a:spcPct val="100000"/>
              </a:lnSpc>
            </a:pPr>
            <a:r>
              <a:rPr sz="1700" i="0">
                <a:solidFill>
                  <a:srgbClr val="D8E3D0"/>
                </a:solidFill>
                <a:latin typeface="IBM Plex Mono"/>
              </a:rPr>
              <a:t>  </a:t>
            </a:r>
            <a:r>
              <a:rPr sz="1700" i="0">
                <a:solidFill>
                  <a:srgbClr val="F2A65A"/>
                </a:solidFill>
                <a:latin typeface="IBM Plex Mono"/>
              </a:rPr>
              <a:t>AND</a:t>
            </a:r>
            <a:r>
              <a:rPr sz="1700" i="0">
                <a:solidFill>
                  <a:srgbClr val="D8E3D0"/>
                </a:solidFill>
                <a:latin typeface="IBM Plex Mono"/>
              </a:rPr>
              <a:t> </a:t>
            </a:r>
            <a:r>
              <a:rPr sz="1700" i="0">
                <a:solidFill>
                  <a:srgbClr val="D8E3D0"/>
                </a:solidFill>
                <a:latin typeface="IBM Plex Mono"/>
              </a:rPr>
              <a:t>Jahrgang</a:t>
            </a:r>
            <a:r>
              <a:rPr sz="1700" i="0">
                <a:solidFill>
                  <a:srgbClr val="D8E3D0"/>
                </a:solidFill>
                <a:latin typeface="IBM Plex Mono"/>
              </a:rPr>
              <a:t> </a:t>
            </a:r>
            <a:r>
              <a:rPr sz="1700" i="0">
                <a:solidFill>
                  <a:srgbClr val="D8E3D0"/>
                </a:solidFill>
                <a:latin typeface="IBM Plex Mono"/>
              </a:rPr>
              <a:t>&gt;</a:t>
            </a:r>
            <a:r>
              <a:rPr sz="1700" i="0">
                <a:solidFill>
                  <a:srgbClr val="D8E3D0"/>
                </a:solidFill>
                <a:latin typeface="IBM Plex Mono"/>
              </a:rPr>
              <a:t>=</a:t>
            </a:r>
            <a:r>
              <a:rPr sz="1700" i="0">
                <a:solidFill>
                  <a:srgbClr val="D8E3D0"/>
                </a:solidFill>
                <a:latin typeface="IBM Plex Mono"/>
              </a:rPr>
              <a:t> </a:t>
            </a:r>
            <a:r>
              <a:rPr sz="1700" i="0">
                <a:solidFill>
                  <a:srgbClr val="8CC4FF"/>
                </a:solidFill>
                <a:latin typeface="IBM Plex Mono"/>
              </a:rPr>
              <a:t>2009</a:t>
            </a:r>
          </a:p>
        </p:txBody>
      </p:sp>
      <p:sp>
        <p:nvSpPr>
          <p:cNvPr id="15" name="Rectangle 14"/>
          <p:cNvSpPr/>
          <p:nvPr/>
        </p:nvSpPr>
        <p:spPr>
          <a:xfrm>
            <a:off x="548640" y="2002536"/>
            <a:ext cx="64008" cy="1399540"/>
          </a:xfrm>
          <a:prstGeom prst="rect">
            <a:avLst/>
          </a:prstGeom>
          <a:solidFill>
            <a:srgbClr val="5FA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 y="3475228"/>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3 ZEILEN</a:t>
            </a:r>
          </a:p>
        </p:txBody>
      </p:sp>
      <p:graphicFrame>
        <p:nvGraphicFramePr>
          <p:cNvPr id="17" name="Ergebnistabelle"/>
          <p:cNvGraphicFramePr>
            <a:graphicFrameLocks noGrp="1"/>
          </p:cNvGraphicFramePr>
          <p:nvPr/>
        </p:nvGraphicFramePr>
        <p:xfrm>
          <a:off x="548640" y="3786124"/>
          <a:ext cx="3504438" cy="1181100"/>
        </p:xfrm>
        <a:graphic>
          <a:graphicData uri="http://schemas.openxmlformats.org/drawingml/2006/table">
            <a:tbl>
              <a:tblPr firstRow="1">
                <a:tableStyleId>{5C22544A-7EE6-4342-B048-85BDC9FD1C3A}</a:tableStyleId>
              </a:tblPr>
              <a:tblGrid>
                <a:gridCol w="1090422"/>
                <a:gridCol w="1207008"/>
                <a:gridCol w="1207008"/>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Jahrgang</a:t>
                      </a:r>
                    </a:p>
                  </a:txBody>
                  <a:tcPr marL="54864" marR="54864" marT="18288" marB="18288">
                    <a:solidFill>
                      <a:srgbClr val="EBE2D2"/>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Okafor</a:t>
                      </a:r>
                    </a:p>
                  </a:txBody>
                  <a:tcPr marL="54864" marR="54864" marT="18288" marB="18288">
                    <a:solidFill>
                      <a:srgbClr val="FFFDF8"/>
                    </a:solidFill>
                  </a:tcPr>
                </a:tc>
                <a:tc>
                  <a:txBody>
                    <a:bodyPr/>
                    <a:lstStyle/>
                    <a:p>
                      <a:pPr algn="r"/>
                      <a:r>
                        <a:rPr sz="1500" b="0" i="0" u="none">
                          <a:solidFill>
                            <a:srgbClr val="1C2B3A"/>
                          </a:solidFill>
                          <a:latin typeface="Barlow"/>
                        </a:rPr>
                        <a:t>2009</a:t>
                      </a:r>
                    </a:p>
                  </a:txBody>
                  <a:tcPr marL="54864" marR="54864" marT="18288" marB="18288">
                    <a:solidFill>
                      <a:srgbClr val="FFFDF8"/>
                    </a:solidFill>
                  </a:tcPr>
                </a:tc>
              </a:tr>
              <a:tr h="295275">
                <a:tc>
                  <a:txBody>
                    <a:bodyPr/>
                    <a:lstStyle/>
                    <a:p>
                      <a:r>
                        <a:rPr sz="1500" b="0" i="0" u="none">
                          <a:solidFill>
                            <a:srgbClr val="1C2B3A"/>
                          </a:solidFill>
                          <a:latin typeface="Barlow"/>
                        </a:rPr>
                        <a:t>Joris</a:t>
                      </a:r>
                    </a:p>
                  </a:txBody>
                  <a:tcPr marL="54864" marR="54864" marT="18288" marB="18288">
                    <a:solidFill>
                      <a:srgbClr val="FFFDF8"/>
                    </a:solidFill>
                  </a:tcPr>
                </a:tc>
                <a:tc>
                  <a:txBody>
                    <a:bodyPr/>
                    <a:lstStyle/>
                    <a:p>
                      <a:r>
                        <a:rPr sz="1500" b="0" i="0" u="none">
                          <a:solidFill>
                            <a:srgbClr val="1C2B3A"/>
                          </a:solidFill>
                          <a:latin typeface="Barlow"/>
                        </a:rPr>
                        <a:t>Kampen</a:t>
                      </a:r>
                    </a:p>
                  </a:txBody>
                  <a:tcPr marL="54864" marR="54864" marT="18288" marB="18288">
                    <a:solidFill>
                      <a:srgbClr val="FFFDF8"/>
                    </a:solidFill>
                  </a:tcPr>
                </a:tc>
                <a:tc>
                  <a:txBody>
                    <a:bodyPr/>
                    <a:lstStyle/>
                    <a:p>
                      <a:pPr algn="r"/>
                      <a:r>
                        <a:rPr sz="1500" b="0" i="0" u="none">
                          <a:solidFill>
                            <a:srgbClr val="1C2B3A"/>
                          </a:solidFill>
                          <a:latin typeface="Barlow"/>
                        </a:rPr>
                        <a:t>2010</a:t>
                      </a:r>
                    </a:p>
                  </a:txBody>
                  <a:tcPr marL="54864" marR="54864" marT="18288" marB="18288">
                    <a:solidFill>
                      <a:srgbClr val="FFFDF8"/>
                    </a:solidFill>
                  </a:tcPr>
                </a:tc>
              </a:tr>
              <a:tr h="295275">
                <a:tc>
                  <a:txBody>
                    <a:bodyPr/>
                    <a:lstStyle/>
                    <a:p>
                      <a:r>
                        <a:rPr sz="1500" b="0" i="0" u="none">
                          <a:solidFill>
                            <a:srgbClr val="1C2B3A"/>
                          </a:solidFill>
                          <a:latin typeface="Barlow"/>
                        </a:rPr>
                        <a:t>Hauke</a:t>
                      </a:r>
                    </a:p>
                  </a:txBody>
                  <a:tcPr marL="54864" marR="54864" marT="18288" marB="18288">
                    <a:solidFill>
                      <a:srgbClr val="FFFDF8"/>
                    </a:solidFill>
                  </a:tcPr>
                </a:tc>
                <a:tc>
                  <a:txBody>
                    <a:bodyPr/>
                    <a:lstStyle/>
                    <a:p>
                      <a:r>
                        <a:rPr sz="1500" b="0" i="0" u="none">
                          <a:solidFill>
                            <a:srgbClr val="1C2B3A"/>
                          </a:solidFill>
                          <a:latin typeface="Barlow"/>
                        </a:rPr>
                        <a:t>Demir</a:t>
                      </a:r>
                    </a:p>
                  </a:txBody>
                  <a:tcPr marL="54864" marR="54864" marT="18288" marB="18288">
                    <a:solidFill>
                      <a:srgbClr val="FFFDF8"/>
                    </a:solidFill>
                  </a:tcPr>
                </a:tc>
                <a:tc>
                  <a:txBody>
                    <a:bodyPr/>
                    <a:lstStyle/>
                    <a:p>
                      <a:pPr algn="r"/>
                      <a:r>
                        <a:rPr sz="1500" b="0" i="0" u="none">
                          <a:solidFill>
                            <a:srgbClr val="1C2B3A"/>
                          </a:solidFill>
                          <a:latin typeface="Barlow"/>
                        </a:rPr>
                        <a:t>2010</a:t>
                      </a:r>
                    </a:p>
                  </a:txBody>
                  <a:tcPr marL="54864" marR="54864" marT="18288" marB="18288">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Platzhalter mit LIKE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6035040" y="1691640"/>
            <a:ext cx="5608015" cy="2033015"/>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2033015"/>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PLATZHALTER</a:t>
            </a:r>
          </a:p>
        </p:txBody>
      </p:sp>
      <p:sp>
        <p:nvSpPr>
          <p:cNvPr id="11" name="TextBox 10"/>
          <p:cNvSpPr txBox="1"/>
          <p:nvPr/>
        </p:nvSpPr>
        <p:spPr>
          <a:xfrm>
            <a:off x="6309359" y="2148840"/>
            <a:ext cx="5196535" cy="1530095"/>
          </a:xfrm>
          <a:prstGeom prst="rect">
            <a:avLst/>
          </a:prstGeom>
          <a:noFill/>
        </p:spPr>
        <p:txBody>
          <a:bodyPr wrap="square" lIns="27432" rIns="27432" tIns="27432" bIns="27432">
            <a:spAutoFit/>
          </a:bodyPr>
          <a:lstStyle/>
          <a:p>
            <a:pPr>
              <a:lnSpc>
                <a:spcPct val="105000"/>
              </a:lnSpc>
              <a:spcAft>
                <a:spcPts val="300"/>
              </a:spcAft>
            </a:pPr>
            <a:r>
              <a:rPr sz="1700" b="1">
                <a:solidFill>
                  <a:srgbClr val="2C5A85"/>
                </a:solidFill>
                <a:latin typeface="Barlow"/>
              </a:rPr>
              <a:t>▸  </a:t>
            </a:r>
            <a:r>
              <a:rPr sz="1530" b="0" i="0" u="none">
                <a:solidFill>
                  <a:srgbClr val="1C2B3A"/>
                </a:solidFill>
                <a:latin typeface="IBM Plex Mono"/>
              </a:rPr>
              <a:t>%</a:t>
            </a:r>
            <a:r>
              <a:rPr sz="1700" b="0" i="0" u="none">
                <a:solidFill>
                  <a:srgbClr val="1C2B3A"/>
                </a:solidFill>
                <a:latin typeface="Barlow"/>
              </a:rPr>
              <a:t> beliebig viele Zeichen (auch keins)</a:t>
            </a:r>
          </a:p>
          <a:p>
            <a:pPr>
              <a:lnSpc>
                <a:spcPct val="105000"/>
              </a:lnSpc>
              <a:spcAft>
                <a:spcPts val="300"/>
              </a:spcAft>
            </a:pPr>
            <a:r>
              <a:rPr sz="1700" b="1">
                <a:solidFill>
                  <a:srgbClr val="2C5A85"/>
                </a:solidFill>
                <a:latin typeface="Barlow"/>
              </a:rPr>
              <a:t>▸  </a:t>
            </a:r>
            <a:r>
              <a:rPr sz="1530" b="0" i="0" u="none">
                <a:solidFill>
                  <a:srgbClr val="1C2B3A"/>
                </a:solidFill>
                <a:latin typeface="IBM Plex Mono"/>
              </a:rPr>
              <a:t>_</a:t>
            </a:r>
            <a:r>
              <a:rPr sz="1700" b="0" i="0" u="none">
                <a:solidFill>
                  <a:srgbClr val="1C2B3A"/>
                </a:solidFill>
                <a:latin typeface="Barlow"/>
              </a:rPr>
              <a:t> genau ein Zeichen</a:t>
            </a:r>
          </a:p>
          <a:p>
            <a:pPr>
              <a:lnSpc>
                <a:spcPct val="105000"/>
              </a:lnSpc>
              <a:spcAft>
                <a:spcPts val="300"/>
              </a:spcAft>
            </a:pPr>
            <a:r>
              <a:rPr sz="1700" b="1">
                <a:solidFill>
                  <a:srgbClr val="2C5A85"/>
                </a:solidFill>
                <a:latin typeface="Barlow"/>
              </a:rPr>
              <a:t>▸  </a:t>
            </a:r>
            <a:r>
              <a:rPr sz="1530" b="0" i="0" u="none">
                <a:solidFill>
                  <a:srgbClr val="1C2B3A"/>
                </a:solidFill>
                <a:latin typeface="IBM Plex Mono"/>
              </a:rPr>
              <a:t>'%ke'</a:t>
            </a:r>
            <a:r>
              <a:rPr sz="1700" b="0" i="0" u="none">
                <a:solidFill>
                  <a:srgbClr val="1C2B3A"/>
                </a:solidFill>
                <a:latin typeface="Barlow"/>
              </a:rPr>
              <a:t> endet auf „ke“, </a:t>
            </a:r>
            <a:r>
              <a:rPr sz="1530" b="0" i="0" u="none">
                <a:solidFill>
                  <a:srgbClr val="1C2B3A"/>
                </a:solidFill>
                <a:latin typeface="IBM Plex Mono"/>
              </a:rPr>
              <a:t>'B%'</a:t>
            </a:r>
            <a:r>
              <a:rPr sz="1700" b="0" i="0" u="none">
                <a:solidFill>
                  <a:srgbClr val="1C2B3A"/>
                </a:solidFill>
                <a:latin typeface="Barlow"/>
              </a:rPr>
              <a:t> beginnt mit B</a:t>
            </a:r>
          </a:p>
          <a:p>
            <a:pPr>
              <a:lnSpc>
                <a:spcPct val="105000"/>
              </a:lnSpc>
              <a:spcAft>
                <a:spcPts val="300"/>
              </a:spcAft>
            </a:pPr>
            <a:r>
              <a:rPr sz="1700" b="1">
                <a:solidFill>
                  <a:srgbClr val="2C5A85"/>
                </a:solidFill>
                <a:latin typeface="Barlow"/>
              </a:rPr>
              <a:t>▸  </a:t>
            </a:r>
            <a:r>
              <a:rPr sz="1700" b="0" i="0" u="none">
                <a:solidFill>
                  <a:srgbClr val="1C2B3A"/>
                </a:solidFill>
                <a:latin typeface="Barlow"/>
              </a:rPr>
              <a:t>ohne </a:t>
            </a:r>
            <a:r>
              <a:rPr sz="1530" b="0" i="0" u="none">
                <a:solidFill>
                  <a:srgbClr val="1C2B3A"/>
                </a:solidFill>
                <a:latin typeface="IBM Plex Mono"/>
              </a:rPr>
              <a:t>%</a:t>
            </a:r>
            <a:r>
              <a:rPr sz="1700" b="0" i="0" u="none">
                <a:solidFill>
                  <a:srgbClr val="1C2B3A"/>
                </a:solidFill>
                <a:latin typeface="Barlow"/>
              </a:rPr>
              <a:t> sucht LIKE den genauen Text (P6)</a:t>
            </a:r>
          </a:p>
        </p:txBody>
      </p:sp>
      <p:sp>
        <p:nvSpPr>
          <p:cNvPr id="12" name="SQL-Hintergrund"/>
          <p:cNvSpPr/>
          <p:nvPr/>
        </p:nvSpPr>
        <p:spPr>
          <a:xfrm>
            <a:off x="548640" y="1691640"/>
            <a:ext cx="5212080" cy="1272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4846320" cy="998219"/>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Vorname</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Nachname</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Spieler</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Vorname</a:t>
            </a:r>
            <a:r>
              <a:rPr sz="2000" i="0">
                <a:solidFill>
                  <a:srgbClr val="D8E3D0"/>
                </a:solidFill>
                <a:latin typeface="IBM Plex Mono"/>
              </a:rPr>
              <a:t> </a:t>
            </a:r>
            <a:r>
              <a:rPr sz="2000" i="0">
                <a:solidFill>
                  <a:srgbClr val="F2A65A"/>
                </a:solidFill>
                <a:latin typeface="IBM Plex Mono"/>
              </a:rPr>
              <a:t>LIKE</a:t>
            </a:r>
            <a:r>
              <a:rPr sz="2000" i="0">
                <a:solidFill>
                  <a:srgbClr val="D8E3D0"/>
                </a:solidFill>
                <a:latin typeface="IBM Plex Mono"/>
              </a:rPr>
              <a:t> </a:t>
            </a:r>
            <a:r>
              <a:rPr sz="2000" i="0">
                <a:solidFill>
                  <a:srgbClr val="9BD3A6"/>
                </a:solidFill>
                <a:latin typeface="IBM Plex Mono"/>
              </a:rPr>
              <a:t>'%ke'</a:t>
            </a:r>
          </a:p>
        </p:txBody>
      </p:sp>
      <p:sp>
        <p:nvSpPr>
          <p:cNvPr id="14" name="TextBox 13"/>
          <p:cNvSpPr txBox="1"/>
          <p:nvPr/>
        </p:nvSpPr>
        <p:spPr>
          <a:xfrm>
            <a:off x="548640" y="3037332"/>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4 ZEILEN</a:t>
            </a:r>
          </a:p>
        </p:txBody>
      </p:sp>
      <p:graphicFrame>
        <p:nvGraphicFramePr>
          <p:cNvPr id="15" name="Ergebnistabelle"/>
          <p:cNvGraphicFramePr>
            <a:graphicFrameLocks noGrp="1"/>
          </p:cNvGraphicFramePr>
          <p:nvPr/>
        </p:nvGraphicFramePr>
        <p:xfrm>
          <a:off x="548640" y="3348228"/>
          <a:ext cx="2297430" cy="1476375"/>
        </p:xfrm>
        <a:graphic>
          <a:graphicData uri="http://schemas.openxmlformats.org/drawingml/2006/table">
            <a:tbl>
              <a:tblPr firstRow="1">
                <a:tableStyleId>{5C22544A-7EE6-4342-B048-85BDC9FD1C3A}</a:tableStyleId>
              </a:tblPr>
              <a:tblGrid>
                <a:gridCol w="1090422"/>
                <a:gridCol w="1207008"/>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r>
              <a:tr h="295275">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r>
              <a:tr h="295275">
                <a:tc>
                  <a:txBody>
                    <a:bodyPr/>
                    <a:lstStyle/>
                    <a:p>
                      <a:r>
                        <a:rPr sz="1500" b="0" i="0" u="none">
                          <a:solidFill>
                            <a:srgbClr val="1C2B3A"/>
                          </a:solidFill>
                          <a:latin typeface="Barlow"/>
                        </a:rPr>
                        <a:t>Tomke</a:t>
                      </a:r>
                    </a:p>
                  </a:txBody>
                  <a:tcPr marL="54864" marR="54864" marT="18288" marB="18288">
                    <a:solidFill>
                      <a:srgbClr val="FFFDF8"/>
                    </a:solidFill>
                  </a:tcPr>
                </a:tc>
                <a:tc>
                  <a:txBody>
                    <a:bodyPr/>
                    <a:lstStyle/>
                    <a:p>
                      <a:r>
                        <a:rPr sz="1500" b="0" i="0" u="none">
                          <a:solidFill>
                            <a:srgbClr val="1C2B3A"/>
                          </a:solidFill>
                          <a:latin typeface="Barlow"/>
                        </a:rPr>
                        <a:t>Saathoff</a:t>
                      </a:r>
                    </a:p>
                  </a:txBody>
                  <a:tcPr marL="54864" marR="54864" marT="18288" marB="18288">
                    <a:solidFill>
                      <a:srgbClr val="FFFDF8"/>
                    </a:solidFill>
                  </a:tcPr>
                </a:tc>
              </a:tr>
              <a:tr h="295275">
                <a:tc>
                  <a:txBody>
                    <a:bodyPr/>
                    <a:lstStyle/>
                    <a:p>
                      <a:r>
                        <a:rPr sz="1500" b="0" i="0" u="none">
                          <a:solidFill>
                            <a:srgbClr val="1C2B3A"/>
                          </a:solidFill>
                          <a:latin typeface="Barlow"/>
                        </a:rPr>
                        <a:t>Hauke</a:t>
                      </a:r>
                    </a:p>
                  </a:txBody>
                  <a:tcPr marL="54864" marR="54864" marT="18288" marB="18288">
                    <a:solidFill>
                      <a:srgbClr val="FFFDF8"/>
                    </a:solidFill>
                  </a:tcPr>
                </a:tc>
                <a:tc>
                  <a:txBody>
                    <a:bodyPr/>
                    <a:lstStyle/>
                    <a:p>
                      <a:r>
                        <a:rPr sz="1500" b="0" i="0" u="none">
                          <a:solidFill>
                            <a:srgbClr val="1C2B3A"/>
                          </a:solidFill>
                          <a:latin typeface="Barlow"/>
                        </a:rPr>
                        <a:t>Demir</a:t>
                      </a:r>
                    </a:p>
                  </a:txBody>
                  <a:tcPr marL="54864" marR="54864" marT="18288" marB="18288">
                    <a:solidFill>
                      <a:srgbClr val="FFFDF8"/>
                    </a:solidFill>
                  </a:tcPr>
                </a:tc>
              </a:tr>
              <a:tr h="295275">
                <a:tc>
                  <a:txBody>
                    <a:bodyPr/>
                    <a:lstStyle/>
                    <a:p>
                      <a:r>
                        <a:rPr sz="1500" b="0" i="0" u="none">
                          <a:solidFill>
                            <a:srgbClr val="1C2B3A"/>
                          </a:solidFill>
                          <a:latin typeface="Barlow"/>
                        </a:rPr>
                        <a:t>Levke</a:t>
                      </a:r>
                    </a:p>
                  </a:txBody>
                  <a:tcPr marL="54864" marR="54864" marT="18288" marB="18288">
                    <a:solidFill>
                      <a:srgbClr val="FFFDF8"/>
                    </a:solidFill>
                  </a:tcPr>
                </a:tc>
                <a:tc>
                  <a:txBody>
                    <a:bodyPr/>
                    <a:lstStyle/>
                    <a:p>
                      <a:r>
                        <a:rPr sz="1500" b="0" i="0" u="none">
                          <a:solidFill>
                            <a:srgbClr val="1C2B3A"/>
                          </a:solidFill>
                          <a:latin typeface="Barlow"/>
                        </a:rPr>
                        <a:t>Wilms</a:t>
                      </a:r>
                    </a:p>
                  </a:txBody>
                  <a:tcPr marL="54864" marR="54864" marT="18288" marB="18288">
                    <a:solidFill>
                      <a:srgbClr val="FFFD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Bereiche mit BETWEEN – Grenzen zählen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6035040" y="1691640"/>
            <a:ext cx="5608015" cy="157276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57276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BETWEEN = &gt;= UND &lt;=</a:t>
            </a:r>
          </a:p>
        </p:txBody>
      </p:sp>
      <p:sp>
        <p:nvSpPr>
          <p:cNvPr id="11" name="TextBox 10"/>
          <p:cNvSpPr txBox="1"/>
          <p:nvPr/>
        </p:nvSpPr>
        <p:spPr>
          <a:xfrm>
            <a:off x="6309359" y="2148840"/>
            <a:ext cx="5196535" cy="1069847"/>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IBM Plex Mono"/>
              </a:rPr>
              <a:t>Wertung &gt;= 1480 AND Wertung &lt;= 1690</a:t>
            </a:r>
          </a:p>
          <a:p>
            <a:pPr>
              <a:lnSpc>
                <a:spcPct val="105000"/>
              </a:lnSpc>
              <a:spcAft>
                <a:spcPts val="300"/>
              </a:spcAft>
            </a:pPr>
            <a:r>
              <a:rPr sz="1700" b="0" i="0" u="none">
                <a:solidFill>
                  <a:srgbClr val="1C2B3A"/>
                </a:solidFill>
                <a:latin typeface="Barlow"/>
              </a:rPr>
              <a:t>Beide Grenzen gehören dazu: Mats (1480) und Arne (1690) sind dabei. </a:t>
            </a:r>
            <a:r>
              <a:rPr sz="1530" b="0" i="0" u="none">
                <a:solidFill>
                  <a:srgbClr val="1C2B3A"/>
                </a:solidFill>
                <a:latin typeface="IBM Plex Mono"/>
              </a:rPr>
              <a:t>&gt;</a:t>
            </a:r>
            <a:r>
              <a:rPr sz="1700" b="0" i="0" u="none">
                <a:solidFill>
                  <a:srgbClr val="1C2B3A"/>
                </a:solidFill>
                <a:latin typeface="Barlow"/>
              </a:rPr>
              <a:t> statt </a:t>
            </a:r>
            <a:r>
              <a:rPr sz="1530" b="0" i="0" u="none">
                <a:solidFill>
                  <a:srgbClr val="1C2B3A"/>
                </a:solidFill>
                <a:latin typeface="IBM Plex Mono"/>
              </a:rPr>
              <a:t>&gt;=</a:t>
            </a:r>
            <a:r>
              <a:rPr sz="1700" b="0" i="0" u="none">
                <a:solidFill>
                  <a:srgbClr val="1C2B3A"/>
                </a:solidFill>
                <a:latin typeface="Barlow"/>
              </a:rPr>
              <a:t> verliert sie (P6).</a:t>
            </a:r>
          </a:p>
        </p:txBody>
      </p:sp>
      <p:sp>
        <p:nvSpPr>
          <p:cNvPr id="12" name="SQL-Hintergrund"/>
          <p:cNvSpPr/>
          <p:nvPr/>
        </p:nvSpPr>
        <p:spPr>
          <a:xfrm>
            <a:off x="548640" y="1691640"/>
            <a:ext cx="5212080" cy="112966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4846320" cy="855344"/>
          </a:xfrm>
          <a:prstGeom prst="rect">
            <a:avLst/>
          </a:prstGeom>
          <a:noFill/>
        </p:spPr>
        <p:txBody>
          <a:bodyPr wrap="square" lIns="18288" rIns="18288" tIns="18288" bIns="18288">
            <a:spAutoFit/>
          </a:bodyPr>
          <a:lstStyle/>
          <a:p>
            <a:pPr>
              <a:lnSpc>
                <a:spcPct val="100000"/>
              </a:lnSpc>
            </a:pPr>
            <a:r>
              <a:rPr sz="1700" i="0">
                <a:solidFill>
                  <a:srgbClr val="F2A65A"/>
                </a:solidFill>
                <a:latin typeface="IBM Plex Mono"/>
              </a:rPr>
              <a:t>SELECT</a:t>
            </a:r>
            <a:r>
              <a:rPr sz="1700" i="0">
                <a:solidFill>
                  <a:srgbClr val="D8E3D0"/>
                </a:solidFill>
                <a:latin typeface="IBM Plex Mono"/>
              </a:rPr>
              <a:t> </a:t>
            </a:r>
            <a:r>
              <a:rPr sz="1700" i="0">
                <a:solidFill>
                  <a:srgbClr val="D8E3D0"/>
                </a:solidFill>
                <a:latin typeface="IBM Plex Mono"/>
              </a:rPr>
              <a:t>Vorname</a:t>
            </a:r>
            <a:r>
              <a:rPr sz="1700" i="0">
                <a:solidFill>
                  <a:srgbClr val="D8E3D0"/>
                </a:solidFill>
                <a:latin typeface="IBM Plex Mono"/>
              </a:rPr>
              <a:t>,</a:t>
            </a:r>
            <a:r>
              <a:rPr sz="1700" i="0">
                <a:solidFill>
                  <a:srgbClr val="D8E3D0"/>
                </a:solidFill>
                <a:latin typeface="IBM Plex Mono"/>
              </a:rPr>
              <a:t> </a:t>
            </a:r>
            <a:r>
              <a:rPr sz="1700" i="0">
                <a:solidFill>
                  <a:srgbClr val="D8E3D0"/>
                </a:solidFill>
                <a:latin typeface="IBM Plex Mono"/>
              </a:rPr>
              <a:t>Nachname</a:t>
            </a:r>
            <a:r>
              <a:rPr sz="1700" i="0">
                <a:solidFill>
                  <a:srgbClr val="D8E3D0"/>
                </a:solidFill>
                <a:latin typeface="IBM Plex Mono"/>
              </a:rPr>
              <a:t>,</a:t>
            </a:r>
            <a:r>
              <a:rPr sz="1700" i="0">
                <a:solidFill>
                  <a:srgbClr val="D8E3D0"/>
                </a:solidFill>
                <a:latin typeface="IBM Plex Mono"/>
              </a:rPr>
              <a:t> </a:t>
            </a:r>
            <a:r>
              <a:rPr sz="1700" i="0">
                <a:solidFill>
                  <a:srgbClr val="D8E3D0"/>
                </a:solidFill>
                <a:latin typeface="IBM Plex Mono"/>
              </a:rPr>
              <a:t>Wertung</a:t>
            </a:r>
          </a:p>
          <a:p>
            <a:pPr>
              <a:lnSpc>
                <a:spcPct val="100000"/>
              </a:lnSpc>
            </a:pPr>
            <a:r>
              <a:rPr sz="1700" i="0">
                <a:solidFill>
                  <a:srgbClr val="F2A65A"/>
                </a:solidFill>
                <a:latin typeface="IBM Plex Mono"/>
              </a:rPr>
              <a:t>FROM</a:t>
            </a:r>
            <a:r>
              <a:rPr sz="1700" i="0">
                <a:solidFill>
                  <a:srgbClr val="D8E3D0"/>
                </a:solidFill>
                <a:latin typeface="IBM Plex Mono"/>
              </a:rPr>
              <a:t> </a:t>
            </a:r>
            <a:r>
              <a:rPr sz="1700" i="0">
                <a:solidFill>
                  <a:srgbClr val="D8E3D0"/>
                </a:solidFill>
                <a:latin typeface="IBM Plex Mono"/>
              </a:rPr>
              <a:t>Spieler</a:t>
            </a:r>
          </a:p>
          <a:p>
            <a:pPr>
              <a:lnSpc>
                <a:spcPct val="100000"/>
              </a:lnSpc>
            </a:pPr>
            <a:r>
              <a:rPr sz="1700" i="0">
                <a:solidFill>
                  <a:srgbClr val="F2A65A"/>
                </a:solidFill>
                <a:latin typeface="IBM Plex Mono"/>
              </a:rPr>
              <a:t>WHERE</a:t>
            </a:r>
            <a:r>
              <a:rPr sz="1700" i="0">
                <a:solidFill>
                  <a:srgbClr val="D8E3D0"/>
                </a:solidFill>
                <a:latin typeface="IBM Plex Mono"/>
              </a:rPr>
              <a:t> </a:t>
            </a:r>
            <a:r>
              <a:rPr sz="1700" i="0">
                <a:solidFill>
                  <a:srgbClr val="D8E3D0"/>
                </a:solidFill>
                <a:latin typeface="IBM Plex Mono"/>
              </a:rPr>
              <a:t>Wertung</a:t>
            </a:r>
            <a:r>
              <a:rPr sz="1700" i="0">
                <a:solidFill>
                  <a:srgbClr val="D8E3D0"/>
                </a:solidFill>
                <a:latin typeface="IBM Plex Mono"/>
              </a:rPr>
              <a:t> </a:t>
            </a:r>
            <a:r>
              <a:rPr sz="1700" i="0">
                <a:solidFill>
                  <a:srgbClr val="F2A65A"/>
                </a:solidFill>
                <a:latin typeface="IBM Plex Mono"/>
              </a:rPr>
              <a:t>BETWEEN</a:t>
            </a:r>
            <a:r>
              <a:rPr sz="1700" i="0">
                <a:solidFill>
                  <a:srgbClr val="D8E3D0"/>
                </a:solidFill>
                <a:latin typeface="IBM Plex Mono"/>
              </a:rPr>
              <a:t> </a:t>
            </a:r>
            <a:r>
              <a:rPr sz="1700" i="0">
                <a:solidFill>
                  <a:srgbClr val="8CC4FF"/>
                </a:solidFill>
                <a:latin typeface="IBM Plex Mono"/>
              </a:rPr>
              <a:t>1480</a:t>
            </a:r>
            <a:r>
              <a:rPr sz="1700" i="0">
                <a:solidFill>
                  <a:srgbClr val="D8E3D0"/>
                </a:solidFill>
                <a:latin typeface="IBM Plex Mono"/>
              </a:rPr>
              <a:t> </a:t>
            </a:r>
            <a:r>
              <a:rPr sz="1700" i="0">
                <a:solidFill>
                  <a:srgbClr val="F2A65A"/>
                </a:solidFill>
                <a:latin typeface="IBM Plex Mono"/>
              </a:rPr>
              <a:t>AND</a:t>
            </a:r>
            <a:r>
              <a:rPr sz="1700" i="0">
                <a:solidFill>
                  <a:srgbClr val="D8E3D0"/>
                </a:solidFill>
                <a:latin typeface="IBM Plex Mono"/>
              </a:rPr>
              <a:t> </a:t>
            </a:r>
            <a:r>
              <a:rPr sz="1700" i="0">
                <a:solidFill>
                  <a:srgbClr val="8CC4FF"/>
                </a:solidFill>
                <a:latin typeface="IBM Plex Mono"/>
              </a:rPr>
              <a:t>1690</a:t>
            </a:r>
          </a:p>
        </p:txBody>
      </p:sp>
      <p:sp>
        <p:nvSpPr>
          <p:cNvPr id="14" name="TextBox 13"/>
          <p:cNvSpPr txBox="1"/>
          <p:nvPr/>
        </p:nvSpPr>
        <p:spPr>
          <a:xfrm>
            <a:off x="548640" y="2894457"/>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4 ZEILEN</a:t>
            </a:r>
          </a:p>
        </p:txBody>
      </p:sp>
      <p:graphicFrame>
        <p:nvGraphicFramePr>
          <p:cNvPr id="15" name="Ergebnistabelle"/>
          <p:cNvGraphicFramePr>
            <a:graphicFrameLocks noGrp="1"/>
          </p:cNvGraphicFramePr>
          <p:nvPr/>
        </p:nvGraphicFramePr>
        <p:xfrm>
          <a:off x="548640" y="3205353"/>
          <a:ext cx="3387852" cy="1476375"/>
        </p:xfrm>
        <a:graphic>
          <a:graphicData uri="http://schemas.openxmlformats.org/drawingml/2006/table">
            <a:tbl>
              <a:tblPr firstRow="1">
                <a:tableStyleId>{5C22544A-7EE6-4342-B048-85BDC9FD1C3A}</a:tableStyleId>
              </a:tblPr>
              <a:tblGrid>
                <a:gridCol w="1090422"/>
                <a:gridCol w="1207008"/>
                <a:gridCol w="1090422"/>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Wertung</a:t>
                      </a:r>
                    </a:p>
                  </a:txBody>
                  <a:tcPr marL="54864" marR="54864" marT="18288" marB="18288">
                    <a:solidFill>
                      <a:srgbClr val="EBE2D2"/>
                    </a:solidFill>
                  </a:tcPr>
                </a:tc>
              </a:tr>
              <a:tr h="295275">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c>
                  <a:txBody>
                    <a:bodyPr/>
                    <a:lstStyle/>
                    <a:p>
                      <a:pPr algn="r"/>
                      <a:r>
                        <a:rPr sz="1500" b="0" i="0" u="none">
                          <a:solidFill>
                            <a:srgbClr val="1C2B3A"/>
                          </a:solidFill>
                          <a:latin typeface="Barlow"/>
                        </a:rPr>
                        <a:t>1620</a:t>
                      </a:r>
                    </a:p>
                  </a:txBody>
                  <a:tcPr marL="54864" marR="54864" marT="18288" marB="18288">
                    <a:solidFill>
                      <a:srgbClr val="FFFDF8"/>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Okafor</a:t>
                      </a:r>
                    </a:p>
                  </a:txBody>
                  <a:tcPr marL="54864" marR="54864" marT="18288" marB="18288">
                    <a:solidFill>
                      <a:srgbClr val="FFFDF8"/>
                    </a:solidFill>
                  </a:tcPr>
                </a:tc>
                <a:tc>
                  <a:txBody>
                    <a:bodyPr/>
                    <a:lstStyle/>
                    <a:p>
                      <a:pPr algn="r"/>
                      <a:r>
                        <a:rPr sz="1500" b="0" i="0" u="none">
                          <a:solidFill>
                            <a:srgbClr val="1C2B3A"/>
                          </a:solidFill>
                          <a:latin typeface="Barlow"/>
                        </a:rPr>
                        <a:t>1480</a:t>
                      </a:r>
                    </a:p>
                  </a:txBody>
                  <a:tcPr marL="54864" marR="54864" marT="18288" marB="18288">
                    <a:solidFill>
                      <a:srgbClr val="FFFDF8"/>
                    </a:solidFill>
                  </a:tcPr>
                </a:tc>
              </a:tr>
              <a:tr h="295275">
                <a:tc>
                  <a:txBody>
                    <a:bodyPr/>
                    <a:lstStyle/>
                    <a:p>
                      <a:r>
                        <a:rPr sz="1500" b="0" i="0" u="none">
                          <a:solidFill>
                            <a:srgbClr val="1C2B3A"/>
                          </a:solidFill>
                          <a:latin typeface="Barlow"/>
                        </a:rPr>
                        <a:t>Levke</a:t>
                      </a:r>
                    </a:p>
                  </a:txBody>
                  <a:tcPr marL="54864" marR="54864" marT="18288" marB="18288">
                    <a:solidFill>
                      <a:srgbClr val="FFFDF8"/>
                    </a:solidFill>
                  </a:tcPr>
                </a:tc>
                <a:tc>
                  <a:txBody>
                    <a:bodyPr/>
                    <a:lstStyle/>
                    <a:p>
                      <a:r>
                        <a:rPr sz="1500" b="0" i="0" u="none">
                          <a:solidFill>
                            <a:srgbClr val="1C2B3A"/>
                          </a:solidFill>
                          <a:latin typeface="Barlow"/>
                        </a:rPr>
                        <a:t>Wilms</a:t>
                      </a:r>
                    </a:p>
                  </a:txBody>
                  <a:tcPr marL="54864" marR="54864" marT="18288" marB="18288">
                    <a:solidFill>
                      <a:srgbClr val="FFFDF8"/>
                    </a:solidFill>
                  </a:tcPr>
                </a:tc>
                <a:tc>
                  <a:txBody>
                    <a:bodyPr/>
                    <a:lstStyle/>
                    <a:p>
                      <a:pPr algn="r"/>
                      <a:r>
                        <a:rPr sz="1500" b="0" i="0" u="none">
                          <a:solidFill>
                            <a:srgbClr val="1C2B3A"/>
                          </a:solidFill>
                          <a:latin typeface="Barlow"/>
                        </a:rPr>
                        <a:t>1545</a:t>
                      </a:r>
                    </a:p>
                  </a:txBody>
                  <a:tcPr marL="54864" marR="54864" marT="18288" marB="18288">
                    <a:solidFill>
                      <a:srgbClr val="FFFDF8"/>
                    </a:solidFill>
                  </a:tcPr>
                </a:tc>
              </a:tr>
              <a:tr h="295275">
                <a:tc>
                  <a:txBody>
                    <a:bodyPr/>
                    <a:lstStyle/>
                    <a:p>
                      <a:r>
                        <a:rPr sz="1500" b="0" i="0" u="none">
                          <a:solidFill>
                            <a:srgbClr val="1C2B3A"/>
                          </a:solidFill>
                          <a:latin typeface="Barlow"/>
                        </a:rPr>
                        <a:t>Arne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c>
                  <a:txBody>
                    <a:bodyPr/>
                    <a:lstStyle/>
                    <a:p>
                      <a:pPr algn="r"/>
                      <a:r>
                        <a:rPr sz="1500" b="0" i="0" u="none">
                          <a:solidFill>
                            <a:srgbClr val="1C2B3A"/>
                          </a:solidFill>
                          <a:latin typeface="Barlow"/>
                        </a:rPr>
                        <a:t>1690</a:t>
                      </a:r>
                    </a:p>
                  </a:txBody>
                  <a:tcPr marL="54864" marR="54864" marT="18288" marB="18288">
                    <a:solidFill>
                      <a:srgbClr val="FFFD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NULL ist kein Wert – IS NULL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Rounded Rectangle 7"/>
          <p:cNvSpPr/>
          <p:nvPr/>
        </p:nvSpPr>
        <p:spPr>
          <a:xfrm>
            <a:off x="6035040" y="1691640"/>
            <a:ext cx="5608015" cy="1932432"/>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932432"/>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FALLE P5: NULL UND LITERALE</a:t>
            </a:r>
          </a:p>
        </p:txBody>
      </p:sp>
      <p:sp>
        <p:nvSpPr>
          <p:cNvPr id="11" name="TextBox 10"/>
          <p:cNvSpPr txBox="1"/>
          <p:nvPr/>
        </p:nvSpPr>
        <p:spPr>
          <a:xfrm>
            <a:off x="6309359" y="2148840"/>
            <a:ext cx="5196535" cy="1429512"/>
          </a:xfrm>
          <a:prstGeom prst="rect">
            <a:avLst/>
          </a:prstGeom>
          <a:noFill/>
        </p:spPr>
        <p:txBody>
          <a:bodyPr wrap="square" lIns="27432" rIns="27432" tIns="27432" bIns="27432">
            <a:spAutoFit/>
          </a:bodyPr>
          <a:lstStyle/>
          <a:p>
            <a:pPr>
              <a:lnSpc>
                <a:spcPct val="105000"/>
              </a:lnSpc>
              <a:spcAft>
                <a:spcPts val="300"/>
              </a:spcAft>
            </a:pPr>
            <a:r>
              <a:rPr sz="1700" b="1">
                <a:solidFill>
                  <a:srgbClr val="B3261E"/>
                </a:solidFill>
                <a:latin typeface="Barlow"/>
              </a:rPr>
              <a:t>▸  </a:t>
            </a:r>
            <a:r>
              <a:rPr sz="1700" b="0" i="0" u="none">
                <a:solidFill>
                  <a:srgbClr val="1C2B3A"/>
                </a:solidFill>
                <a:latin typeface="Barlow"/>
              </a:rPr>
              <a:t>NULL = „unbekannt“: </a:t>
            </a:r>
            <a:r>
              <a:rPr sz="1530" b="0" i="0" u="none">
                <a:solidFill>
                  <a:srgbClr val="1C2B3A"/>
                </a:solidFill>
                <a:latin typeface="IBM Plex Mono"/>
              </a:rPr>
              <a:t>= NULL</a:t>
            </a:r>
            <a:r>
              <a:rPr sz="1700" b="0" i="0" u="none">
                <a:solidFill>
                  <a:srgbClr val="1C2B3A"/>
                </a:solidFill>
                <a:latin typeface="Barlow"/>
              </a:rPr>
              <a:t> ist nie wahr → </a:t>
            </a:r>
            <a:r>
              <a:rPr sz="1530" b="0" i="0" u="none">
                <a:solidFill>
                  <a:srgbClr val="1C2B3A"/>
                </a:solidFill>
                <a:latin typeface="IBM Plex Mono"/>
              </a:rPr>
              <a:t>IS NULL</a:t>
            </a:r>
            <a:r>
              <a:rPr sz="1700" b="0" i="0" u="none">
                <a:solidFill>
                  <a:srgbClr val="1C2B3A"/>
                </a:solidFill>
                <a:latin typeface="Barlow"/>
              </a:rPr>
              <a:t>, </a:t>
            </a:r>
            <a:r>
              <a:rPr sz="1530" b="0" i="0" u="none">
                <a:solidFill>
                  <a:srgbClr val="1C2B3A"/>
                </a:solidFill>
                <a:latin typeface="IBM Plex Mono"/>
              </a:rPr>
              <a:t>IS NOT NULL</a:t>
            </a:r>
          </a:p>
          <a:p>
            <a:pPr>
              <a:lnSpc>
                <a:spcPct val="105000"/>
              </a:lnSpc>
              <a:spcAft>
                <a:spcPts val="300"/>
              </a:spcAft>
            </a:pPr>
            <a:r>
              <a:rPr sz="1700" b="1">
                <a:solidFill>
                  <a:srgbClr val="B3261E"/>
                </a:solidFill>
                <a:latin typeface="Barlow"/>
              </a:rPr>
              <a:t>▸  </a:t>
            </a:r>
            <a:r>
              <a:rPr sz="1700" b="0" i="0" u="none">
                <a:solidFill>
                  <a:srgbClr val="1C2B3A"/>
                </a:solidFill>
                <a:latin typeface="Barlow"/>
              </a:rPr>
              <a:t>Text in Hochkommata: </a:t>
            </a:r>
            <a:r>
              <a:rPr sz="1530" b="0" i="0" u="none">
                <a:solidFill>
                  <a:srgbClr val="1C2B3A"/>
                </a:solidFill>
                <a:latin typeface="IBM Plex Mono"/>
              </a:rPr>
              <a:t>Nachname = 'Onken'</a:t>
            </a:r>
          </a:p>
          <a:p>
            <a:pPr>
              <a:lnSpc>
                <a:spcPct val="105000"/>
              </a:lnSpc>
              <a:spcAft>
                <a:spcPts val="300"/>
              </a:spcAft>
            </a:pPr>
            <a:r>
              <a:rPr sz="1700" b="1">
                <a:solidFill>
                  <a:srgbClr val="B3261E"/>
                </a:solidFill>
                <a:latin typeface="Barlow"/>
              </a:rPr>
              <a:t>▸  </a:t>
            </a:r>
            <a:r>
              <a:rPr sz="1700" b="0" i="0" u="none">
                <a:solidFill>
                  <a:srgbClr val="1C2B3A"/>
                </a:solidFill>
                <a:latin typeface="Barlow"/>
              </a:rPr>
              <a:t>Datum als Text: </a:t>
            </a:r>
            <a:r>
              <a:rPr sz="1530" b="0" i="0" u="none">
                <a:solidFill>
                  <a:srgbClr val="1C2B3A"/>
                </a:solidFill>
                <a:latin typeface="IBM Plex Mono"/>
              </a:rPr>
              <a:t>'2026-03-14'</a:t>
            </a:r>
          </a:p>
        </p:txBody>
      </p:sp>
      <p:sp>
        <p:nvSpPr>
          <p:cNvPr id="12" name="TextBox 11"/>
          <p:cNvSpPr txBox="1"/>
          <p:nvPr/>
        </p:nvSpPr>
        <p:spPr>
          <a:xfrm>
            <a:off x="548640" y="1691640"/>
            <a:ext cx="521208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E0574F"/>
                </a:solidFill>
                <a:latin typeface="IBM Plex Mono"/>
              </a:rPr>
              <a:t>✘ FALLE P5</a:t>
            </a:r>
          </a:p>
        </p:txBody>
      </p:sp>
      <p:sp>
        <p:nvSpPr>
          <p:cNvPr id="13" name="SQL-Hintergrund"/>
          <p:cNvSpPr/>
          <p:nvPr/>
        </p:nvSpPr>
        <p:spPr>
          <a:xfrm>
            <a:off x="548640" y="2002536"/>
            <a:ext cx="5212080" cy="10344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QL [fehlerhaft]"/>
          <p:cNvSpPr txBox="1"/>
          <p:nvPr/>
        </p:nvSpPr>
        <p:spPr>
          <a:xfrm>
            <a:off x="731520" y="2139696"/>
            <a:ext cx="4846320" cy="760095"/>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Vorname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Nachname</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Spieler</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Wertung</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NULL</a:t>
            </a:r>
          </a:p>
        </p:txBody>
      </p:sp>
      <p:sp>
        <p:nvSpPr>
          <p:cNvPr id="15" name="Rectangle 14"/>
          <p:cNvSpPr/>
          <p:nvPr/>
        </p:nvSpPr>
        <p:spPr>
          <a:xfrm>
            <a:off x="548640" y="2002536"/>
            <a:ext cx="64008" cy="1034415"/>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 y="3110103"/>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KEINE ZEILE</a:t>
            </a:r>
          </a:p>
        </p:txBody>
      </p:sp>
      <p:graphicFrame>
        <p:nvGraphicFramePr>
          <p:cNvPr id="17" name="Ergebnistabelle"/>
          <p:cNvGraphicFramePr>
            <a:graphicFrameLocks noGrp="1"/>
          </p:cNvGraphicFramePr>
          <p:nvPr/>
        </p:nvGraphicFramePr>
        <p:xfrm>
          <a:off x="548640" y="3420999"/>
          <a:ext cx="1860232" cy="221456"/>
        </p:xfrm>
        <a:graphic>
          <a:graphicData uri="http://schemas.openxmlformats.org/drawingml/2006/table">
            <a:tbl>
              <a:tblPr firstRow="1">
                <a:tableStyleId>{5C22544A-7EE6-4342-B048-85BDC9FD1C3A}</a:tableStyleId>
              </a:tblPr>
              <a:tblGrid>
                <a:gridCol w="886396"/>
                <a:gridCol w="973836"/>
              </a:tblGrid>
              <a:tr h="221456">
                <a:tc>
                  <a:txBody>
                    <a:bodyPr/>
                    <a:lstStyle/>
                    <a:p>
                      <a:r>
                        <a:rPr sz="1035" b="1" i="0" u="none">
                          <a:solidFill>
                            <a:srgbClr val="1C2B3A"/>
                          </a:solidFill>
                          <a:latin typeface="IBM Plex Mono"/>
                        </a:rPr>
                        <a:t>Vorname</a:t>
                      </a:r>
                    </a:p>
                  </a:txBody>
                  <a:tcPr marL="54864" marR="54864" marT="18288" marB="18288">
                    <a:solidFill>
                      <a:srgbClr val="EBE2D2"/>
                    </a:solidFill>
                  </a:tcPr>
                </a:tc>
                <a:tc>
                  <a:txBody>
                    <a:bodyPr/>
                    <a:lstStyle/>
                    <a:p>
                      <a:r>
                        <a:rPr sz="1035" b="1" i="0" u="none">
                          <a:solidFill>
                            <a:srgbClr val="1C2B3A"/>
                          </a:solidFill>
                          <a:latin typeface="IBM Plex Mono"/>
                        </a:rPr>
                        <a:t>Nachname</a:t>
                      </a:r>
                    </a:p>
                  </a:txBody>
                  <a:tcPr marL="54864" marR="54864" marT="18288" marB="18288">
                    <a:solidFill>
                      <a:srgbClr val="EBE2D2"/>
                    </a:solidFill>
                  </a:tcPr>
                </a:tc>
              </a:tr>
            </a:tbl>
          </a:graphicData>
        </a:graphic>
      </p:graphicFrame>
      <p:sp>
        <p:nvSpPr>
          <p:cNvPr id="18" name="TextBox 17"/>
          <p:cNvSpPr txBox="1"/>
          <p:nvPr/>
        </p:nvSpPr>
        <p:spPr>
          <a:xfrm>
            <a:off x="548640" y="3752183"/>
            <a:ext cx="521208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5FAF86"/>
                </a:solidFill>
                <a:latin typeface="IBM Plex Mono"/>
              </a:rPr>
              <a:t>✔ RICHTIG</a:t>
            </a:r>
          </a:p>
        </p:txBody>
      </p:sp>
      <p:sp>
        <p:nvSpPr>
          <p:cNvPr id="19" name="SQL-Hintergrund"/>
          <p:cNvSpPr/>
          <p:nvPr/>
        </p:nvSpPr>
        <p:spPr>
          <a:xfrm>
            <a:off x="548640" y="4063079"/>
            <a:ext cx="5212080" cy="10344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QL"/>
          <p:cNvSpPr txBox="1"/>
          <p:nvPr/>
        </p:nvSpPr>
        <p:spPr>
          <a:xfrm>
            <a:off x="731520" y="4200239"/>
            <a:ext cx="4846320" cy="760095"/>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Vorname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Nachname</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Spieler</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Wertung</a:t>
            </a:r>
            <a:r>
              <a:rPr sz="1500" i="0">
                <a:solidFill>
                  <a:srgbClr val="D8E3D0"/>
                </a:solidFill>
                <a:latin typeface="IBM Plex Mono"/>
              </a:rPr>
              <a:t> </a:t>
            </a:r>
            <a:r>
              <a:rPr sz="1500" i="0">
                <a:solidFill>
                  <a:srgbClr val="F2A65A"/>
                </a:solidFill>
                <a:latin typeface="IBM Plex Mono"/>
              </a:rPr>
              <a:t>IS</a:t>
            </a:r>
            <a:r>
              <a:rPr sz="1500" i="0">
                <a:solidFill>
                  <a:srgbClr val="D8E3D0"/>
                </a:solidFill>
                <a:latin typeface="IBM Plex Mono"/>
              </a:rPr>
              <a:t> </a:t>
            </a:r>
            <a:r>
              <a:rPr sz="1500" i="0">
                <a:solidFill>
                  <a:srgbClr val="F2A65A"/>
                </a:solidFill>
                <a:latin typeface="IBM Plex Mono"/>
              </a:rPr>
              <a:t>NULL</a:t>
            </a:r>
          </a:p>
        </p:txBody>
      </p:sp>
      <p:sp>
        <p:nvSpPr>
          <p:cNvPr id="21" name="Rectangle 20"/>
          <p:cNvSpPr/>
          <p:nvPr/>
        </p:nvSpPr>
        <p:spPr>
          <a:xfrm>
            <a:off x="548640" y="4063079"/>
            <a:ext cx="64008" cy="1034415"/>
          </a:xfrm>
          <a:prstGeom prst="rect">
            <a:avLst/>
          </a:prstGeom>
          <a:solidFill>
            <a:srgbClr val="5FA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5170646"/>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2 ZEILEN</a:t>
            </a:r>
          </a:p>
        </p:txBody>
      </p:sp>
      <p:graphicFrame>
        <p:nvGraphicFramePr>
          <p:cNvPr id="23" name="Ergebnistabelle"/>
          <p:cNvGraphicFramePr>
            <a:graphicFrameLocks noGrp="1"/>
          </p:cNvGraphicFramePr>
          <p:nvPr/>
        </p:nvGraphicFramePr>
        <p:xfrm>
          <a:off x="548640" y="5481542"/>
          <a:ext cx="1860232" cy="664368"/>
        </p:xfrm>
        <a:graphic>
          <a:graphicData uri="http://schemas.openxmlformats.org/drawingml/2006/table">
            <a:tbl>
              <a:tblPr firstRow="1">
                <a:tableStyleId>{5C22544A-7EE6-4342-B048-85BDC9FD1C3A}</a:tableStyleId>
              </a:tblPr>
              <a:tblGrid>
                <a:gridCol w="886396"/>
                <a:gridCol w="973836"/>
              </a:tblGrid>
              <a:tr h="221456">
                <a:tc>
                  <a:txBody>
                    <a:bodyPr/>
                    <a:lstStyle/>
                    <a:p>
                      <a:r>
                        <a:rPr sz="1035" b="1" i="0" u="none">
                          <a:solidFill>
                            <a:srgbClr val="1C2B3A"/>
                          </a:solidFill>
                          <a:latin typeface="IBM Plex Mono"/>
                        </a:rPr>
                        <a:t>Vorname</a:t>
                      </a:r>
                    </a:p>
                  </a:txBody>
                  <a:tcPr marL="54864" marR="54864" marT="18288" marB="18288">
                    <a:solidFill>
                      <a:srgbClr val="EBE2D2"/>
                    </a:solidFill>
                  </a:tcPr>
                </a:tc>
                <a:tc>
                  <a:txBody>
                    <a:bodyPr/>
                    <a:lstStyle/>
                    <a:p>
                      <a:r>
                        <a:rPr sz="1035" b="1" i="0" u="none">
                          <a:solidFill>
                            <a:srgbClr val="1C2B3A"/>
                          </a:solidFill>
                          <a:latin typeface="IBM Plex Mono"/>
                        </a:rPr>
                        <a:t>Nachname</a:t>
                      </a:r>
                    </a:p>
                  </a:txBody>
                  <a:tcPr marL="54864" marR="54864" marT="18288" marB="18288">
                    <a:solidFill>
                      <a:srgbClr val="EBE2D2"/>
                    </a:solidFill>
                  </a:tcPr>
                </a:tc>
              </a:tr>
              <a:tr h="221456">
                <a:tc>
                  <a:txBody>
                    <a:bodyPr/>
                    <a:lstStyle/>
                    <a:p>
                      <a:r>
                        <a:rPr sz="1125" b="0" i="0" u="none">
                          <a:solidFill>
                            <a:srgbClr val="1C2B3A"/>
                          </a:solidFill>
                          <a:latin typeface="Barlow"/>
                        </a:rPr>
                        <a:t>Joris</a:t>
                      </a:r>
                    </a:p>
                  </a:txBody>
                  <a:tcPr marL="54864" marR="54864" marT="18288" marB="18288">
                    <a:solidFill>
                      <a:srgbClr val="FFFDF8"/>
                    </a:solidFill>
                  </a:tcPr>
                </a:tc>
                <a:tc>
                  <a:txBody>
                    <a:bodyPr/>
                    <a:lstStyle/>
                    <a:p>
                      <a:r>
                        <a:rPr sz="1125" b="0" i="0" u="none">
                          <a:solidFill>
                            <a:srgbClr val="1C2B3A"/>
                          </a:solidFill>
                          <a:latin typeface="Barlow"/>
                        </a:rPr>
                        <a:t>Kampen</a:t>
                      </a:r>
                    </a:p>
                  </a:txBody>
                  <a:tcPr marL="54864" marR="54864" marT="18288" marB="18288">
                    <a:solidFill>
                      <a:srgbClr val="FFFDF8"/>
                    </a:solidFill>
                  </a:tcPr>
                </a:tc>
              </a:tr>
              <a:tr h="221456">
                <a:tc>
                  <a:txBody>
                    <a:bodyPr/>
                    <a:lstStyle/>
                    <a:p>
                      <a:r>
                        <a:rPr sz="1125" b="0" i="0" u="none">
                          <a:solidFill>
                            <a:srgbClr val="1C2B3A"/>
                          </a:solidFill>
                          <a:latin typeface="Barlow"/>
                        </a:rPr>
                        <a:t>Keno</a:t>
                      </a:r>
                    </a:p>
                  </a:txBody>
                  <a:tcPr marL="54864" marR="54864" marT="18288" marB="18288">
                    <a:solidFill>
                      <a:srgbClr val="FFFDF8"/>
                    </a:solidFill>
                  </a:tcPr>
                </a:tc>
                <a:tc>
                  <a:txBody>
                    <a:bodyPr/>
                    <a:lstStyle/>
                    <a:p>
                      <a:r>
                        <a:rPr sz="1125" b="0" i="0" u="none">
                          <a:solidFill>
                            <a:srgbClr val="1C2B3A"/>
                          </a:solidFill>
                          <a:latin typeface="Barlow"/>
                        </a:rPr>
                        <a:t>Uphoff</a:t>
                      </a:r>
                    </a:p>
                  </a:txBody>
                  <a:tcPr marL="54864" marR="54864" marT="18288" marB="18288">
                    <a:solidFill>
                      <a:srgbClr val="FFFD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Sortieren und begrenzen: ORDER BY und LIMIT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6035040" y="1691640"/>
            <a:ext cx="5608015" cy="1981199"/>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981199"/>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SORTIEREN</a:t>
            </a:r>
          </a:p>
        </p:txBody>
      </p:sp>
      <p:sp>
        <p:nvSpPr>
          <p:cNvPr id="11" name="TextBox 10"/>
          <p:cNvSpPr txBox="1"/>
          <p:nvPr/>
        </p:nvSpPr>
        <p:spPr>
          <a:xfrm>
            <a:off x="6309359" y="2148840"/>
            <a:ext cx="5196535" cy="1478279"/>
          </a:xfrm>
          <a:prstGeom prst="rect">
            <a:avLst/>
          </a:prstGeom>
          <a:noFill/>
        </p:spPr>
        <p:txBody>
          <a:bodyPr wrap="square" lIns="27432" rIns="27432" tIns="27432" bIns="27432">
            <a:spAutoFit/>
          </a:bodyPr>
          <a:lstStyle/>
          <a:p>
            <a:pPr>
              <a:lnSpc>
                <a:spcPct val="105000"/>
              </a:lnSpc>
              <a:spcAft>
                <a:spcPts val="300"/>
              </a:spcAft>
            </a:pPr>
            <a:r>
              <a:rPr sz="1614" b="1">
                <a:solidFill>
                  <a:srgbClr val="2C5A85"/>
                </a:solidFill>
                <a:latin typeface="Barlow"/>
              </a:rPr>
              <a:t>▸  </a:t>
            </a:r>
            <a:r>
              <a:rPr sz="1453" b="0" i="0" u="none">
                <a:solidFill>
                  <a:srgbClr val="1C2B3A"/>
                </a:solidFill>
                <a:latin typeface="IBM Plex Mono"/>
              </a:rPr>
              <a:t>ASC</a:t>
            </a:r>
            <a:r>
              <a:rPr sz="1614" b="0" i="0" u="none">
                <a:solidFill>
                  <a:srgbClr val="1C2B3A"/>
                </a:solidFill>
                <a:latin typeface="Barlow"/>
              </a:rPr>
              <a:t> aufsteigend (Standard), </a:t>
            </a:r>
            <a:r>
              <a:rPr sz="1453" b="0" i="0" u="none">
                <a:solidFill>
                  <a:srgbClr val="1C2B3A"/>
                </a:solidFill>
                <a:latin typeface="IBM Plex Mono"/>
              </a:rPr>
              <a:t>DESC</a:t>
            </a:r>
            <a:r>
              <a:rPr sz="1614" b="0" i="0" u="none">
                <a:solidFill>
                  <a:srgbClr val="1C2B3A"/>
                </a:solidFill>
                <a:latin typeface="Barlow"/>
              </a:rPr>
              <a:t> absteigend</a:t>
            </a:r>
          </a:p>
          <a:p>
            <a:pPr>
              <a:lnSpc>
                <a:spcPct val="105000"/>
              </a:lnSpc>
              <a:spcAft>
                <a:spcPts val="300"/>
              </a:spcAft>
            </a:pPr>
            <a:r>
              <a:rPr sz="1614" b="1">
                <a:solidFill>
                  <a:srgbClr val="2C5A85"/>
                </a:solidFill>
                <a:latin typeface="Barlow"/>
              </a:rPr>
              <a:t>▸  </a:t>
            </a:r>
            <a:r>
              <a:rPr sz="1614" b="0" i="0" u="none">
                <a:solidFill>
                  <a:srgbClr val="1C2B3A"/>
                </a:solidFill>
                <a:latin typeface="Barlow"/>
              </a:rPr>
              <a:t>mehrstufig: </a:t>
            </a:r>
            <a:r>
              <a:rPr sz="1453" b="0" i="0" u="none">
                <a:solidFill>
                  <a:srgbClr val="1C2B3A"/>
                </a:solidFill>
                <a:latin typeface="IBM Plex Mono"/>
              </a:rPr>
              <a:t>ORDER BY Nachname, Vorname</a:t>
            </a:r>
          </a:p>
          <a:p>
            <a:pPr>
              <a:lnSpc>
                <a:spcPct val="105000"/>
              </a:lnSpc>
              <a:spcAft>
                <a:spcPts val="300"/>
              </a:spcAft>
            </a:pPr>
            <a:r>
              <a:rPr sz="1614" b="1">
                <a:solidFill>
                  <a:srgbClr val="2C5A85"/>
                </a:solidFill>
                <a:latin typeface="Barlow"/>
              </a:rPr>
              <a:t>▸  </a:t>
            </a:r>
            <a:r>
              <a:rPr sz="1453" b="0" i="0" u="none">
                <a:solidFill>
                  <a:srgbClr val="1C2B3A"/>
                </a:solidFill>
                <a:latin typeface="IBM Plex Mono"/>
              </a:rPr>
              <a:t>LIMIT 3</a:t>
            </a:r>
            <a:r>
              <a:rPr sz="1614" b="0" i="0" u="none">
                <a:solidFill>
                  <a:srgbClr val="1C2B3A"/>
                </a:solidFill>
                <a:latin typeface="Barlow"/>
              </a:rPr>
              <a:t> erst </a:t>
            </a:r>
            <a:r>
              <a:rPr sz="1614" b="1" i="0" u="none">
                <a:solidFill>
                  <a:srgbClr val="1C2B3A"/>
                </a:solidFill>
                <a:latin typeface="Barlow"/>
              </a:rPr>
              <a:t>nach</a:t>
            </a:r>
            <a:r>
              <a:rPr sz="1614" b="0" i="0" u="none">
                <a:solidFill>
                  <a:srgbClr val="1C2B3A"/>
                </a:solidFill>
                <a:latin typeface="Barlow"/>
              </a:rPr>
              <a:t> dem Sortieren</a:t>
            </a:r>
          </a:p>
          <a:p>
            <a:pPr>
              <a:lnSpc>
                <a:spcPct val="105000"/>
              </a:lnSpc>
              <a:spcAft>
                <a:spcPts val="300"/>
              </a:spcAft>
            </a:pPr>
            <a:r>
              <a:rPr sz="1614" b="1">
                <a:solidFill>
                  <a:srgbClr val="2C5A85"/>
                </a:solidFill>
                <a:latin typeface="Barlow"/>
              </a:rPr>
              <a:t>▸  </a:t>
            </a:r>
            <a:r>
              <a:rPr sz="1614" b="0" i="0" u="none">
                <a:solidFill>
                  <a:srgbClr val="1C2B3A"/>
                </a:solidFill>
                <a:latin typeface="Barlow"/>
              </a:rPr>
              <a:t>NULL steht in SQLite bei ASC oben, bei DESC unten</a:t>
            </a:r>
          </a:p>
        </p:txBody>
      </p:sp>
      <p:sp>
        <p:nvSpPr>
          <p:cNvPr id="12" name="SQL-Hintergrund"/>
          <p:cNvSpPr/>
          <p:nvPr/>
        </p:nvSpPr>
        <p:spPr>
          <a:xfrm>
            <a:off x="548640" y="1691640"/>
            <a:ext cx="5212080" cy="1463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4846320" cy="1188720"/>
          </a:xfrm>
          <a:prstGeom prst="rect">
            <a:avLst/>
          </a:prstGeom>
          <a:noFill/>
        </p:spPr>
        <p:txBody>
          <a:bodyPr wrap="square" lIns="18288" rIns="18288" tIns="18288" bIns="18288">
            <a:spAutoFit/>
          </a:bodyPr>
          <a:lstStyle/>
          <a:p>
            <a:pPr>
              <a:lnSpc>
                <a:spcPct val="100000"/>
              </a:lnSpc>
            </a:pPr>
            <a:r>
              <a:rPr sz="1800" i="0">
                <a:solidFill>
                  <a:srgbClr val="F2A65A"/>
                </a:solidFill>
                <a:latin typeface="IBM Plex Mono"/>
              </a:rPr>
              <a:t>SELECT</a:t>
            </a:r>
            <a:r>
              <a:rPr sz="1800" i="0">
                <a:solidFill>
                  <a:srgbClr val="D8E3D0"/>
                </a:solidFill>
                <a:latin typeface="IBM Plex Mono"/>
              </a:rPr>
              <a:t> </a:t>
            </a:r>
            <a:r>
              <a:rPr sz="1800" i="0">
                <a:solidFill>
                  <a:srgbClr val="D8E3D0"/>
                </a:solidFill>
                <a:latin typeface="IBM Plex Mono"/>
              </a:rPr>
              <a:t>Vorname</a:t>
            </a:r>
            <a:r>
              <a:rPr sz="1800" i="0">
                <a:solidFill>
                  <a:srgbClr val="D8E3D0"/>
                </a:solidFill>
                <a:latin typeface="IBM Plex Mono"/>
              </a:rPr>
              <a:t>,</a:t>
            </a:r>
            <a:r>
              <a:rPr sz="1800" i="0">
                <a:solidFill>
                  <a:srgbClr val="D8E3D0"/>
                </a:solidFill>
                <a:latin typeface="IBM Plex Mono"/>
              </a:rPr>
              <a:t> </a:t>
            </a:r>
            <a:r>
              <a:rPr sz="1800" i="0">
                <a:solidFill>
                  <a:srgbClr val="D8E3D0"/>
                </a:solidFill>
                <a:latin typeface="IBM Plex Mono"/>
              </a:rPr>
              <a:t>Nachname</a:t>
            </a:r>
            <a:r>
              <a:rPr sz="1800" i="0">
                <a:solidFill>
                  <a:srgbClr val="D8E3D0"/>
                </a:solidFill>
                <a:latin typeface="IBM Plex Mono"/>
              </a:rPr>
              <a:t>,</a:t>
            </a:r>
            <a:r>
              <a:rPr sz="1800" i="0">
                <a:solidFill>
                  <a:srgbClr val="D8E3D0"/>
                </a:solidFill>
                <a:latin typeface="IBM Plex Mono"/>
              </a:rPr>
              <a:t> </a:t>
            </a:r>
            <a:r>
              <a:rPr sz="1800" i="0">
                <a:solidFill>
                  <a:srgbClr val="D8E3D0"/>
                </a:solidFill>
                <a:latin typeface="IBM Plex Mono"/>
              </a:rPr>
              <a:t>Wertung</a:t>
            </a:r>
          </a:p>
          <a:p>
            <a:pPr>
              <a:lnSpc>
                <a:spcPct val="100000"/>
              </a:lnSpc>
            </a:pPr>
            <a:r>
              <a:rPr sz="1800" i="0">
                <a:solidFill>
                  <a:srgbClr val="F2A65A"/>
                </a:solidFill>
                <a:latin typeface="IBM Plex Mono"/>
              </a:rPr>
              <a:t>FROM</a:t>
            </a:r>
            <a:r>
              <a:rPr sz="1800" i="0">
                <a:solidFill>
                  <a:srgbClr val="D8E3D0"/>
                </a:solidFill>
                <a:latin typeface="IBM Plex Mono"/>
              </a:rPr>
              <a:t> </a:t>
            </a:r>
            <a:r>
              <a:rPr sz="1800" i="0">
                <a:solidFill>
                  <a:srgbClr val="D8E3D0"/>
                </a:solidFill>
                <a:latin typeface="IBM Plex Mono"/>
              </a:rPr>
              <a:t>Spieler</a:t>
            </a:r>
          </a:p>
          <a:p>
            <a:pPr>
              <a:lnSpc>
                <a:spcPct val="100000"/>
              </a:lnSpc>
            </a:pPr>
            <a:r>
              <a:rPr sz="1800" i="0">
                <a:solidFill>
                  <a:srgbClr val="F2A65A"/>
                </a:solidFill>
                <a:latin typeface="IBM Plex Mono"/>
              </a:rPr>
              <a:t>ORDER</a:t>
            </a:r>
            <a:r>
              <a:rPr sz="1800" i="0">
                <a:solidFill>
                  <a:srgbClr val="D8E3D0"/>
                </a:solidFill>
                <a:latin typeface="IBM Plex Mono"/>
              </a:rPr>
              <a:t> </a:t>
            </a:r>
            <a:r>
              <a:rPr sz="1800" i="0">
                <a:solidFill>
                  <a:srgbClr val="F2A65A"/>
                </a:solidFill>
                <a:latin typeface="IBM Plex Mono"/>
              </a:rPr>
              <a:t>BY</a:t>
            </a:r>
            <a:r>
              <a:rPr sz="1800" i="0">
                <a:solidFill>
                  <a:srgbClr val="D8E3D0"/>
                </a:solidFill>
                <a:latin typeface="IBM Plex Mono"/>
              </a:rPr>
              <a:t> </a:t>
            </a:r>
            <a:r>
              <a:rPr sz="1800" i="0">
                <a:solidFill>
                  <a:srgbClr val="D8E3D0"/>
                </a:solidFill>
                <a:latin typeface="IBM Plex Mono"/>
              </a:rPr>
              <a:t>Wertung</a:t>
            </a:r>
            <a:r>
              <a:rPr sz="1800" i="0">
                <a:solidFill>
                  <a:srgbClr val="D8E3D0"/>
                </a:solidFill>
                <a:latin typeface="IBM Plex Mono"/>
              </a:rPr>
              <a:t> </a:t>
            </a:r>
            <a:r>
              <a:rPr sz="1800" i="0">
                <a:solidFill>
                  <a:srgbClr val="F2A65A"/>
                </a:solidFill>
                <a:latin typeface="IBM Plex Mono"/>
              </a:rPr>
              <a:t>DESC</a:t>
            </a:r>
          </a:p>
          <a:p>
            <a:pPr>
              <a:lnSpc>
                <a:spcPct val="100000"/>
              </a:lnSpc>
            </a:pPr>
            <a:r>
              <a:rPr sz="1800" i="0">
                <a:solidFill>
                  <a:srgbClr val="F2A65A"/>
                </a:solidFill>
                <a:latin typeface="IBM Plex Mono"/>
              </a:rPr>
              <a:t>LIMIT</a:t>
            </a:r>
            <a:r>
              <a:rPr sz="1800" i="0">
                <a:solidFill>
                  <a:srgbClr val="D8E3D0"/>
                </a:solidFill>
                <a:latin typeface="IBM Plex Mono"/>
              </a:rPr>
              <a:t> </a:t>
            </a:r>
            <a:r>
              <a:rPr sz="1800" i="0">
                <a:solidFill>
                  <a:srgbClr val="8CC4FF"/>
                </a:solidFill>
                <a:latin typeface="IBM Plex Mono"/>
              </a:rPr>
              <a:t>3</a:t>
            </a:r>
          </a:p>
        </p:txBody>
      </p:sp>
      <p:sp>
        <p:nvSpPr>
          <p:cNvPr id="14" name="TextBox 13"/>
          <p:cNvSpPr txBox="1"/>
          <p:nvPr/>
        </p:nvSpPr>
        <p:spPr>
          <a:xfrm>
            <a:off x="548640" y="3227832"/>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3 ZEILEN</a:t>
            </a:r>
          </a:p>
        </p:txBody>
      </p:sp>
      <p:graphicFrame>
        <p:nvGraphicFramePr>
          <p:cNvPr id="15" name="Ergebnistabelle"/>
          <p:cNvGraphicFramePr>
            <a:graphicFrameLocks noGrp="1"/>
          </p:cNvGraphicFramePr>
          <p:nvPr/>
        </p:nvGraphicFramePr>
        <p:xfrm>
          <a:off x="548640" y="3538728"/>
          <a:ext cx="3387852" cy="1181100"/>
        </p:xfrm>
        <a:graphic>
          <a:graphicData uri="http://schemas.openxmlformats.org/drawingml/2006/table">
            <a:tbl>
              <a:tblPr firstRow="1">
                <a:tableStyleId>{5C22544A-7EE6-4342-B048-85BDC9FD1C3A}</a:tableStyleId>
              </a:tblPr>
              <a:tblGrid>
                <a:gridCol w="1090422"/>
                <a:gridCol w="1207008"/>
                <a:gridCol w="1090422"/>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Wertung</a:t>
                      </a:r>
                    </a:p>
                  </a:txBody>
                  <a:tcPr marL="54864" marR="54864" marT="18288" marB="18288">
                    <a:solidFill>
                      <a:srgbClr val="EBE2D2"/>
                    </a:solidFill>
                  </a:tcPr>
                </a:tc>
              </a:tr>
              <a:tr h="295275">
                <a:tc>
                  <a:txBody>
                    <a:bodyPr/>
                    <a:lstStyle/>
                    <a:p>
                      <a:r>
                        <a:rPr sz="1500" b="0" i="0" u="none">
                          <a:solidFill>
                            <a:srgbClr val="1C2B3A"/>
                          </a:solidFill>
                          <a:latin typeface="Barlow"/>
                        </a:rPr>
                        <a:t>Tomke</a:t>
                      </a:r>
                    </a:p>
                  </a:txBody>
                  <a:tcPr marL="54864" marR="54864" marT="18288" marB="18288">
                    <a:solidFill>
                      <a:srgbClr val="FFFDF8"/>
                    </a:solidFill>
                  </a:tcPr>
                </a:tc>
                <a:tc>
                  <a:txBody>
                    <a:bodyPr/>
                    <a:lstStyle/>
                    <a:p>
                      <a:r>
                        <a:rPr sz="1500" b="0" i="0" u="none">
                          <a:solidFill>
                            <a:srgbClr val="1C2B3A"/>
                          </a:solidFill>
                          <a:latin typeface="Barlow"/>
                        </a:rPr>
                        <a:t>Saathoff</a:t>
                      </a:r>
                    </a:p>
                  </a:txBody>
                  <a:tcPr marL="54864" marR="54864" marT="18288" marB="18288">
                    <a:solidFill>
                      <a:srgbClr val="FFFDF8"/>
                    </a:solidFill>
                  </a:tcPr>
                </a:tc>
                <a:tc>
                  <a:txBody>
                    <a:bodyPr/>
                    <a:lstStyle/>
                    <a:p>
                      <a:pPr algn="r"/>
                      <a:r>
                        <a:rPr sz="1500" b="0" i="0" u="none">
                          <a:solidFill>
                            <a:srgbClr val="1C2B3A"/>
                          </a:solidFill>
                          <a:latin typeface="Barlow"/>
                        </a:rPr>
                        <a:t>1830</a:t>
                      </a:r>
                    </a:p>
                  </a:txBody>
                  <a:tcPr marL="54864" marR="54864" marT="18288" marB="18288">
                    <a:solidFill>
                      <a:srgbClr val="FFFDF8"/>
                    </a:solidFill>
                  </a:tcPr>
                </a:tc>
              </a:tr>
              <a:tr h="295275">
                <a:tc>
                  <a:txBody>
                    <a:bodyPr/>
                    <a:lstStyle/>
                    <a:p>
                      <a:r>
                        <a:rPr sz="1500" b="0" i="0" u="none">
                          <a:solidFill>
                            <a:srgbClr val="1C2B3A"/>
                          </a:solidFill>
                          <a:latin typeface="Barlow"/>
                        </a:rPr>
                        <a:t>Fenja</a:t>
                      </a:r>
                    </a:p>
                  </a:txBody>
                  <a:tcPr marL="54864" marR="54864" marT="18288" marB="18288">
                    <a:solidFill>
                      <a:srgbClr val="FFFDF8"/>
                    </a:solidFill>
                  </a:tcPr>
                </a:tc>
                <a:tc>
                  <a:txBody>
                    <a:bodyPr/>
                    <a:lstStyle/>
                    <a:p>
                      <a:r>
                        <a:rPr sz="1500" b="0" i="0" u="none">
                          <a:solidFill>
                            <a:srgbClr val="1C2B3A"/>
                          </a:solidFill>
                          <a:latin typeface="Barlow"/>
                        </a:rPr>
                        <a:t>Harjes</a:t>
                      </a:r>
                    </a:p>
                  </a:txBody>
                  <a:tcPr marL="54864" marR="54864" marT="18288" marB="18288">
                    <a:solidFill>
                      <a:srgbClr val="FFFDF8"/>
                    </a:solidFill>
                  </a:tcPr>
                </a:tc>
                <a:tc>
                  <a:txBody>
                    <a:bodyPr/>
                    <a:lstStyle/>
                    <a:p>
                      <a:pPr algn="r"/>
                      <a:r>
                        <a:rPr sz="1500" b="0" i="0" u="none">
                          <a:solidFill>
                            <a:srgbClr val="1C2B3A"/>
                          </a:solidFill>
                          <a:latin typeface="Barlow"/>
                        </a:rPr>
                        <a:t>1755</a:t>
                      </a:r>
                    </a:p>
                  </a:txBody>
                  <a:tcPr marL="54864" marR="54864" marT="18288" marB="18288">
                    <a:solidFill>
                      <a:srgbClr val="FFFDF8"/>
                    </a:solidFill>
                  </a:tcPr>
                </a:tc>
              </a:tr>
              <a:tr h="295275">
                <a:tc>
                  <a:txBody>
                    <a:bodyPr/>
                    <a:lstStyle/>
                    <a:p>
                      <a:r>
                        <a:rPr sz="1500" b="0" i="0" u="none">
                          <a:solidFill>
                            <a:srgbClr val="1C2B3A"/>
                          </a:solidFill>
                          <a:latin typeface="Barlow"/>
                        </a:rPr>
                        <a:t>Arne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c>
                  <a:txBody>
                    <a:bodyPr/>
                    <a:lstStyle/>
                    <a:p>
                      <a:pPr algn="r"/>
                      <a:r>
                        <a:rPr sz="1500" b="0" i="0" u="none">
                          <a:solidFill>
                            <a:srgbClr val="1C2B3A"/>
                          </a:solidFill>
                          <a:latin typeface="Barlow"/>
                        </a:rPr>
                        <a:t>1690</a:t>
                      </a:r>
                    </a:p>
                  </a:txBody>
                  <a:tcPr marL="54864" marR="54864" marT="18288" marB="18288">
                    <a:solidFill>
                      <a:srgbClr val="FFFD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6035040" y="1691640"/>
            <a:ext cx="5608015" cy="131368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31368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TIPP</a:t>
            </a:r>
          </a:p>
        </p:txBody>
      </p:sp>
      <p:sp>
        <p:nvSpPr>
          <p:cNvPr id="11" name="TextBox 10"/>
          <p:cNvSpPr txBox="1"/>
          <p:nvPr/>
        </p:nvSpPr>
        <p:spPr>
          <a:xfrm>
            <a:off x="6309359" y="2148840"/>
            <a:ext cx="5196535" cy="810767"/>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„Ohne Verein“ heißt: In VereinNr steht NULL.</a:t>
            </a:r>
          </a:p>
          <a:p>
            <a:pPr>
              <a:lnSpc>
                <a:spcPct val="105000"/>
              </a:lnSpc>
              <a:spcAft>
                <a:spcPts val="300"/>
              </a:spcAft>
            </a:pPr>
            <a:r>
              <a:rPr sz="1700" b="0" i="0" u="none">
                <a:solidFill>
                  <a:srgbClr val="1C2B3A"/>
                </a:solidFill>
                <a:latin typeface="Barlow"/>
              </a:rPr>
              <a:t>Wie viele Zeilen erwartest du?</a:t>
            </a:r>
          </a:p>
        </p:txBody>
      </p:sp>
      <p:sp>
        <p:nvSpPr>
          <p:cNvPr id="12" name="Pause"/>
          <p:cNvSpPr/>
          <p:nvPr/>
        </p:nvSpPr>
        <p:spPr>
          <a:xfrm>
            <a:off x="548640" y="1691640"/>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691640"/>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4" name="TextBox 13"/>
          <p:cNvSpPr txBox="1"/>
          <p:nvPr/>
        </p:nvSpPr>
        <p:spPr>
          <a:xfrm>
            <a:off x="548640" y="2258568"/>
            <a:ext cx="5212080" cy="1292352"/>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Gesucht sind alle Spielerinnen und Spieler aus </a:t>
            </a:r>
            <a:r>
              <a:rPr sz="2000" b="1" i="0" u="none">
                <a:solidFill>
                  <a:srgbClr val="E8E1D3"/>
                </a:solidFill>
                <a:latin typeface="Barlow"/>
              </a:rPr>
              <a:t>Verein 3</a:t>
            </a:r>
            <a:r>
              <a:rPr sz="2000" b="0" i="0" u="none">
                <a:solidFill>
                  <a:srgbClr val="E8E1D3"/>
                </a:solidFill>
                <a:latin typeface="Barlow"/>
              </a:rPr>
              <a:t> oder </a:t>
            </a:r>
            <a:r>
              <a:rPr sz="2000" b="1" i="0" u="none">
                <a:solidFill>
                  <a:srgbClr val="E8E1D3"/>
                </a:solidFill>
                <a:latin typeface="Barlow"/>
              </a:rPr>
              <a:t>ohne Verein</a:t>
            </a:r>
            <a:r>
              <a:rPr sz="2000" b="0" i="0" u="none">
                <a:solidFill>
                  <a:srgbClr val="E8E1D3"/>
                </a:solidFill>
                <a:latin typeface="Barlow"/>
              </a:rPr>
              <a:t> – mit Vorname, Nachname und VereinNr, </a:t>
            </a:r>
            <a:r>
              <a:rPr sz="2000" b="1" i="0" u="none">
                <a:solidFill>
                  <a:srgbClr val="E8E1D3"/>
                </a:solidFill>
                <a:latin typeface="Barlow"/>
              </a:rPr>
              <a:t>sortiert nach Nachname</a:t>
            </a:r>
            <a:r>
              <a:rPr sz="2000" b="0" i="0" u="none">
                <a:solidFill>
                  <a:srgbClr val="E8E1D3"/>
                </a:solidFill>
                <a:latin typeface="Barlow"/>
              </a:rPr>
              <a:t>.</a:t>
            </a:r>
          </a:p>
        </p:txBody>
      </p:sp>
      <p:sp>
        <p:nvSpPr>
          <p:cNvPr id="15" name="TextBox 14"/>
          <p:cNvSpPr txBox="1"/>
          <p:nvPr/>
        </p:nvSpPr>
        <p:spPr>
          <a:xfrm>
            <a:off x="548640" y="3587496"/>
            <a:ext cx="521208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Schreib die Abfrage auf, bevor du weiterschaust.</a:t>
            </a:r>
          </a:p>
        </p:txBody>
      </p:sp>
      <p:sp>
        <p:nvSpPr>
          <p:cNvPr id="16" name="Rounded Rectangle 15"/>
          <p:cNvSpPr/>
          <p:nvPr/>
        </p:nvSpPr>
        <p:spPr>
          <a:xfrm>
            <a:off x="548640" y="4306824"/>
            <a:ext cx="5212080" cy="1190274"/>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 y="4416552"/>
            <a:ext cx="4846320" cy="1007394"/>
          </a:xfrm>
          <a:prstGeom prst="rect">
            <a:avLst/>
          </a:prstGeom>
          <a:noFill/>
        </p:spPr>
        <p:txBody>
          <a:bodyPr wrap="square" lIns="27432" rIns="27432" tIns="27432" bIns="27432">
            <a:spAutoFit/>
          </a:bodyPr>
          <a:lstStyle/>
          <a:p>
            <a:pPr>
              <a:lnSpc>
                <a:spcPct val="105000"/>
              </a:lnSpc>
              <a:spcAft>
                <a:spcPts val="500"/>
              </a:spcAft>
            </a:pPr>
            <a:r>
              <a:rPr sz="1748" b="0" i="0" u="none">
                <a:solidFill>
                  <a:srgbClr val="1C2B3A"/>
                </a:solidFill>
                <a:latin typeface="IBM Plex Mono"/>
              </a:rPr>
              <a:t>Spieler(</a:t>
            </a:r>
            <a:r>
              <a:rPr sz="1748" b="0" i="0" u="sng">
                <a:solidFill>
                  <a:srgbClr val="1C2B3A"/>
                </a:solidFill>
                <a:latin typeface="IBM Plex Mono"/>
              </a:rPr>
              <a:t>SpielerNr</a:t>
            </a:r>
            <a:r>
              <a:rPr sz="1748" b="0" i="0" u="none">
                <a:solidFill>
                  <a:srgbClr val="1C2B3A"/>
                </a:solidFill>
                <a:latin typeface="IBM Plex Mono"/>
              </a:rPr>
              <a:t>, Vorname, Nachname, Jahrgang, Wertung, </a:t>
            </a:r>
            <a:r>
              <a:rPr sz="1748" b="0" i="0" u="none">
                <a:solidFill>
                  <a:srgbClr val="B3261E"/>
                </a:solidFill>
                <a:latin typeface="IBM Plex Mono"/>
              </a:rPr>
              <a:t>↑</a:t>
            </a:r>
            <a:r>
              <a:rPr sz="1748" b="0" i="0" u="none">
                <a:solidFill>
                  <a:srgbClr val="1C2B3A"/>
                </a:solidFill>
                <a:latin typeface="IBM Plex Mono"/>
              </a:rPr>
              <a:t>VereinNr)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6035040" y="1691640"/>
            <a:ext cx="5608015" cy="1673351"/>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673351"/>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TYPISCHE FEHLER</a:t>
            </a:r>
          </a:p>
        </p:txBody>
      </p:sp>
      <p:sp>
        <p:nvSpPr>
          <p:cNvPr id="11" name="TextBox 10"/>
          <p:cNvSpPr txBox="1"/>
          <p:nvPr/>
        </p:nvSpPr>
        <p:spPr>
          <a:xfrm>
            <a:off x="6309359" y="2148840"/>
            <a:ext cx="5196535" cy="1170431"/>
          </a:xfrm>
          <a:prstGeom prst="rect">
            <a:avLst/>
          </a:prstGeom>
          <a:noFill/>
        </p:spPr>
        <p:txBody>
          <a:bodyPr wrap="square" lIns="27432" rIns="27432" tIns="27432" bIns="27432">
            <a:spAutoFit/>
          </a:bodyPr>
          <a:lstStyle/>
          <a:p>
            <a:pPr>
              <a:lnSpc>
                <a:spcPct val="105000"/>
              </a:lnSpc>
              <a:spcAft>
                <a:spcPts val="300"/>
              </a:spcAft>
            </a:pPr>
            <a:r>
              <a:rPr sz="1700" b="1">
                <a:solidFill>
                  <a:srgbClr val="B3261E"/>
                </a:solidFill>
                <a:latin typeface="Barlow"/>
              </a:rPr>
              <a:t>▸  </a:t>
            </a:r>
            <a:r>
              <a:rPr sz="1530" b="0" i="0" u="none">
                <a:solidFill>
                  <a:srgbClr val="1C2B3A"/>
                </a:solidFill>
                <a:latin typeface="IBM Plex Mono"/>
              </a:rPr>
              <a:t>VereinNr = NULL</a:t>
            </a:r>
            <a:r>
              <a:rPr sz="1700" b="0" i="0" u="none">
                <a:solidFill>
                  <a:srgbClr val="1C2B3A"/>
                </a:solidFill>
                <a:latin typeface="Barlow"/>
              </a:rPr>
              <a:t> → nur Verein 3 (P5)</a:t>
            </a:r>
          </a:p>
          <a:p>
            <a:pPr>
              <a:lnSpc>
                <a:spcPct val="105000"/>
              </a:lnSpc>
              <a:spcAft>
                <a:spcPts val="300"/>
              </a:spcAft>
            </a:pPr>
            <a:r>
              <a:rPr sz="1700" b="1">
                <a:solidFill>
                  <a:srgbClr val="B3261E"/>
                </a:solidFill>
                <a:latin typeface="Barlow"/>
              </a:rPr>
              <a:t>▸  </a:t>
            </a:r>
            <a:r>
              <a:rPr sz="1700" b="0" i="0" u="none">
                <a:solidFill>
                  <a:srgbClr val="1C2B3A"/>
                </a:solidFill>
                <a:latin typeface="Barlow"/>
              </a:rPr>
              <a:t>ORDER BY vergessen oder nach SpielerNr sortiert</a:t>
            </a:r>
          </a:p>
          <a:p>
            <a:pPr>
              <a:lnSpc>
                <a:spcPct val="105000"/>
              </a:lnSpc>
              <a:spcAft>
                <a:spcPts val="300"/>
              </a:spcAft>
            </a:pPr>
            <a:r>
              <a:rPr sz="1700" b="1">
                <a:solidFill>
                  <a:srgbClr val="B3261E"/>
                </a:solidFill>
                <a:latin typeface="Barlow"/>
              </a:rPr>
              <a:t>▸  </a:t>
            </a:r>
            <a:r>
              <a:rPr sz="1700" b="0" i="0" u="none">
                <a:solidFill>
                  <a:srgbClr val="1C2B3A"/>
                </a:solidFill>
                <a:latin typeface="Barlow"/>
              </a:rPr>
              <a:t>nur OR – hier sind keine Klammern nötig</a:t>
            </a:r>
          </a:p>
        </p:txBody>
      </p:sp>
      <p:sp>
        <p:nvSpPr>
          <p:cNvPr id="12" name="SQL-Hintergrund"/>
          <p:cNvSpPr/>
          <p:nvPr/>
        </p:nvSpPr>
        <p:spPr>
          <a:xfrm>
            <a:off x="548640" y="1691640"/>
            <a:ext cx="5212080" cy="1336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4846320" cy="1061720"/>
          </a:xfrm>
          <a:prstGeom prst="rect">
            <a:avLst/>
          </a:prstGeom>
          <a:noFill/>
        </p:spPr>
        <p:txBody>
          <a:bodyPr wrap="square" lIns="18288" rIns="18288" tIns="18288" bIns="18288">
            <a:spAutoFit/>
          </a:bodyPr>
          <a:lstStyle/>
          <a:p>
            <a:pPr>
              <a:lnSpc>
                <a:spcPct val="100000"/>
              </a:lnSpc>
            </a:pPr>
            <a:r>
              <a:rPr sz="1600" i="0">
                <a:solidFill>
                  <a:srgbClr val="F2A65A"/>
                </a:solidFill>
                <a:latin typeface="IBM Plex Mono"/>
              </a:rPr>
              <a:t>SELECT</a:t>
            </a:r>
            <a:r>
              <a:rPr sz="1600" i="0">
                <a:solidFill>
                  <a:srgbClr val="D8E3D0"/>
                </a:solidFill>
                <a:latin typeface="IBM Plex Mono"/>
              </a:rPr>
              <a:t> </a:t>
            </a:r>
            <a:r>
              <a:rPr sz="1600" i="0">
                <a:solidFill>
                  <a:srgbClr val="D8E3D0"/>
                </a:solidFill>
                <a:latin typeface="IBM Plex Mono"/>
              </a:rPr>
              <a:t>Vorname</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Nachname</a:t>
            </a:r>
            <a:r>
              <a:rPr sz="1600" i="0">
                <a:solidFill>
                  <a:srgbClr val="D8E3D0"/>
                </a:solidFill>
                <a:latin typeface="IBM Plex Mono"/>
              </a:rPr>
              <a:t>,</a:t>
            </a:r>
            <a:r>
              <a:rPr sz="1600" i="0">
                <a:solidFill>
                  <a:srgbClr val="D8E3D0"/>
                </a:solidFill>
                <a:latin typeface="IBM Plex Mono"/>
              </a:rPr>
              <a:t> </a:t>
            </a:r>
            <a:r>
              <a:rPr sz="1600" i="0">
                <a:solidFill>
                  <a:srgbClr val="D8E3D0"/>
                </a:solidFill>
                <a:latin typeface="IBM Plex Mono"/>
              </a:rPr>
              <a:t>VereinNr</a:t>
            </a:r>
          </a:p>
          <a:p>
            <a:pPr>
              <a:lnSpc>
                <a:spcPct val="100000"/>
              </a:lnSpc>
            </a:pPr>
            <a:r>
              <a:rPr sz="1600" i="0">
                <a:solidFill>
                  <a:srgbClr val="F2A65A"/>
                </a:solidFill>
                <a:latin typeface="IBM Plex Mono"/>
              </a:rPr>
              <a:t>FROM</a:t>
            </a:r>
            <a:r>
              <a:rPr sz="1600" i="0">
                <a:solidFill>
                  <a:srgbClr val="D8E3D0"/>
                </a:solidFill>
                <a:latin typeface="IBM Plex Mono"/>
              </a:rPr>
              <a:t> </a:t>
            </a:r>
            <a:r>
              <a:rPr sz="1600" i="0">
                <a:solidFill>
                  <a:srgbClr val="D8E3D0"/>
                </a:solidFill>
                <a:latin typeface="IBM Plex Mono"/>
              </a:rPr>
              <a:t>Spieler</a:t>
            </a:r>
          </a:p>
          <a:p>
            <a:pPr>
              <a:lnSpc>
                <a:spcPct val="100000"/>
              </a:lnSpc>
            </a:pPr>
            <a:r>
              <a:rPr sz="1600" i="0">
                <a:solidFill>
                  <a:srgbClr val="F2A65A"/>
                </a:solidFill>
                <a:latin typeface="IBM Plex Mono"/>
              </a:rPr>
              <a:t>WHERE</a:t>
            </a:r>
            <a:r>
              <a:rPr sz="1600" i="0">
                <a:solidFill>
                  <a:srgbClr val="D8E3D0"/>
                </a:solidFill>
                <a:latin typeface="IBM Plex Mono"/>
              </a:rPr>
              <a:t> </a:t>
            </a:r>
            <a:r>
              <a:rPr sz="1600" i="0">
                <a:solidFill>
                  <a:srgbClr val="D8E3D0"/>
                </a:solidFill>
                <a:latin typeface="IBM Plex Mono"/>
              </a:rPr>
              <a:t>VereinNr</a:t>
            </a:r>
            <a:r>
              <a:rPr sz="1600" i="0">
                <a:solidFill>
                  <a:srgbClr val="D8E3D0"/>
                </a:solidFill>
                <a:latin typeface="IBM Plex Mono"/>
              </a:rPr>
              <a:t> </a:t>
            </a:r>
            <a:r>
              <a:rPr sz="1600" i="0">
                <a:solidFill>
                  <a:srgbClr val="D8E3D0"/>
                </a:solidFill>
                <a:latin typeface="IBM Plex Mono"/>
              </a:rPr>
              <a:t>=</a:t>
            </a:r>
            <a:r>
              <a:rPr sz="1600" i="0">
                <a:solidFill>
                  <a:srgbClr val="D8E3D0"/>
                </a:solidFill>
                <a:latin typeface="IBM Plex Mono"/>
              </a:rPr>
              <a:t> </a:t>
            </a:r>
            <a:r>
              <a:rPr sz="1600" i="0">
                <a:solidFill>
                  <a:srgbClr val="8CC4FF"/>
                </a:solidFill>
                <a:latin typeface="IBM Plex Mono"/>
              </a:rPr>
              <a:t>3</a:t>
            </a:r>
            <a:r>
              <a:rPr sz="1600" i="0">
                <a:solidFill>
                  <a:srgbClr val="D8E3D0"/>
                </a:solidFill>
                <a:latin typeface="IBM Plex Mono"/>
              </a:rPr>
              <a:t> </a:t>
            </a:r>
            <a:r>
              <a:rPr sz="1600" i="0">
                <a:solidFill>
                  <a:srgbClr val="F2A65A"/>
                </a:solidFill>
                <a:latin typeface="IBM Plex Mono"/>
              </a:rPr>
              <a:t>OR</a:t>
            </a:r>
            <a:r>
              <a:rPr sz="1600" i="0">
                <a:solidFill>
                  <a:srgbClr val="D8E3D0"/>
                </a:solidFill>
                <a:latin typeface="IBM Plex Mono"/>
              </a:rPr>
              <a:t> </a:t>
            </a:r>
            <a:r>
              <a:rPr sz="1600" i="0">
                <a:solidFill>
                  <a:srgbClr val="D8E3D0"/>
                </a:solidFill>
                <a:latin typeface="IBM Plex Mono"/>
              </a:rPr>
              <a:t>VereinNr</a:t>
            </a:r>
            <a:r>
              <a:rPr sz="1600" i="0">
                <a:solidFill>
                  <a:srgbClr val="D8E3D0"/>
                </a:solidFill>
                <a:latin typeface="IBM Plex Mono"/>
              </a:rPr>
              <a:t> </a:t>
            </a:r>
            <a:r>
              <a:rPr sz="1600" i="0">
                <a:solidFill>
                  <a:srgbClr val="F2A65A"/>
                </a:solidFill>
                <a:latin typeface="IBM Plex Mono"/>
              </a:rPr>
              <a:t>IS</a:t>
            </a:r>
            <a:r>
              <a:rPr sz="1600" i="0">
                <a:solidFill>
                  <a:srgbClr val="D8E3D0"/>
                </a:solidFill>
                <a:latin typeface="IBM Plex Mono"/>
              </a:rPr>
              <a:t> </a:t>
            </a:r>
            <a:r>
              <a:rPr sz="1600" i="0">
                <a:solidFill>
                  <a:srgbClr val="F2A65A"/>
                </a:solidFill>
                <a:latin typeface="IBM Plex Mono"/>
              </a:rPr>
              <a:t>NULL</a:t>
            </a:r>
          </a:p>
          <a:p>
            <a:pPr>
              <a:lnSpc>
                <a:spcPct val="100000"/>
              </a:lnSpc>
            </a:pPr>
            <a:r>
              <a:rPr sz="1600" i="0">
                <a:solidFill>
                  <a:srgbClr val="F2A65A"/>
                </a:solidFill>
                <a:latin typeface="IBM Plex Mono"/>
              </a:rPr>
              <a:t>ORDER</a:t>
            </a:r>
            <a:r>
              <a:rPr sz="1600" i="0">
                <a:solidFill>
                  <a:srgbClr val="D8E3D0"/>
                </a:solidFill>
                <a:latin typeface="IBM Plex Mono"/>
              </a:rPr>
              <a:t> </a:t>
            </a:r>
            <a:r>
              <a:rPr sz="1600" i="0">
                <a:solidFill>
                  <a:srgbClr val="F2A65A"/>
                </a:solidFill>
                <a:latin typeface="IBM Plex Mono"/>
              </a:rPr>
              <a:t>BY</a:t>
            </a:r>
            <a:r>
              <a:rPr sz="1600" i="0">
                <a:solidFill>
                  <a:srgbClr val="D8E3D0"/>
                </a:solidFill>
                <a:latin typeface="IBM Plex Mono"/>
              </a:rPr>
              <a:t> </a:t>
            </a:r>
            <a:r>
              <a:rPr sz="1600" i="0">
                <a:solidFill>
                  <a:srgbClr val="D8E3D0"/>
                </a:solidFill>
                <a:latin typeface="IBM Plex Mono"/>
              </a:rPr>
              <a:t>Nachname</a:t>
            </a:r>
          </a:p>
        </p:txBody>
      </p:sp>
      <p:sp>
        <p:nvSpPr>
          <p:cNvPr id="14" name="TextBox 13"/>
          <p:cNvSpPr txBox="1"/>
          <p:nvPr/>
        </p:nvSpPr>
        <p:spPr>
          <a:xfrm>
            <a:off x="548640" y="3100832"/>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4 ZEILEN</a:t>
            </a:r>
          </a:p>
        </p:txBody>
      </p:sp>
      <p:graphicFrame>
        <p:nvGraphicFramePr>
          <p:cNvPr id="15" name="Ergebnistabelle"/>
          <p:cNvGraphicFramePr>
            <a:graphicFrameLocks noGrp="1"/>
          </p:cNvGraphicFramePr>
          <p:nvPr/>
        </p:nvGraphicFramePr>
        <p:xfrm>
          <a:off x="548640" y="3411728"/>
          <a:ext cx="3504438" cy="1476375"/>
        </p:xfrm>
        <a:graphic>
          <a:graphicData uri="http://schemas.openxmlformats.org/drawingml/2006/table">
            <a:tbl>
              <a:tblPr firstRow="1">
                <a:tableStyleId>{5C22544A-7EE6-4342-B048-85BDC9FD1C3A}</a:tableStyleId>
              </a:tblPr>
              <a:tblGrid>
                <a:gridCol w="1090422"/>
                <a:gridCol w="1207008"/>
                <a:gridCol w="1207008"/>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VereinNr</a:t>
                      </a:r>
                    </a:p>
                  </a:txBody>
                  <a:tcPr marL="54864" marR="54864" marT="18288" marB="18288">
                    <a:solidFill>
                      <a:srgbClr val="EBE2D2"/>
                    </a:solidFill>
                  </a:tcPr>
                </a:tc>
              </a:tr>
              <a:tr h="295275">
                <a:tc>
                  <a:txBody>
                    <a:bodyPr/>
                    <a:lstStyle/>
                    <a:p>
                      <a:r>
                        <a:rPr sz="1500" b="0" i="0" u="none">
                          <a:solidFill>
                            <a:srgbClr val="1C2B3A"/>
                          </a:solidFill>
                          <a:latin typeface="Barlow"/>
                        </a:rPr>
                        <a:t>Smilla</a:t>
                      </a:r>
                    </a:p>
                  </a:txBody>
                  <a:tcPr marL="54864" marR="54864" marT="18288" marB="18288">
                    <a:solidFill>
                      <a:srgbClr val="FFFDF8"/>
                    </a:solidFill>
                  </a:tcPr>
                </a:tc>
                <a:tc>
                  <a:txBody>
                    <a:bodyPr/>
                    <a:lstStyle/>
                    <a:p>
                      <a:r>
                        <a:rPr sz="1500" b="0" i="0" u="none">
                          <a:solidFill>
                            <a:srgbClr val="1C2B3A"/>
                          </a:solidFill>
                          <a:latin typeface="Barlow"/>
                        </a:rPr>
                        <a:t>Onken</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r h="295275">
                <a:tc>
                  <a:txBody>
                    <a:bodyPr/>
                    <a:lstStyle/>
                    <a:p>
                      <a:r>
                        <a:rPr sz="1500" b="0" i="0" u="none">
                          <a:solidFill>
                            <a:srgbClr val="1C2B3A"/>
                          </a:solidFill>
                          <a:latin typeface="Barlow"/>
                        </a:rPr>
                        <a:t>Tomke</a:t>
                      </a:r>
                    </a:p>
                  </a:txBody>
                  <a:tcPr marL="54864" marR="54864" marT="18288" marB="18288">
                    <a:solidFill>
                      <a:srgbClr val="FFFDF8"/>
                    </a:solidFill>
                  </a:tcPr>
                </a:tc>
                <a:tc>
                  <a:txBody>
                    <a:bodyPr/>
                    <a:lstStyle/>
                    <a:p>
                      <a:r>
                        <a:rPr sz="1500" b="0" i="0" u="none">
                          <a:solidFill>
                            <a:srgbClr val="1C2B3A"/>
                          </a:solidFill>
                          <a:latin typeface="Barlow"/>
                        </a:rPr>
                        <a:t>Saathoff</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r h="295275">
                <a:tc>
                  <a:txBody>
                    <a:bodyPr/>
                    <a:lstStyle/>
                    <a:p>
                      <a:r>
                        <a:rPr sz="1500" b="0" i="0" u="none">
                          <a:solidFill>
                            <a:srgbClr val="1C2B3A"/>
                          </a:solidFill>
                          <a:latin typeface="Barlow"/>
                        </a:rPr>
                        <a:t>Keno</a:t>
                      </a:r>
                    </a:p>
                  </a:txBody>
                  <a:tcPr marL="54864" marR="54864" marT="18288" marB="18288">
                    <a:solidFill>
                      <a:srgbClr val="FFFDF8"/>
                    </a:solidFill>
                  </a:tcPr>
                </a:tc>
                <a:tc>
                  <a:txBody>
                    <a:bodyPr/>
                    <a:lstStyle/>
                    <a:p>
                      <a:r>
                        <a:rPr sz="1500" b="0" i="0" u="none">
                          <a:solidFill>
                            <a:srgbClr val="1C2B3A"/>
                          </a:solidFill>
                          <a:latin typeface="Barlow"/>
                        </a:rPr>
                        <a:t>Uphoff</a:t>
                      </a:r>
                    </a:p>
                  </a:txBody>
                  <a:tcPr marL="54864" marR="54864" marT="18288" marB="18288">
                    <a:solidFill>
                      <a:srgbClr val="FFFDF8"/>
                    </a:solidFill>
                  </a:tcPr>
                </a:tc>
                <a:tc>
                  <a:txBody>
                    <a:bodyPr/>
                    <a:lstStyle/>
                    <a:p>
                      <a:r>
                        <a:rPr sz="1275" b="0" i="1" u="none">
                          <a:solidFill>
                            <a:srgbClr val="58626D"/>
                          </a:solidFill>
                          <a:latin typeface="IBM Plex Mono"/>
                        </a:rPr>
                        <a:t>NULL</a:t>
                      </a:r>
                    </a:p>
                  </a:txBody>
                  <a:tcPr marL="54864" marR="54864" marT="18288" marB="18288">
                    <a:solidFill>
                      <a:srgbClr val="FFFDF8"/>
                    </a:solidFill>
                  </a:tcPr>
                </a:tc>
              </a:tr>
              <a:tr h="295275">
                <a:tc>
                  <a:txBody>
                    <a:bodyPr/>
                    <a:lstStyle/>
                    <a:p>
                      <a:r>
                        <a:rPr sz="1500" b="0" i="0" u="none">
                          <a:solidFill>
                            <a:srgbClr val="1C2B3A"/>
                          </a:solidFill>
                          <a:latin typeface="Barlow"/>
                        </a:rPr>
                        <a:t>Levke</a:t>
                      </a:r>
                    </a:p>
                  </a:txBody>
                  <a:tcPr marL="54864" marR="54864" marT="18288" marB="18288">
                    <a:solidFill>
                      <a:srgbClr val="FFFDF8"/>
                    </a:solidFill>
                  </a:tcPr>
                </a:tc>
                <a:tc>
                  <a:txBody>
                    <a:bodyPr/>
                    <a:lstStyle/>
                    <a:p>
                      <a:r>
                        <a:rPr sz="1500" b="0" i="0" u="none">
                          <a:solidFill>
                            <a:srgbClr val="1C2B3A"/>
                          </a:solidFill>
                          <a:latin typeface="Barlow"/>
                        </a:rPr>
                        <a:t>Wilms</a:t>
                      </a:r>
                    </a:p>
                  </a:txBody>
                  <a:tcPr marL="54864" marR="54864" marT="18288" marB="18288">
                    <a:solidFill>
                      <a:srgbClr val="FFFDF8"/>
                    </a:solidFill>
                  </a:tcPr>
                </a:tc>
                <a:tc>
                  <a:txBody>
                    <a:bodyPr/>
                    <a:lstStyle/>
                    <a:p>
                      <a:r>
                        <a:rPr sz="1275" b="0" i="1" u="none">
                          <a:solidFill>
                            <a:srgbClr val="58626D"/>
                          </a:solidFill>
                          <a:latin typeface="IBM Plex Mono"/>
                        </a:rPr>
                        <a:t>NULL</a:t>
                      </a:r>
                    </a:p>
                  </a:txBody>
                  <a:tcPr marL="54864" marR="54864" marT="18288" marB="18288">
                    <a:solidFill>
                      <a:srgbClr val="FFFD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Fallen dieses Videos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alle P6"/>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P6</a:t>
            </a:r>
          </a:p>
        </p:txBody>
      </p:sp>
      <p:sp>
        <p:nvSpPr>
          <p:cNvPr id="11" name="TextBox 10"/>
          <p:cNvSpPr txBox="1"/>
          <p:nvPr/>
        </p:nvSpPr>
        <p:spPr>
          <a:xfrm>
            <a:off x="1508760" y="1783080"/>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Bedingungslogik</a:t>
            </a:r>
          </a:p>
          <a:p>
            <a:pPr>
              <a:lnSpc>
                <a:spcPct val="105000"/>
              </a:lnSpc>
              <a:spcAft>
                <a:spcPts val="400"/>
              </a:spcAft>
            </a:pPr>
            <a:r>
              <a:rPr sz="1600" b="0" i="0" u="none">
                <a:solidFill>
                  <a:srgbClr val="1C2B3A"/>
                </a:solidFill>
                <a:latin typeface="Barlow"/>
              </a:rPr>
              <a:t>AND und OR ohne Klammern; </a:t>
            </a:r>
            <a:r>
              <a:rPr sz="1440" b="0" i="0" u="none">
                <a:solidFill>
                  <a:srgbClr val="1C2B3A"/>
                </a:solidFill>
                <a:latin typeface="IBM Plex Mono"/>
              </a:rPr>
              <a:t>&gt;</a:t>
            </a:r>
            <a:r>
              <a:rPr sz="1600" b="0" i="0" u="none">
                <a:solidFill>
                  <a:srgbClr val="1C2B3A"/>
                </a:solidFill>
                <a:latin typeface="Barlow"/>
              </a:rPr>
              <a:t> statt </a:t>
            </a:r>
            <a:r>
              <a:rPr sz="1440" b="0" i="0" u="none">
                <a:solidFill>
                  <a:srgbClr val="1C2B3A"/>
                </a:solidFill>
                <a:latin typeface="IBM Plex Mono"/>
              </a:rPr>
              <a:t>&gt;=</a:t>
            </a:r>
            <a:r>
              <a:rPr sz="1600" b="0" i="0" u="none">
                <a:solidFill>
                  <a:srgbClr val="1C2B3A"/>
                </a:solidFill>
                <a:latin typeface="Barlow"/>
              </a:rPr>
              <a:t>; BETWEEN schließt die Grenzen ein; LIKE ohne </a:t>
            </a:r>
            <a:r>
              <a:rPr sz="1440" b="0" i="0" u="none">
                <a:solidFill>
                  <a:srgbClr val="1C2B3A"/>
                </a:solidFill>
                <a:latin typeface="IBM Plex Mono"/>
              </a:rPr>
              <a:t>%</a:t>
            </a:r>
            <a:r>
              <a:rPr sz="1600" b="0" i="0" u="none">
                <a:solidFill>
                  <a:srgbClr val="1C2B3A"/>
                </a:solidFill>
                <a:latin typeface="Barlow"/>
              </a:rPr>
              <a:t> oder mit </a:t>
            </a:r>
            <a:r>
              <a:rPr sz="1440" b="0" i="0" u="none">
                <a:solidFill>
                  <a:srgbClr val="1C2B3A"/>
                </a:solidFill>
                <a:latin typeface="IBM Plex Mono"/>
              </a:rPr>
              <a:t>*</a:t>
            </a:r>
            <a:r>
              <a:rPr sz="1600" b="0" i="0" u="none">
                <a:solidFill>
                  <a:srgbClr val="1C2B3A"/>
                </a:solidFill>
                <a:latin typeface="Barlow"/>
              </a:rPr>
              <a:t>.</a:t>
            </a:r>
          </a:p>
        </p:txBody>
      </p:sp>
      <p:sp>
        <p:nvSpPr>
          <p:cNvPr id="12" name="Rounded Rectangle 11"/>
          <p:cNvSpPr/>
          <p:nvPr/>
        </p:nvSpPr>
        <p:spPr>
          <a:xfrm>
            <a:off x="548640" y="2746248"/>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5"/>
          <p:cNvSpPr/>
          <p:nvPr/>
        </p:nvSpPr>
        <p:spPr>
          <a:xfrm>
            <a:off x="685800" y="288340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90169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P5</a:t>
            </a:r>
          </a:p>
        </p:txBody>
      </p:sp>
      <p:sp>
        <p:nvSpPr>
          <p:cNvPr id="15" name="TextBox 14"/>
          <p:cNvSpPr txBox="1"/>
          <p:nvPr/>
        </p:nvSpPr>
        <p:spPr>
          <a:xfrm>
            <a:off x="1508760" y="2837688"/>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NULL und Literale</a:t>
            </a:r>
          </a:p>
          <a:p>
            <a:pPr>
              <a:lnSpc>
                <a:spcPct val="105000"/>
              </a:lnSpc>
              <a:spcAft>
                <a:spcPts val="400"/>
              </a:spcAft>
            </a:pPr>
            <a:r>
              <a:rPr sz="1440" b="0" i="0" u="none">
                <a:solidFill>
                  <a:srgbClr val="1C2B3A"/>
                </a:solidFill>
                <a:latin typeface="IBM Plex Mono"/>
              </a:rPr>
              <a:t>= NULL</a:t>
            </a:r>
            <a:r>
              <a:rPr sz="1600" b="0" i="0" u="none">
                <a:solidFill>
                  <a:srgbClr val="1C2B3A"/>
                </a:solidFill>
                <a:latin typeface="Barlow"/>
              </a:rPr>
              <a:t> statt </a:t>
            </a:r>
            <a:r>
              <a:rPr sz="1440" b="0" i="0" u="none">
                <a:solidFill>
                  <a:srgbClr val="1C2B3A"/>
                </a:solidFill>
                <a:latin typeface="IBM Plex Mono"/>
              </a:rPr>
              <a:t>IS NULL</a:t>
            </a:r>
            <a:r>
              <a:rPr sz="1600" b="0" i="0" u="none">
                <a:solidFill>
                  <a:srgbClr val="1C2B3A"/>
                </a:solidFill>
                <a:latin typeface="Barlow"/>
              </a:rPr>
              <a:t>; Text ohne Hochkommata; Datum nicht als </a:t>
            </a:r>
            <a:r>
              <a:rPr sz="1440" b="0" i="0" u="none">
                <a:solidFill>
                  <a:srgbClr val="1C2B3A"/>
                </a:solidFill>
                <a:latin typeface="IBM Plex Mono"/>
              </a:rPr>
              <a:t>'JJJJ-MM-TT'</a:t>
            </a:r>
            <a:r>
              <a:rPr sz="1600" b="0" i="0" u="none">
                <a:solidFill>
                  <a:srgbClr val="1C2B3A"/>
                </a:solidFill>
                <a:latin typeface="Barlow"/>
              </a:rPr>
              <a:t>.</a:t>
            </a:r>
          </a:p>
        </p:txBody>
      </p:sp>
      <p:sp>
        <p:nvSpPr>
          <p:cNvPr id="16" name="Rounded Rectangle 15"/>
          <p:cNvSpPr/>
          <p:nvPr/>
        </p:nvSpPr>
        <p:spPr>
          <a:xfrm>
            <a:off x="548640" y="3800856"/>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10"/>
          <p:cNvSpPr/>
          <p:nvPr/>
        </p:nvSpPr>
        <p:spPr>
          <a:xfrm>
            <a:off x="685800" y="3938016"/>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956304"/>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P10</a:t>
            </a:r>
          </a:p>
        </p:txBody>
      </p:sp>
      <p:sp>
        <p:nvSpPr>
          <p:cNvPr id="19" name="TextBox 18"/>
          <p:cNvSpPr txBox="1"/>
          <p:nvPr/>
        </p:nvSpPr>
        <p:spPr>
          <a:xfrm>
            <a:off x="1508760" y="3892296"/>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Ergebnis nicht kontrolliert</a:t>
            </a:r>
          </a:p>
          <a:p>
            <a:pPr>
              <a:lnSpc>
                <a:spcPct val="105000"/>
              </a:lnSpc>
              <a:spcAft>
                <a:spcPts val="400"/>
              </a:spcAft>
            </a:pPr>
            <a:r>
              <a:rPr sz="1600" b="0" i="0" u="none">
                <a:solidFill>
                  <a:srgbClr val="1C2B3A"/>
                </a:solidFill>
                <a:latin typeface="Barlow"/>
              </a:rPr>
              <a:t>Im Abitur zählt die richtige Abfrage – lies jede Ergebniszeile gegen die Frage.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nimmst du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7772400" cy="301752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301752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2514600"/>
          </a:xfrm>
          <a:prstGeom prst="rect">
            <a:avLst/>
          </a:prstGeom>
          <a:noFill/>
        </p:spPr>
        <p:txBody>
          <a:bodyPr wrap="square" lIns="27432" rIns="27432" tIns="27432" bIns="27432">
            <a:spAutoFit/>
          </a:bodyPr>
          <a:lstStyle/>
          <a:p>
            <a:pPr>
              <a:lnSpc>
                <a:spcPct val="105000"/>
              </a:lnSpc>
              <a:spcAft>
                <a:spcPts val="300"/>
              </a:spcAft>
            </a:pPr>
            <a:r>
              <a:rPr sz="2100" b="1">
                <a:solidFill>
                  <a:srgbClr val="2C5A85"/>
                </a:solidFill>
                <a:latin typeface="Barlow"/>
              </a:rPr>
              <a:t>▸  </a:t>
            </a:r>
            <a:r>
              <a:rPr sz="2100" b="0" i="0" u="none">
                <a:solidFill>
                  <a:srgbClr val="1C2B3A"/>
                </a:solidFill>
                <a:latin typeface="Barlow"/>
              </a:rPr>
              <a:t>Gedacht wird FROM → WHERE → SELECT → ORDER BY → LIMIT.</a:t>
            </a:r>
          </a:p>
          <a:p>
            <a:pPr>
              <a:lnSpc>
                <a:spcPct val="105000"/>
              </a:lnSpc>
              <a:spcAft>
                <a:spcPts val="300"/>
              </a:spcAft>
            </a:pPr>
            <a:r>
              <a:rPr sz="2100" b="1">
                <a:solidFill>
                  <a:srgbClr val="2C5A85"/>
                </a:solidFill>
                <a:latin typeface="Barlow"/>
              </a:rPr>
              <a:t>▸  </a:t>
            </a:r>
            <a:r>
              <a:rPr sz="2100" b="0" i="0" u="none">
                <a:solidFill>
                  <a:srgbClr val="1C2B3A"/>
                </a:solidFill>
                <a:latin typeface="Barlow"/>
              </a:rPr>
              <a:t>WHERE filtert Zeilen, SELECT wählt Spalten.</a:t>
            </a:r>
          </a:p>
          <a:p>
            <a:pPr>
              <a:lnSpc>
                <a:spcPct val="105000"/>
              </a:lnSpc>
              <a:spcAft>
                <a:spcPts val="300"/>
              </a:spcAft>
            </a:pPr>
            <a:r>
              <a:rPr sz="2100" b="1">
                <a:solidFill>
                  <a:srgbClr val="2C5A85"/>
                </a:solidFill>
                <a:latin typeface="Barlow"/>
              </a:rPr>
              <a:t>▸  </a:t>
            </a:r>
            <a:r>
              <a:rPr sz="2100" b="0" i="0" u="none">
                <a:solidFill>
                  <a:srgbClr val="1C2B3A"/>
                </a:solidFill>
                <a:latin typeface="Barlow"/>
              </a:rPr>
              <a:t>AND bindet stärker als OR – bei Mischung immer Klammern.</a:t>
            </a:r>
          </a:p>
          <a:p>
            <a:pPr>
              <a:lnSpc>
                <a:spcPct val="105000"/>
              </a:lnSpc>
              <a:spcAft>
                <a:spcPts val="300"/>
              </a:spcAft>
            </a:pPr>
            <a:r>
              <a:rPr sz="2100" b="1">
                <a:solidFill>
                  <a:srgbClr val="2C5A85"/>
                </a:solidFill>
                <a:latin typeface="Barlow"/>
              </a:rPr>
              <a:t>▸  </a:t>
            </a:r>
            <a:r>
              <a:rPr sz="2100" b="0" i="0" u="none">
                <a:solidFill>
                  <a:srgbClr val="1C2B3A"/>
                </a:solidFill>
                <a:latin typeface="Barlow"/>
              </a:rPr>
              <a:t>BETWEEN schließt beide Grenzen ein; LIKE mit </a:t>
            </a:r>
            <a:r>
              <a:rPr sz="1890" b="0" i="0" u="none">
                <a:solidFill>
                  <a:srgbClr val="1C2B3A"/>
                </a:solidFill>
                <a:latin typeface="IBM Plex Mono"/>
              </a:rPr>
              <a:t>%</a:t>
            </a:r>
            <a:r>
              <a:rPr sz="2100" b="0" i="0" u="none">
                <a:solidFill>
                  <a:srgbClr val="1C2B3A"/>
                </a:solidFill>
                <a:latin typeface="Barlow"/>
              </a:rPr>
              <a:t> und </a:t>
            </a:r>
            <a:r>
              <a:rPr sz="1890" b="0" i="0" u="none">
                <a:solidFill>
                  <a:srgbClr val="1C2B3A"/>
                </a:solidFill>
                <a:latin typeface="IBM Plex Mono"/>
              </a:rPr>
              <a:t>_</a:t>
            </a:r>
            <a:r>
              <a:rPr sz="2100" b="0" i="0" u="none">
                <a:solidFill>
                  <a:srgbClr val="1C2B3A"/>
                </a:solidFill>
                <a:latin typeface="Barlow"/>
              </a:rPr>
              <a:t>.</a:t>
            </a:r>
          </a:p>
          <a:p>
            <a:pPr>
              <a:lnSpc>
                <a:spcPct val="105000"/>
              </a:lnSpc>
              <a:spcAft>
                <a:spcPts val="300"/>
              </a:spcAft>
            </a:pPr>
            <a:r>
              <a:rPr sz="2100" b="1">
                <a:solidFill>
                  <a:srgbClr val="2C5A85"/>
                </a:solidFill>
                <a:latin typeface="Barlow"/>
              </a:rPr>
              <a:t>▸  </a:t>
            </a:r>
            <a:r>
              <a:rPr sz="2100" b="0" i="0" u="none">
                <a:solidFill>
                  <a:srgbClr val="1C2B3A"/>
                </a:solidFill>
                <a:latin typeface="Barlow"/>
              </a:rPr>
              <a:t>Fehlende Werte nur mit </a:t>
            </a:r>
            <a:r>
              <a:rPr sz="1890" b="0" i="0" u="none">
                <a:solidFill>
                  <a:srgbClr val="1C2B3A"/>
                </a:solidFill>
                <a:latin typeface="IBM Plex Mono"/>
              </a:rPr>
              <a:t>IS NULL</a:t>
            </a:r>
            <a:r>
              <a:rPr sz="2100" b="0" i="0" u="none">
                <a:solidFill>
                  <a:srgbClr val="1C2B3A"/>
                </a:solidFill>
                <a:latin typeface="Barlow"/>
              </a:rPr>
              <a:t> / </a:t>
            </a:r>
            <a:r>
              <a:rPr sz="1890" b="0" i="0" u="none">
                <a:solidFill>
                  <a:srgbClr val="1C2B3A"/>
                </a:solidFill>
                <a:latin typeface="IBM Plex Mono"/>
              </a:rPr>
              <a:t>IS NOT NULL</a:t>
            </a:r>
            <a:r>
              <a:rPr sz="2100" b="0" i="0" u="none">
                <a:solidFill>
                  <a:srgbClr val="1C2B3A"/>
                </a:solidFill>
                <a:latin typeface="Barlow"/>
              </a:rPr>
              <a:t>; Texte in </a:t>
            </a:r>
            <a:r>
              <a:rPr sz="1890" b="0" i="0" u="none">
                <a:solidFill>
                  <a:srgbClr val="1C2B3A"/>
                </a:solidFill>
                <a:latin typeface="IBM Plex Mono"/>
              </a:rPr>
              <a:t>'…'</a:t>
            </a:r>
            <a:r>
              <a:rPr sz="2100" b="0" i="0" u="none">
                <a:solidFill>
                  <a:srgbClr val="1C2B3A"/>
                </a:solidFill>
                <a:latin typeface="Barlow"/>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1 · 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14</a:t>
            </a:r>
          </a:p>
        </p:txBody>
      </p:sp>
      <p:sp>
        <p:nvSpPr>
          <p:cNvPr id="8" name="Rounded Rectangle 7"/>
          <p:cNvSpPr/>
          <p:nvPr/>
        </p:nvSpPr>
        <p:spPr>
          <a:xfrm>
            <a:off x="548640" y="1691640"/>
            <a:ext cx="7772400" cy="161848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61848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1115568"/>
          </a:xfrm>
          <a:prstGeom prst="rect">
            <a:avLst/>
          </a:prstGeom>
          <a:noFill/>
        </p:spPr>
        <p:txBody>
          <a:bodyPr wrap="square" lIns="27432" rIns="27432" tIns="27432" bIns="27432">
            <a:spAutoFit/>
          </a:bodyPr>
          <a:lstStyle/>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1.1 „Der erste Auftrag“</a:t>
            </a:r>
            <a:r>
              <a:rPr sz="1800" b="0" i="0" u="none">
                <a:solidFill>
                  <a:srgbClr val="1C2B3A"/>
                </a:solidFill>
                <a:latin typeface="Barlow"/>
              </a:rPr>
              <a:t> · A1-E1-01 … 08 · Werkzeug: Konsole und Zeitlupe</a:t>
            </a:r>
          </a:p>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1.2 „Das verschwundene Fundstück“</a:t>
            </a:r>
            <a:r>
              <a:rPr sz="1800" b="0" i="0" u="none">
                <a:solidFill>
                  <a:srgbClr val="1C2B3A"/>
                </a:solidFill>
                <a:latin typeface="Barlow"/>
              </a:rPr>
              <a:t> · A1-E2-01 … 08</a:t>
            </a:r>
          </a:p>
        </p:txBody>
      </p:sp>
      <p:sp>
        <p:nvSpPr>
          <p:cNvPr id="12" name="Rounded Rectangle 11"/>
          <p:cNvSpPr/>
          <p:nvPr/>
        </p:nvSpPr>
        <p:spPr>
          <a:xfrm>
            <a:off x="548640" y="3419856"/>
            <a:ext cx="7772400" cy="131368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419856"/>
            <a:ext cx="73152" cy="1313687"/>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511296"/>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3877056"/>
            <a:ext cx="7360920" cy="810767"/>
          </a:xfrm>
          <a:prstGeom prst="rect">
            <a:avLst/>
          </a:prstGeom>
          <a:noFill/>
        </p:spPr>
        <p:txBody>
          <a:bodyPr wrap="square" lIns="27432" rIns="27432" tIns="27432" bIns="27432">
            <a:spAutoFit/>
          </a:bodyPr>
          <a:lstStyle/>
          <a:p>
            <a:pPr>
              <a:lnSpc>
                <a:spcPct val="105000"/>
              </a:lnSpc>
              <a:spcAft>
                <a:spcPts val="300"/>
              </a:spcAft>
            </a:pPr>
            <a:r>
              <a:rPr sz="1700" b="1">
                <a:solidFill>
                  <a:srgbClr val="58626D"/>
                </a:solidFill>
                <a:latin typeface="Barlow"/>
              </a:rPr>
              <a:t>▸  </a:t>
            </a:r>
            <a:r>
              <a:rPr sz="1700" b="0" i="0" u="none">
                <a:solidFill>
                  <a:srgbClr val="1C2B3A"/>
                </a:solidFill>
                <a:latin typeface="Barlow"/>
              </a:rPr>
              <a:t>AB 1.1 „Der erste Auftrag“ und AB 1.2 „Das verschwundene Fundstück“</a:t>
            </a:r>
          </a:p>
          <a:p>
            <a:pPr>
              <a:lnSpc>
                <a:spcPct val="105000"/>
              </a:lnSpc>
              <a:spcAft>
                <a:spcPts val="300"/>
              </a:spcAft>
            </a:pPr>
            <a:r>
              <a:rPr sz="1700" b="1">
                <a:solidFill>
                  <a:srgbClr val="58626D"/>
                </a:solidFill>
                <a:latin typeface="Barlow"/>
              </a:rPr>
              <a:t>▸  </a:t>
            </a:r>
            <a:r>
              <a:rPr sz="1700" b="0" i="0" u="none">
                <a:solidFill>
                  <a:srgbClr val="1C2B3A"/>
                </a:solidFill>
                <a:latin typeface="Barlow"/>
              </a:rPr>
              <a:t>Warm-up-Karten Akte 1 im Lab</a:t>
            </a:r>
          </a:p>
        </p:txBody>
      </p:sp>
      <p:sp>
        <p:nvSpPr>
          <p:cNvPr id="16" name="Rounded Rectangle 15"/>
          <p:cNvSpPr/>
          <p:nvPr/>
        </p:nvSpPr>
        <p:spPr>
          <a:xfrm>
            <a:off x="548640" y="4843272"/>
            <a:ext cx="7772400" cy="954023"/>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4843272"/>
            <a:ext cx="73152" cy="954023"/>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493471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5300472"/>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Video 2 – Verbund ohne JOIN: Wie </a:t>
            </a:r>
            <a:r>
              <a:rPr sz="1530" b="0" i="0" u="none">
                <a:solidFill>
                  <a:srgbClr val="1C2B3A"/>
                </a:solidFill>
                <a:latin typeface="IBM Plex Mono"/>
              </a:rPr>
              <a:t>FROM a, b WHERE</a:t>
            </a:r>
            <a:r>
              <a:rPr sz="1700" b="0" i="0" u="none">
                <a:solidFill>
                  <a:srgbClr val="1C2B3A"/>
                </a:solidFill>
                <a:latin typeface="Barlow"/>
              </a:rPr>
              <a:t> funktioniert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SQL-Grundlagen: SELECT, WHERE und die Bedingungsfallen</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1</vt:lpwstr>
  </property>
  <property fmtid="{D5CDD505-2E9C-101B-9397-08002B2CF9AE}" pid="3" name="DD-Art">
    <vt:lpwstr>video</vt:lpwstr>
  </property>
  <property fmtid="{D5CDD505-2E9C-101B-9397-08002B2CF9AE}" pid="4" name="DD-Datenbank">
    <vt:lpwstr>video/schachturnier</vt:lpwstr>
  </property>
  <property fmtid="{D5CDD505-2E9C-101B-9397-08002B2CF9AE}" pid="5" name="DD-Kamera-Zone">
    <vt:lpwstr>ja</vt:lpwstr>
  </property>
  <property fmtid="{D5CDD505-2E9C-101B-9397-08002B2CF9AE}" pid="6" name="DD-Kuer">
    <vt:lpwstr>nein</vt:lpwstr>
  </property>
  <property fmtid="{D5CDD505-2E9C-101B-9397-08002B2CF9AE}" pid="7" name="DD-Video">
    <vt:lpwstr>1</vt:lpwstr>
  </property>
  <property fmtid="{D5CDD505-2E9C-101B-9397-08002B2CF9AE}" pid="8" name="DD-Video-Quelle">
    <vt:lpwstr>45917ee0786b8fa3824748068b95d53c843ef78c6138fc35429f4d68053b1629</vt:lpwstr>
  </property>
</Properties>
</file>