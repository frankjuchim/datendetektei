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Wie viele Verkäufe gab es pro Tag? Welcher Stand hat mehr als hundert Euro eingenommen? Solche Fragen beantwortest du mit GROUP BY und HAVING. Im Abitur kommen sie fast immer vor – und genau hier passieren die meisten Fehler. Nach diesem Video weißt du, in welcher Reihenfolge die Datenbank denkt, und du umgehst die drei großen Fallen.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Beispieldaten kommen diesmal aus der Eisdiele im Gastmodus: Sorten und Verkäufe, jeder Verkauf mit Datum und Anzahl Kugeln. Bevor wir gruppieren, das Wichtigste: Geschrieben wird SELECT zuerst, ausgewertet aber in dieser Reihenfolge. FROM holt die Tabellen. WHERE filtert einzelne Zeilen. GROUP BY sortiert die übrigen Zeilen in Gruppen, wie in Fächer. HAVING wirft ganze Gruppen raus. Erst dann berechnet SELECT für jede Gruppe eine Ergebniszeile. Zum Schluss wird sortiert und abgeschnitten. Fast jede Falle in diesem Video lässt sich mit dieser Reihenfolge erklären.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Pia, die Inhaberin, will wissen, wie jeder Tag gelaufen ist. GROUP BY Datum steckt alle Verkäufe eines Tages in dasselbe Fach. Für jedes Fach entsteht genau eine Ergebniszeile. In dieser Zeile kannst du mit Aggregatfunktionen rechnen: COUNT Stern zählt, wie viele Verkäufe im Fach liegen, SUM Kugeln addiert die Kugeln. Am Montag, dem sechsten Juli, waren es neun Verkäufe mit zusammen einundzwanzig Kugeln. Die anderen Tage hatten je acht Verkäufe – aber unterschiedlich viele Kugeln.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Bild groß zeigen; optional live im Gastmodus (Werkzeug Sortierfächer, Eisdiele) vorführen.]</a:t>
            </a:r>
          </a:p>
          <a:p/>
          <a:p>
            <a:r>
              <a:t>So sieht das in den Sortierfächern der Datendetektei aus – der Übersicht halber nur für Freitag bis Sonntag. Jeder Verkauf ist eine Karte, und jede Karte wandert in das Fach ihres Datums. Über jedem Fach siehst du, was die Aggregatfunktion daraus macht. Du kannst dort zwischen COUNT und SUM umschalten – und genau da liegt der Unterschied, den wir gleich als Falle P4 brauchen: COUNT zählt Karten, SUM addiert Werte auf den Karten.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die wichtigste Regel. Oben steht Kugeln im SELECT – aber nicht im GROUP BY und nicht in einer Aggregatfunktion. Welcher Wert soll in der Zeile vom sechsten Juli stehen? Dort liegen neun Verkäufe mit verschiedenen Kugelzahlen. Manche Datenbanken nehmen dann irgendeinen Wert, im Abitur ist das ein Fehler: Falle P3. Die Regel lautet: Jede Spalte im SELECT ist entweder aggregiert oder steht im GROUP BY. Unten ist es richtig: Die Kugeln werden summiert.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 einem Verbund geht das genauso. Hier zählen wir, wie oft jede Sorte ab 1,70 Euro je Kugel mit mindestens zwei Kugeln verkauft wurde – Stracciatella sechsmal, Karamell viermal. Gruppiert wird nach dem Primärschlüssel SorteNr – nicht nur nach dem Namen. Warum? Zwei verschiedene Dinge können denselben Namen haben, denk an zwei Personen namens Bargmann. Wer nur nach dem Namen gruppiert, wirft sie in ein Fach. Der Name steht trotzdem mit im GROUP BY, damit er laut GROUP-BY-Regel im SELECT stehen darf.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beide Filter in einer Abfrage. Gesucht sind Tage mit mindestens zwei großen Verkäufen, also mit drei oder mehr Kugeln. Ob ein Verkauf groß ist, ist eine Eigenschaft einer einzelnen Zeile – das gehört ins WHERE, vor dem Gruppieren. Ob ein Tag mindestens zwei davon hat, ist eine Eigenschaft der ganzen Gruppe – das gehört ins HAVING, nach dem Gruppieren. Ergebnis: sechs Tage. Nur der zwölfte Juli fällt weg, denn dort gab es nur einen großen Verkauf.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Bild zeigen; optional live: Zeitlupe im Gastmodus mit der Eisdiele, Schritt für Schritt.]</a:t>
            </a:r>
          </a:p>
          <a:p/>
          <a:p>
            <a:r>
              <a:t>In der Zeitlupe kannst du genau das verfolgen. Sie spielt die Abfrage in Auswertungsreihenfolge ab, Klausel für Klausel. Hier stehen wir beim Schritt HAVING: Die Gruppe vom zwölften Juli wird als Ganzes verworfen. Wenn du dir bei einer Abfrage unsicher bist, schick sie aus der Konsole in die Zeitlupe und schau, welche Zeilen und Gruppen an welcher Stelle verschwinden.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Welche Sorten wurden am Wochenende, also ab dem elften Juli, mindestens zweimal verkauft? Gib SorteNr, Name und die Anzahl der Verkäufe aus, die häufigste Sorte zuerst. Überleg dir: Was davon ist eine Zeilenbedingung, was eine Gruppenbedingung? Halte das Video 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Das Datum ist eine Zeilenbedingung, also WHERE, zusammen mit der Verbundbedingung. Gruppiert wird nach SorteNr und Name. Mindestens zwei Verkäufe ist eine Gruppenbedingung, also HAVING COUNT Stern größer gleich 2 – und zwar ausgeschrieben, nicht mit dem Alias. In ORDER BY darfst du den Alias dagegen verwenden. Ergebnis: fünf Sorten. Wer SUM Kugeln nimmt, zählt Kugeln statt Verkäufe.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Fallen dieses Videos. P1, WHERE gegen HAVING: Eine Aggregatfunktion im WHERE geht nicht, weil WHERE vor dem Gruppieren läuft – rechts siehst du so einen Fehler. Umgekehrt gehört eine Zeilenbedingung nicht ins HAVING, und ein Alias hat im HAVING nichts zu suchen. P3, die GROUP-BY-Regel, und gruppiere nach dem Schlüssel. P4, COUNT gegen SUM: Lies genau, ob nach der Anzahl der Verkäufe oder der Anzahl der Kugeln gefragt ist. Und COUNT einer Spalte zählt NULL-Werte nicht 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nimmst du mit: die Auswertungsreihenfolge von FROM bis LIMIT. Eine Gruppe ergibt genau eine Ergebniszeile. Jede Spalte im SELECT ist aggregiert oder gruppiert, und gruppiert wird nach dem Schlüssel. WHERE filtert Zeilen vor dem Gruppieren, HAVING filtert Gruppen danach, ohne Alias. Und COUNT zählt Zeilen, SUM addiert Werte.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ins Lab! In Akte 3 fehlt Geld in der Stadtfest-Kasse – mit Sortierfächern in Ermittlung 3.1 und der Zeitlupe in 3.2 kommst du dem Fehlbetrag auf die Spur. Im nächsten Video schauen wir uns an, warum schlecht gebaute Tabellen Daten durcheinanderbringen: Redundanz, Anomalien und gute Schlüssel.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3</a:t>
            </a:r>
          </a:p>
        </p:txBody>
      </p:sp>
      <p:sp>
        <p:nvSpPr>
          <p:cNvPr id="5" name="TextBox 4"/>
          <p:cNvSpPr txBox="1"/>
          <p:nvPr/>
        </p:nvSpPr>
        <p:spPr>
          <a:xfrm>
            <a:off x="548640" y="1371600"/>
            <a:ext cx="7772400" cy="1391412"/>
          </a:xfrm>
          <a:prstGeom prst="rect">
            <a:avLst/>
          </a:prstGeom>
          <a:noFill/>
        </p:spPr>
        <p:txBody>
          <a:bodyPr wrap="square" lIns="27432" rIns="27432" tIns="27432" bIns="27432" anchor="t">
            <a:spAutoFit/>
          </a:bodyPr>
          <a:lstStyle/>
          <a:p>
            <a:pPr>
              <a:lnSpc>
                <a:spcPct val="105000"/>
              </a:lnSpc>
              <a:spcAft>
                <a:spcPts val="400"/>
              </a:spcAft>
            </a:pPr>
            <a:r>
              <a:rPr sz="4600" b="0" i="0" u="none">
                <a:solidFill>
                  <a:srgbClr val="E8E1D3"/>
                </a:solidFill>
                <a:latin typeface="Barlow Condensed SemiBold"/>
              </a:rPr>
              <a:t>GROUP BY und HAVING – so wie im Abitur</a:t>
            </a:r>
          </a:p>
        </p:txBody>
      </p:sp>
      <p:cxnSp>
        <p:nvCxnSpPr>
          <p:cNvPr id="6" name="Roter Faden"/>
          <p:cNvCxnSpPr/>
          <p:nvPr/>
        </p:nvCxnSpPr>
        <p:spPr>
          <a:xfrm>
            <a:off x="548640" y="290017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83616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83616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308305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Auswertungsreihenfolge, GROUP-BY-Regel, WHERE gegen HAVING und COUNT gegen SUM</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3 · DS 5–6 · 10–12 min</a:t>
            </a:r>
          </a:p>
        </p:txBody>
      </p:sp>
      <p:pic>
        <p:nvPicPr>
          <p:cNvPr id="11" name="Picture 10" descr="stempel.png"/>
          <p:cNvPicPr>
            <a:picLocks noChangeAspect="1"/>
          </p:cNvPicPr>
          <p:nvPr/>
        </p:nvPicPr>
        <p:blipFill>
          <a:blip r:embed="rId3"/>
          <a:stretch>
            <a:fillRect/>
          </a:stretch>
        </p:blipFill>
        <p:spPr>
          <a:xfrm>
            <a:off x="8869680" y="1051560"/>
            <a:ext cx="2773375" cy="89039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Reihenfolge, in der die Datenbank denkt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6035040" y="1691640"/>
            <a:ext cx="5608015" cy="151552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17920" y="1801368"/>
            <a:ext cx="5242255" cy="1332646"/>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EISDIELE (GASTMODUS)</a:t>
            </a:r>
          </a:p>
          <a:p>
            <a:pPr>
              <a:lnSpc>
                <a:spcPct val="105000"/>
              </a:lnSpc>
              <a:spcAft>
                <a:spcPts val="500"/>
              </a:spcAft>
            </a:pPr>
            <a:r>
              <a:rPr sz="1656" b="0" i="0" u="none">
                <a:solidFill>
                  <a:srgbClr val="1C2B3A"/>
                </a:solidFill>
                <a:latin typeface="IBM Plex Mono"/>
              </a:rPr>
              <a:t>Sorte(</a:t>
            </a:r>
            <a:r>
              <a:rPr sz="1656" b="0" i="0" u="sng">
                <a:solidFill>
                  <a:srgbClr val="1C2B3A"/>
                </a:solidFill>
                <a:latin typeface="IBM Plex Mono"/>
              </a:rPr>
              <a:t>SorteNr</a:t>
            </a:r>
            <a:r>
              <a:rPr sz="1656" b="0" i="0" u="none">
                <a:solidFill>
                  <a:srgbClr val="1C2B3A"/>
                </a:solidFill>
                <a:latin typeface="IBM Plex Mono"/>
              </a:rPr>
              <a:t>, Name, Preis, Vegan)</a:t>
            </a:r>
          </a:p>
          <a:p>
            <a:pPr>
              <a:lnSpc>
                <a:spcPct val="105000"/>
              </a:lnSpc>
              <a:spcAft>
                <a:spcPts val="500"/>
              </a:spcAft>
            </a:pPr>
            <a:r>
              <a:rPr sz="1656" b="0" i="0" u="none">
                <a:solidFill>
                  <a:srgbClr val="1C2B3A"/>
                </a:solidFill>
                <a:latin typeface="IBM Plex Mono"/>
              </a:rPr>
              <a:t>Verkauf(</a:t>
            </a:r>
            <a:r>
              <a:rPr sz="1656" b="0" i="0" u="sng">
                <a:solidFill>
                  <a:srgbClr val="1C2B3A"/>
                </a:solidFill>
                <a:latin typeface="IBM Plex Mono"/>
              </a:rPr>
              <a:t>VerkaufNr</a:t>
            </a:r>
            <a:r>
              <a:rPr sz="1656" b="0" i="0" u="none">
                <a:solidFill>
                  <a:srgbClr val="1C2B3A"/>
                </a:solidFill>
                <a:latin typeface="IBM Plex Mono"/>
              </a:rPr>
              <a:t>, </a:t>
            </a:r>
            <a:r>
              <a:rPr sz="1656" b="0" i="0" u="none">
                <a:solidFill>
                  <a:srgbClr val="B3261E"/>
                </a:solidFill>
                <a:latin typeface="IBM Plex Mono"/>
              </a:rPr>
              <a:t>↑</a:t>
            </a:r>
            <a:r>
              <a:rPr sz="1656" b="0" i="0" u="none">
                <a:solidFill>
                  <a:srgbClr val="1C2B3A"/>
                </a:solidFill>
                <a:latin typeface="IBM Plex Mono"/>
              </a:rPr>
              <a:t>SorteNr, Datum, Kugeln)</a:t>
            </a:r>
          </a:p>
        </p:txBody>
      </p:sp>
      <p:sp>
        <p:nvSpPr>
          <p:cNvPr id="10" name="Rounded Rectangle 9"/>
          <p:cNvSpPr/>
          <p:nvPr/>
        </p:nvSpPr>
        <p:spPr>
          <a:xfrm>
            <a:off x="548640" y="1691640"/>
            <a:ext cx="521208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1691640"/>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1728216"/>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1</a:t>
            </a:r>
          </a:p>
        </p:txBody>
      </p:sp>
      <p:sp>
        <p:nvSpPr>
          <p:cNvPr id="13" name="TextBox 12"/>
          <p:cNvSpPr txBox="1"/>
          <p:nvPr/>
        </p:nvSpPr>
        <p:spPr>
          <a:xfrm>
            <a:off x="1097280" y="1746504"/>
            <a:ext cx="4572000"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FROM</a:t>
            </a:r>
            <a:r>
              <a:rPr sz="1600" b="0" i="0" u="none">
                <a:solidFill>
                  <a:srgbClr val="1C2B3A"/>
                </a:solidFill>
                <a:latin typeface="Barlow"/>
              </a:rPr>
              <a:t> – Tabellen (bei mehreren: Kreuzprodukt)</a:t>
            </a:r>
          </a:p>
        </p:txBody>
      </p:sp>
      <p:sp>
        <p:nvSpPr>
          <p:cNvPr id="14" name="Rounded Rectangle 13"/>
          <p:cNvSpPr/>
          <p:nvPr/>
        </p:nvSpPr>
        <p:spPr>
          <a:xfrm>
            <a:off x="548640" y="2350008"/>
            <a:ext cx="521208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8640" y="2350008"/>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2386584"/>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2</a:t>
            </a:r>
          </a:p>
        </p:txBody>
      </p:sp>
      <p:sp>
        <p:nvSpPr>
          <p:cNvPr id="17" name="TextBox 16"/>
          <p:cNvSpPr txBox="1"/>
          <p:nvPr/>
        </p:nvSpPr>
        <p:spPr>
          <a:xfrm>
            <a:off x="1097280" y="2404872"/>
            <a:ext cx="4572000"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WHERE</a:t>
            </a:r>
            <a:r>
              <a:rPr sz="1600" b="0" i="0" u="none">
                <a:solidFill>
                  <a:srgbClr val="1C2B3A"/>
                </a:solidFill>
                <a:latin typeface="Barlow"/>
              </a:rPr>
              <a:t> – einzelne Zeilen filtern</a:t>
            </a:r>
          </a:p>
        </p:txBody>
      </p:sp>
      <p:sp>
        <p:nvSpPr>
          <p:cNvPr id="18" name="Rounded Rectangle 17"/>
          <p:cNvSpPr/>
          <p:nvPr/>
        </p:nvSpPr>
        <p:spPr>
          <a:xfrm>
            <a:off x="548640" y="3008376"/>
            <a:ext cx="5212080" cy="70713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8640" y="3008376"/>
            <a:ext cx="64008" cy="707136"/>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3044952"/>
            <a:ext cx="457200" cy="633984"/>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3</a:t>
            </a:r>
          </a:p>
        </p:txBody>
      </p:sp>
      <p:sp>
        <p:nvSpPr>
          <p:cNvPr id="21" name="TextBox 20"/>
          <p:cNvSpPr txBox="1"/>
          <p:nvPr/>
        </p:nvSpPr>
        <p:spPr>
          <a:xfrm>
            <a:off x="1097280" y="3063240"/>
            <a:ext cx="4572000" cy="615696"/>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GROUP BY</a:t>
            </a:r>
            <a:r>
              <a:rPr sz="1600" b="0" i="0" u="none">
                <a:solidFill>
                  <a:srgbClr val="1C2B3A"/>
                </a:solidFill>
                <a:latin typeface="Barlow"/>
              </a:rPr>
              <a:t> – Zeilen in Gruppen (Fächer) sortieren</a:t>
            </a:r>
          </a:p>
        </p:txBody>
      </p:sp>
      <p:sp>
        <p:nvSpPr>
          <p:cNvPr id="22" name="Rounded Rectangle 21"/>
          <p:cNvSpPr/>
          <p:nvPr/>
        </p:nvSpPr>
        <p:spPr>
          <a:xfrm>
            <a:off x="548640" y="3825240"/>
            <a:ext cx="521208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48640" y="3825240"/>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3861816"/>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4</a:t>
            </a:r>
          </a:p>
        </p:txBody>
      </p:sp>
      <p:sp>
        <p:nvSpPr>
          <p:cNvPr id="25" name="TextBox 24"/>
          <p:cNvSpPr txBox="1"/>
          <p:nvPr/>
        </p:nvSpPr>
        <p:spPr>
          <a:xfrm>
            <a:off x="1097280" y="3880104"/>
            <a:ext cx="4572000"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HAVING</a:t>
            </a:r>
            <a:r>
              <a:rPr sz="1600" b="0" i="0" u="none">
                <a:solidFill>
                  <a:srgbClr val="1C2B3A"/>
                </a:solidFill>
                <a:latin typeface="Barlow"/>
              </a:rPr>
              <a:t> – ganze Gruppen filtern</a:t>
            </a:r>
          </a:p>
        </p:txBody>
      </p:sp>
      <p:sp>
        <p:nvSpPr>
          <p:cNvPr id="26" name="Rounded Rectangle 25"/>
          <p:cNvSpPr/>
          <p:nvPr/>
        </p:nvSpPr>
        <p:spPr>
          <a:xfrm>
            <a:off x="548640" y="4483608"/>
            <a:ext cx="5212080" cy="70713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4483608"/>
            <a:ext cx="64008" cy="707136"/>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 y="4520184"/>
            <a:ext cx="457200" cy="633984"/>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5</a:t>
            </a:r>
          </a:p>
        </p:txBody>
      </p:sp>
      <p:sp>
        <p:nvSpPr>
          <p:cNvPr id="29" name="TextBox 28"/>
          <p:cNvSpPr txBox="1"/>
          <p:nvPr/>
        </p:nvSpPr>
        <p:spPr>
          <a:xfrm>
            <a:off x="1097280" y="4538472"/>
            <a:ext cx="4572000" cy="615696"/>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SELECT</a:t>
            </a:r>
            <a:r>
              <a:rPr sz="1600" b="0" i="0" u="none">
                <a:solidFill>
                  <a:srgbClr val="1C2B3A"/>
                </a:solidFill>
                <a:latin typeface="Barlow"/>
              </a:rPr>
              <a:t> – je Gruppe eine Ergebniszeile berechnen</a:t>
            </a:r>
          </a:p>
        </p:txBody>
      </p:sp>
      <p:sp>
        <p:nvSpPr>
          <p:cNvPr id="30" name="Rounded Rectangle 29"/>
          <p:cNvSpPr/>
          <p:nvPr/>
        </p:nvSpPr>
        <p:spPr>
          <a:xfrm>
            <a:off x="548640" y="5300472"/>
            <a:ext cx="521208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48640" y="5300472"/>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5337048"/>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6</a:t>
            </a:r>
          </a:p>
        </p:txBody>
      </p:sp>
      <p:sp>
        <p:nvSpPr>
          <p:cNvPr id="33" name="TextBox 32"/>
          <p:cNvSpPr txBox="1"/>
          <p:nvPr/>
        </p:nvSpPr>
        <p:spPr>
          <a:xfrm>
            <a:off x="1097280" y="5355336"/>
            <a:ext cx="4572000"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ORDER BY</a:t>
            </a:r>
            <a:r>
              <a:rPr sz="1600" b="0" i="0" u="none">
                <a:solidFill>
                  <a:srgbClr val="1C2B3A"/>
                </a:solidFill>
                <a:latin typeface="Barlow"/>
              </a:rPr>
              <a:t>, </a:t>
            </a:r>
            <a:r>
              <a:rPr sz="1600" b="1" i="0" u="none">
                <a:solidFill>
                  <a:srgbClr val="1C2B3A"/>
                </a:solidFill>
                <a:latin typeface="Barlow"/>
              </a:rPr>
              <a:t>LIMIT</a:t>
            </a:r>
            <a:r>
              <a:rPr sz="1600" b="0" i="0" u="none">
                <a:solidFill>
                  <a:srgbClr val="1C2B3A"/>
                </a:solidFill>
                <a:latin typeface="Barlow"/>
              </a:rPr>
              <a:t> – sortieren, abschneiden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Gruppieren: eine Zeile je Tag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7909560" y="1691640"/>
            <a:ext cx="3733495" cy="18288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909560" y="1691640"/>
            <a:ext cx="73152" cy="182880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83880" y="1783080"/>
            <a:ext cx="332201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AGGREGATFUNKTIONEN</a:t>
            </a:r>
          </a:p>
        </p:txBody>
      </p:sp>
      <p:sp>
        <p:nvSpPr>
          <p:cNvPr id="11" name="TextBox 10"/>
          <p:cNvSpPr txBox="1"/>
          <p:nvPr/>
        </p:nvSpPr>
        <p:spPr>
          <a:xfrm>
            <a:off x="8183880" y="2148840"/>
            <a:ext cx="3322015" cy="1325880"/>
          </a:xfrm>
          <a:prstGeom prst="rect">
            <a:avLst/>
          </a:prstGeom>
          <a:noFill/>
        </p:spPr>
        <p:txBody>
          <a:bodyPr wrap="square" lIns="27432" rIns="27432" tIns="27432" bIns="27432">
            <a:spAutoFit/>
          </a:bodyPr>
          <a:lstStyle/>
          <a:p>
            <a:pPr>
              <a:lnSpc>
                <a:spcPct val="105000"/>
              </a:lnSpc>
              <a:spcAft>
                <a:spcPts val="300"/>
              </a:spcAft>
            </a:pPr>
            <a:r>
              <a:rPr sz="1530" b="1">
                <a:solidFill>
                  <a:srgbClr val="2C5A85"/>
                </a:solidFill>
                <a:latin typeface="Barlow"/>
              </a:rPr>
              <a:t>▸  </a:t>
            </a:r>
            <a:r>
              <a:rPr sz="1377" b="0" i="0" u="none">
                <a:solidFill>
                  <a:srgbClr val="1C2B3A"/>
                </a:solidFill>
                <a:latin typeface="IBM Plex Mono"/>
              </a:rPr>
              <a:t>COUNT(*)</a:t>
            </a:r>
            <a:r>
              <a:rPr sz="1530" b="0" i="0" u="none">
                <a:solidFill>
                  <a:srgbClr val="1C2B3A"/>
                </a:solidFill>
                <a:latin typeface="Barlow"/>
              </a:rPr>
              <a:t> zählt Zeilen der Gruppe</a:t>
            </a:r>
          </a:p>
          <a:p>
            <a:pPr>
              <a:lnSpc>
                <a:spcPct val="105000"/>
              </a:lnSpc>
              <a:spcAft>
                <a:spcPts val="300"/>
              </a:spcAft>
            </a:pPr>
            <a:r>
              <a:rPr sz="1530" b="1">
                <a:solidFill>
                  <a:srgbClr val="2C5A85"/>
                </a:solidFill>
                <a:latin typeface="Barlow"/>
              </a:rPr>
              <a:t>▸  </a:t>
            </a:r>
            <a:r>
              <a:rPr sz="1377" b="0" i="0" u="none">
                <a:solidFill>
                  <a:srgbClr val="1C2B3A"/>
                </a:solidFill>
                <a:latin typeface="IBM Plex Mono"/>
              </a:rPr>
              <a:t>SUM</a:t>
            </a:r>
            <a:r>
              <a:rPr sz="1530" b="0" i="0" u="none">
                <a:solidFill>
                  <a:srgbClr val="1C2B3A"/>
                </a:solidFill>
                <a:latin typeface="Barlow"/>
              </a:rPr>
              <a:t>, </a:t>
            </a:r>
            <a:r>
              <a:rPr sz="1377" b="0" i="0" u="none">
                <a:solidFill>
                  <a:srgbClr val="1C2B3A"/>
                </a:solidFill>
                <a:latin typeface="IBM Plex Mono"/>
              </a:rPr>
              <a:t>AVG</a:t>
            </a:r>
            <a:r>
              <a:rPr sz="1530" b="0" i="0" u="none">
                <a:solidFill>
                  <a:srgbClr val="1C2B3A"/>
                </a:solidFill>
                <a:latin typeface="Barlow"/>
              </a:rPr>
              <a:t>, </a:t>
            </a:r>
            <a:r>
              <a:rPr sz="1377" b="0" i="0" u="none">
                <a:solidFill>
                  <a:srgbClr val="1C2B3A"/>
                </a:solidFill>
                <a:latin typeface="IBM Plex Mono"/>
              </a:rPr>
              <a:t>MIN</a:t>
            </a:r>
            <a:r>
              <a:rPr sz="1530" b="0" i="0" u="none">
                <a:solidFill>
                  <a:srgbClr val="1C2B3A"/>
                </a:solidFill>
                <a:latin typeface="Barlow"/>
              </a:rPr>
              <a:t>, </a:t>
            </a:r>
            <a:r>
              <a:rPr sz="1377" b="0" i="0" u="none">
                <a:solidFill>
                  <a:srgbClr val="1C2B3A"/>
                </a:solidFill>
                <a:latin typeface="IBM Plex Mono"/>
              </a:rPr>
              <a:t>MAX</a:t>
            </a:r>
            <a:r>
              <a:rPr sz="1530" b="0" i="0" u="none">
                <a:solidFill>
                  <a:srgbClr val="1C2B3A"/>
                </a:solidFill>
                <a:latin typeface="Barlow"/>
              </a:rPr>
              <a:t> rechnen mit einer Spalte</a:t>
            </a:r>
          </a:p>
          <a:p>
            <a:pPr>
              <a:lnSpc>
                <a:spcPct val="105000"/>
              </a:lnSpc>
              <a:spcAft>
                <a:spcPts val="300"/>
              </a:spcAft>
            </a:pPr>
            <a:r>
              <a:rPr sz="1530" b="1">
                <a:solidFill>
                  <a:srgbClr val="2C5A85"/>
                </a:solidFill>
                <a:latin typeface="Barlow"/>
              </a:rPr>
              <a:t>▸  </a:t>
            </a:r>
            <a:r>
              <a:rPr sz="1530" b="0" i="0" u="none">
                <a:solidFill>
                  <a:srgbClr val="1C2B3A"/>
                </a:solidFill>
                <a:latin typeface="Barlow"/>
              </a:rPr>
              <a:t>eine Gruppe → </a:t>
            </a:r>
            <a:r>
              <a:rPr sz="1530" b="1" i="0" u="none">
                <a:solidFill>
                  <a:srgbClr val="1C2B3A"/>
                </a:solidFill>
                <a:latin typeface="Barlow"/>
              </a:rPr>
              <a:t>eine</a:t>
            </a:r>
            <a:r>
              <a:rPr sz="1530" b="0" i="0" u="none">
                <a:solidFill>
                  <a:srgbClr val="1C2B3A"/>
                </a:solidFill>
                <a:latin typeface="Barlow"/>
              </a:rPr>
              <a:t> Ergebniszeile</a:t>
            </a:r>
          </a:p>
        </p:txBody>
      </p:sp>
      <p:sp>
        <p:nvSpPr>
          <p:cNvPr id="12" name="SQL-Hintergrund"/>
          <p:cNvSpPr/>
          <p:nvPr/>
        </p:nvSpPr>
        <p:spPr>
          <a:xfrm>
            <a:off x="548640" y="1691640"/>
            <a:ext cx="7086600" cy="10344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6720840" cy="7600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Datum</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Verkaeufe</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SUM</a:t>
            </a:r>
            <a:r>
              <a:rPr sz="1500" i="0">
                <a:solidFill>
                  <a:srgbClr val="D8E3D0"/>
                </a:solidFill>
                <a:latin typeface="IBM Plex Mono"/>
              </a:rPr>
              <a:t>(</a:t>
            </a:r>
            <a:r>
              <a:rPr sz="1500" i="0">
                <a:solidFill>
                  <a:srgbClr val="D8E3D0"/>
                </a:solidFill>
                <a:latin typeface="IBM Plex Mono"/>
              </a:rPr>
              <a:t>Kugeln</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Kugeln</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Verkauf</a:t>
            </a:r>
          </a:p>
          <a:p>
            <a:pPr>
              <a:lnSpc>
                <a:spcPct val="100000"/>
              </a:lnSpc>
            </a:pPr>
            <a:r>
              <a:rPr sz="1500" i="0">
                <a:solidFill>
                  <a:srgbClr val="F2A65A"/>
                </a:solidFill>
                <a:latin typeface="IBM Plex Mono"/>
              </a:rPr>
              <a:t>GROUP</a:t>
            </a:r>
            <a:r>
              <a:rPr sz="1500" i="0">
                <a:solidFill>
                  <a:srgbClr val="D8E3D0"/>
                </a:solidFill>
                <a:latin typeface="IBM Plex Mono"/>
              </a:rPr>
              <a:t> </a:t>
            </a:r>
            <a:r>
              <a:rPr sz="1500" i="0">
                <a:solidFill>
                  <a:srgbClr val="F2A65A"/>
                </a:solidFill>
                <a:latin typeface="IBM Plex Mono"/>
              </a:rPr>
              <a:t>BY</a:t>
            </a:r>
            <a:r>
              <a:rPr sz="1500" i="0">
                <a:solidFill>
                  <a:srgbClr val="D8E3D0"/>
                </a:solidFill>
                <a:latin typeface="IBM Plex Mono"/>
              </a:rPr>
              <a:t> </a:t>
            </a:r>
            <a:r>
              <a:rPr sz="1500" i="0">
                <a:solidFill>
                  <a:srgbClr val="D8E3D0"/>
                </a:solidFill>
                <a:latin typeface="IBM Plex Mono"/>
              </a:rPr>
              <a:t>Datum</a:t>
            </a:r>
          </a:p>
        </p:txBody>
      </p:sp>
      <p:sp>
        <p:nvSpPr>
          <p:cNvPr id="14" name="TextBox 13"/>
          <p:cNvSpPr txBox="1"/>
          <p:nvPr/>
        </p:nvSpPr>
        <p:spPr>
          <a:xfrm>
            <a:off x="548640" y="2799207"/>
            <a:ext cx="708660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7 ZEILEN</a:t>
            </a:r>
          </a:p>
        </p:txBody>
      </p:sp>
      <p:graphicFrame>
        <p:nvGraphicFramePr>
          <p:cNvPr id="15" name="Ergebnistabelle"/>
          <p:cNvGraphicFramePr>
            <a:graphicFrameLocks noGrp="1"/>
          </p:cNvGraphicFramePr>
          <p:nvPr/>
        </p:nvGraphicFramePr>
        <p:xfrm>
          <a:off x="548640" y="3110103"/>
          <a:ext cx="3737610" cy="2362200"/>
        </p:xfrm>
        <a:graphic>
          <a:graphicData uri="http://schemas.openxmlformats.org/drawingml/2006/table">
            <a:tbl>
              <a:tblPr firstRow="1">
                <a:tableStyleId>{5C22544A-7EE6-4342-B048-85BDC9FD1C3A}</a:tableStyleId>
              </a:tblPr>
              <a:tblGrid>
                <a:gridCol w="1440180"/>
                <a:gridCol w="1323594"/>
                <a:gridCol w="973836"/>
              </a:tblGrid>
              <a:tr h="295275">
                <a:tc>
                  <a:txBody>
                    <a:bodyPr/>
                    <a:lstStyle/>
                    <a:p>
                      <a:r>
                        <a:rPr sz="1380" b="1" i="0" u="none">
                          <a:solidFill>
                            <a:srgbClr val="1C2B3A"/>
                          </a:solidFill>
                          <a:latin typeface="IBM Plex Mono"/>
                        </a:rPr>
                        <a:t>Datum</a:t>
                      </a:r>
                    </a:p>
                  </a:txBody>
                  <a:tcPr marL="54864" marR="54864" marT="18288" marB="18288">
                    <a:solidFill>
                      <a:srgbClr val="EBE2D2"/>
                    </a:solidFill>
                  </a:tcPr>
                </a:tc>
                <a:tc>
                  <a:txBody>
                    <a:bodyPr/>
                    <a:lstStyle/>
                    <a:p>
                      <a:r>
                        <a:rPr sz="1380" b="1" i="0" u="none">
                          <a:solidFill>
                            <a:srgbClr val="1C2B3A"/>
                          </a:solidFill>
                          <a:latin typeface="IBM Plex Mono"/>
                        </a:rPr>
                        <a:t>Verkaeufe</a:t>
                      </a:r>
                    </a:p>
                  </a:txBody>
                  <a:tcPr marL="54864" marR="54864" marT="18288" marB="18288">
                    <a:solidFill>
                      <a:srgbClr val="EBE2D2"/>
                    </a:solidFill>
                  </a:tcPr>
                </a:tc>
                <a:tc>
                  <a:txBody>
                    <a:bodyPr/>
                    <a:lstStyle/>
                    <a:p>
                      <a:r>
                        <a:rPr sz="1380" b="1" i="0" u="none">
                          <a:solidFill>
                            <a:srgbClr val="1C2B3A"/>
                          </a:solidFill>
                          <a:latin typeface="IBM Plex Mono"/>
                        </a:rPr>
                        <a:t>Kugeln</a:t>
                      </a:r>
                    </a:p>
                  </a:txBody>
                  <a:tcPr marL="54864" marR="54864" marT="18288" marB="18288">
                    <a:solidFill>
                      <a:srgbClr val="EBE2D2"/>
                    </a:solidFill>
                  </a:tcPr>
                </a:tc>
              </a:tr>
              <a:tr h="295275">
                <a:tc>
                  <a:txBody>
                    <a:bodyPr/>
                    <a:lstStyle/>
                    <a:p>
                      <a:r>
                        <a:rPr sz="1500" b="0" i="0" u="none">
                          <a:solidFill>
                            <a:srgbClr val="1C2B3A"/>
                          </a:solidFill>
                          <a:latin typeface="Barlow"/>
                        </a:rPr>
                        <a:t>2026-07-06</a:t>
                      </a:r>
                    </a:p>
                  </a:txBody>
                  <a:tcPr marL="54864" marR="54864" marT="18288" marB="18288">
                    <a:solidFill>
                      <a:srgbClr val="FFFDF8"/>
                    </a:solidFill>
                  </a:tcPr>
                </a:tc>
                <a:tc>
                  <a:txBody>
                    <a:bodyPr/>
                    <a:lstStyle/>
                    <a:p>
                      <a:pPr algn="r"/>
                      <a:r>
                        <a:rPr sz="1500" b="0" i="0" u="none">
                          <a:solidFill>
                            <a:srgbClr val="1C2B3A"/>
                          </a:solidFill>
                          <a:latin typeface="Barlow"/>
                        </a:rPr>
                        <a:t>9</a:t>
                      </a:r>
                    </a:p>
                  </a:txBody>
                  <a:tcPr marL="54864" marR="54864" marT="18288" marB="18288">
                    <a:solidFill>
                      <a:srgbClr val="FFFDF8"/>
                    </a:solidFill>
                  </a:tcPr>
                </a:tc>
                <a:tc>
                  <a:txBody>
                    <a:bodyPr/>
                    <a:lstStyle/>
                    <a:p>
                      <a:pPr algn="r"/>
                      <a:r>
                        <a:rPr sz="1500" b="0" i="0" u="none">
                          <a:solidFill>
                            <a:srgbClr val="1C2B3A"/>
                          </a:solidFill>
                          <a:latin typeface="Barlow"/>
                        </a:rPr>
                        <a:t>21</a:t>
                      </a:r>
                    </a:p>
                  </a:txBody>
                  <a:tcPr marL="54864" marR="54864" marT="18288" marB="18288">
                    <a:solidFill>
                      <a:srgbClr val="FFFDF8"/>
                    </a:solidFill>
                  </a:tcPr>
                </a:tc>
              </a:tr>
              <a:tr h="295275">
                <a:tc>
                  <a:txBody>
                    <a:bodyPr/>
                    <a:lstStyle/>
                    <a:p>
                      <a:r>
                        <a:rPr sz="1500" b="0" i="0" u="none">
                          <a:solidFill>
                            <a:srgbClr val="1C2B3A"/>
                          </a:solidFill>
                          <a:latin typeface="Barlow"/>
                        </a:rPr>
                        <a:t>2026-07-07</a:t>
                      </a:r>
                    </a:p>
                  </a:txBody>
                  <a:tcPr marL="54864" marR="54864" marT="18288" marB="18288">
                    <a:solidFill>
                      <a:srgbClr val="FFFDF8"/>
                    </a:solidFill>
                  </a:tcPr>
                </a:tc>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pPr algn="r"/>
                      <a:r>
                        <a:rPr sz="1500" b="0" i="0" u="none">
                          <a:solidFill>
                            <a:srgbClr val="1C2B3A"/>
                          </a:solidFill>
                          <a:latin typeface="Barlow"/>
                        </a:rPr>
                        <a:t>14</a:t>
                      </a:r>
                    </a:p>
                  </a:txBody>
                  <a:tcPr marL="54864" marR="54864" marT="18288" marB="18288">
                    <a:solidFill>
                      <a:srgbClr val="FFFDF8"/>
                    </a:solidFill>
                  </a:tcPr>
                </a:tc>
              </a:tr>
              <a:tr h="295275">
                <a:tc>
                  <a:txBody>
                    <a:bodyPr/>
                    <a:lstStyle/>
                    <a:p>
                      <a:r>
                        <a:rPr sz="1500" b="0" i="0" u="none">
                          <a:solidFill>
                            <a:srgbClr val="1C2B3A"/>
                          </a:solidFill>
                          <a:latin typeface="Barlow"/>
                        </a:rPr>
                        <a:t>2026-07-08</a:t>
                      </a:r>
                    </a:p>
                  </a:txBody>
                  <a:tcPr marL="54864" marR="54864" marT="18288" marB="18288">
                    <a:solidFill>
                      <a:srgbClr val="FFFDF8"/>
                    </a:solidFill>
                  </a:tcPr>
                </a:tc>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pPr algn="r"/>
                      <a:r>
                        <a:rPr sz="1500" b="0" i="0" u="none">
                          <a:solidFill>
                            <a:srgbClr val="1C2B3A"/>
                          </a:solidFill>
                          <a:latin typeface="Barlow"/>
                        </a:rPr>
                        <a:t>16</a:t>
                      </a:r>
                    </a:p>
                  </a:txBody>
                  <a:tcPr marL="54864" marR="54864" marT="18288" marB="18288">
                    <a:solidFill>
                      <a:srgbClr val="FFFDF8"/>
                    </a:solidFill>
                  </a:tcPr>
                </a:tc>
              </a:tr>
              <a:tr h="295275">
                <a:tc>
                  <a:txBody>
                    <a:bodyPr/>
                    <a:lstStyle/>
                    <a:p>
                      <a:r>
                        <a:rPr sz="1500" b="0" i="0" u="none">
                          <a:solidFill>
                            <a:srgbClr val="1C2B3A"/>
                          </a:solidFill>
                          <a:latin typeface="Barlow"/>
                        </a:rPr>
                        <a:t>2026-07-09</a:t>
                      </a:r>
                    </a:p>
                  </a:txBody>
                  <a:tcPr marL="54864" marR="54864" marT="18288" marB="18288">
                    <a:solidFill>
                      <a:srgbClr val="FFFDF8"/>
                    </a:solidFill>
                  </a:tcPr>
                </a:tc>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pPr algn="r"/>
                      <a:r>
                        <a:rPr sz="1500" b="0" i="0" u="none">
                          <a:solidFill>
                            <a:srgbClr val="1C2B3A"/>
                          </a:solidFill>
                          <a:latin typeface="Barlow"/>
                        </a:rPr>
                        <a:t>20</a:t>
                      </a:r>
                    </a:p>
                  </a:txBody>
                  <a:tcPr marL="54864" marR="54864" marT="18288" marB="18288">
                    <a:solidFill>
                      <a:srgbClr val="FFFDF8"/>
                    </a:solidFill>
                  </a:tcPr>
                </a:tc>
              </a:tr>
              <a:tr h="295275">
                <a:tc>
                  <a:txBody>
                    <a:bodyPr/>
                    <a:lstStyle/>
                    <a:p>
                      <a:r>
                        <a:rPr sz="1500" b="0" i="0" u="none">
                          <a:solidFill>
                            <a:srgbClr val="1C2B3A"/>
                          </a:solidFill>
                          <a:latin typeface="Barlow"/>
                        </a:rPr>
                        <a:t>2026-07-10</a:t>
                      </a:r>
                    </a:p>
                  </a:txBody>
                  <a:tcPr marL="54864" marR="54864" marT="18288" marB="18288">
                    <a:solidFill>
                      <a:srgbClr val="FFFDF8"/>
                    </a:solidFill>
                  </a:tcPr>
                </a:tc>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pPr algn="r"/>
                      <a:r>
                        <a:rPr sz="1500" b="0" i="0" u="none">
                          <a:solidFill>
                            <a:srgbClr val="1C2B3A"/>
                          </a:solidFill>
                          <a:latin typeface="Barlow"/>
                        </a:rPr>
                        <a:t>16</a:t>
                      </a:r>
                    </a:p>
                  </a:txBody>
                  <a:tcPr marL="54864" marR="54864" marT="18288" marB="18288">
                    <a:solidFill>
                      <a:srgbClr val="FFFDF8"/>
                    </a:solidFill>
                  </a:tcPr>
                </a:tc>
              </a:tr>
              <a:tr h="295275">
                <a:tc>
                  <a:txBody>
                    <a:bodyPr/>
                    <a:lstStyle/>
                    <a:p>
                      <a:r>
                        <a:rPr sz="1500" b="0" i="0" u="none">
                          <a:solidFill>
                            <a:srgbClr val="1C2B3A"/>
                          </a:solidFill>
                          <a:latin typeface="Barlow"/>
                        </a:rPr>
                        <a:t>2026-07-11</a:t>
                      </a:r>
                    </a:p>
                  </a:txBody>
                  <a:tcPr marL="54864" marR="54864" marT="18288" marB="18288">
                    <a:solidFill>
                      <a:srgbClr val="FFFDF8"/>
                    </a:solidFill>
                  </a:tcPr>
                </a:tc>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pPr algn="r"/>
                      <a:r>
                        <a:rPr sz="1500" b="0" i="0" u="none">
                          <a:solidFill>
                            <a:srgbClr val="1C2B3A"/>
                          </a:solidFill>
                          <a:latin typeface="Barlow"/>
                        </a:rPr>
                        <a:t>18</a:t>
                      </a:r>
                    </a:p>
                  </a:txBody>
                  <a:tcPr marL="54864" marR="54864" marT="18288" marB="18288">
                    <a:solidFill>
                      <a:srgbClr val="FFFDF8"/>
                    </a:solidFill>
                  </a:tcPr>
                </a:tc>
              </a:tr>
              <a:tr h="295275">
                <a:tc>
                  <a:txBody>
                    <a:bodyPr/>
                    <a:lstStyle/>
                    <a:p>
                      <a:r>
                        <a:rPr sz="1500" b="0" i="0" u="none">
                          <a:solidFill>
                            <a:srgbClr val="1C2B3A"/>
                          </a:solidFill>
                          <a:latin typeface="Barlow"/>
                        </a:rPr>
                        <a:t>2026-07-12</a:t>
                      </a:r>
                    </a:p>
                  </a:txBody>
                  <a:tcPr marL="54864" marR="54864" marT="18288" marB="18288">
                    <a:solidFill>
                      <a:srgbClr val="FFFDF8"/>
                    </a:solidFill>
                  </a:tcPr>
                </a:tc>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pPr algn="r"/>
                      <a:r>
                        <a:rPr sz="1500" b="0" i="0" u="none">
                          <a:solidFill>
                            <a:srgbClr val="1C2B3A"/>
                          </a:solidFill>
                          <a:latin typeface="Barlow"/>
                        </a:rPr>
                        <a:t>13</a:t>
                      </a:r>
                    </a:p>
                  </a:txBody>
                  <a:tcPr marL="54864" marR="54864" marT="18288" marB="18288">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In den Sortierfächern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7589520" y="1691640"/>
            <a:ext cx="4053535" cy="196138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196138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EIN FACH JE DATUM</a:t>
            </a:r>
          </a:p>
        </p:txBody>
      </p:sp>
      <p:sp>
        <p:nvSpPr>
          <p:cNvPr id="11" name="TextBox 10"/>
          <p:cNvSpPr txBox="1"/>
          <p:nvPr/>
        </p:nvSpPr>
        <p:spPr>
          <a:xfrm>
            <a:off x="7863840" y="2148840"/>
            <a:ext cx="3642055" cy="1458468"/>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Barlow"/>
              </a:rPr>
              <a:t>Hier Freitag bis Sonntag (</a:t>
            </a:r>
            <a:r>
              <a:rPr sz="1377" b="0" i="0" u="none">
                <a:solidFill>
                  <a:srgbClr val="1C2B3A"/>
                </a:solidFill>
                <a:latin typeface="IBM Plex Mono"/>
              </a:rPr>
              <a:t>WHERE Datum &gt;= '2026-07-10'</a:t>
            </a:r>
            <a:r>
              <a:rPr sz="1530" b="0" i="0" u="none">
                <a:solidFill>
                  <a:srgbClr val="1C2B3A"/>
                </a:solidFill>
                <a:latin typeface="Barlow"/>
              </a:rPr>
              <a:t>): jeder Verkauf landet im Fach seines Tages.</a:t>
            </a:r>
          </a:p>
          <a:p>
            <a:pPr>
              <a:lnSpc>
                <a:spcPct val="105000"/>
              </a:lnSpc>
              <a:spcAft>
                <a:spcPts val="300"/>
              </a:spcAft>
            </a:pPr>
            <a:r>
              <a:rPr sz="1530" b="0" i="0" u="none">
                <a:solidFill>
                  <a:srgbClr val="1C2B3A"/>
                </a:solidFill>
                <a:latin typeface="Barlow"/>
              </a:rPr>
              <a:t>COUNT zählt die Karten im Fach, SUM addiert die Kugeln darauf.</a:t>
            </a:r>
          </a:p>
        </p:txBody>
      </p:sp>
      <p:pic>
        <p:nvPicPr>
          <p:cNvPr id="12" name="Bild sortierfaecher" descr="sortierfaecher.png"/>
          <p:cNvPicPr>
            <a:picLocks noChangeAspect="1"/>
          </p:cNvPicPr>
          <p:nvPr/>
        </p:nvPicPr>
        <p:blipFill>
          <a:blip r:embed="rId3"/>
          <a:stretch>
            <a:fillRect/>
          </a:stretch>
        </p:blipFill>
        <p:spPr>
          <a:xfrm>
            <a:off x="1020143" y="1691640"/>
            <a:ext cx="5823553" cy="4572000"/>
          </a:xfrm>
          <a:prstGeom prst="rect">
            <a:avLst/>
          </a:prstGeom>
          <a:ln w="9525">
            <a:solidFill>
              <a:srgbClr val="BDB6A9"/>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GROUP-BY-Regel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7909560" y="1691640"/>
            <a:ext cx="3733495" cy="2194560"/>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909560" y="1691640"/>
            <a:ext cx="73152" cy="21945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83880" y="1783080"/>
            <a:ext cx="332201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REGEL (EH §8)</a:t>
            </a:r>
          </a:p>
        </p:txBody>
      </p:sp>
      <p:sp>
        <p:nvSpPr>
          <p:cNvPr id="11" name="TextBox 10"/>
          <p:cNvSpPr txBox="1"/>
          <p:nvPr/>
        </p:nvSpPr>
        <p:spPr>
          <a:xfrm>
            <a:off x="8183880" y="2148840"/>
            <a:ext cx="3322015" cy="1691639"/>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Barlow"/>
              </a:rPr>
              <a:t>Jede Spalte im SELECT ist </a:t>
            </a:r>
            <a:r>
              <a:rPr sz="1530" b="1" i="0" u="none">
                <a:solidFill>
                  <a:srgbClr val="1C2B3A"/>
                </a:solidFill>
                <a:latin typeface="Barlow"/>
              </a:rPr>
              <a:t>aggregiert</a:t>
            </a:r>
            <a:r>
              <a:rPr sz="1530" b="0" i="0" u="none">
                <a:solidFill>
                  <a:srgbClr val="1C2B3A"/>
                </a:solidFill>
                <a:latin typeface="Barlow"/>
              </a:rPr>
              <a:t> oder steht im </a:t>
            </a:r>
            <a:r>
              <a:rPr sz="1530" b="1" i="0" u="none">
                <a:solidFill>
                  <a:srgbClr val="1C2B3A"/>
                </a:solidFill>
                <a:latin typeface="Barlow"/>
              </a:rPr>
              <a:t>GROUP BY</a:t>
            </a:r>
            <a:r>
              <a:rPr sz="1530" b="0" i="0" u="none">
                <a:solidFill>
                  <a:srgbClr val="1C2B3A"/>
                </a:solidFill>
                <a:latin typeface="Barlow"/>
              </a:rPr>
              <a:t>.</a:t>
            </a:r>
          </a:p>
          <a:p>
            <a:pPr>
              <a:lnSpc>
                <a:spcPct val="105000"/>
              </a:lnSpc>
              <a:spcAft>
                <a:spcPts val="300"/>
              </a:spcAft>
            </a:pPr>
            <a:r>
              <a:rPr sz="1530" b="0" i="0" u="none">
                <a:solidFill>
                  <a:srgbClr val="1C2B3A"/>
                </a:solidFill>
                <a:latin typeface="Barlow"/>
              </a:rPr>
              <a:t>Welche „Kugeln“ soll die Zeile vom 6. Juli zeigen – es gibt neun Werte!</a:t>
            </a:r>
          </a:p>
        </p:txBody>
      </p:sp>
      <p:sp>
        <p:nvSpPr>
          <p:cNvPr id="12" name="TextBox 11"/>
          <p:cNvSpPr txBox="1"/>
          <p:nvPr/>
        </p:nvSpPr>
        <p:spPr>
          <a:xfrm>
            <a:off x="548640" y="1691640"/>
            <a:ext cx="708660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FALLE P3</a:t>
            </a:r>
          </a:p>
        </p:txBody>
      </p:sp>
      <p:sp>
        <p:nvSpPr>
          <p:cNvPr id="13" name="SQL-Hintergrund"/>
          <p:cNvSpPr/>
          <p:nvPr/>
        </p:nvSpPr>
        <p:spPr>
          <a:xfrm>
            <a:off x="548640" y="2002536"/>
            <a:ext cx="7086600" cy="1272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QL [fehlerhaft]"/>
          <p:cNvSpPr txBox="1"/>
          <p:nvPr/>
        </p:nvSpPr>
        <p:spPr>
          <a:xfrm>
            <a:off x="731520" y="2139696"/>
            <a:ext cx="6720840" cy="998219"/>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Datum</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Kugeln</a:t>
            </a:r>
            <a:r>
              <a:rPr sz="2000" i="0">
                <a:solidFill>
                  <a:srgbClr val="D8E3D0"/>
                </a:solidFill>
                <a:latin typeface="IBM Plex Mono"/>
              </a:rPr>
              <a:t>,</a:t>
            </a:r>
            <a:r>
              <a:rPr sz="2000" i="0">
                <a:solidFill>
                  <a:srgbClr val="D8E3D0"/>
                </a:solidFill>
                <a:latin typeface="IBM Plex Mono"/>
              </a:rPr>
              <a:t> </a:t>
            </a:r>
            <a:r>
              <a:rPr sz="2000" i="0">
                <a:solidFill>
                  <a:srgbClr val="E6C77A"/>
                </a:solidFill>
                <a:latin typeface="IBM Plex Mono"/>
              </a:rPr>
              <a:t>COUNT</a:t>
            </a:r>
            <a:r>
              <a:rPr sz="2000" i="0">
                <a:solidFill>
                  <a:srgbClr val="D8E3D0"/>
                </a:solidFill>
                <a:latin typeface="IBM Plex Mono"/>
              </a:rPr>
              <a:t>(</a:t>
            </a:r>
            <a:r>
              <a:rPr sz="2000" i="0">
                <a:solidFill>
                  <a:srgbClr val="D8E3D0"/>
                </a:solidFill>
                <a:latin typeface="IBM Plex Mono"/>
              </a:rPr>
              <a:t>*</a:t>
            </a:r>
            <a:r>
              <a:rPr sz="2000" i="0">
                <a:solidFill>
                  <a:srgbClr val="D8E3D0"/>
                </a:solidFill>
                <a:latin typeface="IBM Plex Mono"/>
              </a:rPr>
              <a:t>)</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Verkauf</a:t>
            </a:r>
          </a:p>
          <a:p>
            <a:pPr>
              <a:lnSpc>
                <a:spcPct val="100000"/>
              </a:lnSpc>
            </a:pPr>
            <a:r>
              <a:rPr sz="2000" i="0">
                <a:solidFill>
                  <a:srgbClr val="F2A65A"/>
                </a:solidFill>
                <a:latin typeface="IBM Plex Mono"/>
              </a:rPr>
              <a:t>GROUP</a:t>
            </a:r>
            <a:r>
              <a:rPr sz="2000" i="0">
                <a:solidFill>
                  <a:srgbClr val="D8E3D0"/>
                </a:solidFill>
                <a:latin typeface="IBM Plex Mono"/>
              </a:rPr>
              <a:t> </a:t>
            </a:r>
            <a:r>
              <a:rPr sz="2000" i="0">
                <a:solidFill>
                  <a:srgbClr val="F2A65A"/>
                </a:solidFill>
                <a:latin typeface="IBM Plex Mono"/>
              </a:rPr>
              <a:t>BY</a:t>
            </a:r>
            <a:r>
              <a:rPr sz="2000" i="0">
                <a:solidFill>
                  <a:srgbClr val="D8E3D0"/>
                </a:solidFill>
                <a:latin typeface="IBM Plex Mono"/>
              </a:rPr>
              <a:t> </a:t>
            </a:r>
            <a:r>
              <a:rPr sz="2000" i="0">
                <a:solidFill>
                  <a:srgbClr val="D8E3D0"/>
                </a:solidFill>
                <a:latin typeface="IBM Plex Mono"/>
              </a:rPr>
              <a:t>Datum</a:t>
            </a:r>
          </a:p>
        </p:txBody>
      </p:sp>
      <p:sp>
        <p:nvSpPr>
          <p:cNvPr id="15" name="Rectangle 14"/>
          <p:cNvSpPr/>
          <p:nvPr/>
        </p:nvSpPr>
        <p:spPr>
          <a:xfrm>
            <a:off x="548640" y="2002536"/>
            <a:ext cx="64008" cy="12725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3384804"/>
            <a:ext cx="708660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5FAF86"/>
                </a:solidFill>
                <a:latin typeface="IBM Plex Mono"/>
              </a:rPr>
              <a:t>✔ RICHTIG</a:t>
            </a:r>
          </a:p>
        </p:txBody>
      </p:sp>
      <p:sp>
        <p:nvSpPr>
          <p:cNvPr id="17" name="SQL-Hintergrund"/>
          <p:cNvSpPr/>
          <p:nvPr/>
        </p:nvSpPr>
        <p:spPr>
          <a:xfrm>
            <a:off x="548640" y="3695700"/>
            <a:ext cx="7086600" cy="10344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QL"/>
          <p:cNvSpPr txBox="1"/>
          <p:nvPr/>
        </p:nvSpPr>
        <p:spPr>
          <a:xfrm>
            <a:off x="731520" y="3832860"/>
            <a:ext cx="6720840" cy="7600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Datum</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SUM</a:t>
            </a:r>
            <a:r>
              <a:rPr sz="1500" i="0">
                <a:solidFill>
                  <a:srgbClr val="D8E3D0"/>
                </a:solidFill>
                <a:latin typeface="IBM Plex Mono"/>
              </a:rPr>
              <a:t>(</a:t>
            </a:r>
            <a:r>
              <a:rPr sz="1500" i="0">
                <a:solidFill>
                  <a:srgbClr val="D8E3D0"/>
                </a:solidFill>
                <a:latin typeface="IBM Plex Mono"/>
              </a:rPr>
              <a:t>Kugeln</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Kugeln</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Verkaeufe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Verkauf</a:t>
            </a:r>
          </a:p>
          <a:p>
            <a:pPr>
              <a:lnSpc>
                <a:spcPct val="100000"/>
              </a:lnSpc>
            </a:pPr>
            <a:r>
              <a:rPr sz="1500" i="0">
                <a:solidFill>
                  <a:srgbClr val="F2A65A"/>
                </a:solidFill>
                <a:latin typeface="IBM Plex Mono"/>
              </a:rPr>
              <a:t>GROUP</a:t>
            </a:r>
            <a:r>
              <a:rPr sz="1500" i="0">
                <a:solidFill>
                  <a:srgbClr val="D8E3D0"/>
                </a:solidFill>
                <a:latin typeface="IBM Plex Mono"/>
              </a:rPr>
              <a:t> </a:t>
            </a:r>
            <a:r>
              <a:rPr sz="1500" i="0">
                <a:solidFill>
                  <a:srgbClr val="F2A65A"/>
                </a:solidFill>
                <a:latin typeface="IBM Plex Mono"/>
              </a:rPr>
              <a:t>BY</a:t>
            </a:r>
            <a:r>
              <a:rPr sz="1500" i="0">
                <a:solidFill>
                  <a:srgbClr val="D8E3D0"/>
                </a:solidFill>
                <a:latin typeface="IBM Plex Mono"/>
              </a:rPr>
              <a:t> </a:t>
            </a:r>
            <a:r>
              <a:rPr sz="1500" i="0">
                <a:solidFill>
                  <a:srgbClr val="D8E3D0"/>
                </a:solidFill>
                <a:latin typeface="IBM Plex Mono"/>
              </a:rPr>
              <a:t>Datum</a:t>
            </a:r>
          </a:p>
        </p:txBody>
      </p:sp>
      <p:sp>
        <p:nvSpPr>
          <p:cNvPr id="19" name="Rectangle 18"/>
          <p:cNvSpPr/>
          <p:nvPr/>
        </p:nvSpPr>
        <p:spPr>
          <a:xfrm>
            <a:off x="548640" y="3695700"/>
            <a:ext cx="64008" cy="1034415"/>
          </a:xfrm>
          <a:prstGeom prst="rect">
            <a:avLst/>
          </a:prstGeom>
          <a:solidFill>
            <a:srgbClr val="5FA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Gruppieren nach dem Schlüssel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7566660" y="1691640"/>
            <a:ext cx="4076395" cy="202615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66660" y="1691640"/>
            <a:ext cx="73152" cy="202615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40980" y="1783080"/>
            <a:ext cx="366491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WARUM SORTENR?</a:t>
            </a:r>
          </a:p>
        </p:txBody>
      </p:sp>
      <p:sp>
        <p:nvSpPr>
          <p:cNvPr id="11" name="TextBox 10"/>
          <p:cNvSpPr txBox="1"/>
          <p:nvPr/>
        </p:nvSpPr>
        <p:spPr>
          <a:xfrm>
            <a:off x="7840980" y="2148840"/>
            <a:ext cx="3664915" cy="1523237"/>
          </a:xfrm>
          <a:prstGeom prst="rect">
            <a:avLst/>
          </a:prstGeom>
          <a:noFill/>
        </p:spPr>
        <p:txBody>
          <a:bodyPr wrap="square" lIns="27432" rIns="27432" tIns="27432" bIns="27432">
            <a:spAutoFit/>
          </a:bodyPr>
          <a:lstStyle/>
          <a:p>
            <a:pPr>
              <a:lnSpc>
                <a:spcPct val="105000"/>
              </a:lnSpc>
              <a:spcAft>
                <a:spcPts val="300"/>
              </a:spcAft>
            </a:pPr>
            <a:r>
              <a:rPr sz="1614" b="0" i="0" u="none">
                <a:solidFill>
                  <a:srgbClr val="1C2B3A"/>
                </a:solidFill>
                <a:latin typeface="Barlow"/>
              </a:rPr>
              <a:t>Nach dem </a:t>
            </a:r>
            <a:r>
              <a:rPr sz="1614" b="1" i="0" u="none">
                <a:solidFill>
                  <a:srgbClr val="1C2B3A"/>
                </a:solidFill>
                <a:latin typeface="Barlow"/>
              </a:rPr>
              <a:t>Primärschlüssel</a:t>
            </a:r>
            <a:r>
              <a:rPr sz="1614" b="0" i="0" u="none">
                <a:solidFill>
                  <a:srgbClr val="1C2B3A"/>
                </a:solidFill>
                <a:latin typeface="Barlow"/>
              </a:rPr>
              <a:t> gruppieren – Namen können doppelt sein (P3).</a:t>
            </a:r>
          </a:p>
          <a:p>
            <a:pPr>
              <a:lnSpc>
                <a:spcPct val="105000"/>
              </a:lnSpc>
              <a:spcAft>
                <a:spcPts val="300"/>
              </a:spcAft>
            </a:pPr>
            <a:r>
              <a:rPr sz="1614" b="0" i="0" u="none">
                <a:solidFill>
                  <a:srgbClr val="1C2B3A"/>
                </a:solidFill>
                <a:latin typeface="Barlow"/>
              </a:rPr>
              <a:t>Name steht zusätzlich im GROUP BY, damit er im SELECT stehen darf.</a:t>
            </a:r>
          </a:p>
        </p:txBody>
      </p:sp>
      <p:sp>
        <p:nvSpPr>
          <p:cNvPr id="12" name="SQL-Hintergrund"/>
          <p:cNvSpPr/>
          <p:nvPr/>
        </p:nvSpPr>
        <p:spPr>
          <a:xfrm>
            <a:off x="548640" y="1691640"/>
            <a:ext cx="6743700" cy="174879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6377940" cy="1474470"/>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SorteNr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Name</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Verkaeufe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Verkauf</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SorteNr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Verkauf</a:t>
            </a:r>
            <a:r>
              <a:rPr sz="1500" i="0">
                <a:solidFill>
                  <a:srgbClr val="D8E3D0"/>
                </a:solidFill>
                <a:latin typeface="IBM Plex Mono"/>
              </a:rPr>
              <a:t>.</a:t>
            </a:r>
            <a:r>
              <a:rPr sz="1500" i="0">
                <a:solidFill>
                  <a:srgbClr val="D8E3D0"/>
                </a:solidFill>
                <a:latin typeface="IBM Plex Mono"/>
              </a:rPr>
              <a:t>SorteNr</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D8E3D0"/>
                </a:solidFill>
                <a:latin typeface="IBM Plex Mono"/>
              </a:rPr>
              <a:t>Verkauf</a:t>
            </a:r>
            <a:r>
              <a:rPr sz="1500" i="0">
                <a:solidFill>
                  <a:srgbClr val="D8E3D0"/>
                </a:solidFill>
                <a:latin typeface="IBM Plex Mono"/>
              </a:rPr>
              <a:t>.</a:t>
            </a:r>
            <a:r>
              <a:rPr sz="1500" i="0">
                <a:solidFill>
                  <a:srgbClr val="D8E3D0"/>
                </a:solidFill>
                <a:latin typeface="IBM Plex Mono"/>
              </a:rPr>
              <a:t>Kugeln</a:t>
            </a:r>
            <a:r>
              <a:rPr sz="1500" i="0">
                <a:solidFill>
                  <a:srgbClr val="D8E3D0"/>
                </a:solidFill>
                <a:latin typeface="IBM Plex Mono"/>
              </a:rPr>
              <a:t> </a:t>
            </a:r>
            <a:r>
              <a:rPr sz="1500" i="0">
                <a:solidFill>
                  <a:srgbClr val="D8E3D0"/>
                </a:solidFill>
                <a:latin typeface="IBM Plex Mono"/>
              </a:rPr>
              <a:t>&gt;</a:t>
            </a:r>
            <a:r>
              <a:rPr sz="1500" i="0">
                <a:solidFill>
                  <a:srgbClr val="D8E3D0"/>
                </a:solidFill>
                <a:latin typeface="IBM Plex Mono"/>
              </a:rPr>
              <a:t>=</a:t>
            </a:r>
            <a:r>
              <a:rPr sz="1500" i="0">
                <a:solidFill>
                  <a:srgbClr val="D8E3D0"/>
                </a:solidFill>
                <a:latin typeface="IBM Plex Mono"/>
              </a:rPr>
              <a:t> </a:t>
            </a:r>
            <a:r>
              <a:rPr sz="1500" i="0">
                <a:solidFill>
                  <a:srgbClr val="8CC4FF"/>
                </a:solidFill>
                <a:latin typeface="IBM Plex Mono"/>
              </a:rPr>
              <a:t>2</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Preis</a:t>
            </a:r>
            <a:r>
              <a:rPr sz="1500" i="0">
                <a:solidFill>
                  <a:srgbClr val="D8E3D0"/>
                </a:solidFill>
                <a:latin typeface="IBM Plex Mono"/>
              </a:rPr>
              <a:t> </a:t>
            </a:r>
            <a:r>
              <a:rPr sz="1500" i="0">
                <a:solidFill>
                  <a:srgbClr val="D8E3D0"/>
                </a:solidFill>
                <a:latin typeface="IBM Plex Mono"/>
              </a:rPr>
              <a:t>&gt;</a:t>
            </a:r>
            <a:r>
              <a:rPr sz="1500" i="0">
                <a:solidFill>
                  <a:srgbClr val="D8E3D0"/>
                </a:solidFill>
                <a:latin typeface="IBM Plex Mono"/>
              </a:rPr>
              <a:t>=</a:t>
            </a:r>
            <a:r>
              <a:rPr sz="1500" i="0">
                <a:solidFill>
                  <a:srgbClr val="D8E3D0"/>
                </a:solidFill>
                <a:latin typeface="IBM Plex Mono"/>
              </a:rPr>
              <a:t> </a:t>
            </a:r>
            <a:r>
              <a:rPr sz="1500" i="0">
                <a:solidFill>
                  <a:srgbClr val="8CC4FF"/>
                </a:solidFill>
                <a:latin typeface="IBM Plex Mono"/>
              </a:rPr>
              <a:t>1.7</a:t>
            </a:r>
          </a:p>
          <a:p>
            <a:pPr>
              <a:lnSpc>
                <a:spcPct val="100000"/>
              </a:lnSpc>
            </a:pPr>
            <a:r>
              <a:rPr sz="1500" i="0">
                <a:solidFill>
                  <a:srgbClr val="F2A65A"/>
                </a:solidFill>
                <a:latin typeface="IBM Plex Mono"/>
              </a:rPr>
              <a:t>GROUP</a:t>
            </a:r>
            <a:r>
              <a:rPr sz="1500" i="0">
                <a:solidFill>
                  <a:srgbClr val="D8E3D0"/>
                </a:solidFill>
                <a:latin typeface="IBM Plex Mono"/>
              </a:rPr>
              <a:t> </a:t>
            </a:r>
            <a:r>
              <a:rPr sz="1500" i="0">
                <a:solidFill>
                  <a:srgbClr val="F2A65A"/>
                </a:solidFill>
                <a:latin typeface="IBM Plex Mono"/>
              </a:rPr>
              <a:t>BY</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SorteNr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Name</a:t>
            </a:r>
          </a:p>
        </p:txBody>
      </p:sp>
      <p:sp>
        <p:nvSpPr>
          <p:cNvPr id="14" name="TextBox 13"/>
          <p:cNvSpPr txBox="1"/>
          <p:nvPr/>
        </p:nvSpPr>
        <p:spPr>
          <a:xfrm>
            <a:off x="548640" y="3513582"/>
            <a:ext cx="674370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5 ZEILEN</a:t>
            </a:r>
          </a:p>
        </p:txBody>
      </p:sp>
      <p:graphicFrame>
        <p:nvGraphicFramePr>
          <p:cNvPr id="15" name="Ergebnistabelle"/>
          <p:cNvGraphicFramePr>
            <a:graphicFrameLocks noGrp="1"/>
          </p:cNvGraphicFramePr>
          <p:nvPr/>
        </p:nvGraphicFramePr>
        <p:xfrm>
          <a:off x="548640" y="3824478"/>
          <a:ext cx="4320540" cy="1771650"/>
        </p:xfrm>
        <a:graphic>
          <a:graphicData uri="http://schemas.openxmlformats.org/drawingml/2006/table">
            <a:tbl>
              <a:tblPr firstRow="1">
                <a:tableStyleId>{5C22544A-7EE6-4342-B048-85BDC9FD1C3A}</a:tableStyleId>
              </a:tblPr>
              <a:tblGrid>
                <a:gridCol w="1090422"/>
                <a:gridCol w="1906524"/>
                <a:gridCol w="1323594"/>
              </a:tblGrid>
              <a:tr h="295275">
                <a:tc>
                  <a:txBody>
                    <a:bodyPr/>
                    <a:lstStyle/>
                    <a:p>
                      <a:r>
                        <a:rPr sz="1380" b="1" i="0" u="none">
                          <a:solidFill>
                            <a:srgbClr val="1C2B3A"/>
                          </a:solidFill>
                          <a:latin typeface="IBM Plex Mono"/>
                        </a:rPr>
                        <a:t>SorteNr</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Verkaeufe</a:t>
                      </a:r>
                    </a:p>
                  </a:txBody>
                  <a:tcPr marL="54864" marR="54864" marT="18288" marB="18288">
                    <a:solidFill>
                      <a:srgbClr val="EBE2D2"/>
                    </a:solidFill>
                  </a:tcPr>
                </a:tc>
              </a:tr>
              <a:tr h="295275">
                <a:tc>
                  <a:txBody>
                    <a:bodyPr/>
                    <a:lstStyle/>
                    <a:p>
                      <a:pPr algn="r"/>
                      <a:r>
                        <a:rPr sz="1500" b="0" i="0" u="none">
                          <a:solidFill>
                            <a:srgbClr val="1C2B3A"/>
                          </a:solidFill>
                          <a:latin typeface="Barlow"/>
                        </a:rPr>
                        <a:t>5</a:t>
                      </a:r>
                    </a:p>
                  </a:txBody>
                  <a:tcPr marL="54864" marR="54864" marT="18288" marB="18288">
                    <a:solidFill>
                      <a:srgbClr val="FFFDF8"/>
                    </a:solidFill>
                  </a:tcPr>
                </a:tc>
                <a:tc>
                  <a:txBody>
                    <a:bodyPr/>
                    <a:lstStyle/>
                    <a:p>
                      <a:r>
                        <a:rPr sz="1500" b="0" i="0" u="none">
                          <a:solidFill>
                            <a:srgbClr val="1C2B3A"/>
                          </a:solidFill>
                          <a:latin typeface="Barlow"/>
                        </a:rPr>
                        <a:t>Haselnuss</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r h="295275">
                <a:tc>
                  <a:txBody>
                    <a:bodyPr/>
                    <a:lstStyle/>
                    <a:p>
                      <a:pPr algn="r"/>
                      <a:r>
                        <a:rPr sz="1500" b="0" i="0" u="none">
                          <a:solidFill>
                            <a:srgbClr val="1C2B3A"/>
                          </a:solidFill>
                          <a:latin typeface="Barlow"/>
                        </a:rPr>
                        <a:t>6</a:t>
                      </a:r>
                    </a:p>
                  </a:txBody>
                  <a:tcPr marL="54864" marR="54864" marT="18288" marB="18288">
                    <a:solidFill>
                      <a:srgbClr val="FFFDF8"/>
                    </a:solidFill>
                  </a:tcPr>
                </a:tc>
                <a:tc>
                  <a:txBody>
                    <a:bodyPr/>
                    <a:lstStyle/>
                    <a:p>
                      <a:r>
                        <a:rPr sz="1500" b="0" i="0" u="none">
                          <a:solidFill>
                            <a:srgbClr val="1C2B3A"/>
                          </a:solidFill>
                          <a:latin typeface="Barlow"/>
                        </a:rPr>
                        <a:t>Sanddorn-Mango</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pPr algn="r"/>
                      <a:r>
                        <a:rPr sz="1500" b="0" i="0" u="none">
                          <a:solidFill>
                            <a:srgbClr val="1C2B3A"/>
                          </a:solidFill>
                          <a:latin typeface="Barlow"/>
                        </a:rPr>
                        <a:t>7</a:t>
                      </a:r>
                    </a:p>
                  </a:txBody>
                  <a:tcPr marL="54864" marR="54864" marT="18288" marB="18288">
                    <a:solidFill>
                      <a:srgbClr val="FFFDF8"/>
                    </a:solidFill>
                  </a:tcPr>
                </a:tc>
                <a:tc>
                  <a:txBody>
                    <a:bodyPr/>
                    <a:lstStyle/>
                    <a:p>
                      <a:r>
                        <a:rPr sz="1500" b="0" i="0" u="none">
                          <a:solidFill>
                            <a:srgbClr val="1C2B3A"/>
                          </a:solidFill>
                          <a:latin typeface="Barlow"/>
                        </a:rPr>
                        <a:t>Stracciatella</a:t>
                      </a:r>
                    </a:p>
                  </a:txBody>
                  <a:tcPr marL="54864" marR="54864" marT="18288" marB="18288">
                    <a:solidFill>
                      <a:srgbClr val="FFFDF8"/>
                    </a:solidFill>
                  </a:tcPr>
                </a:tc>
                <a:tc>
                  <a:txBody>
                    <a:bodyPr/>
                    <a:lstStyle/>
                    <a:p>
                      <a:pPr algn="r"/>
                      <a:r>
                        <a:rPr sz="1500" b="0" i="0" u="none">
                          <a:solidFill>
                            <a:srgbClr val="1C2B3A"/>
                          </a:solidFill>
                          <a:latin typeface="Barlow"/>
                        </a:rPr>
                        <a:t>6</a:t>
                      </a:r>
                    </a:p>
                  </a:txBody>
                  <a:tcPr marL="54864" marR="54864" marT="18288" marB="18288">
                    <a:solidFill>
                      <a:srgbClr val="FFFDF8"/>
                    </a:solidFill>
                  </a:tcPr>
                </a:tc>
              </a:tr>
              <a:tr h="295275">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r>
                        <a:rPr sz="1500" b="0" i="0" u="none">
                          <a:solidFill>
                            <a:srgbClr val="1C2B3A"/>
                          </a:solidFill>
                          <a:latin typeface="Barlow"/>
                        </a:rPr>
                        <a:t>Karamell</a:t>
                      </a:r>
                    </a:p>
                  </a:txBody>
                  <a:tcPr marL="54864" marR="54864" marT="18288" marB="18288">
                    <a:solidFill>
                      <a:srgbClr val="FFFDF8"/>
                    </a:solidFill>
                  </a:tcPr>
                </a:tc>
                <a:tc>
                  <a:txBody>
                    <a:bodyPr/>
                    <a:lstStyle/>
                    <a:p>
                      <a:pPr algn="r"/>
                      <a:r>
                        <a:rPr sz="1500" b="0" i="0" u="none">
                          <a:solidFill>
                            <a:srgbClr val="1C2B3A"/>
                          </a:solidFill>
                          <a:latin typeface="Barlow"/>
                        </a:rPr>
                        <a:t>4</a:t>
                      </a:r>
                    </a:p>
                  </a:txBody>
                  <a:tcPr marL="54864" marR="54864" marT="18288" marB="18288">
                    <a:solidFill>
                      <a:srgbClr val="FFFDF8"/>
                    </a:solidFill>
                  </a:tcPr>
                </a:tc>
              </a:tr>
              <a:tr h="295275">
                <a:tc>
                  <a:txBody>
                    <a:bodyPr/>
                    <a:lstStyle/>
                    <a:p>
                      <a:pPr algn="r"/>
                      <a:r>
                        <a:rPr sz="1500" b="0" i="0" u="none">
                          <a:solidFill>
                            <a:srgbClr val="1C2B3A"/>
                          </a:solidFill>
                          <a:latin typeface="Barlow"/>
                        </a:rPr>
                        <a:t>10</a:t>
                      </a:r>
                    </a:p>
                  </a:txBody>
                  <a:tcPr marL="54864" marR="54864" marT="18288" marB="18288">
                    <a:solidFill>
                      <a:srgbClr val="FFFDF8"/>
                    </a:solidFill>
                  </a:tcPr>
                </a:tc>
                <a:tc>
                  <a:txBody>
                    <a:bodyPr/>
                    <a:lstStyle/>
                    <a:p>
                      <a:r>
                        <a:rPr sz="1500" b="0" i="0" u="none">
                          <a:solidFill>
                            <a:srgbClr val="1C2B3A"/>
                          </a:solidFill>
                          <a:latin typeface="Barlow"/>
                        </a:rPr>
                        <a:t>Schoko-Minze</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WHERE filtert Zeilen, HAVING filtert Gruppen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6035040" y="1691640"/>
            <a:ext cx="5608015" cy="212674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212674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ZWEI FILTER</a:t>
            </a:r>
          </a:p>
        </p:txBody>
      </p:sp>
      <p:sp>
        <p:nvSpPr>
          <p:cNvPr id="11" name="TextBox 10"/>
          <p:cNvSpPr txBox="1"/>
          <p:nvPr/>
        </p:nvSpPr>
        <p:spPr>
          <a:xfrm>
            <a:off x="6309359" y="2148840"/>
            <a:ext cx="5196535" cy="1623821"/>
          </a:xfrm>
          <a:prstGeom prst="rect">
            <a:avLst/>
          </a:prstGeom>
          <a:noFill/>
        </p:spPr>
        <p:txBody>
          <a:bodyPr wrap="square" lIns="27432" rIns="27432" tIns="27432" bIns="27432">
            <a:spAutoFit/>
          </a:bodyPr>
          <a:lstStyle/>
          <a:p>
            <a:pPr>
              <a:lnSpc>
                <a:spcPct val="105000"/>
              </a:lnSpc>
              <a:spcAft>
                <a:spcPts val="300"/>
              </a:spcAft>
            </a:pPr>
            <a:r>
              <a:rPr sz="1614" b="1">
                <a:solidFill>
                  <a:srgbClr val="2C5A85"/>
                </a:solidFill>
                <a:latin typeface="Barlow"/>
              </a:rPr>
              <a:t>▸  </a:t>
            </a:r>
            <a:r>
              <a:rPr sz="1453" b="0" i="0" u="none">
                <a:solidFill>
                  <a:srgbClr val="1C2B3A"/>
                </a:solidFill>
                <a:latin typeface="IBM Plex Mono"/>
              </a:rPr>
              <a:t>WHERE Kugeln &gt;= 3</a:t>
            </a:r>
            <a:r>
              <a:rPr sz="1614" b="0" i="0" u="none">
                <a:solidFill>
                  <a:srgbClr val="1C2B3A"/>
                </a:solidFill>
                <a:latin typeface="Barlow"/>
              </a:rPr>
              <a:t>: jeder </a:t>
            </a:r>
            <a:r>
              <a:rPr sz="1614" b="1" i="0" u="none">
                <a:solidFill>
                  <a:srgbClr val="1C2B3A"/>
                </a:solidFill>
                <a:latin typeface="Barlow"/>
              </a:rPr>
              <a:t>Verkauf</a:t>
            </a:r>
            <a:r>
              <a:rPr sz="1614" b="0" i="0" u="none">
                <a:solidFill>
                  <a:srgbClr val="1C2B3A"/>
                </a:solidFill>
                <a:latin typeface="Barlow"/>
              </a:rPr>
              <a:t> einzeln, vor dem Gruppieren</a:t>
            </a:r>
          </a:p>
          <a:p>
            <a:pPr>
              <a:lnSpc>
                <a:spcPct val="105000"/>
              </a:lnSpc>
              <a:spcAft>
                <a:spcPts val="300"/>
              </a:spcAft>
            </a:pPr>
            <a:r>
              <a:rPr sz="1614" b="1">
                <a:solidFill>
                  <a:srgbClr val="2C5A85"/>
                </a:solidFill>
                <a:latin typeface="Barlow"/>
              </a:rPr>
              <a:t>▸  </a:t>
            </a:r>
            <a:r>
              <a:rPr sz="1453" b="0" i="0" u="none">
                <a:solidFill>
                  <a:srgbClr val="1C2B3A"/>
                </a:solidFill>
                <a:latin typeface="IBM Plex Mono"/>
              </a:rPr>
              <a:t>HAVING COUNT(*) &gt;= 2</a:t>
            </a:r>
            <a:r>
              <a:rPr sz="1614" b="0" i="0" u="none">
                <a:solidFill>
                  <a:srgbClr val="1C2B3A"/>
                </a:solidFill>
                <a:latin typeface="Barlow"/>
              </a:rPr>
              <a:t>: jeder </a:t>
            </a:r>
            <a:r>
              <a:rPr sz="1614" b="1" i="0" u="none">
                <a:solidFill>
                  <a:srgbClr val="1C2B3A"/>
                </a:solidFill>
                <a:latin typeface="Barlow"/>
              </a:rPr>
              <a:t>Tag</a:t>
            </a:r>
            <a:r>
              <a:rPr sz="1614" b="0" i="0" u="none">
                <a:solidFill>
                  <a:srgbClr val="1C2B3A"/>
                </a:solidFill>
                <a:latin typeface="Barlow"/>
              </a:rPr>
              <a:t> als Ganzes, danach</a:t>
            </a:r>
          </a:p>
          <a:p>
            <a:pPr>
              <a:lnSpc>
                <a:spcPct val="105000"/>
              </a:lnSpc>
              <a:spcAft>
                <a:spcPts val="300"/>
              </a:spcAft>
            </a:pPr>
            <a:r>
              <a:rPr sz="1614" b="1">
                <a:solidFill>
                  <a:srgbClr val="2C5A85"/>
                </a:solidFill>
                <a:latin typeface="Barlow"/>
              </a:rPr>
              <a:t>▸  </a:t>
            </a:r>
            <a:r>
              <a:rPr sz="1614" b="0" i="0" u="none">
                <a:solidFill>
                  <a:srgbClr val="1C2B3A"/>
                </a:solidFill>
                <a:latin typeface="Barlow"/>
              </a:rPr>
              <a:t>der 12. Juli hat nur einen großen Verkauf → fällt raus</a:t>
            </a:r>
          </a:p>
        </p:txBody>
      </p:sp>
      <p:sp>
        <p:nvSpPr>
          <p:cNvPr id="12" name="SQL-Hintergrund"/>
          <p:cNvSpPr/>
          <p:nvPr/>
        </p:nvSpPr>
        <p:spPr>
          <a:xfrm>
            <a:off x="548640" y="1691640"/>
            <a:ext cx="5212080" cy="182816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4846320" cy="1553844"/>
          </a:xfrm>
          <a:prstGeom prst="rect">
            <a:avLst/>
          </a:prstGeom>
          <a:noFill/>
        </p:spPr>
        <p:txBody>
          <a:bodyPr wrap="square" lIns="18288" rIns="18288" tIns="18288" bIns="18288">
            <a:spAutoFit/>
          </a:bodyPr>
          <a:lstStyle/>
          <a:p>
            <a:pPr>
              <a:lnSpc>
                <a:spcPct val="100000"/>
              </a:lnSpc>
            </a:pPr>
            <a:r>
              <a:rPr sz="1900" i="0">
                <a:solidFill>
                  <a:srgbClr val="F2A65A"/>
                </a:solidFill>
                <a:latin typeface="IBM Plex Mono"/>
              </a:rPr>
              <a:t>SELECT</a:t>
            </a:r>
            <a:r>
              <a:rPr sz="1900" i="0">
                <a:solidFill>
                  <a:srgbClr val="D8E3D0"/>
                </a:solidFill>
                <a:latin typeface="IBM Plex Mono"/>
              </a:rPr>
              <a:t> </a:t>
            </a:r>
            <a:r>
              <a:rPr sz="1900" i="0">
                <a:solidFill>
                  <a:srgbClr val="D8E3D0"/>
                </a:solidFill>
                <a:latin typeface="IBM Plex Mono"/>
              </a:rPr>
              <a:t>Datum</a:t>
            </a:r>
            <a:r>
              <a:rPr sz="1900" i="0">
                <a:solidFill>
                  <a:srgbClr val="D8E3D0"/>
                </a:solidFill>
                <a:latin typeface="IBM Plex Mono"/>
              </a:rPr>
              <a:t>,</a:t>
            </a:r>
            <a:r>
              <a:rPr sz="1900" i="0">
                <a:solidFill>
                  <a:srgbClr val="D8E3D0"/>
                </a:solidFill>
                <a:latin typeface="IBM Plex Mono"/>
              </a:rPr>
              <a:t> </a:t>
            </a:r>
            <a:r>
              <a:rPr sz="1900" i="0">
                <a:solidFill>
                  <a:srgbClr val="E6C77A"/>
                </a:solidFill>
                <a:latin typeface="IBM Plex Mono"/>
              </a:rPr>
              <a:t>COUNT</a:t>
            </a:r>
            <a:r>
              <a:rPr sz="1900" i="0">
                <a:solidFill>
                  <a:srgbClr val="D8E3D0"/>
                </a:solidFill>
                <a:latin typeface="IBM Plex Mono"/>
              </a:rPr>
              <a:t>(</a:t>
            </a:r>
            <a:r>
              <a:rPr sz="1900" i="0">
                <a:solidFill>
                  <a:srgbClr val="D8E3D0"/>
                </a:solidFill>
                <a:latin typeface="IBM Plex Mono"/>
              </a:rPr>
              <a:t>*</a:t>
            </a:r>
            <a:r>
              <a:rPr sz="1900" i="0">
                <a:solidFill>
                  <a:srgbClr val="D8E3D0"/>
                </a:solidFill>
                <a:latin typeface="IBM Plex Mono"/>
              </a:rPr>
              <a:t>)</a:t>
            </a:r>
            <a:r>
              <a:rPr sz="1900" i="0">
                <a:solidFill>
                  <a:srgbClr val="D8E3D0"/>
                </a:solidFill>
                <a:latin typeface="IBM Plex Mono"/>
              </a:rPr>
              <a:t> </a:t>
            </a:r>
            <a:r>
              <a:rPr sz="1900" i="0">
                <a:solidFill>
                  <a:srgbClr val="F2A65A"/>
                </a:solidFill>
                <a:latin typeface="IBM Plex Mono"/>
              </a:rPr>
              <a:t>AS</a:t>
            </a:r>
            <a:r>
              <a:rPr sz="1900" i="0">
                <a:solidFill>
                  <a:srgbClr val="D8E3D0"/>
                </a:solidFill>
                <a:latin typeface="IBM Plex Mono"/>
              </a:rPr>
              <a:t> </a:t>
            </a:r>
            <a:r>
              <a:rPr sz="1900" i="0">
                <a:solidFill>
                  <a:srgbClr val="D8E3D0"/>
                </a:solidFill>
                <a:latin typeface="IBM Plex Mono"/>
              </a:rPr>
              <a:t>Grosse</a:t>
            </a:r>
          </a:p>
          <a:p>
            <a:pPr>
              <a:lnSpc>
                <a:spcPct val="100000"/>
              </a:lnSpc>
            </a:pPr>
            <a:r>
              <a:rPr sz="1900" i="0">
                <a:solidFill>
                  <a:srgbClr val="F2A65A"/>
                </a:solidFill>
                <a:latin typeface="IBM Plex Mono"/>
              </a:rPr>
              <a:t>FROM</a:t>
            </a:r>
            <a:r>
              <a:rPr sz="1900" i="0">
                <a:solidFill>
                  <a:srgbClr val="D8E3D0"/>
                </a:solidFill>
                <a:latin typeface="IBM Plex Mono"/>
              </a:rPr>
              <a:t> </a:t>
            </a:r>
            <a:r>
              <a:rPr sz="1900" i="0">
                <a:solidFill>
                  <a:srgbClr val="D8E3D0"/>
                </a:solidFill>
                <a:latin typeface="IBM Plex Mono"/>
              </a:rPr>
              <a:t>Verkauf</a:t>
            </a:r>
          </a:p>
          <a:p>
            <a:pPr>
              <a:lnSpc>
                <a:spcPct val="100000"/>
              </a:lnSpc>
            </a:pPr>
            <a:r>
              <a:rPr sz="1900" i="0">
                <a:solidFill>
                  <a:srgbClr val="F2A65A"/>
                </a:solidFill>
                <a:latin typeface="IBM Plex Mono"/>
              </a:rPr>
              <a:t>WHERE</a:t>
            </a:r>
            <a:r>
              <a:rPr sz="1900" i="0">
                <a:solidFill>
                  <a:srgbClr val="D8E3D0"/>
                </a:solidFill>
                <a:latin typeface="IBM Plex Mono"/>
              </a:rPr>
              <a:t> </a:t>
            </a:r>
            <a:r>
              <a:rPr sz="1900" i="0">
                <a:solidFill>
                  <a:srgbClr val="D8E3D0"/>
                </a:solidFill>
                <a:latin typeface="IBM Plex Mono"/>
              </a:rPr>
              <a:t>Kugeln</a:t>
            </a:r>
            <a:r>
              <a:rPr sz="1900" i="0">
                <a:solidFill>
                  <a:srgbClr val="D8E3D0"/>
                </a:solidFill>
                <a:latin typeface="IBM Plex Mono"/>
              </a:rPr>
              <a:t> </a:t>
            </a:r>
            <a:r>
              <a:rPr sz="1900" i="0">
                <a:solidFill>
                  <a:srgbClr val="D8E3D0"/>
                </a:solidFill>
                <a:latin typeface="IBM Plex Mono"/>
              </a:rPr>
              <a:t>&gt;</a:t>
            </a:r>
            <a:r>
              <a:rPr sz="1900" i="0">
                <a:solidFill>
                  <a:srgbClr val="D8E3D0"/>
                </a:solidFill>
                <a:latin typeface="IBM Plex Mono"/>
              </a:rPr>
              <a:t>=</a:t>
            </a:r>
            <a:r>
              <a:rPr sz="1900" i="0">
                <a:solidFill>
                  <a:srgbClr val="D8E3D0"/>
                </a:solidFill>
                <a:latin typeface="IBM Plex Mono"/>
              </a:rPr>
              <a:t> </a:t>
            </a:r>
            <a:r>
              <a:rPr sz="1900" i="0">
                <a:solidFill>
                  <a:srgbClr val="8CC4FF"/>
                </a:solidFill>
                <a:latin typeface="IBM Plex Mono"/>
              </a:rPr>
              <a:t>3</a:t>
            </a:r>
          </a:p>
          <a:p>
            <a:pPr>
              <a:lnSpc>
                <a:spcPct val="100000"/>
              </a:lnSpc>
            </a:pPr>
            <a:r>
              <a:rPr sz="1900" i="0">
                <a:solidFill>
                  <a:srgbClr val="F2A65A"/>
                </a:solidFill>
                <a:latin typeface="IBM Plex Mono"/>
              </a:rPr>
              <a:t>GROUP</a:t>
            </a:r>
            <a:r>
              <a:rPr sz="1900" i="0">
                <a:solidFill>
                  <a:srgbClr val="D8E3D0"/>
                </a:solidFill>
                <a:latin typeface="IBM Plex Mono"/>
              </a:rPr>
              <a:t> </a:t>
            </a:r>
            <a:r>
              <a:rPr sz="1900" i="0">
                <a:solidFill>
                  <a:srgbClr val="F2A65A"/>
                </a:solidFill>
                <a:latin typeface="IBM Plex Mono"/>
              </a:rPr>
              <a:t>BY</a:t>
            </a:r>
            <a:r>
              <a:rPr sz="1900" i="0">
                <a:solidFill>
                  <a:srgbClr val="D8E3D0"/>
                </a:solidFill>
                <a:latin typeface="IBM Plex Mono"/>
              </a:rPr>
              <a:t> </a:t>
            </a:r>
            <a:r>
              <a:rPr sz="1900" i="0">
                <a:solidFill>
                  <a:srgbClr val="D8E3D0"/>
                </a:solidFill>
                <a:latin typeface="IBM Plex Mono"/>
              </a:rPr>
              <a:t>Datum</a:t>
            </a:r>
          </a:p>
          <a:p>
            <a:pPr>
              <a:lnSpc>
                <a:spcPct val="100000"/>
              </a:lnSpc>
            </a:pPr>
            <a:r>
              <a:rPr sz="1900" i="0">
                <a:solidFill>
                  <a:srgbClr val="F2A65A"/>
                </a:solidFill>
                <a:latin typeface="IBM Plex Mono"/>
              </a:rPr>
              <a:t>HAVING</a:t>
            </a:r>
            <a:r>
              <a:rPr sz="1900" i="0">
                <a:solidFill>
                  <a:srgbClr val="D8E3D0"/>
                </a:solidFill>
                <a:latin typeface="IBM Plex Mono"/>
              </a:rPr>
              <a:t> </a:t>
            </a:r>
            <a:r>
              <a:rPr sz="1900" i="0">
                <a:solidFill>
                  <a:srgbClr val="E6C77A"/>
                </a:solidFill>
                <a:latin typeface="IBM Plex Mono"/>
              </a:rPr>
              <a:t>COUNT</a:t>
            </a:r>
            <a:r>
              <a:rPr sz="1900" i="0">
                <a:solidFill>
                  <a:srgbClr val="D8E3D0"/>
                </a:solidFill>
                <a:latin typeface="IBM Plex Mono"/>
              </a:rPr>
              <a:t>(</a:t>
            </a:r>
            <a:r>
              <a:rPr sz="1900" i="0">
                <a:solidFill>
                  <a:srgbClr val="D8E3D0"/>
                </a:solidFill>
                <a:latin typeface="IBM Plex Mono"/>
              </a:rPr>
              <a:t>*</a:t>
            </a:r>
            <a:r>
              <a:rPr sz="1900" i="0">
                <a:solidFill>
                  <a:srgbClr val="D8E3D0"/>
                </a:solidFill>
                <a:latin typeface="IBM Plex Mono"/>
              </a:rPr>
              <a:t>)</a:t>
            </a:r>
            <a:r>
              <a:rPr sz="1900" i="0">
                <a:solidFill>
                  <a:srgbClr val="D8E3D0"/>
                </a:solidFill>
                <a:latin typeface="IBM Plex Mono"/>
              </a:rPr>
              <a:t> </a:t>
            </a:r>
            <a:r>
              <a:rPr sz="1900" i="0">
                <a:solidFill>
                  <a:srgbClr val="D8E3D0"/>
                </a:solidFill>
                <a:latin typeface="IBM Plex Mono"/>
              </a:rPr>
              <a:t>&gt;</a:t>
            </a:r>
            <a:r>
              <a:rPr sz="1900" i="0">
                <a:solidFill>
                  <a:srgbClr val="D8E3D0"/>
                </a:solidFill>
                <a:latin typeface="IBM Plex Mono"/>
              </a:rPr>
              <a:t>=</a:t>
            </a:r>
            <a:r>
              <a:rPr sz="1900" i="0">
                <a:solidFill>
                  <a:srgbClr val="D8E3D0"/>
                </a:solidFill>
                <a:latin typeface="IBM Plex Mono"/>
              </a:rPr>
              <a:t> </a:t>
            </a:r>
            <a:r>
              <a:rPr sz="1900" i="0">
                <a:solidFill>
                  <a:srgbClr val="8CC4FF"/>
                </a:solidFill>
                <a:latin typeface="IBM Plex Mono"/>
              </a:rPr>
              <a:t>2</a:t>
            </a:r>
          </a:p>
        </p:txBody>
      </p:sp>
      <p:sp>
        <p:nvSpPr>
          <p:cNvPr id="14" name="TextBox 13"/>
          <p:cNvSpPr txBox="1"/>
          <p:nvPr/>
        </p:nvSpPr>
        <p:spPr>
          <a:xfrm>
            <a:off x="548640" y="3592957"/>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6 ZEILEN</a:t>
            </a:r>
          </a:p>
        </p:txBody>
      </p:sp>
      <p:graphicFrame>
        <p:nvGraphicFramePr>
          <p:cNvPr id="15" name="Ergebnistabelle"/>
          <p:cNvGraphicFramePr>
            <a:graphicFrameLocks noGrp="1"/>
          </p:cNvGraphicFramePr>
          <p:nvPr/>
        </p:nvGraphicFramePr>
        <p:xfrm>
          <a:off x="548640" y="3903853"/>
          <a:ext cx="2414016" cy="2066925"/>
        </p:xfrm>
        <a:graphic>
          <a:graphicData uri="http://schemas.openxmlformats.org/drawingml/2006/table">
            <a:tbl>
              <a:tblPr firstRow="1">
                <a:tableStyleId>{5C22544A-7EE6-4342-B048-85BDC9FD1C3A}</a:tableStyleId>
              </a:tblPr>
              <a:tblGrid>
                <a:gridCol w="1440180"/>
                <a:gridCol w="973836"/>
              </a:tblGrid>
              <a:tr h="295275">
                <a:tc>
                  <a:txBody>
                    <a:bodyPr/>
                    <a:lstStyle/>
                    <a:p>
                      <a:r>
                        <a:rPr sz="1380" b="1" i="0" u="none">
                          <a:solidFill>
                            <a:srgbClr val="1C2B3A"/>
                          </a:solidFill>
                          <a:latin typeface="IBM Plex Mono"/>
                        </a:rPr>
                        <a:t>Datum</a:t>
                      </a:r>
                    </a:p>
                  </a:txBody>
                  <a:tcPr marL="54864" marR="54864" marT="18288" marB="18288">
                    <a:solidFill>
                      <a:srgbClr val="EBE2D2"/>
                    </a:solidFill>
                  </a:tcPr>
                </a:tc>
                <a:tc>
                  <a:txBody>
                    <a:bodyPr/>
                    <a:lstStyle/>
                    <a:p>
                      <a:r>
                        <a:rPr sz="1380" b="1" i="0" u="none">
                          <a:solidFill>
                            <a:srgbClr val="1C2B3A"/>
                          </a:solidFill>
                          <a:latin typeface="IBM Plex Mono"/>
                        </a:rPr>
                        <a:t>Grosse</a:t>
                      </a:r>
                    </a:p>
                  </a:txBody>
                  <a:tcPr marL="54864" marR="54864" marT="18288" marB="18288">
                    <a:solidFill>
                      <a:srgbClr val="EBE2D2"/>
                    </a:solidFill>
                  </a:tcPr>
                </a:tc>
              </a:tr>
              <a:tr h="295275">
                <a:tc>
                  <a:txBody>
                    <a:bodyPr/>
                    <a:lstStyle/>
                    <a:p>
                      <a:r>
                        <a:rPr sz="1500" b="0" i="0" u="none">
                          <a:solidFill>
                            <a:srgbClr val="1C2B3A"/>
                          </a:solidFill>
                          <a:latin typeface="Barlow"/>
                        </a:rPr>
                        <a:t>2026-07-06</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r>
                        <a:rPr sz="1500" b="0" i="0" u="none">
                          <a:solidFill>
                            <a:srgbClr val="1C2B3A"/>
                          </a:solidFill>
                          <a:latin typeface="Barlow"/>
                        </a:rPr>
                        <a:t>2026-07-07</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r>
                        <a:rPr sz="1500" b="0" i="0" u="none">
                          <a:solidFill>
                            <a:srgbClr val="1C2B3A"/>
                          </a:solidFill>
                          <a:latin typeface="Barlow"/>
                        </a:rPr>
                        <a:t>2026-07-08</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r>
                        <a:rPr sz="1500" b="0" i="0" u="none">
                          <a:solidFill>
                            <a:srgbClr val="1C2B3A"/>
                          </a:solidFill>
                          <a:latin typeface="Barlow"/>
                        </a:rPr>
                        <a:t>2026-07-09</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r h="295275">
                <a:tc>
                  <a:txBody>
                    <a:bodyPr/>
                    <a:lstStyle/>
                    <a:p>
                      <a:r>
                        <a:rPr sz="1500" b="0" i="0" u="none">
                          <a:solidFill>
                            <a:srgbClr val="1C2B3A"/>
                          </a:solidFill>
                          <a:latin typeface="Barlow"/>
                        </a:rPr>
                        <a:t>2026-07-10</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r>
                        <a:rPr sz="1500" b="0" i="0" u="none">
                          <a:solidFill>
                            <a:srgbClr val="1C2B3A"/>
                          </a:solidFill>
                          <a:latin typeface="Barlow"/>
                        </a:rPr>
                        <a:t>2026-07-11</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In der Zeitlupe: der Schritt HAVING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7589520" y="1691640"/>
            <a:ext cx="4053535" cy="183184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183184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ZEITLUPE</a:t>
            </a:r>
          </a:p>
        </p:txBody>
      </p:sp>
      <p:sp>
        <p:nvSpPr>
          <p:cNvPr id="11" name="TextBox 10"/>
          <p:cNvSpPr txBox="1"/>
          <p:nvPr/>
        </p:nvSpPr>
        <p:spPr>
          <a:xfrm>
            <a:off x="7863840" y="2148840"/>
            <a:ext cx="3642055" cy="1328928"/>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Klausel für Klausel in Auswertungsreihenfolge.</a:t>
            </a:r>
          </a:p>
          <a:p>
            <a:pPr>
              <a:lnSpc>
                <a:spcPct val="105000"/>
              </a:lnSpc>
              <a:spcAft>
                <a:spcPts val="300"/>
              </a:spcAft>
            </a:pPr>
            <a:r>
              <a:rPr sz="1700" b="0" i="0" u="none">
                <a:solidFill>
                  <a:srgbClr val="1C2B3A"/>
                </a:solidFill>
                <a:latin typeface="Barlow"/>
              </a:rPr>
              <a:t>Bei HAVING wird die ganze Gruppe grau – nicht einzelne Zeilen.</a:t>
            </a:r>
          </a:p>
        </p:txBody>
      </p:sp>
      <p:pic>
        <p:nvPicPr>
          <p:cNvPr id="12" name="Bild zeitlupe_having" descr="zeitlupe_having.png"/>
          <p:cNvPicPr>
            <a:picLocks noChangeAspect="1"/>
          </p:cNvPicPr>
          <p:nvPr/>
        </p:nvPicPr>
        <p:blipFill>
          <a:blip r:embed="rId3"/>
          <a:stretch>
            <a:fillRect/>
          </a:stretch>
        </p:blipFill>
        <p:spPr>
          <a:xfrm>
            <a:off x="1572178" y="1691640"/>
            <a:ext cx="4719483" cy="4572000"/>
          </a:xfrm>
          <a:prstGeom prst="rect">
            <a:avLst/>
          </a:prstGeom>
          <a:ln w="9525">
            <a:solidFill>
              <a:srgbClr val="BDB6A9"/>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6035040" y="1691640"/>
            <a:ext cx="5608015" cy="157276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57276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TIPP</a:t>
            </a:r>
          </a:p>
        </p:txBody>
      </p:sp>
      <p:sp>
        <p:nvSpPr>
          <p:cNvPr id="11" name="TextBox 10"/>
          <p:cNvSpPr txBox="1"/>
          <p:nvPr/>
        </p:nvSpPr>
        <p:spPr>
          <a:xfrm>
            <a:off x="6309359" y="2148840"/>
            <a:ext cx="5196535" cy="106984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Was ist eine Zeilenbedingung, was eine Gruppenbedingung?</a:t>
            </a:r>
          </a:p>
          <a:p>
            <a:pPr>
              <a:lnSpc>
                <a:spcPct val="105000"/>
              </a:lnSpc>
              <a:spcAft>
                <a:spcPts val="300"/>
              </a:spcAft>
            </a:pPr>
            <a:r>
              <a:rPr sz="1700" b="0" i="0" u="none">
                <a:solidFill>
                  <a:srgbClr val="1C2B3A"/>
                </a:solidFill>
                <a:latin typeface="Barlow"/>
              </a:rPr>
              <a:t>Wonach wird gruppiert?</a:t>
            </a:r>
          </a:p>
        </p:txBody>
      </p:sp>
      <p:sp>
        <p:nvSpPr>
          <p:cNvPr id="12"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4" name="TextBox 13"/>
          <p:cNvSpPr txBox="1"/>
          <p:nvPr/>
        </p:nvSpPr>
        <p:spPr>
          <a:xfrm>
            <a:off x="548640" y="2258568"/>
            <a:ext cx="5212080" cy="1292352"/>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Welche Sorten wurden am </a:t>
            </a:r>
            <a:r>
              <a:rPr sz="2000" b="1" i="0" u="none">
                <a:solidFill>
                  <a:srgbClr val="E8E1D3"/>
                </a:solidFill>
                <a:latin typeface="Barlow"/>
              </a:rPr>
              <a:t>Wochenende</a:t>
            </a:r>
            <a:r>
              <a:rPr sz="2000" b="0" i="0" u="none">
                <a:solidFill>
                  <a:srgbClr val="E8E1D3"/>
                </a:solidFill>
                <a:latin typeface="Barlow"/>
              </a:rPr>
              <a:t> (ab </a:t>
            </a:r>
            <a:r>
              <a:rPr sz="2000" b="1" i="0" u="none">
                <a:solidFill>
                  <a:srgbClr val="E8E1D3"/>
                </a:solidFill>
                <a:latin typeface="Barlow"/>
              </a:rPr>
              <a:t>2026-07-11</a:t>
            </a:r>
            <a:r>
              <a:rPr sz="2000" b="0" i="0" u="none">
                <a:solidFill>
                  <a:srgbClr val="E8E1D3"/>
                </a:solidFill>
                <a:latin typeface="Barlow"/>
              </a:rPr>
              <a:t>) </a:t>
            </a:r>
            <a:r>
              <a:rPr sz="2000" b="1" i="0" u="none">
                <a:solidFill>
                  <a:srgbClr val="E8E1D3"/>
                </a:solidFill>
                <a:latin typeface="Barlow"/>
              </a:rPr>
              <a:t>mindestens zweimal</a:t>
            </a:r>
            <a:r>
              <a:rPr sz="2000" b="0" i="0" u="none">
                <a:solidFill>
                  <a:srgbClr val="E8E1D3"/>
                </a:solidFill>
                <a:latin typeface="Barlow"/>
              </a:rPr>
              <a:t> verkauft? Gib SorteNr, Name und die Anzahl der Verkäufe aus – die häufigste Sorte zuerst.</a:t>
            </a:r>
          </a:p>
        </p:txBody>
      </p:sp>
      <p:sp>
        <p:nvSpPr>
          <p:cNvPr id="15" name="Rounded Rectangle 14"/>
          <p:cNvSpPr/>
          <p:nvPr/>
        </p:nvSpPr>
        <p:spPr>
          <a:xfrm>
            <a:off x="548640" y="3587496"/>
            <a:ext cx="5212080" cy="1267084"/>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697224"/>
            <a:ext cx="4846320" cy="1084204"/>
          </a:xfrm>
          <a:prstGeom prst="rect">
            <a:avLst/>
          </a:prstGeom>
          <a:noFill/>
        </p:spPr>
        <p:txBody>
          <a:bodyPr wrap="square" lIns="27432" rIns="27432" tIns="27432" bIns="27432">
            <a:spAutoFit/>
          </a:bodyPr>
          <a:lstStyle/>
          <a:p>
            <a:pPr>
              <a:lnSpc>
                <a:spcPct val="105000"/>
              </a:lnSpc>
              <a:spcAft>
                <a:spcPts val="500"/>
              </a:spcAft>
            </a:pPr>
            <a:r>
              <a:rPr sz="1748" b="0" i="0" u="none">
                <a:solidFill>
                  <a:srgbClr val="1C2B3A"/>
                </a:solidFill>
                <a:latin typeface="IBM Plex Mono"/>
              </a:rPr>
              <a:t>Sorte(</a:t>
            </a:r>
            <a:r>
              <a:rPr sz="1748" b="0" i="0" u="sng">
                <a:solidFill>
                  <a:srgbClr val="1C2B3A"/>
                </a:solidFill>
                <a:latin typeface="IBM Plex Mono"/>
              </a:rPr>
              <a:t>SorteNr</a:t>
            </a:r>
            <a:r>
              <a:rPr sz="1748" b="0" i="0" u="none">
                <a:solidFill>
                  <a:srgbClr val="1C2B3A"/>
                </a:solidFill>
                <a:latin typeface="IBM Plex Mono"/>
              </a:rPr>
              <a:t>, Name, Preis, Vegan)</a:t>
            </a:r>
          </a:p>
          <a:p>
            <a:pPr>
              <a:lnSpc>
                <a:spcPct val="105000"/>
              </a:lnSpc>
              <a:spcAft>
                <a:spcPts val="500"/>
              </a:spcAft>
            </a:pPr>
            <a:r>
              <a:rPr sz="1748" b="0" i="0" u="none">
                <a:solidFill>
                  <a:srgbClr val="1C2B3A"/>
                </a:solidFill>
                <a:latin typeface="IBM Plex Mono"/>
              </a:rPr>
              <a:t>Verkauf(</a:t>
            </a:r>
            <a:r>
              <a:rPr sz="1748" b="0" i="0" u="sng">
                <a:solidFill>
                  <a:srgbClr val="1C2B3A"/>
                </a:solidFill>
                <a:latin typeface="IBM Plex Mono"/>
              </a:rPr>
              <a:t>VerkaufNr</a:t>
            </a:r>
            <a:r>
              <a:rPr sz="1748" b="0" i="0" u="none">
                <a:solidFill>
                  <a:srgbClr val="1C2B3A"/>
                </a:solidFill>
                <a:latin typeface="IBM Plex Mono"/>
              </a:rPr>
              <a:t>, </a:t>
            </a:r>
            <a:r>
              <a:rPr sz="1748" b="0" i="0" u="none">
                <a:solidFill>
                  <a:srgbClr val="B3261E"/>
                </a:solidFill>
                <a:latin typeface="IBM Plex Mono"/>
              </a:rPr>
              <a:t>↑</a:t>
            </a:r>
            <a:r>
              <a:rPr sz="1748" b="0" i="0" u="none">
                <a:solidFill>
                  <a:srgbClr val="1C2B3A"/>
                </a:solidFill>
                <a:latin typeface="IBM Plex Mono"/>
              </a:rPr>
              <a:t>SorteNr, Datum, Kugeln)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7566660" y="1691640"/>
            <a:ext cx="4076395" cy="1932432"/>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66660" y="1691640"/>
            <a:ext cx="73152" cy="1932432"/>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40980" y="1783080"/>
            <a:ext cx="366491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TYPISCHE FEHLER</a:t>
            </a:r>
          </a:p>
        </p:txBody>
      </p:sp>
      <p:sp>
        <p:nvSpPr>
          <p:cNvPr id="11" name="TextBox 10"/>
          <p:cNvSpPr txBox="1"/>
          <p:nvPr/>
        </p:nvSpPr>
        <p:spPr>
          <a:xfrm>
            <a:off x="7840980" y="2148840"/>
            <a:ext cx="3664915" cy="1429512"/>
          </a:xfrm>
          <a:prstGeom prst="rect">
            <a:avLst/>
          </a:prstGeom>
          <a:noFill/>
        </p:spPr>
        <p:txBody>
          <a:bodyPr wrap="square" lIns="27432" rIns="27432" tIns="27432" bIns="27432">
            <a:spAutoFit/>
          </a:bodyPr>
          <a:lstStyle/>
          <a:p>
            <a:pPr>
              <a:lnSpc>
                <a:spcPct val="105000"/>
              </a:lnSpc>
              <a:spcAft>
                <a:spcPts val="300"/>
              </a:spcAft>
            </a:pPr>
            <a:r>
              <a:rPr sz="1700" b="1">
                <a:solidFill>
                  <a:srgbClr val="B3261E"/>
                </a:solidFill>
                <a:latin typeface="Barlow"/>
              </a:rPr>
              <a:t>▸  </a:t>
            </a:r>
            <a:r>
              <a:rPr sz="1700" b="0" i="0" u="none">
                <a:solidFill>
                  <a:srgbClr val="1C2B3A"/>
                </a:solidFill>
                <a:latin typeface="Barlow"/>
              </a:rPr>
              <a:t>Datum im HAVING (P1)</a:t>
            </a:r>
          </a:p>
          <a:p>
            <a:pPr>
              <a:lnSpc>
                <a:spcPct val="105000"/>
              </a:lnSpc>
              <a:spcAft>
                <a:spcPts val="300"/>
              </a:spcAft>
            </a:pPr>
            <a:r>
              <a:rPr sz="1700" b="1">
                <a:solidFill>
                  <a:srgbClr val="B3261E"/>
                </a:solidFill>
                <a:latin typeface="Barlow"/>
              </a:rPr>
              <a:t>▸  </a:t>
            </a:r>
            <a:r>
              <a:rPr sz="1530" b="0" i="0" u="none">
                <a:solidFill>
                  <a:srgbClr val="1C2B3A"/>
                </a:solidFill>
                <a:latin typeface="IBM Plex Mono"/>
              </a:rPr>
              <a:t>HAVING Verkaeufe &gt;= 2</a:t>
            </a:r>
            <a:r>
              <a:rPr sz="1700" b="0" i="0" u="none">
                <a:solidFill>
                  <a:srgbClr val="1C2B3A"/>
                </a:solidFill>
                <a:latin typeface="Barlow"/>
              </a:rPr>
              <a:t> – Alias im HAVING (P1)</a:t>
            </a:r>
          </a:p>
          <a:p>
            <a:pPr>
              <a:lnSpc>
                <a:spcPct val="105000"/>
              </a:lnSpc>
              <a:spcAft>
                <a:spcPts val="300"/>
              </a:spcAft>
            </a:pPr>
            <a:r>
              <a:rPr sz="1700" b="1">
                <a:solidFill>
                  <a:srgbClr val="B3261E"/>
                </a:solidFill>
                <a:latin typeface="Barlow"/>
              </a:rPr>
              <a:t>▸  </a:t>
            </a:r>
            <a:r>
              <a:rPr sz="1530" b="0" i="0" u="none">
                <a:solidFill>
                  <a:srgbClr val="1C2B3A"/>
                </a:solidFill>
                <a:latin typeface="IBM Plex Mono"/>
              </a:rPr>
              <a:t>SUM(Kugeln)</a:t>
            </a:r>
            <a:r>
              <a:rPr sz="1700" b="0" i="0" u="none">
                <a:solidFill>
                  <a:srgbClr val="1C2B3A"/>
                </a:solidFill>
                <a:latin typeface="Barlow"/>
              </a:rPr>
              <a:t> statt </a:t>
            </a:r>
            <a:r>
              <a:rPr sz="1530" b="0" i="0" u="none">
                <a:solidFill>
                  <a:srgbClr val="1C2B3A"/>
                </a:solidFill>
                <a:latin typeface="IBM Plex Mono"/>
              </a:rPr>
              <a:t>COUNT(*)</a:t>
            </a:r>
            <a:r>
              <a:rPr sz="1700" b="0" i="0" u="none">
                <a:solidFill>
                  <a:srgbClr val="1C2B3A"/>
                </a:solidFill>
                <a:latin typeface="Barlow"/>
              </a:rPr>
              <a:t> (P4)</a:t>
            </a:r>
          </a:p>
        </p:txBody>
      </p:sp>
      <p:sp>
        <p:nvSpPr>
          <p:cNvPr id="12" name="SQL-Hintergrund"/>
          <p:cNvSpPr/>
          <p:nvPr/>
        </p:nvSpPr>
        <p:spPr>
          <a:xfrm>
            <a:off x="548640" y="1691640"/>
            <a:ext cx="6743700" cy="19869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6377940" cy="17125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SorteNr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Name</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Verkaeufe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Verkauf</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SorteNr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Verkauf</a:t>
            </a:r>
            <a:r>
              <a:rPr sz="1500" i="0">
                <a:solidFill>
                  <a:srgbClr val="D8E3D0"/>
                </a:solidFill>
                <a:latin typeface="IBM Plex Mono"/>
              </a:rPr>
              <a:t>.</a:t>
            </a:r>
            <a:r>
              <a:rPr sz="1500" i="0">
                <a:solidFill>
                  <a:srgbClr val="D8E3D0"/>
                </a:solidFill>
                <a:latin typeface="IBM Plex Mono"/>
              </a:rPr>
              <a:t>SorteNr</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D8E3D0"/>
                </a:solidFill>
                <a:latin typeface="IBM Plex Mono"/>
              </a:rPr>
              <a:t>Verkauf</a:t>
            </a:r>
            <a:r>
              <a:rPr sz="1500" i="0">
                <a:solidFill>
                  <a:srgbClr val="D8E3D0"/>
                </a:solidFill>
                <a:latin typeface="IBM Plex Mono"/>
              </a:rPr>
              <a:t>.</a:t>
            </a:r>
            <a:r>
              <a:rPr sz="1500" i="0">
                <a:solidFill>
                  <a:srgbClr val="D8E3D0"/>
                </a:solidFill>
                <a:latin typeface="IBM Plex Mono"/>
              </a:rPr>
              <a:t>Datum</a:t>
            </a:r>
            <a:r>
              <a:rPr sz="1500" i="0">
                <a:solidFill>
                  <a:srgbClr val="D8E3D0"/>
                </a:solidFill>
                <a:latin typeface="IBM Plex Mono"/>
              </a:rPr>
              <a:t> </a:t>
            </a:r>
            <a:r>
              <a:rPr sz="1500" i="0">
                <a:solidFill>
                  <a:srgbClr val="D8E3D0"/>
                </a:solidFill>
                <a:latin typeface="IBM Plex Mono"/>
              </a:rPr>
              <a:t>&gt;</a:t>
            </a:r>
            <a:r>
              <a:rPr sz="1500" i="0">
                <a:solidFill>
                  <a:srgbClr val="D8E3D0"/>
                </a:solidFill>
                <a:latin typeface="IBM Plex Mono"/>
              </a:rPr>
              <a:t>=</a:t>
            </a:r>
            <a:r>
              <a:rPr sz="1500" i="0">
                <a:solidFill>
                  <a:srgbClr val="D8E3D0"/>
                </a:solidFill>
                <a:latin typeface="IBM Plex Mono"/>
              </a:rPr>
              <a:t> </a:t>
            </a:r>
            <a:r>
              <a:rPr sz="1500" i="0">
                <a:solidFill>
                  <a:srgbClr val="9BD3A6"/>
                </a:solidFill>
                <a:latin typeface="IBM Plex Mono"/>
              </a:rPr>
              <a:t>'2026-07-11'</a:t>
            </a:r>
          </a:p>
          <a:p>
            <a:pPr>
              <a:lnSpc>
                <a:spcPct val="100000"/>
              </a:lnSpc>
            </a:pPr>
            <a:r>
              <a:rPr sz="1500" i="0">
                <a:solidFill>
                  <a:srgbClr val="F2A65A"/>
                </a:solidFill>
                <a:latin typeface="IBM Plex Mono"/>
              </a:rPr>
              <a:t>GROUP</a:t>
            </a:r>
            <a:r>
              <a:rPr sz="1500" i="0">
                <a:solidFill>
                  <a:srgbClr val="D8E3D0"/>
                </a:solidFill>
                <a:latin typeface="IBM Plex Mono"/>
              </a:rPr>
              <a:t> </a:t>
            </a:r>
            <a:r>
              <a:rPr sz="1500" i="0">
                <a:solidFill>
                  <a:srgbClr val="F2A65A"/>
                </a:solidFill>
                <a:latin typeface="IBM Plex Mono"/>
              </a:rPr>
              <a:t>BY</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SorteNr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Sorte</a:t>
            </a:r>
            <a:r>
              <a:rPr sz="1500" i="0">
                <a:solidFill>
                  <a:srgbClr val="D8E3D0"/>
                </a:solidFill>
                <a:latin typeface="IBM Plex Mono"/>
              </a:rPr>
              <a:t>.</a:t>
            </a:r>
            <a:r>
              <a:rPr sz="1500" i="0">
                <a:solidFill>
                  <a:srgbClr val="D8E3D0"/>
                </a:solidFill>
                <a:latin typeface="IBM Plex Mono"/>
              </a:rPr>
              <a:t>Name</a:t>
            </a:r>
          </a:p>
          <a:p>
            <a:pPr>
              <a:lnSpc>
                <a:spcPct val="100000"/>
              </a:lnSpc>
            </a:pPr>
            <a:r>
              <a:rPr sz="1500" i="0">
                <a:solidFill>
                  <a:srgbClr val="F2A65A"/>
                </a:solidFill>
                <a:latin typeface="IBM Plex Mono"/>
              </a:rPr>
              <a:t>HAVING</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&gt;</a:t>
            </a:r>
            <a:r>
              <a:rPr sz="1500" i="0">
                <a:solidFill>
                  <a:srgbClr val="D8E3D0"/>
                </a:solidFill>
                <a:latin typeface="IBM Plex Mono"/>
              </a:rPr>
              <a:t>=</a:t>
            </a:r>
            <a:r>
              <a:rPr sz="1500" i="0">
                <a:solidFill>
                  <a:srgbClr val="D8E3D0"/>
                </a:solidFill>
                <a:latin typeface="IBM Plex Mono"/>
              </a:rPr>
              <a:t> </a:t>
            </a:r>
            <a:r>
              <a:rPr sz="1500" i="0">
                <a:solidFill>
                  <a:srgbClr val="8CC4FF"/>
                </a:solidFill>
                <a:latin typeface="IBM Plex Mono"/>
              </a:rPr>
              <a:t>2</a:t>
            </a:r>
          </a:p>
          <a:p>
            <a:pPr>
              <a:lnSpc>
                <a:spcPct val="100000"/>
              </a:lnSpc>
            </a:pPr>
            <a:r>
              <a:rPr sz="1500" i="0">
                <a:solidFill>
                  <a:srgbClr val="F2A65A"/>
                </a:solidFill>
                <a:latin typeface="IBM Plex Mono"/>
              </a:rPr>
              <a:t>ORDER</a:t>
            </a:r>
            <a:r>
              <a:rPr sz="1500" i="0">
                <a:solidFill>
                  <a:srgbClr val="D8E3D0"/>
                </a:solidFill>
                <a:latin typeface="IBM Plex Mono"/>
              </a:rPr>
              <a:t> </a:t>
            </a:r>
            <a:r>
              <a:rPr sz="1500" i="0">
                <a:solidFill>
                  <a:srgbClr val="F2A65A"/>
                </a:solidFill>
                <a:latin typeface="IBM Plex Mono"/>
              </a:rPr>
              <a:t>BY</a:t>
            </a:r>
            <a:r>
              <a:rPr sz="1500" i="0">
                <a:solidFill>
                  <a:srgbClr val="D8E3D0"/>
                </a:solidFill>
                <a:latin typeface="IBM Plex Mono"/>
              </a:rPr>
              <a:t> </a:t>
            </a:r>
            <a:r>
              <a:rPr sz="1500" i="0">
                <a:solidFill>
                  <a:srgbClr val="D8E3D0"/>
                </a:solidFill>
                <a:latin typeface="IBM Plex Mono"/>
              </a:rPr>
              <a:t>Verkaeufe</a:t>
            </a:r>
            <a:r>
              <a:rPr sz="1500" i="0">
                <a:solidFill>
                  <a:srgbClr val="D8E3D0"/>
                </a:solidFill>
                <a:latin typeface="IBM Plex Mono"/>
              </a:rPr>
              <a:t> </a:t>
            </a:r>
            <a:r>
              <a:rPr sz="1500" i="0">
                <a:solidFill>
                  <a:srgbClr val="F2A65A"/>
                </a:solidFill>
                <a:latin typeface="IBM Plex Mono"/>
              </a:rPr>
              <a:t>DESC</a:t>
            </a:r>
          </a:p>
        </p:txBody>
      </p:sp>
      <p:sp>
        <p:nvSpPr>
          <p:cNvPr id="14" name="TextBox 13"/>
          <p:cNvSpPr txBox="1"/>
          <p:nvPr/>
        </p:nvSpPr>
        <p:spPr>
          <a:xfrm>
            <a:off x="548640" y="3751707"/>
            <a:ext cx="674370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5 ZEILEN</a:t>
            </a:r>
          </a:p>
        </p:txBody>
      </p:sp>
      <p:graphicFrame>
        <p:nvGraphicFramePr>
          <p:cNvPr id="15" name="Ergebnistabelle"/>
          <p:cNvGraphicFramePr>
            <a:graphicFrameLocks noGrp="1"/>
          </p:cNvGraphicFramePr>
          <p:nvPr/>
        </p:nvGraphicFramePr>
        <p:xfrm>
          <a:off x="548640" y="4062603"/>
          <a:ext cx="4203954" cy="1771650"/>
        </p:xfrm>
        <a:graphic>
          <a:graphicData uri="http://schemas.openxmlformats.org/drawingml/2006/table">
            <a:tbl>
              <a:tblPr firstRow="1">
                <a:tableStyleId>{5C22544A-7EE6-4342-B048-85BDC9FD1C3A}</a:tableStyleId>
              </a:tblPr>
              <a:tblGrid>
                <a:gridCol w="1090422"/>
                <a:gridCol w="1789938"/>
                <a:gridCol w="1323594"/>
              </a:tblGrid>
              <a:tr h="295275">
                <a:tc>
                  <a:txBody>
                    <a:bodyPr/>
                    <a:lstStyle/>
                    <a:p>
                      <a:r>
                        <a:rPr sz="1380" b="1" i="0" u="none">
                          <a:solidFill>
                            <a:srgbClr val="1C2B3A"/>
                          </a:solidFill>
                          <a:latin typeface="IBM Plex Mono"/>
                        </a:rPr>
                        <a:t>SorteNr</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Verkaeufe</a:t>
                      </a:r>
                    </a:p>
                  </a:txBody>
                  <a:tcPr marL="54864" marR="54864" marT="18288" marB="18288">
                    <a:solidFill>
                      <a:srgbClr val="EBE2D2"/>
                    </a:solidFill>
                  </a:tcPr>
                </a:tc>
              </a:tr>
              <a:tr h="295275">
                <a:tc>
                  <a:txBody>
                    <a:bodyPr/>
                    <a:lstStyle/>
                    <a:p>
                      <a:pPr algn="r"/>
                      <a:r>
                        <a:rPr sz="1500" b="0" i="0" u="none">
                          <a:solidFill>
                            <a:srgbClr val="1C2B3A"/>
                          </a:solidFill>
                          <a:latin typeface="Barlow"/>
                        </a:rPr>
                        <a:t>7</a:t>
                      </a:r>
                    </a:p>
                  </a:txBody>
                  <a:tcPr marL="54864" marR="54864" marT="18288" marB="18288">
                    <a:solidFill>
                      <a:srgbClr val="FFFDF8"/>
                    </a:solidFill>
                  </a:tcPr>
                </a:tc>
                <a:tc>
                  <a:txBody>
                    <a:bodyPr/>
                    <a:lstStyle/>
                    <a:p>
                      <a:r>
                        <a:rPr sz="1500" b="0" i="0" u="none">
                          <a:solidFill>
                            <a:srgbClr val="1C2B3A"/>
                          </a:solidFill>
                          <a:latin typeface="Barlow"/>
                        </a:rPr>
                        <a:t>Stracciatella</a:t>
                      </a:r>
                    </a:p>
                  </a:txBody>
                  <a:tcPr marL="54864" marR="54864" marT="18288" marB="18288">
                    <a:solidFill>
                      <a:srgbClr val="FFFDF8"/>
                    </a:solidFill>
                  </a:tcPr>
                </a:tc>
                <a:tc>
                  <a:txBody>
                    <a:bodyPr/>
                    <a:lstStyle/>
                    <a:p>
                      <a:pPr algn="r"/>
                      <a:r>
                        <a:rPr sz="1500" b="0" i="0" u="none">
                          <a:solidFill>
                            <a:srgbClr val="1C2B3A"/>
                          </a:solidFill>
                          <a:latin typeface="Barlow"/>
                        </a:rPr>
                        <a:t>4</a:t>
                      </a:r>
                    </a:p>
                  </a:txBody>
                  <a:tcPr marL="54864" marR="54864" marT="18288" marB="18288">
                    <a:solidFill>
                      <a:srgbClr val="FFFDF8"/>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Vanille</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r h="295275">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Erdbeere</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pPr algn="r"/>
                      <a:r>
                        <a:rPr sz="1500" b="0" i="0" u="none">
                          <a:solidFill>
                            <a:srgbClr val="1C2B3A"/>
                          </a:solidFill>
                          <a:latin typeface="Barlow"/>
                        </a:rPr>
                        <a:t>5</a:t>
                      </a:r>
                    </a:p>
                  </a:txBody>
                  <a:tcPr marL="54864" marR="54864" marT="18288" marB="18288">
                    <a:solidFill>
                      <a:srgbClr val="FFFDF8"/>
                    </a:solidFill>
                  </a:tcPr>
                </a:tc>
                <a:tc>
                  <a:txBody>
                    <a:bodyPr/>
                    <a:lstStyle/>
                    <a:p>
                      <a:r>
                        <a:rPr sz="1500" b="0" i="0" u="none">
                          <a:solidFill>
                            <a:srgbClr val="1C2B3A"/>
                          </a:solidFill>
                          <a:latin typeface="Barlow"/>
                        </a:rPr>
                        <a:t>Haselnuss</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r h="295275">
                <a:tc>
                  <a:txBody>
                    <a:bodyPr/>
                    <a:lstStyle/>
                    <a:p>
                      <a:pPr algn="r"/>
                      <a:r>
                        <a:rPr sz="1500" b="0" i="0" u="none">
                          <a:solidFill>
                            <a:srgbClr val="1C2B3A"/>
                          </a:solidFill>
                          <a:latin typeface="Barlow"/>
                        </a:rPr>
                        <a:t>8</a:t>
                      </a:r>
                    </a:p>
                  </a:txBody>
                  <a:tcPr marL="54864" marR="54864" marT="18288" marB="18288">
                    <a:solidFill>
                      <a:srgbClr val="FFFDF8"/>
                    </a:solidFill>
                  </a:tcPr>
                </a:tc>
                <a:tc>
                  <a:txBody>
                    <a:bodyPr/>
                    <a:lstStyle/>
                    <a:p>
                      <a:r>
                        <a:rPr sz="1500" b="0" i="0" u="none">
                          <a:solidFill>
                            <a:srgbClr val="1C2B3A"/>
                          </a:solidFill>
                          <a:latin typeface="Barlow"/>
                        </a:rPr>
                        <a:t>Karamell</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Fallen bei GROUP BY</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TextBox 7"/>
          <p:cNvSpPr txBox="1"/>
          <p:nvPr/>
        </p:nvSpPr>
        <p:spPr>
          <a:xfrm>
            <a:off x="7315200" y="1691640"/>
            <a:ext cx="4327855"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P1</a:t>
            </a:r>
          </a:p>
        </p:txBody>
      </p:sp>
      <p:sp>
        <p:nvSpPr>
          <p:cNvPr id="9" name="SQL-Hintergrund"/>
          <p:cNvSpPr/>
          <p:nvPr/>
        </p:nvSpPr>
        <p:spPr>
          <a:xfrm>
            <a:off x="7315200" y="2002536"/>
            <a:ext cx="4327855" cy="1336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QL [fehlerhaft]"/>
          <p:cNvSpPr txBox="1"/>
          <p:nvPr/>
        </p:nvSpPr>
        <p:spPr>
          <a:xfrm>
            <a:off x="7498079" y="2139696"/>
            <a:ext cx="3962095" cy="1061720"/>
          </a:xfrm>
          <a:prstGeom prst="rect">
            <a:avLst/>
          </a:prstGeom>
          <a:noFill/>
        </p:spPr>
        <p:txBody>
          <a:bodyPr wrap="square" lIns="18288" rIns="18288" tIns="18288" bIns="18288">
            <a:spAutoFit/>
          </a:bodyPr>
          <a:lstStyle/>
          <a:p>
            <a:pPr>
              <a:lnSpc>
                <a:spcPct val="100000"/>
              </a:lnSpc>
            </a:pPr>
            <a:r>
              <a:rPr sz="1600" i="0">
                <a:solidFill>
                  <a:srgbClr val="F2A65A"/>
                </a:solidFill>
                <a:latin typeface="IBM Plex Mono"/>
              </a:rPr>
              <a:t>SELECT</a:t>
            </a:r>
            <a:r>
              <a:rPr sz="1600" i="0">
                <a:solidFill>
                  <a:srgbClr val="D8E3D0"/>
                </a:solidFill>
                <a:latin typeface="IBM Plex Mono"/>
              </a:rPr>
              <a:t> </a:t>
            </a:r>
            <a:r>
              <a:rPr sz="1600" i="0">
                <a:solidFill>
                  <a:srgbClr val="D8E3D0"/>
                </a:solidFill>
                <a:latin typeface="IBM Plex Mono"/>
              </a:rPr>
              <a:t>Datum</a:t>
            </a:r>
            <a:r>
              <a:rPr sz="1600" i="0">
                <a:solidFill>
                  <a:srgbClr val="D8E3D0"/>
                </a:solidFill>
                <a:latin typeface="IBM Plex Mono"/>
              </a:rPr>
              <a:t>,</a:t>
            </a:r>
            <a:r>
              <a:rPr sz="1600" i="0">
                <a:solidFill>
                  <a:srgbClr val="D8E3D0"/>
                </a:solidFill>
                <a:latin typeface="IBM Plex Mono"/>
              </a:rPr>
              <a:t> </a:t>
            </a:r>
            <a:r>
              <a:rPr sz="1600" i="0">
                <a:solidFill>
                  <a:srgbClr val="E6C77A"/>
                </a:solidFill>
                <a:latin typeface="IBM Plex Mono"/>
              </a:rPr>
              <a:t>COUNT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a:t>
            </a:r>
          </a:p>
          <a:p>
            <a:pPr>
              <a:lnSpc>
                <a:spcPct val="100000"/>
              </a:lnSpc>
            </a:pPr>
            <a:r>
              <a:rPr sz="1600" i="0">
                <a:solidFill>
                  <a:srgbClr val="F2A65A"/>
                </a:solidFill>
                <a:latin typeface="IBM Plex Mono"/>
              </a:rPr>
              <a:t>FROM</a:t>
            </a:r>
            <a:r>
              <a:rPr sz="1600" i="0">
                <a:solidFill>
                  <a:srgbClr val="D8E3D0"/>
                </a:solidFill>
                <a:latin typeface="IBM Plex Mono"/>
              </a:rPr>
              <a:t> </a:t>
            </a:r>
            <a:r>
              <a:rPr sz="1600" i="0">
                <a:solidFill>
                  <a:srgbClr val="D8E3D0"/>
                </a:solidFill>
                <a:latin typeface="IBM Plex Mono"/>
              </a:rPr>
              <a:t>Verkauf</a:t>
            </a:r>
          </a:p>
          <a:p>
            <a:pPr>
              <a:lnSpc>
                <a:spcPct val="100000"/>
              </a:lnSpc>
            </a:pPr>
            <a:r>
              <a:rPr sz="1600" i="0">
                <a:solidFill>
                  <a:srgbClr val="F2A65A"/>
                </a:solidFill>
                <a:latin typeface="IBM Plex Mono"/>
              </a:rPr>
              <a:t>WHERE</a:t>
            </a:r>
            <a:r>
              <a:rPr sz="1600" i="0">
                <a:solidFill>
                  <a:srgbClr val="D8E3D0"/>
                </a:solidFill>
                <a:latin typeface="IBM Plex Mono"/>
              </a:rPr>
              <a:t> </a:t>
            </a:r>
            <a:r>
              <a:rPr sz="1600" i="0">
                <a:solidFill>
                  <a:srgbClr val="E6C77A"/>
                </a:solidFill>
                <a:latin typeface="IBM Plex Mono"/>
              </a:rPr>
              <a:t>COUNT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&gt;</a:t>
            </a:r>
            <a:r>
              <a:rPr sz="1600" i="0">
                <a:solidFill>
                  <a:srgbClr val="D8E3D0"/>
                </a:solidFill>
                <a:latin typeface="IBM Plex Mono"/>
              </a:rPr>
              <a:t>=</a:t>
            </a:r>
            <a:r>
              <a:rPr sz="1600" i="0">
                <a:solidFill>
                  <a:srgbClr val="D8E3D0"/>
                </a:solidFill>
                <a:latin typeface="IBM Plex Mono"/>
              </a:rPr>
              <a:t> </a:t>
            </a:r>
            <a:r>
              <a:rPr sz="1600" i="0">
                <a:solidFill>
                  <a:srgbClr val="8CC4FF"/>
                </a:solidFill>
                <a:latin typeface="IBM Plex Mono"/>
              </a:rPr>
              <a:t>9</a:t>
            </a:r>
          </a:p>
          <a:p>
            <a:pPr>
              <a:lnSpc>
                <a:spcPct val="100000"/>
              </a:lnSpc>
            </a:pPr>
            <a:r>
              <a:rPr sz="1600" i="0">
                <a:solidFill>
                  <a:srgbClr val="F2A65A"/>
                </a:solidFill>
                <a:latin typeface="IBM Plex Mono"/>
              </a:rPr>
              <a:t>GROUP</a:t>
            </a:r>
            <a:r>
              <a:rPr sz="1600" i="0">
                <a:solidFill>
                  <a:srgbClr val="D8E3D0"/>
                </a:solidFill>
                <a:latin typeface="IBM Plex Mono"/>
              </a:rPr>
              <a:t> </a:t>
            </a:r>
            <a:r>
              <a:rPr sz="1600" i="0">
                <a:solidFill>
                  <a:srgbClr val="F2A65A"/>
                </a:solidFill>
                <a:latin typeface="IBM Plex Mono"/>
              </a:rPr>
              <a:t>BY</a:t>
            </a:r>
            <a:r>
              <a:rPr sz="1600" i="0">
                <a:solidFill>
                  <a:srgbClr val="D8E3D0"/>
                </a:solidFill>
                <a:latin typeface="IBM Plex Mono"/>
              </a:rPr>
              <a:t> </a:t>
            </a:r>
            <a:r>
              <a:rPr sz="1600" i="0">
                <a:solidFill>
                  <a:srgbClr val="D8E3D0"/>
                </a:solidFill>
                <a:latin typeface="IBM Plex Mono"/>
              </a:rPr>
              <a:t>Datum</a:t>
            </a:r>
          </a:p>
        </p:txBody>
      </p:sp>
      <p:sp>
        <p:nvSpPr>
          <p:cNvPr id="11" name="Rectangle 10"/>
          <p:cNvSpPr/>
          <p:nvPr/>
        </p:nvSpPr>
        <p:spPr>
          <a:xfrm>
            <a:off x="7315200" y="2002536"/>
            <a:ext cx="64008" cy="13360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48640" y="1691640"/>
            <a:ext cx="649224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1"/>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P1</a:t>
            </a:r>
          </a:p>
        </p:txBody>
      </p:sp>
      <p:sp>
        <p:nvSpPr>
          <p:cNvPr id="15" name="TextBox 14"/>
          <p:cNvSpPr txBox="1"/>
          <p:nvPr/>
        </p:nvSpPr>
        <p:spPr>
          <a:xfrm>
            <a:off x="1508760" y="1783080"/>
            <a:ext cx="539496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WHERE ↔ HAVING</a:t>
            </a:r>
          </a:p>
          <a:p>
            <a:pPr>
              <a:lnSpc>
                <a:spcPct val="105000"/>
              </a:lnSpc>
              <a:spcAft>
                <a:spcPts val="400"/>
              </a:spcAft>
            </a:pPr>
            <a:r>
              <a:rPr sz="1600" b="0" i="0" u="none">
                <a:solidFill>
                  <a:srgbClr val="1C2B3A"/>
                </a:solidFill>
                <a:latin typeface="Barlow"/>
              </a:rPr>
              <a:t>Aggregat im WHERE (</a:t>
            </a:r>
            <a:r>
              <a:rPr sz="1440" b="0" i="0" u="none">
                <a:solidFill>
                  <a:srgbClr val="1C2B3A"/>
                </a:solidFill>
                <a:latin typeface="IBM Plex Mono"/>
              </a:rPr>
              <a:t>WHERE COUNT(*) &gt;= 2</a:t>
            </a:r>
            <a:r>
              <a:rPr sz="1600" b="0" i="0" u="none">
                <a:solidFill>
                  <a:srgbClr val="1C2B3A"/>
                </a:solidFill>
                <a:latin typeface="Barlow"/>
              </a:rPr>
              <a:t> geht nicht), Zeilenbedingung im HAVING, Alias im HAVING.</a:t>
            </a:r>
          </a:p>
        </p:txBody>
      </p:sp>
      <p:sp>
        <p:nvSpPr>
          <p:cNvPr id="16" name="Rounded Rectangle 15"/>
          <p:cNvSpPr/>
          <p:nvPr/>
        </p:nvSpPr>
        <p:spPr>
          <a:xfrm>
            <a:off x="548640" y="2746248"/>
            <a:ext cx="649224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3"/>
          <p:cNvSpPr/>
          <p:nvPr/>
        </p:nvSpPr>
        <p:spPr>
          <a:xfrm>
            <a:off x="685800" y="288340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290169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P3</a:t>
            </a:r>
          </a:p>
        </p:txBody>
      </p:sp>
      <p:sp>
        <p:nvSpPr>
          <p:cNvPr id="19" name="TextBox 18"/>
          <p:cNvSpPr txBox="1"/>
          <p:nvPr/>
        </p:nvSpPr>
        <p:spPr>
          <a:xfrm>
            <a:off x="1508760" y="2837688"/>
            <a:ext cx="539496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GROUP-BY-Regel</a:t>
            </a:r>
          </a:p>
          <a:p>
            <a:pPr>
              <a:lnSpc>
                <a:spcPct val="105000"/>
              </a:lnSpc>
              <a:spcAft>
                <a:spcPts val="400"/>
              </a:spcAft>
            </a:pPr>
            <a:r>
              <a:rPr sz="1600" b="0" i="0" u="none">
                <a:solidFill>
                  <a:srgbClr val="1C2B3A"/>
                </a:solidFill>
                <a:latin typeface="Barlow"/>
              </a:rPr>
              <a:t>Spalte im SELECT weder aggregiert noch gruppiert; nach Name statt nach Schlüssel gruppiert.</a:t>
            </a:r>
          </a:p>
        </p:txBody>
      </p:sp>
      <p:sp>
        <p:nvSpPr>
          <p:cNvPr id="20" name="Rounded Rectangle 19"/>
          <p:cNvSpPr/>
          <p:nvPr/>
        </p:nvSpPr>
        <p:spPr>
          <a:xfrm>
            <a:off x="548640" y="3800856"/>
            <a:ext cx="649224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alle P4"/>
          <p:cNvSpPr/>
          <p:nvPr/>
        </p:nvSpPr>
        <p:spPr>
          <a:xfrm>
            <a:off x="685800" y="393801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95630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P4</a:t>
            </a:r>
          </a:p>
        </p:txBody>
      </p:sp>
      <p:sp>
        <p:nvSpPr>
          <p:cNvPr id="23" name="TextBox 22"/>
          <p:cNvSpPr txBox="1"/>
          <p:nvPr/>
        </p:nvSpPr>
        <p:spPr>
          <a:xfrm>
            <a:off x="1508760" y="3892296"/>
            <a:ext cx="539496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COUNT ↔ SUM</a:t>
            </a:r>
          </a:p>
          <a:p>
            <a:pPr>
              <a:lnSpc>
                <a:spcPct val="105000"/>
              </a:lnSpc>
              <a:spcAft>
                <a:spcPts val="400"/>
              </a:spcAft>
            </a:pPr>
            <a:r>
              <a:rPr sz="1600" b="0" i="0" u="none">
                <a:solidFill>
                  <a:srgbClr val="1C2B3A"/>
                </a:solidFill>
                <a:latin typeface="Barlow"/>
              </a:rPr>
              <a:t>„Anzahl Verkäufe“ = </a:t>
            </a:r>
            <a:r>
              <a:rPr sz="1440" b="0" i="0" u="none">
                <a:solidFill>
                  <a:srgbClr val="1C2B3A"/>
                </a:solidFill>
                <a:latin typeface="IBM Plex Mono"/>
              </a:rPr>
              <a:t>COUNT(*)</a:t>
            </a:r>
            <a:r>
              <a:rPr sz="1600" b="0" i="0" u="none">
                <a:solidFill>
                  <a:srgbClr val="1C2B3A"/>
                </a:solidFill>
                <a:latin typeface="Barlow"/>
              </a:rPr>
              <a:t>, „Anzahl Kugeln“ = </a:t>
            </a:r>
            <a:r>
              <a:rPr sz="1440" b="0" i="0" u="none">
                <a:solidFill>
                  <a:srgbClr val="1C2B3A"/>
                </a:solidFill>
                <a:latin typeface="IBM Plex Mono"/>
              </a:rPr>
              <a:t>SUM(Kugeln)</a:t>
            </a:r>
            <a:r>
              <a:rPr sz="1600" b="0" i="0" u="none">
                <a:solidFill>
                  <a:srgbClr val="1C2B3A"/>
                </a:solidFill>
                <a:latin typeface="Barlow"/>
              </a:rPr>
              <a:t>. </a:t>
            </a:r>
            <a:r>
              <a:rPr sz="1440" b="0" i="0" u="none">
                <a:solidFill>
                  <a:srgbClr val="1C2B3A"/>
                </a:solidFill>
                <a:latin typeface="IBM Plex Mono"/>
              </a:rPr>
              <a:t>COUNT(Spalte)</a:t>
            </a:r>
            <a:r>
              <a:rPr sz="1600" b="0" i="0" u="none">
                <a:solidFill>
                  <a:srgbClr val="1C2B3A"/>
                </a:solidFill>
                <a:latin typeface="Barlow"/>
              </a:rPr>
              <a:t> zählt keine NULL-Werte.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3657599"/>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3657599"/>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3154679"/>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2100" b="0" i="0" u="none">
                <a:solidFill>
                  <a:srgbClr val="1C2B3A"/>
                </a:solidFill>
                <a:latin typeface="Barlow"/>
              </a:rPr>
              <a:t>FROM → WHERE → GROUP BY → HAVING → SELECT → ORDER BY → LIMIT.</a:t>
            </a:r>
          </a:p>
          <a:p>
            <a:pPr>
              <a:lnSpc>
                <a:spcPct val="105000"/>
              </a:lnSpc>
              <a:spcAft>
                <a:spcPts val="300"/>
              </a:spcAft>
            </a:pPr>
            <a:r>
              <a:rPr sz="2100" b="1">
                <a:solidFill>
                  <a:srgbClr val="2C5A85"/>
                </a:solidFill>
                <a:latin typeface="Barlow"/>
              </a:rPr>
              <a:t>▸  </a:t>
            </a:r>
            <a:r>
              <a:rPr sz="2100" b="0" i="0" u="none">
                <a:solidFill>
                  <a:srgbClr val="1C2B3A"/>
                </a:solidFill>
                <a:latin typeface="Barlow"/>
              </a:rPr>
              <a:t>Eine Gruppe ergibt genau eine Ergebniszeile.</a:t>
            </a:r>
          </a:p>
          <a:p>
            <a:pPr>
              <a:lnSpc>
                <a:spcPct val="105000"/>
              </a:lnSpc>
              <a:spcAft>
                <a:spcPts val="300"/>
              </a:spcAft>
            </a:pPr>
            <a:r>
              <a:rPr sz="2100" b="1">
                <a:solidFill>
                  <a:srgbClr val="2C5A85"/>
                </a:solidFill>
                <a:latin typeface="Barlow"/>
              </a:rPr>
              <a:t>▸  </a:t>
            </a:r>
            <a:r>
              <a:rPr sz="2100" b="0" i="0" u="none">
                <a:solidFill>
                  <a:srgbClr val="1C2B3A"/>
                </a:solidFill>
                <a:latin typeface="Barlow"/>
              </a:rPr>
              <a:t>Jede SELECT-Spalte ist aggregiert oder steht im GROUP BY – gruppiere nach dem Schlüssel.</a:t>
            </a:r>
          </a:p>
          <a:p>
            <a:pPr>
              <a:lnSpc>
                <a:spcPct val="105000"/>
              </a:lnSpc>
              <a:spcAft>
                <a:spcPts val="300"/>
              </a:spcAft>
            </a:pPr>
            <a:r>
              <a:rPr sz="2100" b="1">
                <a:solidFill>
                  <a:srgbClr val="2C5A85"/>
                </a:solidFill>
                <a:latin typeface="Barlow"/>
              </a:rPr>
              <a:t>▸  </a:t>
            </a:r>
            <a:r>
              <a:rPr sz="2100" b="0" i="0" u="none">
                <a:solidFill>
                  <a:srgbClr val="1C2B3A"/>
                </a:solidFill>
                <a:latin typeface="Barlow"/>
              </a:rPr>
              <a:t>WHERE filtert Zeilen vor dem Gruppieren, HAVING filtert Gruppen danach – ohne Alias.</a:t>
            </a:r>
          </a:p>
          <a:p>
            <a:pPr>
              <a:lnSpc>
                <a:spcPct val="105000"/>
              </a:lnSpc>
              <a:spcAft>
                <a:spcPts val="300"/>
              </a:spcAft>
            </a:pPr>
            <a:r>
              <a:rPr sz="2100" b="1">
                <a:solidFill>
                  <a:srgbClr val="2C5A85"/>
                </a:solidFill>
                <a:latin typeface="Barlow"/>
              </a:rPr>
              <a:t>▸  </a:t>
            </a:r>
            <a:r>
              <a:rPr sz="2100" b="0" i="0" u="none">
                <a:solidFill>
                  <a:srgbClr val="1C2B3A"/>
                </a:solidFill>
                <a:latin typeface="Barlow"/>
              </a:rPr>
              <a:t>COUNT(*) zählt Zeilen, SUM(Spalte) addiert Werte.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3 · AKTE 3 · DIE STADTFEST-KASSE</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7772400" cy="1892807"/>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892807"/>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1389887"/>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3.1 „Kassensturz“</a:t>
            </a:r>
            <a:r>
              <a:rPr sz="1800" b="0" i="0" u="none">
                <a:solidFill>
                  <a:srgbClr val="1C2B3A"/>
                </a:solidFill>
                <a:latin typeface="Barlow"/>
              </a:rPr>
              <a:t> · A3-E1-01 … 08 · Werkzeug: Sortierfächer</a:t>
            </a:r>
          </a:p>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3.2 „Die Statistik lügt nicht“</a:t>
            </a:r>
            <a:r>
              <a:rPr sz="1800" b="0" i="0" u="none">
                <a:solidFill>
                  <a:srgbClr val="1C2B3A"/>
                </a:solidFill>
                <a:latin typeface="Barlow"/>
              </a:rPr>
              <a:t> · A3-E2-01 … 08 · Werkzeug: Zeitlupe</a:t>
            </a:r>
          </a:p>
        </p:txBody>
      </p:sp>
      <p:sp>
        <p:nvSpPr>
          <p:cNvPr id="12" name="Rounded Rectangle 11"/>
          <p:cNvSpPr/>
          <p:nvPr/>
        </p:nvSpPr>
        <p:spPr>
          <a:xfrm>
            <a:off x="548640" y="3694176"/>
            <a:ext cx="7772400" cy="131368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694176"/>
            <a:ext cx="73152" cy="1313687"/>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785615"/>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4151376"/>
            <a:ext cx="7360920" cy="810767"/>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3.1 „Kassensturz“ und AB 3.2 „Die Statistik lügt nicht“</a:t>
            </a:r>
          </a:p>
          <a:p>
            <a:pPr>
              <a:lnSpc>
                <a:spcPct val="105000"/>
              </a:lnSpc>
              <a:spcAft>
                <a:spcPts val="300"/>
              </a:spcAft>
            </a:pPr>
            <a:r>
              <a:rPr sz="1700" b="1">
                <a:solidFill>
                  <a:srgbClr val="58626D"/>
                </a:solidFill>
                <a:latin typeface="Barlow"/>
              </a:rPr>
              <a:t>▸  </a:t>
            </a:r>
            <a:r>
              <a:rPr sz="1700" b="0" i="0" u="none">
                <a:solidFill>
                  <a:srgbClr val="1C2B3A"/>
                </a:solidFill>
                <a:latin typeface="Barlow"/>
              </a:rPr>
              <a:t>Verhör 3 nach Freischaltung durch die Lehrkraft</a:t>
            </a:r>
          </a:p>
        </p:txBody>
      </p:sp>
      <p:sp>
        <p:nvSpPr>
          <p:cNvPr id="16" name="Rounded Rectangle 15"/>
          <p:cNvSpPr/>
          <p:nvPr/>
        </p:nvSpPr>
        <p:spPr>
          <a:xfrm>
            <a:off x="548640" y="5117592"/>
            <a:ext cx="7772400" cy="95402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5117592"/>
            <a:ext cx="73152" cy="95402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20903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574792"/>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4 – Redundanz, Anomalien und gute Schlüssel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BY und HAVING – so wie im Abitur</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3</vt:lpwstr>
  </property>
  <property fmtid="{D5CDD505-2E9C-101B-9397-08002B2CF9AE}" pid="3" name="DD-Art">
    <vt:lpwstr>video</vt:lpwstr>
  </property>
  <property fmtid="{D5CDD505-2E9C-101B-9397-08002B2CF9AE}" pid="4" name="DD-Datenbank">
    <vt:lpwstr>eisdiele</vt:lpwstr>
  </property>
  <property fmtid="{D5CDD505-2E9C-101B-9397-08002B2CF9AE}" pid="5" name="DD-Kamera-Zone">
    <vt:lpwstr>ja</vt:lpwstr>
  </property>
  <property fmtid="{D5CDD505-2E9C-101B-9397-08002B2CF9AE}" pid="6" name="DD-Kuer">
    <vt:lpwstr>nein</vt:lpwstr>
  </property>
  <property fmtid="{D5CDD505-2E9C-101B-9397-08002B2CF9AE}" pid="7" name="DD-Video">
    <vt:lpwstr>3</vt:lpwstr>
  </property>
  <property fmtid="{D5CDD505-2E9C-101B-9397-08002B2CF9AE}" pid="8" name="DD-Video-Quelle">
    <vt:lpwstr>77d79b415987048e8d754c5dc29fbe9524a10646e53f04bb9e5ec8afc335eb33</vt:lpwstr>
  </property>
</Properties>
</file>