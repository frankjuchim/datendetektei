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Sitzordnung wie in einer Klausur. Ermittlernummern austeilen (für die anonyme Peer-Korrektur). Hilfsmittel: nur die Operatorenübersicht.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Briefing vorlesen (STORY 5.13). Betonen: kein Story-Kontext, keine Tipps, Zeit im Blick behalten.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Ablauf kurz zeigen; Hausaufgabe vorab ankündigen: Verhör 7 im Lab vor der Klausur.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Werkzeugkarte 7 des Ermittler-Handbuchs. Fallen P10: „erläutern“ heißt nicht „nennen“.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W-A7-10 übt genau das: Zeitbudget je Teilaufgabe aufstellen. gA: statt ER der Datenschutz-Teil (4 BE).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Eigene Beispieldaten (Stadtfest, Akte 3), keine Prüfungsaufgabe. Kontrast zeigen: Klauseln übersetzen (P10) vs. Aussage im Sachzusammenhang.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Lehrkraft geht herum und korrigiert 3–4 Arbeiten zweit (Kalibrierung). Abweichung &gt; 1 BE je Teil → im Plenum klären.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 der Abgabe: die eigene Lösung gegen diese Fragen prüfen (gA: letzte 10 Minuten).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P8–P10 betreffen Text- und Modellierungsteile – dort gibt es oft Teilpunkte.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Mensa-DB nach der Abgabe freischalten. Das Verhör nutzt dieselbe DB, aber andere Aufgaben.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Zwei Minuten Einzelarbeit, dann Partnervergleich mit den Kernpunkten (Folie danach nur Lehrkraft).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[NUR LEHRKRAFT] Kernpunkte: Aussage über Vereine (1), Bedingung mindestens zehn – &gt;= (1), ohne Verein ausgeschlossen + Sortierung (1).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Urkunden aus dem Lehrkraft-Bereich drucken. Polaroid „Detektei-Lizenz“ an die Pinnwand (STORY 5.13 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100" b="0" i="0" u="none" spc="150">
                <a:solidFill>
                  <a:srgbClr val="D4B062"/>
                </a:solidFill>
                <a:latin typeface="IBM Plex Mono"/>
              </a:rPr>
              <a:t>AKTE 7 · DIE ERMITTLERPRÜFUNG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900" b="0" i="0" u="none" spc="100">
                <a:solidFill>
                  <a:srgbClr val="9C978E"/>
                </a:solidFill>
                <a:latin typeface="IBM Plex Mono"/>
              </a:rPr>
              <a:t>DATENDETEKTEI WESERSTEDT ·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229600" cy="1280160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5400" b="0" i="0" u="none">
                <a:solidFill>
                  <a:srgbClr val="E8E1D3"/>
                </a:solidFill>
                <a:latin typeface="Barlow Condensed SemiBold"/>
              </a:rPr>
              <a:t>Die Ermittlerprüfung</a:t>
            </a:r>
          </a:p>
        </p:txBody>
      </p:sp>
      <p:cxnSp>
        <p:nvCxnSpPr>
          <p:cNvPr id="5" name="Roter Faden"/>
          <p:cNvCxnSpPr/>
          <p:nvPr/>
        </p:nvCxnSpPr>
        <p:spPr>
          <a:xfrm>
            <a:off x="548640" y="3291840"/>
            <a:ext cx="11094415" cy="0"/>
          </a:xfrm>
          <a:prstGeom prst="line">
            <a:avLst/>
          </a:prstGeom>
          <a:ln w="28575">
            <a:solidFill>
              <a:srgbClr val="E057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484632" y="3227832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1579047" y="3227832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82296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2200" b="0" i="0" u="none">
                <a:solidFill>
                  <a:srgbClr val="BDB6A9"/>
                </a:solidFill>
                <a:latin typeface="Barlow"/>
              </a:rPr>
              <a:t>Akte 7 · DS 13 · Generalprobe im Abitur-Format</a:t>
            </a:r>
          </a:p>
        </p:txBody>
      </p:sp>
      <p:pic>
        <p:nvPicPr>
          <p:cNvPr id="9" name="Picture 8" descr="stemp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463040"/>
            <a:ext cx="2560320" cy="67267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100" b="0" i="0" u="none" spc="150">
                <a:solidFill>
                  <a:srgbClr val="D4B062"/>
                </a:solidFill>
                <a:latin typeface="IBM Plex Mono"/>
              </a:rPr>
              <a:t>AKTE 7 · DIE ERMITTLERPRÜFUNG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3200" b="0" i="0" u="none">
                <a:solidFill>
                  <a:srgbClr val="E8E1D3"/>
                </a:solidFill>
                <a:latin typeface="Barlow Condensed SemiBold"/>
              </a:rPr>
              <a:t>Die Ermittlerprüfung</a:t>
            </a:r>
          </a:p>
        </p:txBody>
      </p:sp>
      <p:cxnSp>
        <p:nvCxnSpPr>
          <p:cNvPr id="4" name="Roter Faden"/>
          <p:cNvCxnSpPr/>
          <p:nvPr/>
        </p:nvCxnSpPr>
        <p:spPr>
          <a:xfrm>
            <a:off x="548640" y="1353312"/>
            <a:ext cx="11094415" cy="0"/>
          </a:xfrm>
          <a:prstGeom prst="line">
            <a:avLst/>
          </a:prstGeom>
          <a:ln w="28575">
            <a:solidFill>
              <a:srgbClr val="E057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484632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579047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900" b="0" i="0" u="none" spc="100">
                <a:solidFill>
                  <a:srgbClr val="9C978E"/>
                </a:solidFill>
                <a:latin typeface="IBM Plex Mono"/>
              </a:rPr>
              <a:t>DATENDETEKTEI WESERSTEDT ·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11094415" cy="4206240"/>
          </a:xfrm>
          <a:prstGeom prst="roundRect">
            <a:avLst>
              <a:gd name="adj" fmla="val 4000"/>
            </a:avLst>
          </a:prstGeom>
          <a:solidFill>
            <a:srgbClr val="F4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10637215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050" b="1" i="0" u="none" spc="120">
                <a:solidFill>
                  <a:srgbClr val="B3261E"/>
                </a:solidFill>
                <a:latin typeface="IBM Plex Mono"/>
              </a:rPr>
              <a:t>BRIEFING · EDDA LORENZ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240280"/>
            <a:ext cx="10545775" cy="3474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2200" b="0" i="1" u="none">
                <a:solidFill>
                  <a:srgbClr val="1C2B3A"/>
                </a:solidFill>
                <a:latin typeface="Barlow"/>
              </a:rPr>
              <a:t>„Sechs Akten, ein Phantom, eine unbequeme Debatte – ihr habt viel ermittelt. Heute zeigt ihr, dass ihr das auch ohne mich könnt: eine Aufgabe im Abitur-Format, in einem Kontext, den ihr noch nie gesehen habt. Lest jeden Operator genau. Danach korrigiert ihr euch gegenseitig – und es gibt Lizenzen. Denkt an die Klammern.“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100" b="0" i="0" u="none" spc="150">
                <a:solidFill>
                  <a:srgbClr val="D4B062"/>
                </a:solidFill>
                <a:latin typeface="IBM Plex Mono"/>
              </a:rPr>
              <a:t>AKTE 7 · DIE ERMITTLERPRÜFUNG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3200" b="0" i="0" u="none">
                <a:solidFill>
                  <a:srgbClr val="E8E1D3"/>
                </a:solidFill>
                <a:latin typeface="Barlow Condensed SemiBold"/>
              </a:rPr>
              <a:t>Ablauf der Doppelstunde</a:t>
            </a:r>
          </a:p>
        </p:txBody>
      </p:sp>
      <p:cxnSp>
        <p:nvCxnSpPr>
          <p:cNvPr id="4" name="Roter Faden"/>
          <p:cNvCxnSpPr/>
          <p:nvPr/>
        </p:nvCxnSpPr>
        <p:spPr>
          <a:xfrm>
            <a:off x="548640" y="1353312"/>
            <a:ext cx="11094415" cy="0"/>
          </a:xfrm>
          <a:prstGeom prst="line">
            <a:avLst/>
          </a:prstGeom>
          <a:ln w="28575">
            <a:solidFill>
              <a:srgbClr val="E057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484632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579047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900" b="0" i="0" u="none" spc="100">
                <a:solidFill>
                  <a:srgbClr val="9C978E"/>
                </a:solidFill>
                <a:latin typeface="IBM Plex Mono"/>
              </a:rPr>
              <a:t>DATENDETEKTEI WESERSTEDT ·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11094415" cy="4343400"/>
          </a:xfrm>
          <a:prstGeom prst="roundRect">
            <a:avLst>
              <a:gd name="adj" fmla="val 4000"/>
            </a:avLst>
          </a:prstGeom>
          <a:solidFill>
            <a:srgbClr val="F4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9" name="Datentabelle"/>
          <p:cNvGraphicFramePr>
            <a:graphicFrameLocks noGrp="1"/>
          </p:cNvGraphicFramePr>
          <p:nvPr/>
        </p:nvGraphicFramePr>
        <p:xfrm>
          <a:off x="822959" y="1920240"/>
          <a:ext cx="10545773" cy="1574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87670"/>
                <a:gridCol w="7848265"/>
                <a:gridCol w="1709838"/>
              </a:tblGrid>
              <a:tr h="314960">
                <a:tc>
                  <a:txBody>
                    <a:bodyPr/>
                    <a:lstStyle/>
                    <a:p>
                      <a:r>
                        <a:rPr sz="1472" b="1" i="0" u="none">
                          <a:solidFill>
                            <a:srgbClr val="1C2B3A"/>
                          </a:solidFill>
                          <a:latin typeface="IBM Plex Mono"/>
                        </a:rPr>
                        <a:t>Zeit</a:t>
                      </a:r>
                    </a:p>
                  </a:txBody>
                  <a:tcPr marL="54864" marR="54864" marT="18288" marB="18288">
                    <a:solidFill>
                      <a:srgbClr val="EBE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72" b="1" i="0" u="none">
                          <a:solidFill>
                            <a:srgbClr val="1C2B3A"/>
                          </a:solidFill>
                          <a:latin typeface="IBM Plex Mono"/>
                        </a:rPr>
                        <a:t>Was</a:t>
                      </a:r>
                    </a:p>
                  </a:txBody>
                  <a:tcPr marL="54864" marR="54864" marT="18288" marB="18288">
                    <a:solidFill>
                      <a:srgbClr val="EBE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72" b="1" i="0" u="none">
                          <a:solidFill>
                            <a:srgbClr val="1C2B3A"/>
                          </a:solidFill>
                          <a:latin typeface="IBM Plex Mono"/>
                        </a:rPr>
                        <a:t>Wie</a:t>
                      </a:r>
                    </a:p>
                  </a:txBody>
                  <a:tcPr marL="54864" marR="54864" marT="18288" marB="18288">
                    <a:solidFill>
                      <a:srgbClr val="EBE2D2"/>
                    </a:solidFill>
                  </a:tcPr>
                </a:tc>
              </a:tr>
              <a:tr h="314960"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0–5'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Organisation, Zeitbudget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Plenum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  <a:tr h="314960"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5–75'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Generalprobe: eA 30 BE (70'), gA 25 BE (60') + 10' Fallen-Check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Einzelarbeit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  <a:tr h="314960"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75–87'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Peer-Korrektur der SQL-Teile nach Erwartungshorizont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Paare, Lab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  <a:tr h="314960"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87–90'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Fallen-Strichliste, Endstand, Detektei-Lizenzen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Plenum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100" b="0" i="0" u="none" spc="150">
                <a:solidFill>
                  <a:srgbClr val="D4B062"/>
                </a:solidFill>
                <a:latin typeface="IBM Plex Mono"/>
              </a:rPr>
              <a:t>AKTE 7 · DIE ERMITTLERPRÜFUNG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3200" b="0" i="0" u="none">
                <a:solidFill>
                  <a:srgbClr val="E8E1D3"/>
                </a:solidFill>
                <a:latin typeface="Barlow Condensed SemiBold"/>
              </a:rPr>
              <a:t>Operatoren genau lesen</a:t>
            </a:r>
          </a:p>
        </p:txBody>
      </p:sp>
      <p:cxnSp>
        <p:nvCxnSpPr>
          <p:cNvPr id="4" name="Roter Faden"/>
          <p:cNvCxnSpPr/>
          <p:nvPr/>
        </p:nvCxnSpPr>
        <p:spPr>
          <a:xfrm>
            <a:off x="548640" y="1353312"/>
            <a:ext cx="11094415" cy="0"/>
          </a:xfrm>
          <a:prstGeom prst="line">
            <a:avLst/>
          </a:prstGeom>
          <a:ln w="28575">
            <a:solidFill>
              <a:srgbClr val="E057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484632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579047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900" b="0" i="0" u="none" spc="100">
                <a:solidFill>
                  <a:srgbClr val="9C978E"/>
                </a:solidFill>
                <a:latin typeface="IBM Plex Mono"/>
              </a:rPr>
              <a:t>DATENDETEKTEI WESERSTEDT · 4</a:t>
            </a:r>
          </a:p>
        </p:txBody>
      </p:sp>
      <p:graphicFrame>
        <p:nvGraphicFramePr>
          <p:cNvPr id="8" name="Datentabelle"/>
          <p:cNvGraphicFramePr>
            <a:graphicFrameLocks noGrp="1"/>
          </p:cNvGraphicFramePr>
          <p:nvPr/>
        </p:nvGraphicFramePr>
        <p:xfrm>
          <a:off x="548640" y="1691640"/>
          <a:ext cx="11094415" cy="26771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20000"/>
                <a:gridCol w="8574415"/>
              </a:tblGrid>
              <a:tr h="334645">
                <a:tc>
                  <a:txBody>
                    <a:bodyPr/>
                    <a:lstStyle/>
                    <a:p>
                      <a:r>
                        <a:rPr sz="1564" b="1" i="0" u="none">
                          <a:solidFill>
                            <a:srgbClr val="1C2B3A"/>
                          </a:solidFill>
                          <a:latin typeface="IBM Plex Mono"/>
                        </a:rPr>
                        <a:t>Fachbegriff</a:t>
                      </a:r>
                    </a:p>
                  </a:txBody>
                  <a:tcPr marL="54864" marR="54864" marT="18288" marB="18288">
                    <a:solidFill>
                      <a:srgbClr val="EBE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64" b="1" i="0" u="none">
                          <a:solidFill>
                            <a:srgbClr val="1C2B3A"/>
                          </a:solidFill>
                          <a:latin typeface="IBM Plex Mono"/>
                        </a:rPr>
                        <a:t>Bedeutung</a:t>
                      </a:r>
                    </a:p>
                  </a:txBody>
                  <a:tcPr marL="54864" marR="54864" marT="18288" marB="18288">
                    <a:solidFill>
                      <a:srgbClr val="EBE2D2"/>
                    </a:solidFill>
                  </a:tcPr>
                </a:tc>
              </a:tr>
              <a:tr h="334645">
                <a:tc>
                  <a:txBody>
                    <a:bodyPr/>
                    <a:lstStyle/>
                    <a:p>
                      <a:r>
                        <a:rPr sz="1700" b="0" i="0" u="none">
                          <a:solidFill>
                            <a:srgbClr val="1C2B3A"/>
                          </a:solidFill>
                          <a:latin typeface="Barlow"/>
                        </a:rPr>
                        <a:t>nennen / angeben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 u="none">
                          <a:solidFill>
                            <a:srgbClr val="1C2B3A"/>
                          </a:solidFill>
                          <a:latin typeface="Barlow"/>
                        </a:rPr>
                        <a:t>ohne Begründung aufzählen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  <a:tr h="334645">
                <a:tc>
                  <a:txBody>
                    <a:bodyPr/>
                    <a:lstStyle/>
                    <a:p>
                      <a:r>
                        <a:rPr sz="1700" b="0" i="0" u="none">
                          <a:solidFill>
                            <a:srgbClr val="1C2B3A"/>
                          </a:solidFill>
                          <a:latin typeface="Barlow"/>
                        </a:rPr>
                        <a:t>erläutern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 u="none">
                          <a:solidFill>
                            <a:srgbClr val="1C2B3A"/>
                          </a:solidFill>
                          <a:latin typeface="Barlow"/>
                        </a:rPr>
                        <a:t>nachvollziehbar machen – mit Beispiel aus dem Material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  <a:tr h="334645">
                <a:tc>
                  <a:txBody>
                    <a:bodyPr/>
                    <a:lstStyle/>
                    <a:p>
                      <a:r>
                        <a:rPr sz="1700" b="0" i="0" u="none">
                          <a:solidFill>
                            <a:srgbClr val="1C2B3A"/>
                          </a:solidFill>
                          <a:latin typeface="Barlow"/>
                        </a:rPr>
                        <a:t>analysieren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 u="none">
                          <a:solidFill>
                            <a:srgbClr val="1C2B3A"/>
                          </a:solidFill>
                          <a:latin typeface="Barlow"/>
                        </a:rPr>
                        <a:t>Abfrage im Sachzusammenhang beschreiben: Was liefert sie über …?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  <a:tr h="334645">
                <a:tc>
                  <a:txBody>
                    <a:bodyPr/>
                    <a:lstStyle/>
                    <a:p>
                      <a:r>
                        <a:rPr sz="1700" b="0" i="0" u="none">
                          <a:solidFill>
                            <a:srgbClr val="1C2B3A"/>
                          </a:solidFill>
                          <a:latin typeface="Barlow"/>
                        </a:rPr>
                        <a:t>beurteilen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 u="none">
                          <a:solidFill>
                            <a:srgbClr val="1C2B3A"/>
                          </a:solidFill>
                          <a:latin typeface="Barlow"/>
                        </a:rPr>
                        <a:t>begründetes Urteil – Kriterien nennen, entscheiden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  <a:tr h="334645">
                <a:tc>
                  <a:txBody>
                    <a:bodyPr/>
                    <a:lstStyle/>
                    <a:p>
                      <a:r>
                        <a:rPr sz="1700" b="0" i="0" u="none">
                          <a:solidFill>
                            <a:srgbClr val="1C2B3A"/>
                          </a:solidFill>
                          <a:latin typeface="Barlow"/>
                        </a:rPr>
                        <a:t>entwerfen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 u="none">
                          <a:solidFill>
                            <a:srgbClr val="1C2B3A"/>
                          </a:solidFill>
                          <a:latin typeface="Barlow"/>
                        </a:rPr>
                        <a:t>SQL-Abfrage notieren (EH §8)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  <a:tr h="334645">
                <a:tc>
                  <a:txBody>
                    <a:bodyPr/>
                    <a:lstStyle/>
                    <a:p>
                      <a:r>
                        <a:rPr sz="1700" b="0" i="0" u="none">
                          <a:solidFill>
                            <a:srgbClr val="1C2B3A"/>
                          </a:solidFill>
                          <a:latin typeface="Barlow"/>
                        </a:rPr>
                        <a:t>erweitern / überführen / erstellen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 u="none">
                          <a:solidFill>
                            <a:srgbClr val="1C2B3A"/>
                          </a:solidFill>
                          <a:latin typeface="Barlow"/>
                        </a:rPr>
                        <a:t>Modell bzw. Schema vervollständigen oder neu notieren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  <a:tr h="334645">
                <a:tc>
                  <a:txBody>
                    <a:bodyPr/>
                    <a:lstStyle/>
                    <a:p>
                      <a:r>
                        <a:rPr sz="1700" b="0" i="0" u="none">
                          <a:solidFill>
                            <a:srgbClr val="1C2B3A"/>
                          </a:solidFill>
                          <a:latin typeface="Barlow"/>
                        </a:rPr>
                        <a:t>beschreiben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 u="none">
                          <a:solidFill>
                            <a:srgbClr val="1C2B3A"/>
                          </a:solidFill>
                          <a:latin typeface="Barlow"/>
                        </a:rPr>
                        <a:t>Vorgehen in eigenen Worten, schrittweise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100" b="0" i="0" u="none" spc="150">
                <a:solidFill>
                  <a:srgbClr val="D4B062"/>
                </a:solidFill>
                <a:latin typeface="IBM Plex Mono"/>
              </a:rPr>
              <a:t>AKTE 7 · DIE ERMITTLERPRÜFUNG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3200" b="0" i="0" u="none">
                <a:solidFill>
                  <a:srgbClr val="E8E1D3"/>
                </a:solidFill>
                <a:latin typeface="Barlow Condensed SemiBold"/>
              </a:rPr>
              <a:t>Zeitbudget: rund 2 Minuten je BE</a:t>
            </a:r>
          </a:p>
        </p:txBody>
      </p:sp>
      <p:cxnSp>
        <p:nvCxnSpPr>
          <p:cNvPr id="4" name="Roter Faden"/>
          <p:cNvCxnSpPr/>
          <p:nvPr/>
        </p:nvCxnSpPr>
        <p:spPr>
          <a:xfrm>
            <a:off x="548640" y="1353312"/>
            <a:ext cx="11094415" cy="0"/>
          </a:xfrm>
          <a:prstGeom prst="line">
            <a:avLst/>
          </a:prstGeom>
          <a:ln w="28575">
            <a:solidFill>
              <a:srgbClr val="E057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484632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579047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900" b="0" i="0" u="none" spc="100">
                <a:solidFill>
                  <a:srgbClr val="9C978E"/>
                </a:solidFill>
                <a:latin typeface="IBM Plex Mono"/>
              </a:rPr>
              <a:t>DATENDETEKTEI WESERSTEDT ·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11094415" cy="4343400"/>
          </a:xfrm>
          <a:prstGeom prst="roundRect">
            <a:avLst>
              <a:gd name="adj" fmla="val 4000"/>
            </a:avLst>
          </a:prstGeom>
          <a:solidFill>
            <a:srgbClr val="F4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9" name="Datentabelle"/>
          <p:cNvGraphicFramePr>
            <a:graphicFrameLocks noGrp="1"/>
          </p:cNvGraphicFramePr>
          <p:nvPr/>
        </p:nvGraphicFramePr>
        <p:xfrm>
          <a:off x="822959" y="1920240"/>
          <a:ext cx="5797296" cy="2204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005072"/>
                <a:gridCol w="896112"/>
                <a:gridCol w="896112"/>
              </a:tblGrid>
              <a:tr h="314960">
                <a:tc>
                  <a:txBody>
                    <a:bodyPr/>
                    <a:lstStyle/>
                    <a:p>
                      <a:r>
                        <a:rPr sz="1472" b="1" i="0" u="none">
                          <a:solidFill>
                            <a:srgbClr val="1C2B3A"/>
                          </a:solidFill>
                          <a:latin typeface="IBM Plex Mono"/>
                        </a:rPr>
                        <a:t>Teilaufgabe</a:t>
                      </a:r>
                    </a:p>
                  </a:txBody>
                  <a:tcPr marL="54864" marR="54864" marT="18288" marB="18288">
                    <a:solidFill>
                      <a:srgbClr val="EBE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72" b="1" i="0" u="none">
                          <a:solidFill>
                            <a:srgbClr val="1C2B3A"/>
                          </a:solidFill>
                          <a:latin typeface="IBM Plex Mono"/>
                        </a:rPr>
                        <a:t>BE</a:t>
                      </a:r>
                    </a:p>
                  </a:txBody>
                  <a:tcPr marL="54864" marR="54864" marT="18288" marB="18288">
                    <a:solidFill>
                      <a:srgbClr val="EBE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72" b="1" i="0" u="none">
                          <a:solidFill>
                            <a:srgbClr val="1C2B3A"/>
                          </a:solidFill>
                          <a:latin typeface="IBM Plex Mono"/>
                        </a:rPr>
                        <a:t>Zeit</a:t>
                      </a:r>
                    </a:p>
                  </a:txBody>
                  <a:tcPr marL="54864" marR="54864" marT="18288" marB="18288">
                    <a:solidFill>
                      <a:srgbClr val="EBE2D2"/>
                    </a:solidFill>
                  </a:tcPr>
                </a:tc>
              </a:tr>
              <a:tr h="314960"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Schlüssel / Kennzeichnungen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4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8'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  <a:tr h="314960"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Anomalien an der Tabelle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5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10'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  <a:tr h="314960"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ER erweitern + überführen (eA)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6 + 3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≈ 18'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  <a:tr h="314960"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SQL entwerfen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3 + 5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≈ 16'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  <a:tr h="314960"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SQL analysieren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4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8'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  <a:tr h="314960"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Puffer / Fallen-Check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–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10'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59" y="4234688"/>
            <a:ext cx="10545775" cy="393065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900" b="0" i="0" u="none">
                <a:solidFill>
                  <a:srgbClr val="1C2B3A"/>
                </a:solidFill>
                <a:latin typeface="Barlow"/>
              </a:rPr>
              <a:t>Reihenfolge frei wählbar – z. B. SQL zuerst, ER danach.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100" b="0" i="0" u="none" spc="150">
                <a:solidFill>
                  <a:srgbClr val="D4B062"/>
                </a:solidFill>
                <a:latin typeface="IBM Plex Mono"/>
              </a:rPr>
              <a:t>AKTE 7 · DIE ERMITTLERPRÜFUNG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3200" b="0" i="0" u="none">
                <a:solidFill>
                  <a:srgbClr val="E8E1D3"/>
                </a:solidFill>
                <a:latin typeface="Barlow Condensed SemiBold"/>
              </a:rPr>
              <a:t>Analysieren im Sachzusammenhang – ein Beispiel</a:t>
            </a:r>
          </a:p>
        </p:txBody>
      </p:sp>
      <p:cxnSp>
        <p:nvCxnSpPr>
          <p:cNvPr id="4" name="Roter Faden"/>
          <p:cNvCxnSpPr/>
          <p:nvPr/>
        </p:nvCxnSpPr>
        <p:spPr>
          <a:xfrm>
            <a:off x="548640" y="1353312"/>
            <a:ext cx="11094415" cy="0"/>
          </a:xfrm>
          <a:prstGeom prst="line">
            <a:avLst/>
          </a:prstGeom>
          <a:ln w="28575">
            <a:solidFill>
              <a:srgbClr val="E057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484632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579047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900" b="0" i="0" u="none" spc="100">
                <a:solidFill>
                  <a:srgbClr val="9C978E"/>
                </a:solidFill>
                <a:latin typeface="IBM Plex Mono"/>
              </a:rPr>
              <a:t>DATENDETEKTEI WESERSTEDT · 6</a:t>
            </a:r>
          </a:p>
        </p:txBody>
      </p:sp>
      <p:sp>
        <p:nvSpPr>
          <p:cNvPr id="8" name="SQL-Hintergrund"/>
          <p:cNvSpPr/>
          <p:nvPr/>
        </p:nvSpPr>
        <p:spPr>
          <a:xfrm>
            <a:off x="548640" y="1691640"/>
            <a:ext cx="6101928" cy="1764665"/>
          </a:xfrm>
          <a:prstGeom prst="roundRect">
            <a:avLst>
              <a:gd name="adj" fmla="val 4000"/>
            </a:avLst>
          </a:prstGeom>
          <a:solidFill>
            <a:srgbClr val="11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SQL"/>
          <p:cNvSpPr txBox="1"/>
          <p:nvPr/>
        </p:nvSpPr>
        <p:spPr>
          <a:xfrm>
            <a:off x="731520" y="1828800"/>
            <a:ext cx="5736168" cy="1490345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lnSpc>
                <a:spcPct val="100000"/>
              </a:lnSpc>
            </a:pPr>
            <a:r>
              <a:rPr sz="1300" i="0">
                <a:solidFill>
                  <a:srgbClr val="F2A65A"/>
                </a:solidFill>
                <a:latin typeface="IBM Plex Mono"/>
              </a:rPr>
              <a:t>SELECT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Stand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.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StandNr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,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Stand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.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Name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,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1300" i="0">
                <a:solidFill>
                  <a:srgbClr val="E6C77A"/>
                </a:solidFill>
                <a:latin typeface="IBM Plex Mono"/>
              </a:rPr>
              <a:t>COUNT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(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*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)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1300" i="0">
                <a:solidFill>
                  <a:srgbClr val="F2A65A"/>
                </a:solidFill>
                <a:latin typeface="IBM Plex Mono"/>
              </a:rPr>
              <a:t>AS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Produkte</a:t>
            </a:r>
          </a:p>
          <a:p>
            <a:pPr>
              <a:lnSpc>
                <a:spcPct val="100000"/>
              </a:lnSpc>
            </a:pPr>
            <a:r>
              <a:rPr sz="1300" i="0">
                <a:solidFill>
                  <a:srgbClr val="F2A65A"/>
                </a:solidFill>
                <a:latin typeface="IBM Plex Mono"/>
              </a:rPr>
              <a:t>FROM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Stand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,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Produkt</a:t>
            </a:r>
          </a:p>
          <a:p>
            <a:pPr>
              <a:lnSpc>
                <a:spcPct val="100000"/>
              </a:lnSpc>
            </a:pPr>
            <a:r>
              <a:rPr sz="1300" i="0">
                <a:solidFill>
                  <a:srgbClr val="F2A65A"/>
                </a:solidFill>
                <a:latin typeface="IBM Plex Mono"/>
              </a:rPr>
              <a:t>WHERE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Stand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.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StandNr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=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Produkt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.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StandNr</a:t>
            </a:r>
          </a:p>
          <a:p>
            <a:pPr>
              <a:lnSpc>
                <a:spcPct val="100000"/>
              </a:lnSpc>
            </a:pPr>
            <a:r>
              <a:rPr sz="1300" i="0">
                <a:solidFill>
                  <a:srgbClr val="D8E3D0"/>
                </a:solidFill>
                <a:latin typeface="IBM Plex Mono"/>
              </a:rPr>
              <a:t>  </a:t>
            </a:r>
            <a:r>
              <a:rPr sz="1300" i="0">
                <a:solidFill>
                  <a:srgbClr val="F2A65A"/>
                </a:solidFill>
                <a:latin typeface="IBM Plex Mono"/>
              </a:rPr>
              <a:t>AND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Produkt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.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Preis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&gt;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=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1300" i="0">
                <a:solidFill>
                  <a:srgbClr val="8CC4FF"/>
                </a:solidFill>
                <a:latin typeface="IBM Plex Mono"/>
              </a:rPr>
              <a:t>3</a:t>
            </a:r>
          </a:p>
          <a:p>
            <a:pPr>
              <a:lnSpc>
                <a:spcPct val="100000"/>
              </a:lnSpc>
            </a:pPr>
            <a:r>
              <a:rPr sz="1300" i="0">
                <a:solidFill>
                  <a:srgbClr val="F2A65A"/>
                </a:solidFill>
                <a:latin typeface="IBM Plex Mono"/>
              </a:rPr>
              <a:t>GROUP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1300" i="0">
                <a:solidFill>
                  <a:srgbClr val="F2A65A"/>
                </a:solidFill>
                <a:latin typeface="IBM Plex Mono"/>
              </a:rPr>
              <a:t>BY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Stand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.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StandNr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,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Stand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.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Name</a:t>
            </a:r>
          </a:p>
          <a:p>
            <a:pPr>
              <a:lnSpc>
                <a:spcPct val="100000"/>
              </a:lnSpc>
            </a:pPr>
            <a:r>
              <a:rPr sz="1300" i="0">
                <a:solidFill>
                  <a:srgbClr val="F2A65A"/>
                </a:solidFill>
                <a:latin typeface="IBM Plex Mono"/>
              </a:rPr>
              <a:t>HAVING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1300" i="0">
                <a:solidFill>
                  <a:srgbClr val="E6C77A"/>
                </a:solidFill>
                <a:latin typeface="IBM Plex Mono"/>
              </a:rPr>
              <a:t>COUNT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(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*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)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&gt;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1300" i="0">
                <a:solidFill>
                  <a:srgbClr val="8CC4FF"/>
                </a:solidFill>
                <a:latin typeface="IBM Plex Mono"/>
              </a:rPr>
              <a:t>2</a:t>
            </a:r>
          </a:p>
          <a:p>
            <a:pPr>
              <a:lnSpc>
                <a:spcPct val="100000"/>
              </a:lnSpc>
            </a:pPr>
            <a:r>
              <a:rPr sz="1300" i="0">
                <a:solidFill>
                  <a:srgbClr val="F2A65A"/>
                </a:solidFill>
                <a:latin typeface="IBM Plex Mono"/>
              </a:rPr>
              <a:t>ORDER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1300" i="0">
                <a:solidFill>
                  <a:srgbClr val="F2A65A"/>
                </a:solidFill>
                <a:latin typeface="IBM Plex Mono"/>
              </a:rPr>
              <a:t>BY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Produkte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1300" i="0">
                <a:solidFill>
                  <a:srgbClr val="F2A65A"/>
                </a:solidFill>
                <a:latin typeface="IBM Plex Mono"/>
              </a:rPr>
              <a:t>DESC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,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Stand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.</a:t>
            </a:r>
            <a:r>
              <a:rPr sz="1300" i="0">
                <a:solidFill>
                  <a:srgbClr val="D8E3D0"/>
                </a:solidFill>
                <a:latin typeface="IBM Plex Mono"/>
              </a:rPr>
              <a:t>StandNr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47745"/>
            <a:ext cx="610192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000" b="1" i="0" u="none" spc="120">
                <a:solidFill>
                  <a:srgbClr val="D4B062"/>
                </a:solidFill>
                <a:latin typeface="IBM Plex Mono"/>
              </a:rPr>
              <a:t>ERGEBNIS</a:t>
            </a:r>
          </a:p>
        </p:txBody>
      </p:sp>
      <p:graphicFrame>
        <p:nvGraphicFramePr>
          <p:cNvPr id="11" name="Ergebnistabelle"/>
          <p:cNvGraphicFramePr>
            <a:graphicFrameLocks noGrp="1"/>
          </p:cNvGraphicFramePr>
          <p:nvPr/>
        </p:nvGraphicFramePr>
        <p:xfrm>
          <a:off x="548640" y="3867785"/>
          <a:ext cx="4359401" cy="153543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81608"/>
                <a:gridCol w="2295144"/>
                <a:gridCol w="1082649"/>
              </a:tblGrid>
              <a:tr h="255905">
                <a:tc>
                  <a:txBody>
                    <a:bodyPr/>
                    <a:lstStyle/>
                    <a:p>
                      <a:r>
                        <a:rPr sz="1196" b="1" i="0" u="none">
                          <a:solidFill>
                            <a:srgbClr val="1C2B3A"/>
                          </a:solidFill>
                          <a:latin typeface="IBM Plex Mono"/>
                        </a:rPr>
                        <a:t>StandNr</a:t>
                      </a:r>
                    </a:p>
                  </a:txBody>
                  <a:tcPr marL="54864" marR="54864" marT="18288" marB="18288">
                    <a:solidFill>
                      <a:srgbClr val="EBE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 b="1" i="0" u="none">
                          <a:solidFill>
                            <a:srgbClr val="1C2B3A"/>
                          </a:solidFill>
                          <a:latin typeface="IBM Plex Mono"/>
                        </a:rPr>
                        <a:t>Name</a:t>
                      </a:r>
                    </a:p>
                  </a:txBody>
                  <a:tcPr marL="54864" marR="54864" marT="18288" marB="18288">
                    <a:solidFill>
                      <a:srgbClr val="EBE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 b="1" i="0" u="none">
                          <a:solidFill>
                            <a:srgbClr val="1C2B3A"/>
                          </a:solidFill>
                          <a:latin typeface="IBM Plex Mono"/>
                        </a:rPr>
                        <a:t>Produkte</a:t>
                      </a:r>
                    </a:p>
                  </a:txBody>
                  <a:tcPr marL="54864" marR="54864" marT="18288" marB="18288">
                    <a:solidFill>
                      <a:srgbClr val="EBE2D2"/>
                    </a:solidFill>
                  </a:tcPr>
                </a:tc>
              </a:tr>
              <a:tr h="255905">
                <a:tc>
                  <a:txBody>
                    <a:bodyPr/>
                    <a:lstStyle/>
                    <a:p>
                      <a:pPr algn="r"/>
                      <a:r>
                        <a:rPr sz="1300" b="0" i="0" u="none">
                          <a:solidFill>
                            <a:srgbClr val="1C2B3A"/>
                          </a:solidFill>
                          <a:latin typeface="Barlow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 u="none">
                          <a:solidFill>
                            <a:srgbClr val="1C2B3A"/>
                          </a:solidFill>
                          <a:latin typeface="Barlow"/>
                        </a:rPr>
                        <a:t>Grillhütte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 u="none">
                          <a:solidFill>
                            <a:srgbClr val="1C2B3A"/>
                          </a:solidFill>
                          <a:latin typeface="Barlow"/>
                        </a:rPr>
                        <a:t>4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  <a:tr h="255905">
                <a:tc>
                  <a:txBody>
                    <a:bodyPr/>
                    <a:lstStyle/>
                    <a:p>
                      <a:pPr algn="r"/>
                      <a:r>
                        <a:rPr sz="1300" b="0" i="0" u="none">
                          <a:solidFill>
                            <a:srgbClr val="1C2B3A"/>
                          </a:solidFill>
                          <a:latin typeface="Barlow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 u="none">
                          <a:solidFill>
                            <a:srgbClr val="1C2B3A"/>
                          </a:solidFill>
                          <a:latin typeface="Barlow"/>
                        </a:rPr>
                        <a:t>Fischbrötchen-Kutter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 u="none">
                          <a:solidFill>
                            <a:srgbClr val="1C2B3A"/>
                          </a:solidFill>
                          <a:latin typeface="Barlow"/>
                        </a:rPr>
                        <a:t>3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  <a:tr h="255905">
                <a:tc>
                  <a:txBody>
                    <a:bodyPr/>
                    <a:lstStyle/>
                    <a:p>
                      <a:pPr algn="r"/>
                      <a:r>
                        <a:rPr sz="1300" b="0" i="0" u="none">
                          <a:solidFill>
                            <a:srgbClr val="1C2B3A"/>
                          </a:solidFill>
                          <a:latin typeface="Barlow"/>
                        </a:rPr>
                        <a:t>4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 u="none">
                          <a:solidFill>
                            <a:srgbClr val="1C2B3A"/>
                          </a:solidFill>
                          <a:latin typeface="Barlow"/>
                        </a:rPr>
                        <a:t>Kaffeemobil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 u="none">
                          <a:solidFill>
                            <a:srgbClr val="1C2B3A"/>
                          </a:solidFill>
                          <a:latin typeface="Barlow"/>
                        </a:rPr>
                        <a:t>3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  <a:tr h="255905">
                <a:tc>
                  <a:txBody>
                    <a:bodyPr/>
                    <a:lstStyle/>
                    <a:p>
                      <a:pPr algn="r"/>
                      <a:r>
                        <a:rPr sz="1300" b="0" i="0" u="none">
                          <a:solidFill>
                            <a:srgbClr val="1C2B3A"/>
                          </a:solidFill>
                          <a:latin typeface="Barlow"/>
                        </a:rPr>
                        <a:t>5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 u="none">
                          <a:solidFill>
                            <a:srgbClr val="1C2B3A"/>
                          </a:solidFill>
                          <a:latin typeface="Barlow"/>
                        </a:rPr>
                        <a:t>Bierwagen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 u="none">
                          <a:solidFill>
                            <a:srgbClr val="1C2B3A"/>
                          </a:solidFill>
                          <a:latin typeface="Barlow"/>
                        </a:rPr>
                        <a:t>3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  <a:tr h="255905">
                <a:tc>
                  <a:txBody>
                    <a:bodyPr/>
                    <a:lstStyle/>
                    <a:p>
                      <a:pPr algn="r"/>
                      <a:r>
                        <a:rPr sz="1300" b="0" i="0" u="none">
                          <a:solidFill>
                            <a:srgbClr val="1C2B3A"/>
                          </a:solidFill>
                          <a:latin typeface="Barlow"/>
                        </a:rPr>
                        <a:t>6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 u="none">
                          <a:solidFill>
                            <a:srgbClr val="1C2B3A"/>
                          </a:solidFill>
                          <a:latin typeface="Barlow"/>
                        </a:rPr>
                        <a:t>Crêpes-Stand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 u="none">
                          <a:solidFill>
                            <a:srgbClr val="1C2B3A"/>
                          </a:solidFill>
                          <a:latin typeface="Barlow"/>
                        </a:rPr>
                        <a:t>3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924888" y="1691640"/>
            <a:ext cx="4718166" cy="756920"/>
          </a:xfrm>
          <a:prstGeom prst="roundRect">
            <a:avLst>
              <a:gd name="adj" fmla="val 4000"/>
            </a:avLst>
          </a:prstGeom>
          <a:solidFill>
            <a:srgbClr val="F4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924888" y="1691640"/>
            <a:ext cx="73152" cy="756920"/>
          </a:xfrm>
          <a:prstGeom prst="rect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062048" y="1764792"/>
            <a:ext cx="45720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 u="none">
                <a:solidFill>
                  <a:srgbClr val="B3261E"/>
                </a:solidFill>
                <a:latin typeface="Barlow Condensed SemiBol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9248" y="1764792"/>
            <a:ext cx="3986646" cy="6471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600" b="1" i="0" u="none">
                <a:solidFill>
                  <a:srgbClr val="1C2B3A"/>
                </a:solidFill>
                <a:latin typeface="Barlow"/>
              </a:rPr>
              <a:t>FROM/WHERE:</a:t>
            </a:r>
            <a:r>
              <a:rPr sz="1600" b="0" i="0" u="none">
                <a:solidFill>
                  <a:srgbClr val="1C2B3A"/>
                </a:solidFill>
                <a:latin typeface="Barlow"/>
              </a:rPr>
              <a:t> Stände mit ihren Produkten verbinden, nur Produkte ab 3 €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24888" y="2585720"/>
            <a:ext cx="4718166" cy="756920"/>
          </a:xfrm>
          <a:prstGeom prst="roundRect">
            <a:avLst>
              <a:gd name="adj" fmla="val 4000"/>
            </a:avLst>
          </a:prstGeom>
          <a:solidFill>
            <a:srgbClr val="F4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924888" y="2585720"/>
            <a:ext cx="73152" cy="756920"/>
          </a:xfrm>
          <a:prstGeom prst="rect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62048" y="2658872"/>
            <a:ext cx="45720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 u="none">
                <a:solidFill>
                  <a:srgbClr val="B3261E"/>
                </a:solidFill>
                <a:latin typeface="Barlow Condensed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19248" y="2658872"/>
            <a:ext cx="3986646" cy="6471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600" b="1" i="0" u="none">
                <a:solidFill>
                  <a:srgbClr val="1C2B3A"/>
                </a:solidFill>
                <a:latin typeface="Barlow"/>
              </a:rPr>
              <a:t>GROUP BY:</a:t>
            </a:r>
            <a:r>
              <a:rPr sz="1600" b="0" i="0" u="none">
                <a:solidFill>
                  <a:srgbClr val="1C2B3A"/>
                </a:solidFill>
                <a:latin typeface="Barlow"/>
              </a:rPr>
              <a:t> je Stand (Nummer und Name) eine Gruppe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24888" y="3479800"/>
            <a:ext cx="4718166" cy="756920"/>
          </a:xfrm>
          <a:prstGeom prst="roundRect">
            <a:avLst>
              <a:gd name="adj" fmla="val 4000"/>
            </a:avLst>
          </a:prstGeom>
          <a:solidFill>
            <a:srgbClr val="F4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924888" y="3479800"/>
            <a:ext cx="73152" cy="756920"/>
          </a:xfrm>
          <a:prstGeom prst="rect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062048" y="3552952"/>
            <a:ext cx="45720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 u="none">
                <a:solidFill>
                  <a:srgbClr val="B3261E"/>
                </a:solidFill>
                <a:latin typeface="Barlow Condensed Semi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19248" y="3552952"/>
            <a:ext cx="3986646" cy="64719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600" b="1" i="0" u="none">
                <a:solidFill>
                  <a:srgbClr val="1C2B3A"/>
                </a:solidFill>
                <a:latin typeface="Barlow"/>
              </a:rPr>
              <a:t>HAVING:</a:t>
            </a:r>
            <a:r>
              <a:rPr sz="1600" b="0" i="0" u="none">
                <a:solidFill>
                  <a:srgbClr val="1C2B3A"/>
                </a:solidFill>
                <a:latin typeface="Barlow"/>
              </a:rPr>
              <a:t> nur Stände mit mehr als zwei solchen Produkten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24888" y="4373880"/>
            <a:ext cx="4718166" cy="1021080"/>
          </a:xfrm>
          <a:prstGeom prst="roundRect">
            <a:avLst>
              <a:gd name="adj" fmla="val 4000"/>
            </a:avLst>
          </a:prstGeom>
          <a:solidFill>
            <a:srgbClr val="F4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6924888" y="4373880"/>
            <a:ext cx="73152" cy="1021080"/>
          </a:xfrm>
          <a:prstGeom prst="rect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062048" y="4447032"/>
            <a:ext cx="45720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 u="none">
                <a:solidFill>
                  <a:srgbClr val="B3261E"/>
                </a:solidFill>
                <a:latin typeface="Barlow Condensed SemiBol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19248" y="4447032"/>
            <a:ext cx="3986646" cy="911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600" b="1" i="0" u="none">
                <a:solidFill>
                  <a:srgbClr val="1C2B3A"/>
                </a:solidFill>
                <a:latin typeface="Barlow"/>
              </a:rPr>
              <a:t>Im Sachzusammenhang:</a:t>
            </a:r>
            <a:r>
              <a:rPr sz="1600" b="0" i="0" u="none">
                <a:solidFill>
                  <a:srgbClr val="1C2B3A"/>
                </a:solidFill>
                <a:latin typeface="Barlow"/>
              </a:rPr>
              <a:t> „Welche Stände bieten beim Stadtfest mehr als zwei Produkte ab 3 € an – und wie viele?“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100" b="0" i="0" u="none" spc="150">
                <a:solidFill>
                  <a:srgbClr val="D4B062"/>
                </a:solidFill>
                <a:latin typeface="IBM Plex Mono"/>
              </a:rPr>
              <a:t>AKTE 7 · DIE ERMITTLERPRÜFUNG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3200" b="0" i="0" u="none">
                <a:solidFill>
                  <a:srgbClr val="E8E1D3"/>
                </a:solidFill>
                <a:latin typeface="Barlow Condensed SemiBold"/>
              </a:rPr>
              <a:t>Peer-Korrektur nach Kernpunkten</a:t>
            </a:r>
          </a:p>
        </p:txBody>
      </p:sp>
      <p:cxnSp>
        <p:nvCxnSpPr>
          <p:cNvPr id="4" name="Roter Faden"/>
          <p:cNvCxnSpPr/>
          <p:nvPr/>
        </p:nvCxnSpPr>
        <p:spPr>
          <a:xfrm>
            <a:off x="548640" y="1353312"/>
            <a:ext cx="11094415" cy="0"/>
          </a:xfrm>
          <a:prstGeom prst="line">
            <a:avLst/>
          </a:prstGeom>
          <a:ln w="28575">
            <a:solidFill>
              <a:srgbClr val="E057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484632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579047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900" b="0" i="0" u="none" spc="100">
                <a:solidFill>
                  <a:srgbClr val="9C978E"/>
                </a:solidFill>
                <a:latin typeface="IBM Plex Mono"/>
              </a:rPr>
              <a:t>DATENDETEKTEI WESERSTEDT · 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11094415" cy="4343400"/>
          </a:xfrm>
          <a:prstGeom prst="roundRect">
            <a:avLst>
              <a:gd name="adj" fmla="val 4000"/>
            </a:avLst>
          </a:prstGeom>
          <a:solidFill>
            <a:srgbClr val="F4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10637215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050" b="1" i="0" u="none" spc="120">
                <a:solidFill>
                  <a:srgbClr val="2F6B4F"/>
                </a:solidFill>
                <a:latin typeface="IBM Plex Mono"/>
              </a:rPr>
              <a:t>UNPLUGGED · 12 MIN · MATERIAL: ERWARTUNGSHORIZONT (SQL-TEILE), FALLEN-CHECKLISTE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194560"/>
            <a:ext cx="10545775" cy="18408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900" b="0" i="0" u="none">
                <a:solidFill>
                  <a:srgbClr val="1C2B3A"/>
                </a:solidFill>
                <a:latin typeface="Barlow"/>
              </a:rPr>
              <a:t>1. Arbeiten über Kreuz tauschen – nur Ermittlernummern, nie im eigenen Team.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900" b="0" i="0" u="none">
                <a:solidFill>
                  <a:srgbClr val="1C2B3A"/>
                </a:solidFill>
                <a:latin typeface="Barlow"/>
              </a:rPr>
              <a:t>2. Kernpunkt lesen, dann die Lösung: Teilpunkte vergeben, nicht nach Gefühl.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900" b="0" i="0" u="none">
                <a:solidFill>
                  <a:srgbClr val="1C2B3A"/>
                </a:solidFill>
                <a:latin typeface="Barlow"/>
              </a:rPr>
              <a:t>3. SQL in der Freien Ermittlung (Mensa) ausführen und mit der Musterergebnistabelle vergleichen.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900" b="0" i="0" u="none">
                <a:solidFill>
                  <a:srgbClr val="1C2B3A"/>
                </a:solidFill>
                <a:latin typeface="Barlow"/>
              </a:rPr>
              <a:t>4. Jede gefundene Falle auf der Fallen-Checkliste ankreuzen.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900" b="0" i="0" u="none">
                <a:solidFill>
                  <a:srgbClr val="1C2B3A"/>
                </a:solidFill>
                <a:latin typeface="Barlow"/>
              </a:rPr>
              <a:t>5. Rückmeldung: ein „stark“, ein „üben“ mit Warm-up-Karte.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100" b="0" i="0" u="none" spc="150">
                <a:solidFill>
                  <a:srgbClr val="D4B062"/>
                </a:solidFill>
                <a:latin typeface="IBM Plex Mono"/>
              </a:rPr>
              <a:t>AKTE 7 · DIE ERMITTLERPRÜFUNG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3200" b="0" i="0" u="none">
                <a:solidFill>
                  <a:srgbClr val="E8E1D3"/>
                </a:solidFill>
                <a:latin typeface="Barlow Condensed SemiBold"/>
              </a:rPr>
              <a:t>Fallen-Check P1–P5</a:t>
            </a:r>
          </a:p>
        </p:txBody>
      </p:sp>
      <p:cxnSp>
        <p:nvCxnSpPr>
          <p:cNvPr id="4" name="Roter Faden"/>
          <p:cNvCxnSpPr/>
          <p:nvPr/>
        </p:nvCxnSpPr>
        <p:spPr>
          <a:xfrm>
            <a:off x="548640" y="1353312"/>
            <a:ext cx="11094415" cy="0"/>
          </a:xfrm>
          <a:prstGeom prst="line">
            <a:avLst/>
          </a:prstGeom>
          <a:ln w="28575">
            <a:solidFill>
              <a:srgbClr val="E057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484632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579047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900" b="0" i="0" u="none" spc="100">
                <a:solidFill>
                  <a:srgbClr val="9C978E"/>
                </a:solidFill>
                <a:latin typeface="IBM Plex Mono"/>
              </a:rPr>
              <a:t>DATENDETEKTEI WESERSTEDT ·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11094415" cy="4343400"/>
          </a:xfrm>
          <a:prstGeom prst="roundRect">
            <a:avLst>
              <a:gd name="adj" fmla="val 4000"/>
            </a:avLst>
          </a:prstGeom>
          <a:solidFill>
            <a:srgbClr val="E2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10637215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050" b="1" i="0" u="none" spc="120">
                <a:solidFill>
                  <a:srgbClr val="2C5A85"/>
                </a:solidFill>
                <a:latin typeface="IBM Plex Mono"/>
              </a:rPr>
              <a:t>ERMITTLER-NOTIZ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194560"/>
            <a:ext cx="10545775" cy="19329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000" b="0" i="0" u="none">
                <a:solidFill>
                  <a:srgbClr val="1C2B3A"/>
                </a:solidFill>
                <a:latin typeface="Barlow"/>
              </a:rPr>
              <a:t>▸ </a:t>
            </a:r>
            <a:r>
              <a:rPr sz="2000" b="1" i="0" u="none">
                <a:solidFill>
                  <a:srgbClr val="1C2B3A"/>
                </a:solidFill>
                <a:latin typeface="Barlow"/>
              </a:rPr>
              <a:t>P1 WHERE/HAVING:</a:t>
            </a:r>
            <a:r>
              <a:rPr sz="2000" b="0" i="0" u="none">
                <a:solidFill>
                  <a:srgbClr val="1C2B3A"/>
                </a:solidFill>
                <a:latin typeface="Barlow"/>
              </a:rPr>
              <a:t> Steht jede Bedingung mit Aggregatfunktion in HAVING und jede Bedingung an einzelne Datensätze in WHERE?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000" b="0" i="0" u="none">
                <a:solidFill>
                  <a:srgbClr val="1C2B3A"/>
                </a:solidFill>
                <a:latin typeface="Barlow"/>
              </a:rPr>
              <a:t>▸ </a:t>
            </a:r>
            <a:r>
              <a:rPr sz="2000" b="1" i="0" u="none">
                <a:solidFill>
                  <a:srgbClr val="1C2B3A"/>
                </a:solidFill>
                <a:latin typeface="Barlow"/>
              </a:rPr>
              <a:t>P2 Verbund fehlt/vervielfacht:</a:t>
            </a:r>
            <a:r>
              <a:rPr sz="2000" b="0" i="0" u="none">
                <a:solidFill>
                  <a:srgbClr val="1C2B3A"/>
                </a:solidFill>
                <a:latin typeface="Barlow"/>
              </a:rPr>
              <a:t> Hat jede Tabelle im FROM ihre Verbundbedingung? Vervielfacht eine überflüssige Tabelle die Summen?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000" b="0" i="0" u="none">
                <a:solidFill>
                  <a:srgbClr val="1C2B3A"/>
                </a:solidFill>
                <a:latin typeface="Barlow"/>
              </a:rPr>
              <a:t>▸ </a:t>
            </a:r>
            <a:r>
              <a:rPr sz="2000" b="1" i="0" u="none">
                <a:solidFill>
                  <a:srgbClr val="1C2B3A"/>
                </a:solidFill>
                <a:latin typeface="Barlow"/>
              </a:rPr>
              <a:t>P3 GROUP-BY-Regel:</a:t>
            </a:r>
            <a:r>
              <a:rPr sz="2000" b="0" i="0" u="none">
                <a:solidFill>
                  <a:srgbClr val="1C2B3A"/>
                </a:solidFill>
                <a:latin typeface="Barlow"/>
              </a:rPr>
              <a:t> Ist jede Spalte im SELECT gruppiert oder aggregiert – und wird nach dem Schlüssel gruppiert, nicht nur nach dem Namen?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000" b="0" i="0" u="none">
                <a:solidFill>
                  <a:srgbClr val="1C2B3A"/>
                </a:solidFill>
                <a:latin typeface="Barlow"/>
              </a:rPr>
              <a:t>▸ </a:t>
            </a:r>
            <a:r>
              <a:rPr sz="2000" b="1" i="0" u="none">
                <a:solidFill>
                  <a:srgbClr val="1C2B3A"/>
                </a:solidFill>
                <a:latin typeface="Barlow"/>
              </a:rPr>
              <a:t>P4 COUNT/SUM:</a:t>
            </a:r>
            <a:r>
              <a:rPr sz="2000" b="0" i="0" u="none">
                <a:solidFill>
                  <a:srgbClr val="1C2B3A"/>
                </a:solidFill>
                <a:latin typeface="Barlow"/>
              </a:rPr>
              <a:t> Werden Datensätze gezählt (COUNT) oder Mengen addiert (SUM) – passend zur Frage?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000" b="0" i="0" u="none">
                <a:solidFill>
                  <a:srgbClr val="1C2B3A"/>
                </a:solidFill>
                <a:latin typeface="Barlow"/>
              </a:rPr>
              <a:t>▸ </a:t>
            </a:r>
            <a:r>
              <a:rPr sz="2000" b="1" i="0" u="none">
                <a:solidFill>
                  <a:srgbClr val="1C2B3A"/>
                </a:solidFill>
                <a:latin typeface="Barlow"/>
              </a:rPr>
              <a:t>P5 NULL und Literale:</a:t>
            </a:r>
            <a:r>
              <a:rPr sz="2000" b="0" i="0" u="none">
                <a:solidFill>
                  <a:srgbClr val="1C2B3A"/>
                </a:solidFill>
                <a:latin typeface="Barlow"/>
              </a:rPr>
              <a:t> IS NULL statt = NULL? Text und Datum in Hochkommata, Datum als 'JJJJ-MM-TT'?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100" b="0" i="0" u="none" spc="150">
                <a:solidFill>
                  <a:srgbClr val="D4B062"/>
                </a:solidFill>
                <a:latin typeface="IBM Plex Mono"/>
              </a:rPr>
              <a:t>AKTE 7 · DIE ERMITTLERPRÜFUNG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3200" b="0" i="0" u="none">
                <a:solidFill>
                  <a:srgbClr val="E8E1D3"/>
                </a:solidFill>
                <a:latin typeface="Barlow Condensed SemiBold"/>
              </a:rPr>
              <a:t>Fallen-Check P6–P10</a:t>
            </a:r>
          </a:p>
        </p:txBody>
      </p:sp>
      <p:cxnSp>
        <p:nvCxnSpPr>
          <p:cNvPr id="4" name="Roter Faden"/>
          <p:cNvCxnSpPr/>
          <p:nvPr/>
        </p:nvCxnSpPr>
        <p:spPr>
          <a:xfrm>
            <a:off x="548640" y="1353312"/>
            <a:ext cx="11094415" cy="0"/>
          </a:xfrm>
          <a:prstGeom prst="line">
            <a:avLst/>
          </a:prstGeom>
          <a:ln w="28575">
            <a:solidFill>
              <a:srgbClr val="E057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484632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579047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900" b="0" i="0" u="none" spc="100">
                <a:solidFill>
                  <a:srgbClr val="9C978E"/>
                </a:solidFill>
                <a:latin typeface="IBM Plex Mono"/>
              </a:rPr>
              <a:t>DATENDETEKTEI WESERSTEDT ·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11094415" cy="4343400"/>
          </a:xfrm>
          <a:prstGeom prst="roundRect">
            <a:avLst>
              <a:gd name="adj" fmla="val 4000"/>
            </a:avLst>
          </a:prstGeom>
          <a:solidFill>
            <a:srgbClr val="E2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10637215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050" b="1" i="0" u="none" spc="120">
                <a:solidFill>
                  <a:srgbClr val="2C5A85"/>
                </a:solidFill>
                <a:latin typeface="IBM Plex Mono"/>
              </a:rPr>
              <a:t>ERMITTLER-NOTIZ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194560"/>
            <a:ext cx="10545775" cy="19329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000" b="0" i="0" u="none">
                <a:solidFill>
                  <a:srgbClr val="1C2B3A"/>
                </a:solidFill>
                <a:latin typeface="Barlow"/>
              </a:rPr>
              <a:t>▸ </a:t>
            </a:r>
            <a:r>
              <a:rPr sz="2000" b="1" i="0" u="none">
                <a:solidFill>
                  <a:srgbClr val="1C2B3A"/>
                </a:solidFill>
                <a:latin typeface="Barlow"/>
              </a:rPr>
              <a:t>P6 Bedingungslogik:</a:t>
            </a:r>
            <a:r>
              <a:rPr sz="2000" b="0" i="0" u="none">
                <a:solidFill>
                  <a:srgbClr val="1C2B3A"/>
                </a:solidFill>
                <a:latin typeface="Barlow"/>
              </a:rPr>
              <a:t> Klammern bei AND/OR? Grenzen (&gt; oder &gt;=, BETWEEN) wie in der Aufgabe?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000" b="0" i="0" u="none">
                <a:solidFill>
                  <a:srgbClr val="1C2B3A"/>
                </a:solidFill>
                <a:latin typeface="Barlow"/>
              </a:rPr>
              <a:t>▸ </a:t>
            </a:r>
            <a:r>
              <a:rPr sz="2000" b="1" i="0" u="none">
                <a:solidFill>
                  <a:srgbClr val="1C2B3A"/>
                </a:solidFill>
                <a:latin typeface="Barlow"/>
              </a:rPr>
              <a:t>P7 Mehrdeutig/falsch benannt:</a:t>
            </a:r>
            <a:r>
              <a:rPr sz="2000" b="0" i="0" u="none">
                <a:solidFill>
                  <a:srgbClr val="1C2B3A"/>
                </a:solidFill>
                <a:latin typeface="Barlow"/>
              </a:rPr>
              <a:t> Gleichnamige Spalten mit Tabellenname? Die richtige Spalte gewählt? Aliase beim Verbund einer Tabelle mit sich selbst?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000" b="0" i="0" u="none">
                <a:solidFill>
                  <a:srgbClr val="1C2B3A"/>
                </a:solidFill>
                <a:latin typeface="Barlow"/>
              </a:rPr>
              <a:t>▸ </a:t>
            </a:r>
            <a:r>
              <a:rPr sz="2000" b="1" i="0" u="none">
                <a:solidFill>
                  <a:srgbClr val="1C2B3A"/>
                </a:solidFill>
                <a:latin typeface="Barlow"/>
              </a:rPr>
              <a:t>P8 Schlüssel falsch beurteilt:</a:t>
            </a:r>
            <a:r>
              <a:rPr sz="2000" b="0" i="0" u="none">
                <a:solidFill>
                  <a:srgbClr val="1C2B3A"/>
                </a:solidFill>
                <a:latin typeface="Barlow"/>
              </a:rPr>
              <a:t> Eindeutigkeit für alle denkbaren Daten begründet – nicht nur am Ausschnitt?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000" b="0" i="0" u="none">
                <a:solidFill>
                  <a:srgbClr val="1C2B3A"/>
                </a:solidFill>
                <a:latin typeface="Barlow"/>
              </a:rPr>
              <a:t>▸ </a:t>
            </a:r>
            <a:r>
              <a:rPr sz="2000" b="1" i="0" u="none">
                <a:solidFill>
                  <a:srgbClr val="1C2B3A"/>
                </a:solidFill>
                <a:latin typeface="Barlow"/>
              </a:rPr>
              <a:t>P9 ER/Überführung fehlerhaft:</a:t>
            </a:r>
            <a:r>
              <a:rPr sz="2000" b="0" i="0" u="none">
                <a:solidFill>
                  <a:srgbClr val="1C2B3A"/>
                </a:solidFill>
                <a:latin typeface="Barlow"/>
              </a:rPr>
              <a:t> Kardinalitäten in beide Richtungen gelesen? n:m als eigene Relation, 1:n als Fremdschlüssel auf der n-Seite? Beziehungsattribute richtig platziert?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000" b="0" i="0" u="none">
                <a:solidFill>
                  <a:srgbClr val="1C2B3A"/>
                </a:solidFill>
                <a:latin typeface="Barlow"/>
              </a:rPr>
              <a:t>▸ </a:t>
            </a:r>
            <a:r>
              <a:rPr sz="2000" b="1" i="0" u="none">
                <a:solidFill>
                  <a:srgbClr val="1C2B3A"/>
                </a:solidFill>
                <a:latin typeface="Barlow"/>
              </a:rPr>
              <a:t>P10 Operator verfehlt:</a:t>
            </a:r>
            <a:r>
              <a:rPr sz="2000" b="0" i="0" u="none">
                <a:solidFill>
                  <a:srgbClr val="1C2B3A"/>
                </a:solidFill>
                <a:latin typeface="Barlow"/>
              </a:rPr>
              <a:t> „Erläutern“ am Beispiel, „analysieren“ im Sachzusammenhang, „beurteilen“ mit begründetem Urteil?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100" b="0" i="0" u="none" spc="150">
                <a:solidFill>
                  <a:srgbClr val="D4B062"/>
                </a:solidFill>
                <a:latin typeface="IBM Plex Mono"/>
              </a:rPr>
              <a:t>AKTE 7 · DIE ERMITTLERPRÜFUNG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3200" b="0" i="0" u="none">
                <a:solidFill>
                  <a:srgbClr val="E8E1D3"/>
                </a:solidFill>
                <a:latin typeface="Barlow Condensed SemiBold"/>
              </a:rPr>
              <a:t>Ab ins Lab: Ermittlung 7.1</a:t>
            </a:r>
          </a:p>
        </p:txBody>
      </p:sp>
      <p:cxnSp>
        <p:nvCxnSpPr>
          <p:cNvPr id="4" name="Roter Faden"/>
          <p:cNvCxnSpPr/>
          <p:nvPr/>
        </p:nvCxnSpPr>
        <p:spPr>
          <a:xfrm>
            <a:off x="548640" y="1353312"/>
            <a:ext cx="11094415" cy="0"/>
          </a:xfrm>
          <a:prstGeom prst="line">
            <a:avLst/>
          </a:prstGeom>
          <a:ln w="28575">
            <a:solidFill>
              <a:srgbClr val="E057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484632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579047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900" b="0" i="0" u="none" spc="100">
                <a:solidFill>
                  <a:srgbClr val="9C978E"/>
                </a:solidFill>
                <a:latin typeface="IBM Plex Mono"/>
              </a:rPr>
              <a:t>DATENDETEKTEI WESERSTEDT ·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11094415" cy="2926080"/>
          </a:xfrm>
          <a:prstGeom prst="roundRect">
            <a:avLst>
              <a:gd name="adj" fmla="val 4000"/>
            </a:avLst>
          </a:prstGeom>
          <a:solidFill>
            <a:srgbClr val="E2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10637215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050" b="1" i="0" u="none" spc="120">
                <a:solidFill>
                  <a:srgbClr val="2C5A85"/>
                </a:solidFill>
                <a:latin typeface="IBM Plex Mono"/>
              </a:rPr>
              <a:t>SPUR IM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194560"/>
            <a:ext cx="10545775" cy="2194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600" b="0" i="0" u="none">
                <a:solidFill>
                  <a:srgbClr val="1C2B3A"/>
                </a:solidFill>
                <a:latin typeface="Barlow Condensed SemiBold"/>
              </a:rPr>
              <a:t>„Die Ermittlerprüfung“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900" b="1" i="0" u="none">
                <a:solidFill>
                  <a:srgbClr val="1C2B3A"/>
                </a:solidFill>
                <a:latin typeface="Barlow"/>
              </a:rPr>
              <a:t>Aufgaben:</a:t>
            </a:r>
            <a:r>
              <a:rPr sz="1900" b="0" i="0" u="none">
                <a:solidFill>
                  <a:srgbClr val="1C2B3A"/>
                </a:solidFill>
                <a:latin typeface="Barlow"/>
              </a:rPr>
              <a:t> Verhör 7 · Mensa (8 Aufgaben, 30 Minuten)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900" b="1" i="0" u="none">
                <a:solidFill>
                  <a:srgbClr val="1C2B3A"/>
                </a:solidFill>
                <a:latin typeface="Barlow"/>
              </a:rPr>
              <a:t>Werkzeug:</a:t>
            </a:r>
            <a:r>
              <a:rPr sz="1900" b="0" i="0" u="none">
                <a:solidFill>
                  <a:srgbClr val="1C2B3A"/>
                </a:solidFill>
                <a:latin typeface="Barlow"/>
              </a:rPr>
              <a:t> Freie Ermittlung (Mensa)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00600"/>
            <a:ext cx="11094415" cy="1030605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700" b="0" i="0" u="none">
                <a:solidFill>
                  <a:srgbClr val="E8E1D3"/>
                </a:solidFill>
                <a:latin typeface="Barlow"/>
              </a:rPr>
              <a:t>▸ Während der Korrektur: SQL-Lösungen in der Freien Ermittlung ausführen.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700" b="0" i="0" u="none">
                <a:solidFill>
                  <a:srgbClr val="E8E1D3"/>
                </a:solidFill>
                <a:latin typeface="Barlow"/>
              </a:rPr>
              <a:t>▸ Hausaufgabe vor der Klausur: Verhör 7 – ohne Tipps, Abimodus streng.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700" b="0" i="0" u="none">
                <a:solidFill>
                  <a:srgbClr val="E8E1D3"/>
                </a:solidFill>
                <a:latin typeface="Barlow"/>
              </a:rPr>
              <a:t>▸ Warm-up-Karten W-A7-01 … 10 im Leitner-Trainer.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100" b="0" i="0" u="none" spc="150">
                <a:solidFill>
                  <a:srgbClr val="D4B062"/>
                </a:solidFill>
                <a:latin typeface="IBM Plex Mono"/>
              </a:rPr>
              <a:t>AKTE 7 · DIE ERMITTLERPRÜFUNG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3200" b="0" i="0" u="none">
                <a:solidFill>
                  <a:srgbClr val="E8E1D3"/>
                </a:solidFill>
                <a:latin typeface="Barlow Condensed SemiBold"/>
              </a:rPr>
              <a:t>Abi-Format</a:t>
            </a:r>
          </a:p>
        </p:txBody>
      </p:sp>
      <p:cxnSp>
        <p:nvCxnSpPr>
          <p:cNvPr id="4" name="Roter Faden"/>
          <p:cNvCxnSpPr/>
          <p:nvPr/>
        </p:nvCxnSpPr>
        <p:spPr>
          <a:xfrm>
            <a:off x="548640" y="1353312"/>
            <a:ext cx="11094415" cy="0"/>
          </a:xfrm>
          <a:prstGeom prst="line">
            <a:avLst/>
          </a:prstGeom>
          <a:ln w="28575">
            <a:solidFill>
              <a:srgbClr val="E057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484632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579047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900" b="0" i="0" u="none" spc="100">
                <a:solidFill>
                  <a:srgbClr val="9C978E"/>
                </a:solidFill>
                <a:latin typeface="IBM Plex Mono"/>
              </a:rPr>
              <a:t>DATENDETEKTEI WESERSTEDT ·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11094415" cy="4343400"/>
          </a:xfrm>
          <a:prstGeom prst="roundRect">
            <a:avLst>
              <a:gd name="adj" fmla="val 4000"/>
            </a:avLst>
          </a:prstGeom>
          <a:solidFill>
            <a:srgbClr val="F4EDE1"/>
          </a:solidFill>
          <a:ln w="25400">
            <a:solidFill>
              <a:srgbClr val="E057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10637215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050" b="1" i="0" u="none" spc="120">
                <a:solidFill>
                  <a:srgbClr val="B3261E"/>
                </a:solidFill>
                <a:latin typeface="IBM Plex Mono"/>
              </a:rPr>
              <a:t>ABI-ECKE · OPERATOR ANALYSIEREN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194560"/>
            <a:ext cx="10545775" cy="726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000" b="0" i="0" u="none">
                <a:solidFill>
                  <a:srgbClr val="1C2B3A"/>
                </a:solidFill>
                <a:latin typeface="Barlow"/>
              </a:rPr>
              <a:t>Gegeben ist die folgende SQL-Abfrage zur Datenbank des Stadtfests. </a:t>
            </a:r>
            <a:r>
              <a:rPr sz="2000" b="1" i="0" u="none">
                <a:solidFill>
                  <a:srgbClr val="1C2B3A"/>
                </a:solidFill>
                <a:latin typeface="Barlow"/>
              </a:rPr>
              <a:t>Analysieren</a:t>
            </a:r>
            <a:r>
              <a:rPr sz="2000" b="0" i="0" u="none">
                <a:solidFill>
                  <a:srgbClr val="1C2B3A"/>
                </a:solidFill>
                <a:latin typeface="Barlow"/>
              </a:rPr>
              <a:t> Sie die Abfrage im Sachzusammenhang. [3 BE]</a:t>
            </a:r>
          </a:p>
        </p:txBody>
      </p:sp>
      <p:sp>
        <p:nvSpPr>
          <p:cNvPr id="11" name="SQL-Hintergrund"/>
          <p:cNvSpPr/>
          <p:nvPr/>
        </p:nvSpPr>
        <p:spPr>
          <a:xfrm>
            <a:off x="822959" y="2994152"/>
            <a:ext cx="10545775" cy="2225040"/>
          </a:xfrm>
          <a:prstGeom prst="roundRect">
            <a:avLst>
              <a:gd name="adj" fmla="val 4000"/>
            </a:avLst>
          </a:prstGeom>
          <a:solidFill>
            <a:srgbClr val="11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SQL"/>
          <p:cNvSpPr txBox="1"/>
          <p:nvPr/>
        </p:nvSpPr>
        <p:spPr>
          <a:xfrm>
            <a:off x="1005839" y="3131311"/>
            <a:ext cx="10180015" cy="19507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lnSpc>
                <a:spcPct val="100000"/>
              </a:lnSpc>
            </a:pPr>
            <a:r>
              <a:rPr sz="2000" i="0">
                <a:solidFill>
                  <a:srgbClr val="F2A65A"/>
                </a:solidFill>
                <a:latin typeface="IBM Plex Mono"/>
              </a:rPr>
              <a:t>SELECT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Helfer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.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Verein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,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2000" i="0">
                <a:solidFill>
                  <a:srgbClr val="E6C77A"/>
                </a:solidFill>
                <a:latin typeface="IBM Plex Mono"/>
              </a:rPr>
              <a:t>COUNT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(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*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)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2000" i="0">
                <a:solidFill>
                  <a:srgbClr val="F2A65A"/>
                </a:solidFill>
                <a:latin typeface="IBM Plex Mono"/>
              </a:rPr>
              <a:t>AS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Anzahl</a:t>
            </a:r>
          </a:p>
          <a:p>
            <a:pPr>
              <a:lnSpc>
                <a:spcPct val="100000"/>
              </a:lnSpc>
            </a:pPr>
            <a:r>
              <a:rPr sz="2000" i="0">
                <a:solidFill>
                  <a:srgbClr val="F2A65A"/>
                </a:solidFill>
                <a:latin typeface="IBM Plex Mono"/>
              </a:rPr>
              <a:t>FROM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Helfer</a:t>
            </a:r>
          </a:p>
          <a:p>
            <a:pPr>
              <a:lnSpc>
                <a:spcPct val="100000"/>
              </a:lnSpc>
            </a:pPr>
            <a:r>
              <a:rPr sz="2000" i="0">
                <a:solidFill>
                  <a:srgbClr val="F2A65A"/>
                </a:solidFill>
                <a:latin typeface="IBM Plex Mono"/>
              </a:rPr>
              <a:t>WHERE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Helfer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.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Verein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2000" i="0">
                <a:solidFill>
                  <a:srgbClr val="F2A65A"/>
                </a:solidFill>
                <a:latin typeface="IBM Plex Mono"/>
              </a:rPr>
              <a:t>IS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2000" i="0">
                <a:solidFill>
                  <a:srgbClr val="F2A65A"/>
                </a:solidFill>
                <a:latin typeface="IBM Plex Mono"/>
              </a:rPr>
              <a:t>NOT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2000" i="0">
                <a:solidFill>
                  <a:srgbClr val="F2A65A"/>
                </a:solidFill>
                <a:latin typeface="IBM Plex Mono"/>
              </a:rPr>
              <a:t>NULL</a:t>
            </a:r>
          </a:p>
          <a:p>
            <a:pPr>
              <a:lnSpc>
                <a:spcPct val="100000"/>
              </a:lnSpc>
            </a:pPr>
            <a:r>
              <a:rPr sz="2000" i="0">
                <a:solidFill>
                  <a:srgbClr val="F2A65A"/>
                </a:solidFill>
                <a:latin typeface="IBM Plex Mono"/>
              </a:rPr>
              <a:t>GROUP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2000" i="0">
                <a:solidFill>
                  <a:srgbClr val="F2A65A"/>
                </a:solidFill>
                <a:latin typeface="IBM Plex Mono"/>
              </a:rPr>
              <a:t>BY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Helfer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.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Verein</a:t>
            </a:r>
          </a:p>
          <a:p>
            <a:pPr>
              <a:lnSpc>
                <a:spcPct val="100000"/>
              </a:lnSpc>
            </a:pPr>
            <a:r>
              <a:rPr sz="2000" i="0">
                <a:solidFill>
                  <a:srgbClr val="F2A65A"/>
                </a:solidFill>
                <a:latin typeface="IBM Plex Mono"/>
              </a:rPr>
              <a:t>HAVING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2000" i="0">
                <a:solidFill>
                  <a:srgbClr val="E6C77A"/>
                </a:solidFill>
                <a:latin typeface="IBM Plex Mono"/>
              </a:rPr>
              <a:t>COUNT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(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*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)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&gt;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=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2000" i="0">
                <a:solidFill>
                  <a:srgbClr val="8CC4FF"/>
                </a:solidFill>
                <a:latin typeface="IBM Plex Mono"/>
              </a:rPr>
              <a:t>10</a:t>
            </a:r>
          </a:p>
          <a:p>
            <a:pPr>
              <a:lnSpc>
                <a:spcPct val="100000"/>
              </a:lnSpc>
            </a:pPr>
            <a:r>
              <a:rPr sz="2000" i="0">
                <a:solidFill>
                  <a:srgbClr val="F2A65A"/>
                </a:solidFill>
                <a:latin typeface="IBM Plex Mono"/>
              </a:rPr>
              <a:t>ORDER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2000" i="0">
                <a:solidFill>
                  <a:srgbClr val="F2A65A"/>
                </a:solidFill>
                <a:latin typeface="IBM Plex Mono"/>
              </a:rPr>
              <a:t>BY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Anzahl</a:t>
            </a:r>
            <a:r>
              <a:rPr sz="2000" i="0">
                <a:solidFill>
                  <a:srgbClr val="D8E3D0"/>
                </a:solidFill>
                <a:latin typeface="IBM Plex Mono"/>
              </a:rPr>
              <a:t> </a:t>
            </a:r>
            <a:r>
              <a:rPr sz="2000" i="0">
                <a:solidFill>
                  <a:srgbClr val="F2A65A"/>
                </a:solidFill>
                <a:latin typeface="IBM Plex Mono"/>
              </a:rPr>
              <a:t>DESC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100" b="0" i="0" u="none" spc="150">
                <a:solidFill>
                  <a:srgbClr val="D4B062"/>
                </a:solidFill>
                <a:latin typeface="IBM Plex Mono"/>
              </a:rPr>
              <a:t>AKTE 7 · DIE ERMITTLERPRÜFUNG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9357055" cy="685800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3200" b="0" i="0" u="none">
                <a:solidFill>
                  <a:srgbClr val="E8E1D3"/>
                </a:solidFill>
                <a:latin typeface="Barlow Condensed SemiBold"/>
              </a:rPr>
              <a:t>Lösung: Analyse im Sachzusammenhang</a:t>
            </a:r>
          </a:p>
        </p:txBody>
      </p:sp>
      <p:cxnSp>
        <p:nvCxnSpPr>
          <p:cNvPr id="4" name="Roter Faden"/>
          <p:cNvCxnSpPr/>
          <p:nvPr/>
        </p:nvCxnSpPr>
        <p:spPr>
          <a:xfrm>
            <a:off x="548640" y="1353312"/>
            <a:ext cx="11094415" cy="0"/>
          </a:xfrm>
          <a:prstGeom prst="line">
            <a:avLst/>
          </a:prstGeom>
          <a:ln w="28575">
            <a:solidFill>
              <a:srgbClr val="E057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484632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579047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Marker Lehrkraft"/>
          <p:cNvSpPr/>
          <p:nvPr/>
        </p:nvSpPr>
        <p:spPr>
          <a:xfrm>
            <a:off x="10042855" y="310896"/>
            <a:ext cx="1600200" cy="310896"/>
          </a:xfrm>
          <a:prstGeom prst="roundRect">
            <a:avLst>
              <a:gd name="adj" fmla="val 4000"/>
            </a:avLst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042855" y="310896"/>
            <a:ext cx="160020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 u="none">
                <a:solidFill>
                  <a:srgbClr val="141B22"/>
                </a:solidFill>
                <a:latin typeface="IBM Plex Mono"/>
              </a:rPr>
              <a:t>NUR LEHRKRAFT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900" b="0" i="0" u="none" spc="100">
                <a:solidFill>
                  <a:srgbClr val="9C978E"/>
                </a:solidFill>
                <a:latin typeface="IBM Plex Mono"/>
              </a:rPr>
              <a:t>DATENDETEKTEI WESERSTEDT · 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91640"/>
            <a:ext cx="11094415" cy="4343400"/>
          </a:xfrm>
          <a:prstGeom prst="roundRect">
            <a:avLst>
              <a:gd name="adj" fmla="val 4000"/>
            </a:avLst>
          </a:prstGeom>
          <a:solidFill>
            <a:srgbClr val="F4EDE1"/>
          </a:solidFill>
          <a:ln w="25400">
            <a:solidFill>
              <a:srgbClr val="5FAF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10637215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050" b="1" i="0" u="none" spc="120">
                <a:solidFill>
                  <a:srgbClr val="2F6B4F"/>
                </a:solidFill>
                <a:latin typeface="IBM Plex Mono"/>
              </a:rPr>
              <a:t>LÖSUNG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194560"/>
            <a:ext cx="10545775" cy="1325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800" b="0" i="0" u="none">
                <a:solidFill>
                  <a:srgbClr val="1C2B3A"/>
                </a:solidFill>
                <a:latin typeface="Barlow"/>
              </a:rPr>
              <a:t>Die Abfrage gibt alle Vereine aus, aus denen mindestens zehn Helferinnen und Helfer beim Stadtfest mitgearbeitet haben, mit ihrer Anzahl, absteigend sortiert. Helfer ohne Verein werden nicht gezählt.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800" b="0" i="0" u="none">
                <a:solidFill>
                  <a:srgbClr val="1C2B3A"/>
                </a:solidFill>
                <a:latin typeface="Barlow"/>
              </a:rPr>
              <a:t>Ergebnis auf der Stadtfest-Datenbank:</a:t>
            </a:r>
          </a:p>
        </p:txBody>
      </p:sp>
      <p:graphicFrame>
        <p:nvGraphicFramePr>
          <p:cNvPr id="13" name="Datentabelle"/>
          <p:cNvGraphicFramePr>
            <a:graphicFrameLocks noGrp="1"/>
          </p:cNvGraphicFramePr>
          <p:nvPr/>
        </p:nvGraphicFramePr>
        <p:xfrm>
          <a:off x="822959" y="3593591"/>
          <a:ext cx="5274258" cy="1259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253788"/>
                <a:gridCol w="1020470"/>
              </a:tblGrid>
              <a:tr h="314960">
                <a:tc>
                  <a:txBody>
                    <a:bodyPr/>
                    <a:lstStyle/>
                    <a:p>
                      <a:r>
                        <a:rPr sz="1472" b="1" i="0" u="none">
                          <a:solidFill>
                            <a:srgbClr val="1C2B3A"/>
                          </a:solidFill>
                          <a:latin typeface="IBM Plex Mono"/>
                        </a:rPr>
                        <a:t>Verein</a:t>
                      </a:r>
                    </a:p>
                  </a:txBody>
                  <a:tcPr marL="54864" marR="54864" marT="18288" marB="18288">
                    <a:solidFill>
                      <a:srgbClr val="EBE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72" b="1" i="0" u="none">
                          <a:solidFill>
                            <a:srgbClr val="1C2B3A"/>
                          </a:solidFill>
                          <a:latin typeface="IBM Plex Mono"/>
                        </a:rPr>
                        <a:t>Anzahl</a:t>
                      </a:r>
                    </a:p>
                  </a:txBody>
                  <a:tcPr marL="54864" marR="54864" marT="18288" marB="18288">
                    <a:solidFill>
                      <a:srgbClr val="EBE2D2"/>
                    </a:solidFill>
                  </a:tcPr>
                </a:tc>
              </a:tr>
              <a:tr h="314960"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TuS Weserstedt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20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  <a:tr h="314960"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Förderverein Schulzentrum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14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  <a:tr h="314960">
                <a:tc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Freiwillige Feuerwehr Weserstedt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 u="none">
                          <a:solidFill>
                            <a:srgbClr val="1C2B3A"/>
                          </a:solidFill>
                          <a:latin typeface="Barlow"/>
                        </a:rPr>
                        <a:t>10</a:t>
                      </a:r>
                    </a:p>
                  </a:txBody>
                  <a:tcPr marL="54864" marR="54864" marT="18288" marB="18288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100" b="0" i="0" u="none" spc="150">
                <a:solidFill>
                  <a:srgbClr val="D4B062"/>
                </a:solidFill>
                <a:latin typeface="IBM Plex Mono"/>
              </a:rPr>
              <a:t>AKTE 7 · DIE ERMITTLERPRÜFUNG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3200" b="0" i="0" u="none">
                <a:solidFill>
                  <a:srgbClr val="E8E1D3"/>
                </a:solidFill>
                <a:latin typeface="Barlow Condensed SemiBold"/>
              </a:rPr>
              <a:t>Abschluss: Detektei-Lizenz</a:t>
            </a:r>
          </a:p>
        </p:txBody>
      </p:sp>
      <p:cxnSp>
        <p:nvCxnSpPr>
          <p:cNvPr id="4" name="Roter Faden"/>
          <p:cNvCxnSpPr/>
          <p:nvPr/>
        </p:nvCxnSpPr>
        <p:spPr>
          <a:xfrm>
            <a:off x="548640" y="1353312"/>
            <a:ext cx="11094415" cy="0"/>
          </a:xfrm>
          <a:prstGeom prst="line">
            <a:avLst/>
          </a:prstGeom>
          <a:ln w="28575">
            <a:solidFill>
              <a:srgbClr val="E057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484632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579047" y="1289304"/>
            <a:ext cx="128016" cy="128016"/>
          </a:xfrm>
          <a:prstGeom prst="ellipse">
            <a:avLst/>
          </a:prstGeom>
          <a:solidFill>
            <a:srgbClr val="E05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900" b="0" i="0" u="none" spc="100">
                <a:solidFill>
                  <a:srgbClr val="9C978E"/>
                </a:solidFill>
                <a:latin typeface="IBM Plex Mono"/>
              </a:rPr>
              <a:t>DATENDETEKTEI WESERSTEDT ·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11094415" cy="4343400"/>
          </a:xfrm>
          <a:prstGeom prst="roundRect">
            <a:avLst>
              <a:gd name="adj" fmla="val 4000"/>
            </a:avLst>
          </a:prstGeom>
          <a:solidFill>
            <a:srgbClr val="E2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10637215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</a:pPr>
            <a:r>
              <a:rPr sz="1050" b="1" i="0" u="none" spc="120">
                <a:solidFill>
                  <a:srgbClr val="2C5A85"/>
                </a:solidFill>
                <a:latin typeface="IBM Plex Mono"/>
              </a:rPr>
              <a:t>ERMITTLER-NOTIZ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194560"/>
            <a:ext cx="10545775" cy="1564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000" b="0" i="0" u="none">
                <a:solidFill>
                  <a:srgbClr val="1C2B3A"/>
                </a:solidFill>
                <a:latin typeface="Barlow"/>
              </a:rPr>
              <a:t>▸ Kurs-Strichliste der Fallen neben das Fallen-Profil aus dem Lab legen.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000" b="0" i="0" u="none">
                <a:solidFill>
                  <a:srgbClr val="1C2B3A"/>
                </a:solidFill>
                <a:latin typeface="Barlow"/>
              </a:rPr>
              <a:t>▸ Die drei häufigsten Fallen = unsere Wiederholung vor der Klausur.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000" b="0" i="0" u="none">
                <a:solidFill>
                  <a:srgbClr val="1C2B3A"/>
                </a:solidFill>
                <a:latin typeface="Barlow"/>
              </a:rPr>
              <a:t>▸ Endstand festschreiben – Edda unterschreibt die Lizenzen.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000" b="0" i="0" u="none">
                <a:solidFill>
                  <a:srgbClr val="1C2B3A"/>
                </a:solidFill>
                <a:latin typeface="Barlow"/>
              </a:rPr>
              <a:t>▸ „Geschlossen. Bis zum nächsten Fall.“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Die Ermittlerprüfung</dc:title>
  <dc:subject/>
  <dc:creator>Datendetektei Weserstedt</dc:creator>
  <cp:keywords/>
  <dc:description>generated using python-pptx</dc:description>
  <cp:lastModifiedBy>Datendetektei Weserstedt</cp:lastModifiedBy>
  <cp:revision>1</cp:revision>
  <dcterms:created xsi:type="dcterms:W3CDTF">2013-01-27T09:14:16Z</dcterms:created>
  <dcterms:modified xsi:type="dcterms:W3CDTF">2013-01-27T09:15:58Z</dcterms:modified>
  <cp:category/>
  <dc:language>de-DE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D-Akte">
    <vt:lpwstr>7</vt:lpwstr>
  </property>
  <property fmtid="{D5CDD505-2E9C-101B-9397-08002B2CF9AE}" pid="3" name="DD-Art">
    <vt:lpwstr>praesentation</vt:lpwstr>
  </property>
  <property fmtid="{D5CDD505-2E9C-101B-9397-08002B2CF9AE}" pid="4" name="DD-Datenbank">
    <vt:lpwstr>stadtfest</vt:lpwstr>
  </property>
  <property fmtid="{D5CDD505-2E9C-101B-9397-08002B2CF9AE}" pid="5" name="DD-Kuer">
    <vt:lpwstr>nein</vt:lpwstr>
  </property>
</Properties>
</file>