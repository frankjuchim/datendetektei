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Sitzordnung wie in einer Klausur. Ermittlernummern austeilen (für die anonyme Peer-Korrektur). Hilfsmittel: nur die Operatorenübersicht.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vorlesen (STORY 5.13). Betonen: kein Story-Kontext, keine Tipps, Zeit im Blick behalten.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 kurz zeigen; Hausaufgabe vorab ankündigen: Verhör 7 im Lab vor der Klausur.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Werkzeugkarte 7 des Ermittler-Handbuchs. Fallen P10: „erläutern“ heißt nicht „nennen“.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W-A7-10 übt genau das: Zeitbudget je Teilaufgabe aufstellen. gA: statt ER der Datenschutz-Teil (4 BE).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Eigene Beispieldaten (Stadtfest, Akte 3), keine Prüfungsaufgabe. Kontrast zeigen: Klauseln übersetzen (P10) vs. Aussage im Sachzusammenhang.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Lehrkraft geht herum und korrigiert 3–4 Arbeiten zweit (Kalibrierung). Abweichung &gt; 1 BE je Teil → im Plenum 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der Abgabe: die eigene Lösung gegen diese Fragen prüfen (gA: letzte 10 Minuten).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P8–P10 betreffen Text- und Modellierungsteile – dort gibt es oft Teilpunkte.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Mensa-DB nach der Abgabe freischalten. Das Verhör nutzt dieselbe DB, aber andere Aufgaben.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Minuten Einzelarbeit, dann Partnervergleich mit den Kernpunkten (Folie danach nur Lehrkraft).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Kernpunkte: Aussage über Vereine (1), Bedingung mindestens zehn – &gt;= (1), ohne Verein ausgeschlossen + Sortierung 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Urkunden aus dem Lehrkraft-Bereich drucken. Polaroid „Detektei-Lizenz“ an die Pinnwand (STORY 5.13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Die Ermittlerprüfung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Akte 7 · DS 13 · Generalprobe im Abitur-Format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6726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Die Ermittlerprüfung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„Sechs Akten, ein Phantom, eine unbequeme Debatte – ihr habt viel ermittelt. Heute zeigt ihr, dass ihr das auch ohne mich könnt: eine Aufgabe im Abitur-Format, in einem Kontext, den ihr noch nie gesehen habt. Lest jeden Operator genau. Danach korrigiert ihr euch gegenseitig – und es gibt Lizenzen. Denkt an die Klammern.“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Ablauf der Doppelstunde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Datentabelle"/>
          <p:cNvGraphicFramePr>
            <a:graphicFrameLocks noGrp="1"/>
          </p:cNvGraphicFramePr>
          <p:nvPr/>
        </p:nvGraphicFramePr>
        <p:xfrm>
          <a:off x="822959" y="1920240"/>
          <a:ext cx="10545773" cy="157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7670"/>
                <a:gridCol w="7848265"/>
                <a:gridCol w="1709838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Zeit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Was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Wie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0–5'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Organisation, Zeitbudget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Plenum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5–75'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Generalprobe: eA 30 BE (70'), gA 25 BE (60') + 10' Fallen-Check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Einzelarbeit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75–87'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Peer-Korrektur der SQL-Teile nach Erwartungshorizont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Paare, Lab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87–90'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Fallen-Strichliste, Endstand, Detektei-Lizenzen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Plenum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Operatoren genau lesen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4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2677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nennen / angeben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ohne Begründung aufzählen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erläutern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nachvollziehbar machen – mit Beispiel aus dem Material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analysieren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Abfrage im Sachzusammenhang beschreiben: Was liefert sie über …?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beurteilen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begründetes Urteil – Kriterien nennen, entscheiden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entwerfen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SQL-Abfrage notieren (EH §8)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erweitern / erstellen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Modell bzw. Schema vervollständigen oder neu notieren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beschreiben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Vorgehen in eigenen Worten, schrittweise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Zeitbudget: rund 2 Minuten je BE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Datentabelle"/>
          <p:cNvGraphicFramePr>
            <a:graphicFrameLocks noGrp="1"/>
          </p:cNvGraphicFramePr>
          <p:nvPr/>
        </p:nvGraphicFramePr>
        <p:xfrm>
          <a:off x="822959" y="1920240"/>
          <a:ext cx="5797296" cy="2204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5072"/>
                <a:gridCol w="896112"/>
                <a:gridCol w="896112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Teilaufgabe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Zeit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Schlüssel / Kennzeichnungen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8'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Anomalien an der Tabelle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10'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ER erweitern + Schema erstellen (eA)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6 + 3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≈ 18'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SQL entwerfen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3 + 5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≈ 16'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SQL analysieren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8'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Puffer / Fallen-Check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–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10'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4234688"/>
            <a:ext cx="10545775" cy="39306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Reihenfolge frei wählbar – z. B. SQL zuerst, ER danach.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Analysieren im Sachzusammenhang – ein Beispiel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6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764665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49034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Produkte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Preis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8CC4FF"/>
                </a:solidFill>
                <a:latin typeface="IBM Plex Mono"/>
              </a:rPr>
              <a:t>3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Name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HAVING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8CC4FF"/>
                </a:solidFill>
                <a:latin typeface="IBM Plex Mono"/>
              </a:rPr>
              <a:t>2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Produkte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300" i="0">
                <a:solidFill>
                  <a:srgbClr val="D8E3D0"/>
                </a:solidFill>
                <a:latin typeface="IBM Plex Mono"/>
              </a:rPr>
              <a:t>StandNr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47745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867785"/>
          <a:ext cx="4359401" cy="15354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1608"/>
                <a:gridCol w="2295144"/>
                <a:gridCol w="1082649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StandNr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Produkte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Grillhütte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Fischbrötchen-Kutter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Kaffeemobil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Bierwagen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Crêpes-Stand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FROM/WHERE: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Stände mit ihren Produkten verbinden, nur Produkte ab 3 €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GROUP BY: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je Stand (Nummer und Name) eine Gruppe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7980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7980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5529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55295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HAVING: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nur Stände mit mehr als zwei solchen Produkten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73880"/>
            <a:ext cx="4718166" cy="102108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73880"/>
            <a:ext cx="73152" cy="102108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4470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447032"/>
            <a:ext cx="3986646" cy="911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Im Sachzusammenhang: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„Welche Stände bieten beim Stadtfest mehr als zwei Produkte ab 3 € an – und wie viele?“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Peer-Korrektur nach Kernpunkten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12 MIN · MATERIAL: ERWARTUNGSHORIZONT (SQL-TEILE), FALLEN-CHECKLISTE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8408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Arbeiten über Kreuz tauschen – nur Ermittlernummern, nie im eigenen Team.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Kernpunkt lesen, dann die Lösung: Teilpunkte vergeben, nicht nach Gefühl.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SQL in der Freien Ermittlung (Mensa) ausführen und mit der Musterergebnistabelle vergleichen.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Jede gefundene Falle auf der Fallen-Checkliste ankreuzen.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5. Rückmeldung: ein „stark“, ein „üben“ mit Warm-up-Karte.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Fallen-Check P1–P5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93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P1 WHERE/HAVING: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Steht jede Bedingung mit Aggregatfunktion in HAVING und jede Bedingung an einzelne Datensätze in WHERE?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P2 Verbund fehlt/vervielfacht: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Hat jede Tabelle im FROM ihre Verbundbedingung? Vervielfacht eine überflüssige Tabelle die Summen?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P3 GROUP-BY-Regel: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Ist jede Spalte im SELECT gruppiert oder aggregiert – und wird nach dem Schlüssel gruppiert, nicht nur nach dem Namen?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P4 COUNT/SUM: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Werden Datensätze gezählt (COUNT) oder Mengen addiert (SUM) – passend zur Frage?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P5 NULL und Literale: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IS NULL statt = NULL? Text und Datum in Hochkommata, Datum als 'JJJJ-MM-TT'?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Fallen-Check P6–P10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93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P6 Bedingungslogik: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Klammern bei AND/OR? Grenzen (&gt; oder &gt;=, BETWEEN) wie in der Aufgabe?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P7 Mehrdeutig/falsch benannt: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Gleichnamige Spalten mit Tabellenname? Die richtige Spalte gewählt? Aliase beim Verbund einer Tabelle mit sich selbst?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P8 Schlüssel falsch beurteilt: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Eindeutigkeit für alle denkbaren Daten begründet – nicht nur am Ausschnitt?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P9 ER/Überführung fehlerhaft: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Kardinalitäten in beide Richtungen gelesen? n:m als eigene Relation, 1:n als Fremdschlüssel auf der n-Seite? Beziehungsattribute richtig platziert?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P10 Operator verfehlt: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„Erläutern“ am Beispiel, „analysieren“ im Sachzusammenhang, „beurteilen“ mit begründetem Urteil?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7.1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„Die Ermittlerprüfung“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Verhör 7 · Mensa (8 Aufgaben, 30 Minuten)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Freie Ermittlung (Mensa)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103060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Während der Korrektur: SQL-Lösungen in der Freien Ermittlung ausführen.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Hausaufgabe vor der Klausur: Verhör 7 – ohne Tipps, Abimodus streng.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Warm-up-Karten W-A7-01 … 10 im Leitner-Trainer.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ANALYSIEREN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726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Gegeben ist die folgende SQL-Abfrage zur Datenbank des Stadtfests.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Analysieren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die Abfrage im Sachzusammenhang. [3 BE]</a:t>
            </a:r>
          </a:p>
        </p:txBody>
      </p:sp>
      <p:sp>
        <p:nvSpPr>
          <p:cNvPr id="11" name="SQL-Hintergrund"/>
          <p:cNvSpPr/>
          <p:nvPr/>
        </p:nvSpPr>
        <p:spPr>
          <a:xfrm>
            <a:off x="822959" y="2994152"/>
            <a:ext cx="10545775" cy="2225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QL"/>
          <p:cNvSpPr txBox="1"/>
          <p:nvPr/>
        </p:nvSpPr>
        <p:spPr>
          <a:xfrm>
            <a:off x="1005839" y="3131311"/>
            <a:ext cx="10180015" cy="1950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Verein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Anzahl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Helfer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Verein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IS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NOT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NULL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GROUP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Helfer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Verein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HAVING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E6C77A"/>
                </a:solidFill>
                <a:latin typeface="IBM Plex Mono"/>
              </a:rPr>
              <a:t>COUNT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(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*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)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8CC4FF"/>
                </a:solidFill>
                <a:latin typeface="IBM Plex Mono"/>
              </a:rPr>
              <a:t>10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Anzahl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DESC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Lösung: Analyse im Sachzusammenhang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94560"/>
            <a:ext cx="10545775" cy="1325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Die Abfrage gibt alle Vereine aus, aus denen mindestens zehn Helferinnen und Helfer beim Stadtfest mitgearbeitet haben, mit ihrer Anzahl, absteigend sortiert. Helfer ohne Verein werden nicht gezählt.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Ergebnis auf der Stadtfest-Datenbank:</a:t>
            </a:r>
          </a:p>
        </p:txBody>
      </p:sp>
      <p:graphicFrame>
        <p:nvGraphicFramePr>
          <p:cNvPr id="13" name="Datentabelle"/>
          <p:cNvGraphicFramePr>
            <a:graphicFrameLocks noGrp="1"/>
          </p:cNvGraphicFramePr>
          <p:nvPr/>
        </p:nvGraphicFramePr>
        <p:xfrm>
          <a:off x="822959" y="3593591"/>
          <a:ext cx="5274258" cy="1259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53788"/>
                <a:gridCol w="1020470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Verein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Anzahl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TuS Weserstedt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Förderverein Schulzentrum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Freiwillige Feuerwehr Weserstedt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7 · DIE ERMITTLERPRÜFUNG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Abschluss: Detektei-Lizenz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564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Kurs-Strichliste der Fallen neben das Fallen-Profil aus dem Lab legen.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Die drei häufigsten Fallen = unsere Wiederholung vor der Klausur.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Endstand festschreiben – Edda unterschreibt die Lizenzen.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„Geschlossen. Bis zum nächsten Fall.“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Ermittlerprüfung</dc:title>
  <dc:subject/>
  <dc:creator>Datendetektei Weserstedt</dc:creator>
  <cp:keywords/>
  <dc:description>generated using python-pptx</dc:description>
  <cp:lastModifiedBy>Datendetektei Weserstedt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D-Akte">
    <vt:lpwstr>7</vt:lpwstr>
  </property>
  <property fmtid="{D5CDD505-2E9C-101B-9397-08002B2CF9AE}" pid="3" name="DD-Art">
    <vt:lpwstr>praesentation</vt:lpwstr>
  </property>
  <property fmtid="{D5CDD505-2E9C-101B-9397-08002B2CF9AE}" pid="4" name="DD-Datenbank">
    <vt:lpwstr>stadtfest</vt:lpwstr>
  </property>
  <property fmtid="{D5CDD505-2E9C-101B-9397-08002B2CF9AE}" pid="5" name="DD-Kuer">
    <vt:lpwstr>nein</vt:lpwstr>
  </property>
</Properties>
</file>